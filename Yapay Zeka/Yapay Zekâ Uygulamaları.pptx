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Montserrat Bold" charset="1" panose="00000800000000000000"/>
      <p:regular r:id="rId34"/>
    </p:embeddedFont>
    <p:embeddedFont>
      <p:font typeface="Aptos" charset="1" panose="020B0004020202020204"/>
      <p:regular r:id="rId35"/>
    </p:embeddedFont>
    <p:embeddedFont>
      <p:font typeface="Aptos Bold" charset="1" panose="020B0004020202020204"/>
      <p:regular r:id="rId36"/>
    </p:embeddedFont>
    <p:embeddedFont>
      <p:font typeface="Montserrat Bold Italics" charset="1" panose="000008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34500" y="0"/>
            <a:ext cx="8953500" cy="10287000"/>
          </a:xfrm>
          <a:custGeom>
            <a:avLst/>
            <a:gdLst/>
            <a:ahLst/>
            <a:cxnLst/>
            <a:rect r="r" b="b" t="t" l="l"/>
            <a:pathLst>
              <a:path h="10287000" w="8953500">
                <a:moveTo>
                  <a:pt x="0" y="0"/>
                </a:moveTo>
                <a:lnTo>
                  <a:pt x="8953500" y="0"/>
                </a:lnTo>
                <a:lnTo>
                  <a:pt x="8953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" r="0" b="-21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096250" y="0"/>
            <a:ext cx="4762500" cy="10287000"/>
            <a:chOff x="0" y="0"/>
            <a:chExt cx="6350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A2B">
                <a:alpha val="6196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35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38200" y="1666875"/>
            <a:ext cx="1238250" cy="85725"/>
            <a:chOff x="0" y="0"/>
            <a:chExt cx="1651000" cy="114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51000" cy="114300"/>
            </a:xfrm>
            <a:custGeom>
              <a:avLst/>
              <a:gdLst/>
              <a:ahLst/>
              <a:cxnLst/>
              <a:rect r="r" b="b" t="t" l="l"/>
              <a:pathLst>
                <a:path h="114300" w="1651000">
                  <a:moveTo>
                    <a:pt x="0" y="0"/>
                  </a:moveTo>
                  <a:lnTo>
                    <a:pt x="1651000" y="0"/>
                  </a:lnTo>
                  <a:lnTo>
                    <a:pt x="16510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4B8C4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51000" cy="152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38200" y="2019300"/>
            <a:ext cx="8953500" cy="115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YAPAY ZEKÂ</a:t>
            </a:r>
          </a:p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UYGULAMALARI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8200" y="4638675"/>
            <a:ext cx="781050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CDE8F4"/>
                </a:solidFill>
                <a:latin typeface="Aptos"/>
                <a:ea typeface="Aptos"/>
                <a:cs typeface="Aptos"/>
                <a:sym typeface="Aptos"/>
              </a:rPr>
              <a:t>Temel Kavramlar, Tarihsel Gelişim,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CDE8F4"/>
                </a:solidFill>
                <a:latin typeface="Aptos"/>
                <a:ea typeface="Aptos"/>
                <a:cs typeface="Aptos"/>
                <a:sym typeface="Aptos"/>
              </a:rPr>
              <a:t>Kullanım Alanları ve Sınırlılıklar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8200" y="7867650"/>
            <a:ext cx="6667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24B8C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8. SINIF • YAPAY ZEKÂ UYGULAMALARI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8750" y="2428875"/>
            <a:ext cx="3143250" cy="1333500"/>
            <a:chOff x="0" y="0"/>
            <a:chExt cx="4191000" cy="177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1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724121"/>
                  </a:lnTo>
                  <a:cubicBezTo>
                    <a:pt x="4191000" y="1738411"/>
                    <a:pt x="4185324" y="1752115"/>
                    <a:pt x="4175219" y="1762219"/>
                  </a:cubicBezTo>
                  <a:cubicBezTo>
                    <a:pt x="4165115" y="1772324"/>
                    <a:pt x="4151411" y="1778000"/>
                    <a:pt x="4137121" y="1778000"/>
                  </a:cubicBezTo>
                  <a:lnTo>
                    <a:pt x="53879" y="1778000"/>
                  </a:lnTo>
                  <a:cubicBezTo>
                    <a:pt x="39589" y="1778000"/>
                    <a:pt x="25885" y="1772324"/>
                    <a:pt x="15781" y="1762219"/>
                  </a:cubicBezTo>
                  <a:cubicBezTo>
                    <a:pt x="5676" y="1752115"/>
                    <a:pt x="0" y="1738411"/>
                    <a:pt x="0" y="17241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176BB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91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VERİ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12192000" y="3095625"/>
            <a:ext cx="952500" cy="0"/>
          </a:xfrm>
          <a:prstGeom prst="line">
            <a:avLst/>
          </a:prstGeom>
          <a:ln cap="rnd" w="47625">
            <a:solidFill>
              <a:srgbClr val="176BBA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6" id="6"/>
          <p:cNvGrpSpPr/>
          <p:nvPr/>
        </p:nvGrpSpPr>
        <p:grpSpPr>
          <a:xfrm rot="0">
            <a:off x="13144500" y="2428875"/>
            <a:ext cx="3143250" cy="1333500"/>
            <a:chOff x="0" y="0"/>
            <a:chExt cx="4191000" cy="177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91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724121"/>
                  </a:lnTo>
                  <a:cubicBezTo>
                    <a:pt x="4191000" y="1738411"/>
                    <a:pt x="4185324" y="1752115"/>
                    <a:pt x="4175219" y="1762219"/>
                  </a:cubicBezTo>
                  <a:cubicBezTo>
                    <a:pt x="4165115" y="1772324"/>
                    <a:pt x="4151411" y="1778000"/>
                    <a:pt x="4137121" y="1778000"/>
                  </a:cubicBezTo>
                  <a:lnTo>
                    <a:pt x="53879" y="1778000"/>
                  </a:lnTo>
                  <a:cubicBezTo>
                    <a:pt x="39589" y="1778000"/>
                    <a:pt x="25885" y="1772324"/>
                    <a:pt x="15781" y="1762219"/>
                  </a:cubicBezTo>
                  <a:cubicBezTo>
                    <a:pt x="5676" y="1752115"/>
                    <a:pt x="0" y="1738411"/>
                    <a:pt x="0" y="17241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176BBA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191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ÖĞRENME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14716125" y="3762375"/>
            <a:ext cx="0" cy="952500"/>
          </a:xfrm>
          <a:prstGeom prst="line">
            <a:avLst/>
          </a:prstGeom>
          <a:ln cap="rnd" w="47625">
            <a:solidFill>
              <a:srgbClr val="176BBA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9048750" y="4905375"/>
            <a:ext cx="3143250" cy="1333500"/>
            <a:chOff x="0" y="0"/>
            <a:chExt cx="4191000" cy="177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91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724121"/>
                  </a:lnTo>
                  <a:cubicBezTo>
                    <a:pt x="4191000" y="1738411"/>
                    <a:pt x="4185324" y="1752115"/>
                    <a:pt x="4175219" y="1762219"/>
                  </a:cubicBezTo>
                  <a:cubicBezTo>
                    <a:pt x="4165115" y="1772324"/>
                    <a:pt x="4151411" y="1778000"/>
                    <a:pt x="4137121" y="1778000"/>
                  </a:cubicBezTo>
                  <a:lnTo>
                    <a:pt x="53879" y="1778000"/>
                  </a:lnTo>
                  <a:cubicBezTo>
                    <a:pt x="39589" y="1778000"/>
                    <a:pt x="25885" y="1772324"/>
                    <a:pt x="15781" y="1762219"/>
                  </a:cubicBezTo>
                  <a:cubicBezTo>
                    <a:pt x="5676" y="1752115"/>
                    <a:pt x="0" y="1738411"/>
                    <a:pt x="0" y="17241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176BB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191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TAHMİN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12192000" y="5381625"/>
            <a:ext cx="952500" cy="0"/>
          </a:xfrm>
          <a:prstGeom prst="line">
            <a:avLst/>
          </a:prstGeom>
          <a:ln cap="rnd" w="47625">
            <a:solidFill>
              <a:srgbClr val="176BBA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13144500" y="4905375"/>
            <a:ext cx="3143250" cy="1333500"/>
            <a:chOff x="0" y="0"/>
            <a:chExt cx="4191000" cy="1778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91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724121"/>
                  </a:lnTo>
                  <a:cubicBezTo>
                    <a:pt x="4191000" y="1738411"/>
                    <a:pt x="4185324" y="1752115"/>
                    <a:pt x="4175219" y="1762219"/>
                  </a:cubicBezTo>
                  <a:cubicBezTo>
                    <a:pt x="4165115" y="1772324"/>
                    <a:pt x="4151411" y="1778000"/>
                    <a:pt x="4137121" y="1778000"/>
                  </a:cubicBezTo>
                  <a:lnTo>
                    <a:pt x="53879" y="1778000"/>
                  </a:lnTo>
                  <a:cubicBezTo>
                    <a:pt x="39589" y="1778000"/>
                    <a:pt x="25885" y="1772324"/>
                    <a:pt x="15781" y="1762219"/>
                  </a:cubicBezTo>
                  <a:cubicBezTo>
                    <a:pt x="5676" y="1752115"/>
                    <a:pt x="0" y="1738411"/>
                    <a:pt x="0" y="17241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17865C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191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SONUÇ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38200" y="752475"/>
            <a:ext cx="95250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Yapay zekâ nedir?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8200" y="1790700"/>
            <a:ext cx="7429500" cy="63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Bilgisayar sistemlerinin öğrenme, örüntü tanıma, tahmin, dil işleme ve problem çözme gibi görevleri yapabilmesidir.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8200" y="4171950"/>
            <a:ext cx="7239000" cy="31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Çalışma biçimi kullanılan veriye ve yönteme göre değişir.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38200" y="5381625"/>
            <a:ext cx="7429500" cy="1714500"/>
            <a:chOff x="0" y="0"/>
            <a:chExt cx="9906000" cy="2286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0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906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43000" y="5591175"/>
            <a:ext cx="6667500" cy="62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 b="true">
                <a:solidFill>
                  <a:srgbClr val="17865C"/>
                </a:solidFill>
                <a:latin typeface="Aptos Bold"/>
                <a:ea typeface="Aptos Bold"/>
                <a:cs typeface="Aptos Bold"/>
                <a:sym typeface="Aptos Bold"/>
              </a:rPr>
              <a:t>Doğru örnek: Bir sistem, binlerce fotoğraftan öğrendikten sonra yeni bir fotoğraftaki keçiyi sınıflandırabilir.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38200" y="7572375"/>
            <a:ext cx="7429500" cy="1428750"/>
            <a:chOff x="0" y="0"/>
            <a:chExt cx="9906000" cy="1905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906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FFF0E5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906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838200" y="7791450"/>
            <a:ext cx="7429500" cy="60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 b="true">
                <a:solidFill>
                  <a:srgbClr val="C83F3F"/>
                </a:solidFill>
                <a:latin typeface="Aptos Bold"/>
                <a:ea typeface="Aptos Bold"/>
                <a:cs typeface="Aptos Bold"/>
                <a:sym typeface="Aptos Bold"/>
              </a:rPr>
              <a:t>İnsan zekâsının bazı görevlerini taklit eder; insan gibi düşünmez ve bilinçli değildir.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676275"/>
            <a:ext cx="1190625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Yapay zekâ günlük yaşamın içinde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38200" y="2143125"/>
            <a:ext cx="3048000" cy="2381250"/>
            <a:chOff x="0" y="0"/>
            <a:chExt cx="4064000" cy="3175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4064000" cy="3175000"/>
              <a:chOff x="0" y="0"/>
              <a:chExt cx="4064000" cy="3175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064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4064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E8F1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064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429000" y="381000"/>
              <a:ext cx="228600" cy="228600"/>
              <a:chOff x="0" y="0"/>
              <a:chExt cx="228600" cy="2286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86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4B8C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286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55600" y="501650"/>
              <a:ext cx="3619500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800" b="true">
                  <a:solidFill>
                    <a:srgbClr val="176BB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Sesli asistan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55600" y="1323975"/>
              <a:ext cx="36195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Komutu işler, yanıt verir.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171950" y="2143125"/>
            <a:ext cx="3048000" cy="2381250"/>
            <a:chOff x="0" y="0"/>
            <a:chExt cx="4064000" cy="3175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064000" cy="3175000"/>
              <a:chOff x="0" y="0"/>
              <a:chExt cx="4064000" cy="3175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4064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4064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3429000" y="381000"/>
              <a:ext cx="228600" cy="228600"/>
              <a:chOff x="0" y="0"/>
              <a:chExt cx="228600" cy="2286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286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4B8C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286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55600" y="501650"/>
              <a:ext cx="3619500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800" b="true">
                  <a:solidFill>
                    <a:srgbClr val="176BB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Öneri sistemi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55600" y="1323975"/>
              <a:ext cx="36195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Film ve müzik önerir.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505700" y="2143125"/>
            <a:ext cx="3048000" cy="2381250"/>
            <a:chOff x="0" y="0"/>
            <a:chExt cx="4064000" cy="3175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4064000" cy="3175000"/>
              <a:chOff x="0" y="0"/>
              <a:chExt cx="4064000" cy="3175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4064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E8F1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4064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3429000" y="381000"/>
              <a:ext cx="228600" cy="228600"/>
              <a:chOff x="0" y="0"/>
              <a:chExt cx="228600" cy="2286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286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4B8C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2286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55600" y="501650"/>
              <a:ext cx="3619500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800" b="true">
                  <a:solidFill>
                    <a:srgbClr val="176BB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Navigasyon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55600" y="1323975"/>
              <a:ext cx="36195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Trafiği tahmin eder.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839450" y="2143125"/>
            <a:ext cx="3048000" cy="2381250"/>
            <a:chOff x="0" y="0"/>
            <a:chExt cx="4064000" cy="31750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4064000" cy="3175000"/>
              <a:chOff x="0" y="0"/>
              <a:chExt cx="4064000" cy="3175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4064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4064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3429000" y="381000"/>
              <a:ext cx="228600" cy="228600"/>
              <a:chOff x="0" y="0"/>
              <a:chExt cx="228600" cy="2286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286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4B8C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2286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355600" y="501650"/>
              <a:ext cx="3619500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800" b="true">
                  <a:solidFill>
                    <a:srgbClr val="176BB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Çeviri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355600" y="1323975"/>
              <a:ext cx="36195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Diller arasında dönüştürür.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173200" y="2143125"/>
            <a:ext cx="3048000" cy="2381250"/>
            <a:chOff x="0" y="0"/>
            <a:chExt cx="4064000" cy="3175000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4064000" cy="3175000"/>
              <a:chOff x="0" y="0"/>
              <a:chExt cx="4064000" cy="31750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4064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E8F1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4064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3429000" y="381000"/>
              <a:ext cx="228600" cy="228600"/>
              <a:chOff x="0" y="0"/>
              <a:chExt cx="228600" cy="2286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286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4B8C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2286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355600" y="501650"/>
              <a:ext cx="3619500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800" b="true">
                  <a:solidFill>
                    <a:srgbClr val="176BB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Görüntü tanıma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355600" y="1323975"/>
              <a:ext cx="36195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Nesneleri sınıflandırır.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38200" y="5476875"/>
            <a:ext cx="3048000" cy="2381250"/>
            <a:chOff x="0" y="0"/>
            <a:chExt cx="4064000" cy="3175000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4064000" cy="3175000"/>
              <a:chOff x="0" y="0"/>
              <a:chExt cx="4064000" cy="31750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4064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4064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4064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3429000" y="381000"/>
              <a:ext cx="228600" cy="228600"/>
              <a:chOff x="0" y="0"/>
              <a:chExt cx="228600" cy="2286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286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17865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2286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355600" y="501650"/>
              <a:ext cx="3619500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800" b="true">
                  <a:solidFill>
                    <a:srgbClr val="176BB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Sohbet robotu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355600" y="1323975"/>
              <a:ext cx="36195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Yazılı soruları yanıtlar.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4171950" y="5476875"/>
            <a:ext cx="3048000" cy="2381250"/>
            <a:chOff x="0" y="0"/>
            <a:chExt cx="4064000" cy="3175000"/>
          </a:xfrm>
        </p:grpSpPr>
        <p:grpSp>
          <p:nvGrpSpPr>
            <p:cNvPr name="Group 58" id="58"/>
            <p:cNvGrpSpPr/>
            <p:nvPr/>
          </p:nvGrpSpPr>
          <p:grpSpPr>
            <a:xfrm rot="0">
              <a:off x="0" y="0"/>
              <a:ext cx="4064000" cy="3175000"/>
              <a:chOff x="0" y="0"/>
              <a:chExt cx="4064000" cy="317500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4064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4064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E8F1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38100"/>
                <a:ext cx="4064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3429000" y="381000"/>
              <a:ext cx="228600" cy="228600"/>
              <a:chOff x="0" y="0"/>
              <a:chExt cx="228600" cy="2286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286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17865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2286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4" id="64"/>
            <p:cNvSpPr txBox="true"/>
            <p:nvPr/>
          </p:nvSpPr>
          <p:spPr>
            <a:xfrm rot="0">
              <a:off x="355600" y="501650"/>
              <a:ext cx="3619500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800" b="true">
                  <a:solidFill>
                    <a:srgbClr val="176BB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Fotoğraf düzenleme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355600" y="1323975"/>
              <a:ext cx="36195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Işık ve kadrajı iyileştirir.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505700" y="5476875"/>
            <a:ext cx="3048000" cy="2381250"/>
            <a:chOff x="0" y="0"/>
            <a:chExt cx="4064000" cy="3175000"/>
          </a:xfrm>
        </p:grpSpPr>
        <p:grpSp>
          <p:nvGrpSpPr>
            <p:cNvPr name="Group 67" id="67"/>
            <p:cNvGrpSpPr/>
            <p:nvPr/>
          </p:nvGrpSpPr>
          <p:grpSpPr>
            <a:xfrm rot="0">
              <a:off x="0" y="0"/>
              <a:ext cx="4064000" cy="3175000"/>
              <a:chOff x="0" y="0"/>
              <a:chExt cx="4064000" cy="317500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4064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4064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38100"/>
                <a:ext cx="4064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0" id="70"/>
            <p:cNvGrpSpPr/>
            <p:nvPr/>
          </p:nvGrpSpPr>
          <p:grpSpPr>
            <a:xfrm rot="0">
              <a:off x="3429000" y="381000"/>
              <a:ext cx="228600" cy="228600"/>
              <a:chOff x="0" y="0"/>
              <a:chExt cx="228600" cy="228600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2286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17865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38100"/>
                <a:ext cx="2286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3" id="73"/>
            <p:cNvSpPr txBox="true"/>
            <p:nvPr/>
          </p:nvSpPr>
          <p:spPr>
            <a:xfrm rot="0">
              <a:off x="355600" y="501650"/>
              <a:ext cx="3619500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800" b="true">
                  <a:solidFill>
                    <a:srgbClr val="176BB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E-posta filtresi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0">
              <a:off x="355600" y="1323975"/>
              <a:ext cx="36195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İstenmeyeni ayırır.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839450" y="5476875"/>
            <a:ext cx="3048000" cy="2381250"/>
            <a:chOff x="0" y="0"/>
            <a:chExt cx="4064000" cy="3175000"/>
          </a:xfrm>
        </p:grpSpPr>
        <p:grpSp>
          <p:nvGrpSpPr>
            <p:cNvPr name="Group 76" id="76"/>
            <p:cNvGrpSpPr/>
            <p:nvPr/>
          </p:nvGrpSpPr>
          <p:grpSpPr>
            <a:xfrm rot="0">
              <a:off x="0" y="0"/>
              <a:ext cx="4064000" cy="3175000"/>
              <a:chOff x="0" y="0"/>
              <a:chExt cx="4064000" cy="3175000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4064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4064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E8F1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38100"/>
                <a:ext cx="4064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3429000" y="381000"/>
              <a:ext cx="228600" cy="228600"/>
              <a:chOff x="0" y="0"/>
              <a:chExt cx="228600" cy="228600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2286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17865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38100"/>
                <a:ext cx="2286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2" id="82"/>
            <p:cNvSpPr txBox="true"/>
            <p:nvPr/>
          </p:nvSpPr>
          <p:spPr>
            <a:xfrm rot="0">
              <a:off x="355600" y="501650"/>
              <a:ext cx="3619500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800" b="true">
                  <a:solidFill>
                    <a:srgbClr val="176BB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Eğitim</a:t>
              </a:r>
            </a:p>
          </p:txBody>
        </p:sp>
        <p:sp>
          <p:nvSpPr>
            <p:cNvPr name="TextBox 83" id="83"/>
            <p:cNvSpPr txBox="true"/>
            <p:nvPr/>
          </p:nvSpPr>
          <p:spPr>
            <a:xfrm rot="0">
              <a:off x="355600" y="1323975"/>
              <a:ext cx="36195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Ek alıştırma önerir.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4173200" y="5476875"/>
            <a:ext cx="3048000" cy="2381250"/>
            <a:chOff x="0" y="0"/>
            <a:chExt cx="4064000" cy="3175000"/>
          </a:xfrm>
        </p:grpSpPr>
        <p:grpSp>
          <p:nvGrpSpPr>
            <p:cNvPr name="Group 85" id="85"/>
            <p:cNvGrpSpPr/>
            <p:nvPr/>
          </p:nvGrpSpPr>
          <p:grpSpPr>
            <a:xfrm rot="0">
              <a:off x="0" y="0"/>
              <a:ext cx="4064000" cy="3175000"/>
              <a:chOff x="0" y="0"/>
              <a:chExt cx="4064000" cy="3175000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4064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4064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-38100"/>
                <a:ext cx="4064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3429000" y="381000"/>
              <a:ext cx="228600" cy="228600"/>
              <a:chOff x="0" y="0"/>
              <a:chExt cx="228600" cy="228600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2286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17865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-38100"/>
                <a:ext cx="2286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1" id="91"/>
            <p:cNvSpPr txBox="true"/>
            <p:nvPr/>
          </p:nvSpPr>
          <p:spPr>
            <a:xfrm rot="0">
              <a:off x="355600" y="501650"/>
              <a:ext cx="3619500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800" b="true">
                  <a:solidFill>
                    <a:srgbClr val="176BB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Sağlık</a:t>
              </a:r>
            </a:p>
          </p:txBody>
        </p:sp>
        <p:sp>
          <p:nvSpPr>
            <p:cNvPr name="TextBox 92" id="92"/>
            <p:cNvSpPr txBox="true"/>
            <p:nvPr/>
          </p:nvSpPr>
          <p:spPr>
            <a:xfrm rot="0">
              <a:off x="355600" y="1323975"/>
              <a:ext cx="36195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Görüntüleri işaretler.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375" y="2809875"/>
            <a:ext cx="2571750" cy="1619250"/>
            <a:chOff x="0" y="0"/>
            <a:chExt cx="3429000" cy="2159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2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429000">
                  <a:moveTo>
                    <a:pt x="65852" y="0"/>
                  </a:moveTo>
                  <a:lnTo>
                    <a:pt x="3363148" y="0"/>
                  </a:lnTo>
                  <a:cubicBezTo>
                    <a:pt x="3399517" y="0"/>
                    <a:pt x="3429000" y="29483"/>
                    <a:pt x="3429000" y="65852"/>
                  </a:cubicBezTo>
                  <a:lnTo>
                    <a:pt x="3429000" y="2093148"/>
                  </a:lnTo>
                  <a:cubicBezTo>
                    <a:pt x="3429000" y="2129517"/>
                    <a:pt x="3399517" y="2159000"/>
                    <a:pt x="3363148" y="2159000"/>
                  </a:cubicBezTo>
                  <a:lnTo>
                    <a:pt x="65852" y="2159000"/>
                  </a:lnTo>
                  <a:cubicBezTo>
                    <a:pt x="29483" y="2159000"/>
                    <a:pt x="0" y="2129517"/>
                    <a:pt x="0" y="2093148"/>
                  </a:cubicBezTo>
                  <a:lnTo>
                    <a:pt x="0" y="65852"/>
                  </a:lnTo>
                  <a:cubicBezTo>
                    <a:pt x="0" y="29483"/>
                    <a:pt x="29483" y="0"/>
                    <a:pt x="65852" y="0"/>
                  </a:cubicBezTo>
                  <a:close/>
                </a:path>
              </a:pathLst>
            </a:custGeom>
            <a:solidFill>
              <a:srgbClr val="176BB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29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KULLANICI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KOMUTU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3286125" y="3619500"/>
            <a:ext cx="809625" cy="0"/>
          </a:xfrm>
          <a:prstGeom prst="line">
            <a:avLst/>
          </a:prstGeom>
          <a:ln cap="rnd" w="47625">
            <a:solidFill>
              <a:srgbClr val="24B8C4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6" id="6"/>
          <p:cNvGrpSpPr/>
          <p:nvPr/>
        </p:nvGrpSpPr>
        <p:grpSpPr>
          <a:xfrm rot="0">
            <a:off x="4191000" y="2809875"/>
            <a:ext cx="2571750" cy="1619250"/>
            <a:chOff x="0" y="0"/>
            <a:chExt cx="3429000" cy="2159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2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429000">
                  <a:moveTo>
                    <a:pt x="65852" y="0"/>
                  </a:moveTo>
                  <a:lnTo>
                    <a:pt x="3363148" y="0"/>
                  </a:lnTo>
                  <a:cubicBezTo>
                    <a:pt x="3399517" y="0"/>
                    <a:pt x="3429000" y="29483"/>
                    <a:pt x="3429000" y="65852"/>
                  </a:cubicBezTo>
                  <a:lnTo>
                    <a:pt x="3429000" y="2093148"/>
                  </a:lnTo>
                  <a:cubicBezTo>
                    <a:pt x="3429000" y="2129517"/>
                    <a:pt x="3399517" y="2159000"/>
                    <a:pt x="3363148" y="2159000"/>
                  </a:cubicBezTo>
                  <a:lnTo>
                    <a:pt x="65852" y="2159000"/>
                  </a:lnTo>
                  <a:cubicBezTo>
                    <a:pt x="29483" y="2159000"/>
                    <a:pt x="0" y="2129517"/>
                    <a:pt x="0" y="2093148"/>
                  </a:cubicBezTo>
                  <a:lnTo>
                    <a:pt x="0" y="65852"/>
                  </a:lnTo>
                  <a:cubicBezTo>
                    <a:pt x="0" y="29483"/>
                    <a:pt x="29483" y="0"/>
                    <a:pt x="65852" y="0"/>
                  </a:cubicBezTo>
                  <a:close/>
                </a:path>
              </a:pathLst>
            </a:custGeom>
            <a:solidFill>
              <a:srgbClr val="176BBA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429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SES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İŞLEME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6762750" y="3619500"/>
            <a:ext cx="809625" cy="0"/>
          </a:xfrm>
          <a:prstGeom prst="line">
            <a:avLst/>
          </a:prstGeom>
          <a:ln cap="rnd" w="47625">
            <a:solidFill>
              <a:srgbClr val="24B8C4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7667625" y="2809875"/>
            <a:ext cx="2571750" cy="1619250"/>
            <a:chOff x="0" y="0"/>
            <a:chExt cx="3429000" cy="215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2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429000">
                  <a:moveTo>
                    <a:pt x="65852" y="0"/>
                  </a:moveTo>
                  <a:lnTo>
                    <a:pt x="3363148" y="0"/>
                  </a:lnTo>
                  <a:cubicBezTo>
                    <a:pt x="3399517" y="0"/>
                    <a:pt x="3429000" y="29483"/>
                    <a:pt x="3429000" y="65852"/>
                  </a:cubicBezTo>
                  <a:lnTo>
                    <a:pt x="3429000" y="2093148"/>
                  </a:lnTo>
                  <a:cubicBezTo>
                    <a:pt x="3429000" y="2129517"/>
                    <a:pt x="3399517" y="2159000"/>
                    <a:pt x="3363148" y="2159000"/>
                  </a:cubicBezTo>
                  <a:lnTo>
                    <a:pt x="65852" y="2159000"/>
                  </a:lnTo>
                  <a:cubicBezTo>
                    <a:pt x="29483" y="2159000"/>
                    <a:pt x="0" y="2129517"/>
                    <a:pt x="0" y="2093148"/>
                  </a:cubicBezTo>
                  <a:lnTo>
                    <a:pt x="0" y="65852"/>
                  </a:lnTo>
                  <a:cubicBezTo>
                    <a:pt x="0" y="29483"/>
                    <a:pt x="29483" y="0"/>
                    <a:pt x="65852" y="0"/>
                  </a:cubicBezTo>
                  <a:close/>
                </a:path>
              </a:pathLst>
            </a:custGeom>
            <a:solidFill>
              <a:srgbClr val="176BB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429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KOMUTU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ANLAMA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10239375" y="3619500"/>
            <a:ext cx="809625" cy="0"/>
          </a:xfrm>
          <a:prstGeom prst="line">
            <a:avLst/>
          </a:prstGeom>
          <a:ln cap="rnd" w="47625">
            <a:solidFill>
              <a:srgbClr val="24B8C4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11144250" y="2809875"/>
            <a:ext cx="2571750" cy="1619250"/>
            <a:chOff x="0" y="0"/>
            <a:chExt cx="3429000" cy="2159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2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429000">
                  <a:moveTo>
                    <a:pt x="65852" y="0"/>
                  </a:moveTo>
                  <a:lnTo>
                    <a:pt x="3363148" y="0"/>
                  </a:lnTo>
                  <a:cubicBezTo>
                    <a:pt x="3399517" y="0"/>
                    <a:pt x="3429000" y="29483"/>
                    <a:pt x="3429000" y="65852"/>
                  </a:cubicBezTo>
                  <a:lnTo>
                    <a:pt x="3429000" y="2093148"/>
                  </a:lnTo>
                  <a:cubicBezTo>
                    <a:pt x="3429000" y="2129517"/>
                    <a:pt x="3399517" y="2159000"/>
                    <a:pt x="3363148" y="2159000"/>
                  </a:cubicBezTo>
                  <a:lnTo>
                    <a:pt x="65852" y="2159000"/>
                  </a:lnTo>
                  <a:cubicBezTo>
                    <a:pt x="29483" y="2159000"/>
                    <a:pt x="0" y="2129517"/>
                    <a:pt x="0" y="2093148"/>
                  </a:cubicBezTo>
                  <a:lnTo>
                    <a:pt x="0" y="65852"/>
                  </a:lnTo>
                  <a:cubicBezTo>
                    <a:pt x="0" y="29483"/>
                    <a:pt x="29483" y="0"/>
                    <a:pt x="65852" y="0"/>
                  </a:cubicBezTo>
                  <a:close/>
                </a:path>
              </a:pathLst>
            </a:custGeom>
            <a:solidFill>
              <a:srgbClr val="176BBA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429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YANIT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OLUŞTURMA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3716000" y="3619500"/>
            <a:ext cx="809625" cy="0"/>
          </a:xfrm>
          <a:prstGeom prst="line">
            <a:avLst/>
          </a:prstGeom>
          <a:ln cap="rnd" w="47625">
            <a:solidFill>
              <a:srgbClr val="24B8C4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14620875" y="2809875"/>
            <a:ext cx="2571750" cy="1619250"/>
            <a:chOff x="0" y="0"/>
            <a:chExt cx="3429000" cy="2159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2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429000">
                  <a:moveTo>
                    <a:pt x="65852" y="0"/>
                  </a:moveTo>
                  <a:lnTo>
                    <a:pt x="3363148" y="0"/>
                  </a:lnTo>
                  <a:cubicBezTo>
                    <a:pt x="3399517" y="0"/>
                    <a:pt x="3429000" y="29483"/>
                    <a:pt x="3429000" y="65852"/>
                  </a:cubicBezTo>
                  <a:lnTo>
                    <a:pt x="3429000" y="2093148"/>
                  </a:lnTo>
                  <a:cubicBezTo>
                    <a:pt x="3429000" y="2129517"/>
                    <a:pt x="3399517" y="2159000"/>
                    <a:pt x="3363148" y="2159000"/>
                  </a:cubicBezTo>
                  <a:lnTo>
                    <a:pt x="65852" y="2159000"/>
                  </a:lnTo>
                  <a:cubicBezTo>
                    <a:pt x="29483" y="2159000"/>
                    <a:pt x="0" y="2129517"/>
                    <a:pt x="0" y="2093148"/>
                  </a:cubicBezTo>
                  <a:lnTo>
                    <a:pt x="0" y="65852"/>
                  </a:lnTo>
                  <a:cubicBezTo>
                    <a:pt x="0" y="29483"/>
                    <a:pt x="29483" y="0"/>
                    <a:pt x="65852" y="0"/>
                  </a:cubicBezTo>
                  <a:close/>
                </a:path>
              </a:pathLst>
            </a:custGeom>
            <a:solidFill>
              <a:srgbClr val="17865C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429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KULLANICIYA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SUNMA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38200" y="685800"/>
            <a:ext cx="1190625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Sesli asistanlar nasıl çalışır?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8200" y="7315200"/>
            <a:ext cx="13811250" cy="31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Örnek komutlar: “Yarın hava nasıl?” • “Bir zamanlayıcı başlat” • “Bir kişiyi ara”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38200" y="8191500"/>
            <a:ext cx="15811500" cy="1143000"/>
            <a:chOff x="0" y="0"/>
            <a:chExt cx="21082000" cy="1524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08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1082000">
                  <a:moveTo>
                    <a:pt x="0" y="0"/>
                  </a:moveTo>
                  <a:lnTo>
                    <a:pt x="21082000" y="0"/>
                  </a:lnTo>
                  <a:lnTo>
                    <a:pt x="21082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0E5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1082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43000" y="8467725"/>
            <a:ext cx="14287500" cy="29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 b="true">
                <a:solidFill>
                  <a:srgbClr val="C83F3F"/>
                </a:solidFill>
                <a:latin typeface="Aptos Bold"/>
                <a:ea typeface="Aptos Bold"/>
                <a:cs typeface="Aptos Bold"/>
                <a:sym typeface="Aptos Bold"/>
              </a:rPr>
              <a:t>UYARI  Gürültü, aksan veya belirsiz ifadeler nedeniyle her zaman doğru anlama garantisi yoktur.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685800"/>
            <a:ext cx="1285875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İnsan ve yapay zekâ: Benzerlikler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190750"/>
            <a:ext cx="6667500" cy="4762500"/>
            <a:chOff x="0" y="0"/>
            <a:chExt cx="889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89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E8F1FA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890000" cy="638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572750" y="2190750"/>
            <a:ext cx="6667500" cy="4762500"/>
            <a:chOff x="0" y="0"/>
            <a:chExt cx="889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89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DFF5E9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890000" cy="638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91250" y="2667000"/>
            <a:ext cx="5905500" cy="3619500"/>
            <a:chOff x="0" y="0"/>
            <a:chExt cx="7874000" cy="482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740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4826000"/>
                  </a:lnTo>
                  <a:lnTo>
                    <a:pt x="0" y="4826000"/>
                  </a:lnTo>
                  <a:close/>
                </a:path>
              </a:pathLst>
            </a:custGeom>
            <a:solidFill>
              <a:srgbClr val="176BBA">
                <a:alpha val="9372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8740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28750" y="2562225"/>
            <a:ext cx="5238750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İNSAN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• Deneyimden öğrenir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• Örüntüleri fark eder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• Dil kullanır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20500" y="2562225"/>
            <a:ext cx="5238750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YAPAY ZEKÂ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• Veriden öğrenir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• Örüntüleri bulur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• Dili işler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0" y="3295650"/>
            <a:ext cx="4953000" cy="127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2"/>
              </a:lnSpc>
            </a:pPr>
            <a:r>
              <a:rPr lang="en-US" sz="25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ORTAK GÖREVLER</a:t>
            </a:r>
          </a:p>
          <a:p>
            <a:pPr algn="ctr">
              <a:lnSpc>
                <a:spcPts val="3442"/>
              </a:lnSpc>
            </a:pPr>
            <a:r>
              <a:rPr lang="en-US" sz="25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çözme</a:t>
            </a:r>
          </a:p>
          <a:p>
            <a:pPr algn="ctr">
              <a:lnSpc>
                <a:spcPts val="3442"/>
              </a:lnSpc>
            </a:pPr>
            <a:r>
              <a:rPr lang="en-US" sz="25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Tahmin • Sınıflandırma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714500" y="7524750"/>
            <a:ext cx="14859000" cy="1285875"/>
            <a:chOff x="0" y="0"/>
            <a:chExt cx="19812000" cy="1714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812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19812000">
                  <a:moveTo>
                    <a:pt x="0" y="0"/>
                  </a:moveTo>
                  <a:lnTo>
                    <a:pt x="19812000" y="0"/>
                  </a:lnTo>
                  <a:lnTo>
                    <a:pt x="1981200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812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190750" y="7781925"/>
            <a:ext cx="139065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 b="true">
                <a:solidFill>
                  <a:srgbClr val="17865C"/>
                </a:solidFill>
                <a:latin typeface="Aptos Bold"/>
                <a:ea typeface="Aptos Bold"/>
                <a:cs typeface="Aptos Bold"/>
                <a:sym typeface="Aptos Bold"/>
              </a:rPr>
              <a:t>ÖRNEK  Hem bir insan hem de eğitilmiş bir sistem, fotoğrafta keçi olup olmadığını belirleyebilir.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657225"/>
            <a:ext cx="12382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İnsan ve yapay zekâ aynı değildir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90625" y="1714500"/>
            <a:ext cx="3238500" cy="571500"/>
            <a:chOff x="0" y="0"/>
            <a:chExt cx="4318000" cy="762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18000" cy="762000"/>
            </a:xfrm>
            <a:custGeom>
              <a:avLst/>
              <a:gdLst/>
              <a:ahLst/>
              <a:cxnLst/>
              <a:rect r="r" b="b" t="t" l="l"/>
              <a:pathLst>
                <a:path h="762000" w="43180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709706"/>
                  </a:lnTo>
                  <a:cubicBezTo>
                    <a:pt x="4318000" y="738587"/>
                    <a:pt x="4294587" y="762000"/>
                    <a:pt x="4265706" y="762000"/>
                  </a:cubicBezTo>
                  <a:lnTo>
                    <a:pt x="52294" y="762000"/>
                  </a:lnTo>
                  <a:cubicBezTo>
                    <a:pt x="23413" y="762000"/>
                    <a:pt x="0" y="738587"/>
                    <a:pt x="0" y="7097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10283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18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ÖLÇÜT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429125" y="1714500"/>
            <a:ext cx="5810250" cy="571500"/>
            <a:chOff x="0" y="0"/>
            <a:chExt cx="7747000" cy="762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47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747000">
                  <a:moveTo>
                    <a:pt x="29148" y="0"/>
                  </a:moveTo>
                  <a:lnTo>
                    <a:pt x="7717852" y="0"/>
                  </a:lnTo>
                  <a:cubicBezTo>
                    <a:pt x="7733950" y="0"/>
                    <a:pt x="7747000" y="13050"/>
                    <a:pt x="7747000" y="29148"/>
                  </a:cubicBezTo>
                  <a:lnTo>
                    <a:pt x="7747000" y="732852"/>
                  </a:lnTo>
                  <a:cubicBezTo>
                    <a:pt x="7747000" y="748950"/>
                    <a:pt x="7733950" y="762000"/>
                    <a:pt x="7717852" y="762000"/>
                  </a:cubicBezTo>
                  <a:lnTo>
                    <a:pt x="29148" y="762000"/>
                  </a:lnTo>
                  <a:cubicBezTo>
                    <a:pt x="13050" y="762000"/>
                    <a:pt x="0" y="748950"/>
                    <a:pt x="0" y="732852"/>
                  </a:cubicBezTo>
                  <a:lnTo>
                    <a:pt x="0" y="29148"/>
                  </a:lnTo>
                  <a:cubicBezTo>
                    <a:pt x="0" y="13050"/>
                    <a:pt x="13050" y="0"/>
                    <a:pt x="29148" y="0"/>
                  </a:cubicBezTo>
                  <a:close/>
                </a:path>
              </a:pathLst>
            </a:custGeom>
            <a:solidFill>
              <a:srgbClr val="176BBA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747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İNSAN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39375" y="1714500"/>
            <a:ext cx="6667500" cy="571500"/>
            <a:chOff x="0" y="0"/>
            <a:chExt cx="8890000" cy="762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89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8890000">
                  <a:moveTo>
                    <a:pt x="25400" y="0"/>
                  </a:moveTo>
                  <a:lnTo>
                    <a:pt x="8864600" y="0"/>
                  </a:lnTo>
                  <a:cubicBezTo>
                    <a:pt x="8878628" y="0"/>
                    <a:pt x="8890000" y="11372"/>
                    <a:pt x="8890000" y="25400"/>
                  </a:cubicBezTo>
                  <a:lnTo>
                    <a:pt x="8890000" y="736600"/>
                  </a:lnTo>
                  <a:cubicBezTo>
                    <a:pt x="8890000" y="750628"/>
                    <a:pt x="8878628" y="762000"/>
                    <a:pt x="8864600" y="762000"/>
                  </a:cubicBezTo>
                  <a:lnTo>
                    <a:pt x="25400" y="762000"/>
                  </a:lnTo>
                  <a:cubicBezTo>
                    <a:pt x="11372" y="762000"/>
                    <a:pt x="0" y="750628"/>
                    <a:pt x="0" y="7366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ED7A2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89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YAPAY ZEKÂ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90625" y="2333625"/>
            <a:ext cx="15716250" cy="1028700"/>
            <a:chOff x="0" y="0"/>
            <a:chExt cx="20955000" cy="1371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955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E8F1F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955000" cy="140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90625" y="2343150"/>
            <a:ext cx="15716250" cy="101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Öğrenme</a:t>
            </a:r>
          </a:p>
          <a:p>
            <a:pPr algn="l">
              <a:lnSpc>
                <a:spcPts val="2769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Yaşam ve eğitim</a:t>
            </a:r>
          </a:p>
          <a:p>
            <a:pPr algn="l">
              <a:lnSpc>
                <a:spcPts val="2769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Veri ve algoritma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90625" y="3524250"/>
            <a:ext cx="15716250" cy="1028700"/>
            <a:chOff x="0" y="0"/>
            <a:chExt cx="20955000" cy="1371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955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955000" cy="140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90625" y="3533775"/>
            <a:ext cx="15716250" cy="101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Duygular</a:t>
            </a:r>
          </a:p>
          <a:p>
            <a:pPr algn="l">
              <a:lnSpc>
                <a:spcPts val="2769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Vardır</a:t>
            </a:r>
          </a:p>
          <a:p>
            <a:pPr algn="l">
              <a:lnSpc>
                <a:spcPts val="2769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Yoktur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90625" y="4714875"/>
            <a:ext cx="15716250" cy="1028700"/>
            <a:chOff x="0" y="0"/>
            <a:chExt cx="20955000" cy="137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955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E8F1FA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0955000" cy="140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90625" y="4724400"/>
            <a:ext cx="15716250" cy="101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Genel uyum</a:t>
            </a:r>
          </a:p>
          <a:p>
            <a:pPr algn="l">
              <a:lnSpc>
                <a:spcPts val="2769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Yeni durumlara geniş uyum</a:t>
            </a:r>
          </a:p>
          <a:p>
            <a:pPr algn="l">
              <a:lnSpc>
                <a:spcPts val="2769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Eğitildiği görevle sınırlı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90625" y="5905500"/>
            <a:ext cx="15716250" cy="1028700"/>
            <a:chOff x="0" y="0"/>
            <a:chExt cx="20955000" cy="1371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955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0955000" cy="140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90625" y="5915025"/>
            <a:ext cx="15716250" cy="101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Hata</a:t>
            </a:r>
          </a:p>
          <a:p>
            <a:pPr algn="l">
              <a:lnSpc>
                <a:spcPts val="2769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Yorgunluk, dikkat, bilgi</a:t>
            </a:r>
          </a:p>
          <a:p>
            <a:pPr algn="l">
              <a:lnSpc>
                <a:spcPts val="2769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Veri, model, bağlam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90625" y="7096125"/>
            <a:ext cx="15716250" cy="1028700"/>
            <a:chOff x="0" y="0"/>
            <a:chExt cx="20955000" cy="1371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955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E8F1FA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0955000" cy="140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90625" y="7105650"/>
            <a:ext cx="15716250" cy="101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Deneyim</a:t>
            </a:r>
          </a:p>
          <a:p>
            <a:pPr algn="l">
              <a:lnSpc>
                <a:spcPts val="2769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Bedensel ve toplumsal</a:t>
            </a:r>
          </a:p>
          <a:p>
            <a:pPr algn="l">
              <a:lnSpc>
                <a:spcPts val="2769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Sayısal örnekler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38200" y="8334375"/>
            <a:ext cx="16097250" cy="1047750"/>
            <a:chOff x="0" y="0"/>
            <a:chExt cx="21463000" cy="1397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463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1463000">
                  <a:moveTo>
                    <a:pt x="0" y="0"/>
                  </a:moveTo>
                  <a:lnTo>
                    <a:pt x="21463000" y="0"/>
                  </a:lnTo>
                  <a:lnTo>
                    <a:pt x="21463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F0E5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1463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85875" y="8553450"/>
            <a:ext cx="14763750" cy="32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 b="true">
                <a:solidFill>
                  <a:srgbClr val="C83F3F"/>
                </a:solidFill>
                <a:latin typeface="Aptos Bold"/>
                <a:ea typeface="Aptos Bold"/>
                <a:cs typeface="Aptos Bold"/>
                <a:sym typeface="Aptos Bold"/>
              </a:rPr>
              <a:t>SINAV İPUCU  Yapay zekâ bilinçli değildir; sonuçları veri ve algoritmaların sınırları içindedir.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685800"/>
            <a:ext cx="133350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Bir fikirden üretken yapay zekâya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1333500"/>
            <a:ext cx="8572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4B8C4"/>
                </a:solidFill>
                <a:latin typeface="Aptos"/>
                <a:ea typeface="Aptos"/>
                <a:cs typeface="Aptos"/>
                <a:sym typeface="Aptos"/>
              </a:rPr>
              <a:t>Yapay zekânın tarihsel gelişimi</a:t>
            </a:r>
          </a:p>
        </p:txBody>
      </p:sp>
      <p:sp>
        <p:nvSpPr>
          <p:cNvPr name="AutoShape 4" id="4"/>
          <p:cNvSpPr/>
          <p:nvPr/>
        </p:nvSpPr>
        <p:spPr>
          <a:xfrm>
            <a:off x="1238250" y="4762500"/>
            <a:ext cx="15811500" cy="0"/>
          </a:xfrm>
          <a:prstGeom prst="line">
            <a:avLst/>
          </a:prstGeom>
          <a:ln cap="rnd" w="66675">
            <a:solidFill>
              <a:srgbClr val="24B8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428750" y="4476750"/>
            <a:ext cx="571500" cy="571500"/>
            <a:chOff x="0" y="0"/>
            <a:chExt cx="762000" cy="76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420" y="0"/>
                    <a:pt x="762000" y="170580"/>
                    <a:pt x="762000" y="381000"/>
                  </a:cubicBezTo>
                  <a:cubicBezTo>
                    <a:pt x="762000" y="591420"/>
                    <a:pt x="591420" y="762000"/>
                    <a:pt x="381000" y="762000"/>
                  </a:cubicBezTo>
                  <a:cubicBezTo>
                    <a:pt x="170580" y="762000"/>
                    <a:pt x="0" y="591420"/>
                    <a:pt x="0" y="381000"/>
                  </a:cubicBez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7650A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810000" y="4476750"/>
            <a:ext cx="571500" cy="571500"/>
            <a:chOff x="0" y="0"/>
            <a:chExt cx="762000" cy="76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420" y="0"/>
                    <a:pt x="762000" y="170580"/>
                    <a:pt x="762000" y="381000"/>
                  </a:cubicBezTo>
                  <a:cubicBezTo>
                    <a:pt x="762000" y="591420"/>
                    <a:pt x="591420" y="762000"/>
                    <a:pt x="381000" y="762000"/>
                  </a:cubicBezTo>
                  <a:cubicBezTo>
                    <a:pt x="170580" y="762000"/>
                    <a:pt x="0" y="591420"/>
                    <a:pt x="0" y="381000"/>
                  </a:cubicBez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24B8C4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86500" y="4476750"/>
            <a:ext cx="571500" cy="571500"/>
            <a:chOff x="0" y="0"/>
            <a:chExt cx="762000" cy="762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420" y="0"/>
                    <a:pt x="762000" y="170580"/>
                    <a:pt x="762000" y="381000"/>
                  </a:cubicBezTo>
                  <a:cubicBezTo>
                    <a:pt x="762000" y="591420"/>
                    <a:pt x="591420" y="762000"/>
                    <a:pt x="381000" y="762000"/>
                  </a:cubicBezTo>
                  <a:cubicBezTo>
                    <a:pt x="170580" y="762000"/>
                    <a:pt x="0" y="591420"/>
                    <a:pt x="0" y="381000"/>
                  </a:cubicBez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7650A6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763000" y="4476750"/>
            <a:ext cx="571500" cy="571500"/>
            <a:chOff x="0" y="0"/>
            <a:chExt cx="762000" cy="76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420" y="0"/>
                    <a:pt x="762000" y="170580"/>
                    <a:pt x="762000" y="381000"/>
                  </a:cubicBezTo>
                  <a:cubicBezTo>
                    <a:pt x="762000" y="591420"/>
                    <a:pt x="591420" y="762000"/>
                    <a:pt x="381000" y="762000"/>
                  </a:cubicBezTo>
                  <a:cubicBezTo>
                    <a:pt x="170580" y="762000"/>
                    <a:pt x="0" y="591420"/>
                    <a:pt x="0" y="381000"/>
                  </a:cubicBez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24B8C4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334750" y="4476750"/>
            <a:ext cx="571500" cy="571500"/>
            <a:chOff x="0" y="0"/>
            <a:chExt cx="762000" cy="762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420" y="0"/>
                    <a:pt x="762000" y="170580"/>
                    <a:pt x="762000" y="381000"/>
                  </a:cubicBezTo>
                  <a:cubicBezTo>
                    <a:pt x="762000" y="591420"/>
                    <a:pt x="591420" y="762000"/>
                    <a:pt x="381000" y="762000"/>
                  </a:cubicBezTo>
                  <a:cubicBezTo>
                    <a:pt x="170580" y="762000"/>
                    <a:pt x="0" y="591420"/>
                    <a:pt x="0" y="381000"/>
                  </a:cubicBez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7650A6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001750" y="4476750"/>
            <a:ext cx="571500" cy="571500"/>
            <a:chOff x="0" y="0"/>
            <a:chExt cx="762000" cy="762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420" y="0"/>
                    <a:pt x="762000" y="170580"/>
                    <a:pt x="762000" y="381000"/>
                  </a:cubicBezTo>
                  <a:cubicBezTo>
                    <a:pt x="762000" y="591420"/>
                    <a:pt x="591420" y="762000"/>
                    <a:pt x="381000" y="762000"/>
                  </a:cubicBezTo>
                  <a:cubicBezTo>
                    <a:pt x="170580" y="762000"/>
                    <a:pt x="0" y="591420"/>
                    <a:pt x="0" y="381000"/>
                  </a:cubicBez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24B8C4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287750" y="4476750"/>
            <a:ext cx="571500" cy="571500"/>
            <a:chOff x="0" y="0"/>
            <a:chExt cx="762000" cy="762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420" y="0"/>
                    <a:pt x="762000" y="170580"/>
                    <a:pt x="762000" y="381000"/>
                  </a:cubicBezTo>
                  <a:cubicBezTo>
                    <a:pt x="762000" y="591420"/>
                    <a:pt x="591420" y="762000"/>
                    <a:pt x="381000" y="762000"/>
                  </a:cubicBezTo>
                  <a:cubicBezTo>
                    <a:pt x="170580" y="762000"/>
                    <a:pt x="0" y="591420"/>
                    <a:pt x="0" y="381000"/>
                  </a:cubicBez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7650A6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09625" y="2800350"/>
            <a:ext cx="2190750" cy="531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1930–40’lar</a:t>
            </a:r>
          </a:p>
          <a:p>
            <a:pPr algn="l">
              <a:lnSpc>
                <a:spcPts val="2156"/>
              </a:lnSpc>
            </a:pPr>
            <a:r>
              <a:rPr lang="en-US" sz="17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Hesaplama kuramı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143250" y="5324475"/>
            <a:ext cx="2286000" cy="569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1950</a:t>
            </a:r>
          </a:p>
          <a:p>
            <a:pPr algn="l">
              <a:lnSpc>
                <a:spcPts val="225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Turing’in makalesi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619750" y="2800350"/>
            <a:ext cx="2095500" cy="58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1956</a:t>
            </a:r>
          </a:p>
          <a:p>
            <a:pPr algn="l">
              <a:lnSpc>
                <a:spcPts val="2343"/>
              </a:lnSpc>
            </a:pPr>
            <a:r>
              <a:rPr lang="en-US" sz="18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Dartmouth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96250" y="5324475"/>
            <a:ext cx="2286000" cy="58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1970–90’lar</a:t>
            </a:r>
          </a:p>
          <a:p>
            <a:pPr algn="l">
              <a:lnSpc>
                <a:spcPts val="2343"/>
              </a:lnSpc>
            </a:pPr>
            <a:r>
              <a:rPr lang="en-US" sz="18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Uzman sistemler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572750" y="2809875"/>
            <a:ext cx="2571750" cy="410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2010’lar</a:t>
            </a:r>
          </a:p>
          <a:p>
            <a:pPr algn="l">
              <a:lnSpc>
                <a:spcPts val="1687"/>
              </a:lnSpc>
            </a:pPr>
            <a:r>
              <a:rPr lang="en-US" sz="1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Büyük veri + derin öğrenme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335000" y="5324475"/>
            <a:ext cx="2095500" cy="58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2017</a:t>
            </a:r>
          </a:p>
          <a:p>
            <a:pPr algn="l">
              <a:lnSpc>
                <a:spcPts val="2343"/>
              </a:lnSpc>
            </a:pPr>
            <a:r>
              <a:rPr lang="en-US" sz="18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Transformer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621000" y="2800350"/>
            <a:ext cx="2095500" cy="494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5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2020’ler</a:t>
            </a:r>
          </a:p>
          <a:p>
            <a:pPr algn="l">
              <a:lnSpc>
                <a:spcPts val="1968"/>
              </a:lnSpc>
            </a:pPr>
            <a:r>
              <a:rPr lang="en-US" sz="15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Üretken yapay zekâ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239000" cy="10287000"/>
          </a:xfrm>
          <a:custGeom>
            <a:avLst/>
            <a:gdLst/>
            <a:ahLst/>
            <a:cxnLst/>
            <a:rect r="r" b="b" t="t" l="l"/>
            <a:pathLst>
              <a:path h="10287000" w="7239000">
                <a:moveTo>
                  <a:pt x="0" y="0"/>
                </a:moveTo>
                <a:lnTo>
                  <a:pt x="7239000" y="0"/>
                </a:lnTo>
                <a:lnTo>
                  <a:pt x="7239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" t="0" r="-3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239000" y="0"/>
            <a:ext cx="228600" cy="10287000"/>
            <a:chOff x="0" y="0"/>
            <a:chExt cx="3048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4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50A6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4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096250" y="876300"/>
            <a:ext cx="885825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Alan Turing kimdir?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96250" y="2409825"/>
            <a:ext cx="8477250" cy="1284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• İngiliz matematikçi ve bilgisayar bilimi öncüsü</a:t>
            </a:r>
          </a:p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• II. Dünya Savaşı’nda Enigma şifrelerinin çözümüne katkı</a:t>
            </a:r>
          </a:p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• 1950’de “Computing Machinery and Intelligence” makalesi</a:t>
            </a:r>
          </a:p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• “Makineler düşünebilir mi?” sorusunu gündeme taşıdı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096250" y="6572250"/>
            <a:ext cx="8477250" cy="2286000"/>
            <a:chOff x="0" y="0"/>
            <a:chExt cx="11303000" cy="3048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03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1303000">
                  <a:moveTo>
                    <a:pt x="0" y="0"/>
                  </a:moveTo>
                  <a:lnTo>
                    <a:pt x="11303000" y="0"/>
                  </a:lnTo>
                  <a:lnTo>
                    <a:pt x="11303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EEE8F7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303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572500" y="6924675"/>
            <a:ext cx="7524750" cy="101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 b="true">
                <a:solidFill>
                  <a:srgbClr val="7650A6"/>
                </a:solidFill>
                <a:latin typeface="Aptos Bold"/>
                <a:ea typeface="Aptos Bold"/>
                <a:cs typeface="Aptos Bold"/>
                <a:sym typeface="Aptos Bold"/>
              </a:rPr>
              <a:t>TURING TESTİ</a:t>
            </a:r>
          </a:p>
          <a:p>
            <a:pPr algn="l">
              <a:lnSpc>
                <a:spcPts val="2733"/>
              </a:lnSpc>
            </a:pPr>
            <a:r>
              <a:rPr lang="en-US" sz="2025" b="true">
                <a:solidFill>
                  <a:srgbClr val="7650A6"/>
                </a:solidFill>
                <a:latin typeface="Aptos Bold"/>
                <a:ea typeface="Aptos Bold"/>
                <a:cs typeface="Aptos Bold"/>
                <a:sym typeface="Aptos Bold"/>
              </a:rPr>
              <a:t>Bir makinenin yazılı konuşmada insana benzer yanıtlar verip vermediğini sınayan düşünce deneyi.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657225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Turing Testi: Yanıtlardan ayırt etme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1504950"/>
            <a:ext cx="15716250" cy="63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İnsan değerlendirici, kimliğini görmediği bir insan ve makineyle yalnızca yazılı iletişim kurar; yanıtları karşılaştırıp hangisinin makine olduğuna karar vermeye çalışır.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43000" y="3905250"/>
            <a:ext cx="3429000" cy="1428750"/>
            <a:chOff x="0" y="0"/>
            <a:chExt cx="4572000" cy="190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7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572000">
                  <a:moveTo>
                    <a:pt x="49389" y="0"/>
                  </a:moveTo>
                  <a:lnTo>
                    <a:pt x="4522611" y="0"/>
                  </a:lnTo>
                  <a:cubicBezTo>
                    <a:pt x="4549888" y="0"/>
                    <a:pt x="4572000" y="22112"/>
                    <a:pt x="4572000" y="49389"/>
                  </a:cubicBezTo>
                  <a:lnTo>
                    <a:pt x="4572000" y="1855611"/>
                  </a:lnTo>
                  <a:cubicBezTo>
                    <a:pt x="4572000" y="1882888"/>
                    <a:pt x="4549888" y="1905000"/>
                    <a:pt x="4522611" y="1905000"/>
                  </a:cubicBezTo>
                  <a:lnTo>
                    <a:pt x="49389" y="1905000"/>
                  </a:lnTo>
                  <a:cubicBezTo>
                    <a:pt x="22112" y="1905000"/>
                    <a:pt x="0" y="1882888"/>
                    <a:pt x="0" y="1855611"/>
                  </a:cubicBezTo>
                  <a:lnTo>
                    <a:pt x="0" y="49389"/>
                  </a:lnTo>
                  <a:cubicBezTo>
                    <a:pt x="0" y="22112"/>
                    <a:pt x="22112" y="0"/>
                    <a:pt x="49389" y="0"/>
                  </a:cubicBezTo>
                  <a:close/>
                </a:path>
              </a:pathLst>
            </a:custGeom>
            <a:solidFill>
              <a:srgbClr val="7650A6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572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İNSAN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DEĞERLENDİRİCİ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810500" y="3333750"/>
            <a:ext cx="3143250" cy="1333500"/>
            <a:chOff x="0" y="0"/>
            <a:chExt cx="4191000" cy="177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91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724121"/>
                  </a:lnTo>
                  <a:cubicBezTo>
                    <a:pt x="4191000" y="1738411"/>
                    <a:pt x="4185324" y="1752115"/>
                    <a:pt x="4175219" y="1762219"/>
                  </a:cubicBezTo>
                  <a:cubicBezTo>
                    <a:pt x="4165115" y="1772324"/>
                    <a:pt x="4151411" y="1778000"/>
                    <a:pt x="4137121" y="1778000"/>
                  </a:cubicBezTo>
                  <a:lnTo>
                    <a:pt x="53879" y="1778000"/>
                  </a:lnTo>
                  <a:cubicBezTo>
                    <a:pt x="39589" y="1778000"/>
                    <a:pt x="25885" y="1772324"/>
                    <a:pt x="15781" y="1762219"/>
                  </a:cubicBezTo>
                  <a:cubicBezTo>
                    <a:pt x="5676" y="1752115"/>
                    <a:pt x="0" y="1738411"/>
                    <a:pt x="0" y="17241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176BBA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191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KATILIMCI 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10500" y="5429250"/>
            <a:ext cx="3143250" cy="1333500"/>
            <a:chOff x="0" y="0"/>
            <a:chExt cx="4191000" cy="177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91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724121"/>
                  </a:lnTo>
                  <a:cubicBezTo>
                    <a:pt x="4191000" y="1738411"/>
                    <a:pt x="4185324" y="1752115"/>
                    <a:pt x="4175219" y="1762219"/>
                  </a:cubicBezTo>
                  <a:cubicBezTo>
                    <a:pt x="4165115" y="1772324"/>
                    <a:pt x="4151411" y="1778000"/>
                    <a:pt x="4137121" y="1778000"/>
                  </a:cubicBezTo>
                  <a:lnTo>
                    <a:pt x="53879" y="1778000"/>
                  </a:lnTo>
                  <a:cubicBezTo>
                    <a:pt x="39589" y="1778000"/>
                    <a:pt x="25885" y="1772324"/>
                    <a:pt x="15781" y="1762219"/>
                  </a:cubicBezTo>
                  <a:cubicBezTo>
                    <a:pt x="5676" y="1752115"/>
                    <a:pt x="0" y="1738411"/>
                    <a:pt x="0" y="17241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24B8C4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191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KATILIMCI B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525500" y="4381500"/>
            <a:ext cx="3238500" cy="1428750"/>
            <a:chOff x="0" y="0"/>
            <a:chExt cx="4318000" cy="1905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18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3180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1852706"/>
                  </a:lnTo>
                  <a:cubicBezTo>
                    <a:pt x="4318000" y="1881587"/>
                    <a:pt x="4294587" y="1905000"/>
                    <a:pt x="4265706" y="1905000"/>
                  </a:cubicBezTo>
                  <a:lnTo>
                    <a:pt x="52294" y="1905000"/>
                  </a:lnTo>
                  <a:cubicBezTo>
                    <a:pt x="23413" y="1905000"/>
                    <a:pt x="0" y="1881587"/>
                    <a:pt x="0" y="18527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17865C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318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YANITLAR → KARAR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flipV="true">
            <a:off x="4572000" y="4000500"/>
            <a:ext cx="3143250" cy="428625"/>
          </a:xfrm>
          <a:prstGeom prst="line">
            <a:avLst/>
          </a:prstGeom>
          <a:ln cap="rnd" w="47625">
            <a:solidFill>
              <a:srgbClr val="176BB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>
            <a:off x="4572000" y="4810125"/>
            <a:ext cx="3143250" cy="1143000"/>
          </a:xfrm>
          <a:prstGeom prst="line">
            <a:avLst/>
          </a:prstGeom>
          <a:ln cap="rnd" w="47625">
            <a:solidFill>
              <a:srgbClr val="176BB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>
            <a:off x="11049000" y="4000500"/>
            <a:ext cx="2381250" cy="857250"/>
          </a:xfrm>
          <a:prstGeom prst="line">
            <a:avLst/>
          </a:prstGeom>
          <a:ln cap="rnd" w="47625">
            <a:solidFill>
              <a:srgbClr val="176BB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9" id="19"/>
          <p:cNvSpPr/>
          <p:nvPr/>
        </p:nvSpPr>
        <p:spPr>
          <a:xfrm flipV="true">
            <a:off x="11049000" y="5238750"/>
            <a:ext cx="2381250" cy="714375"/>
          </a:xfrm>
          <a:prstGeom prst="line">
            <a:avLst/>
          </a:prstGeom>
          <a:ln cap="rnd" w="47625">
            <a:solidFill>
              <a:srgbClr val="176BBA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0" id="20"/>
          <p:cNvGrpSpPr/>
          <p:nvPr/>
        </p:nvGrpSpPr>
        <p:grpSpPr>
          <a:xfrm rot="0">
            <a:off x="838200" y="7905750"/>
            <a:ext cx="15811500" cy="1333500"/>
            <a:chOff x="0" y="0"/>
            <a:chExt cx="21082000" cy="1778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082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1082000">
                  <a:moveTo>
                    <a:pt x="0" y="0"/>
                  </a:moveTo>
                  <a:lnTo>
                    <a:pt x="21082000" y="0"/>
                  </a:lnTo>
                  <a:lnTo>
                    <a:pt x="21082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FFF0E5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082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85875" y="8172450"/>
            <a:ext cx="14478000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 b="true">
                <a:solidFill>
                  <a:srgbClr val="C83F3F"/>
                </a:solidFill>
                <a:latin typeface="Aptos Bold"/>
                <a:ea typeface="Aptos Bold"/>
                <a:cs typeface="Aptos Bold"/>
                <a:sym typeface="Aptos Bold"/>
              </a:rPr>
              <a:t>UYARI  Başarılı olmak; bilinç, duygu veya tam insan zekâsı kanıtı değildir. Test yalnızca konuşma davranışını değerlendirir.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733425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John McCarthy ve “yapay zekâ” terimi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2114550"/>
            <a:ext cx="7239000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0"/>
              </a:lnSpc>
            </a:pPr>
            <a:r>
              <a:rPr lang="en-US" sz="11250" b="true">
                <a:solidFill>
                  <a:srgbClr val="7650A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1956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8200" y="4457700"/>
            <a:ext cx="7429500" cy="1284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John McCarthy, alanın kurucularındandır. Dartmouth Yaz Araştırma Projesi önerisinde “Artificial Intelligence” ifadesini kullandı. Bu toplantı, yapay zekânın ayrı bir araştırma alanı olarak anılmasında tarihsel bir dönüm noktası oldu.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715500" y="1619250"/>
            <a:ext cx="7715250" cy="6667500"/>
          </a:xfrm>
          <a:custGeom>
            <a:avLst/>
            <a:gdLst/>
            <a:ahLst/>
            <a:cxnLst/>
            <a:rect r="r" b="b" t="t" l="l"/>
            <a:pathLst>
              <a:path h="6667500" w="7715250">
                <a:moveTo>
                  <a:pt x="0" y="0"/>
                </a:moveTo>
                <a:lnTo>
                  <a:pt x="7715250" y="0"/>
                </a:lnTo>
                <a:lnTo>
                  <a:pt x="7715250" y="6667500"/>
                </a:lnTo>
                <a:lnTo>
                  <a:pt x="0" y="666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" t="0" r="-25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9429750" y="7953375"/>
            <a:ext cx="8191500" cy="762000"/>
            <a:chOff x="0" y="0"/>
            <a:chExt cx="10922000" cy="10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22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922000">
                  <a:moveTo>
                    <a:pt x="0" y="0"/>
                  </a:moveTo>
                  <a:lnTo>
                    <a:pt x="10922000" y="0"/>
                  </a:lnTo>
                  <a:lnTo>
                    <a:pt x="10922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24B8C4">
                <a:alpha val="9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22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906000" y="8105775"/>
            <a:ext cx="7239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071A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DARTMOUTH • TARİHSEL DÖNÜM NOKTASI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685800"/>
            <a:ext cx="12382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İki öncü, iki farklı katkı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43000" y="2095500"/>
            <a:ext cx="7429500" cy="5334000"/>
            <a:chOff x="0" y="0"/>
            <a:chExt cx="9906000" cy="7112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060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7112000"/>
                  </a:lnTo>
                  <a:lnTo>
                    <a:pt x="0" y="7112000"/>
                  </a:lnTo>
                  <a:close/>
                </a:path>
              </a:pathLst>
            </a:custGeom>
            <a:solidFill>
              <a:srgbClr val="EEE8F7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9060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43000" y="2095500"/>
            <a:ext cx="7429500" cy="190500"/>
            <a:chOff x="0" y="0"/>
            <a:chExt cx="9906000" cy="25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06000" cy="254000"/>
            </a:xfrm>
            <a:custGeom>
              <a:avLst/>
              <a:gdLst/>
              <a:ahLst/>
              <a:cxnLst/>
              <a:rect r="r" b="b" t="t" l="l"/>
              <a:pathLst>
                <a:path h="254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7650A6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906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15500" y="2095500"/>
            <a:ext cx="7429500" cy="5334000"/>
            <a:chOff x="0" y="0"/>
            <a:chExt cx="9906000" cy="7112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060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7112000"/>
                  </a:lnTo>
                  <a:lnTo>
                    <a:pt x="0" y="7112000"/>
                  </a:lnTo>
                  <a:close/>
                </a:path>
              </a:pathLst>
            </a:custGeom>
            <a:solidFill>
              <a:srgbClr val="DFF6F6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9060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15500" y="2095500"/>
            <a:ext cx="7429500" cy="190500"/>
            <a:chOff x="0" y="0"/>
            <a:chExt cx="9906000" cy="25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06000" cy="254000"/>
            </a:xfrm>
            <a:custGeom>
              <a:avLst/>
              <a:gdLst/>
              <a:ahLst/>
              <a:cxnLst/>
              <a:rect r="r" b="b" t="t" l="l"/>
              <a:pathLst>
                <a:path h="254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24B8C4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906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14500" y="2562225"/>
            <a:ext cx="6191250" cy="256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ALAN TURING</a:t>
            </a:r>
          </a:p>
          <a:p>
            <a:pPr algn="l">
              <a:lnSpc>
                <a:spcPts val="3408"/>
              </a:lnSpc>
            </a:pPr>
          </a:p>
          <a:p>
            <a:pPr algn="l">
              <a:lnSpc>
                <a:spcPts val="3408"/>
              </a:lnSpc>
            </a:pPr>
            <a:r>
              <a:rPr lang="en-US" sz="24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1950 makalesi</a:t>
            </a:r>
          </a:p>
          <a:p>
            <a:pPr algn="l">
              <a:lnSpc>
                <a:spcPts val="3408"/>
              </a:lnSpc>
            </a:pPr>
            <a:r>
              <a:rPr lang="en-US" sz="24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“Makineler düşünebilir mi?”</a:t>
            </a:r>
          </a:p>
          <a:p>
            <a:pPr algn="l">
              <a:lnSpc>
                <a:spcPts val="3408"/>
              </a:lnSpc>
            </a:pPr>
            <a:r>
              <a:rPr lang="en-US" sz="24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Turing Testi</a:t>
            </a:r>
          </a:p>
          <a:p>
            <a:pPr algn="l">
              <a:lnSpc>
                <a:spcPts val="3408"/>
              </a:lnSpc>
            </a:pPr>
            <a:r>
              <a:rPr lang="en-US" sz="24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Enigma çalışmalarına katkı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82250" y="2562225"/>
            <a:ext cx="6191250" cy="256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JOHN McCARTHY</a:t>
            </a:r>
          </a:p>
          <a:p>
            <a:pPr algn="l">
              <a:lnSpc>
                <a:spcPts val="3408"/>
              </a:lnSpc>
            </a:pPr>
          </a:p>
          <a:p>
            <a:pPr algn="l">
              <a:lnSpc>
                <a:spcPts val="3408"/>
              </a:lnSpc>
            </a:pPr>
            <a:r>
              <a:rPr lang="en-US" sz="24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1956 Dartmouth</a:t>
            </a:r>
          </a:p>
          <a:p>
            <a:pPr algn="l">
              <a:lnSpc>
                <a:spcPts val="3408"/>
              </a:lnSpc>
            </a:pPr>
            <a:r>
              <a:rPr lang="en-US" sz="24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“Yapay zekâ” terimi</a:t>
            </a:r>
          </a:p>
          <a:p>
            <a:pPr algn="l">
              <a:lnSpc>
                <a:spcPts val="3408"/>
              </a:lnSpc>
            </a:pPr>
            <a:r>
              <a:rPr lang="en-US" sz="24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Araştırma alanının kuruluşu</a:t>
            </a:r>
          </a:p>
          <a:p>
            <a:pPr algn="l">
              <a:lnSpc>
                <a:spcPts val="3408"/>
              </a:lnSpc>
            </a:pPr>
            <a:r>
              <a:rPr lang="en-US" sz="24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Programlama ve mantık çalışmaları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095500" y="7905750"/>
            <a:ext cx="14097000" cy="952500"/>
            <a:chOff x="0" y="0"/>
            <a:chExt cx="18796000" cy="127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79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8796000">
                  <a:moveTo>
                    <a:pt x="0" y="0"/>
                  </a:moveTo>
                  <a:lnTo>
                    <a:pt x="18796000" y="0"/>
                  </a:lnTo>
                  <a:lnTo>
                    <a:pt x="18796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10283D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879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667000" y="8191500"/>
            <a:ext cx="1295400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4"/>
              </a:lnSpc>
            </a:pPr>
            <a:r>
              <a:rPr lang="en-US" sz="23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HATIRLA: Turing → 1950 ve test   |   McCarthy → 1956 ve terim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685800"/>
            <a:ext cx="12382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Modern yapay zekânın katmanları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14500" y="1809750"/>
            <a:ext cx="14859000" cy="5715000"/>
            <a:chOff x="0" y="0"/>
            <a:chExt cx="19812000" cy="762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8120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9812000">
                  <a:moveTo>
                    <a:pt x="0" y="0"/>
                  </a:moveTo>
                  <a:lnTo>
                    <a:pt x="19812000" y="0"/>
                  </a:lnTo>
                  <a:lnTo>
                    <a:pt x="19812000" y="7620000"/>
                  </a:lnTo>
                  <a:lnTo>
                    <a:pt x="0" y="7620000"/>
                  </a:lnTo>
                  <a:close/>
                </a:path>
              </a:pathLst>
            </a:custGeom>
            <a:solidFill>
              <a:srgbClr val="E8F1F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812000" cy="765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714750" y="2667000"/>
            <a:ext cx="10858500" cy="4095750"/>
            <a:chOff x="0" y="0"/>
            <a:chExt cx="14478000" cy="546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78000" cy="5461000"/>
            </a:xfrm>
            <a:custGeom>
              <a:avLst/>
              <a:gdLst/>
              <a:ahLst/>
              <a:cxnLst/>
              <a:rect r="r" b="b" t="t" l="l"/>
              <a:pathLst>
                <a:path h="5461000" w="14478000">
                  <a:moveTo>
                    <a:pt x="0" y="0"/>
                  </a:moveTo>
                  <a:lnTo>
                    <a:pt x="14478000" y="0"/>
                  </a:lnTo>
                  <a:lnTo>
                    <a:pt x="144780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CCE7F5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478000" cy="549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05500" y="3429000"/>
            <a:ext cx="6477000" cy="2571750"/>
            <a:chOff x="0" y="0"/>
            <a:chExt cx="8636000" cy="3429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360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342900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A9D8DD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636000" cy="346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24750" y="4095750"/>
            <a:ext cx="3238500" cy="1238250"/>
            <a:chOff x="0" y="0"/>
            <a:chExt cx="4318000" cy="1651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1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3180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1598706"/>
                  </a:lnTo>
                  <a:cubicBezTo>
                    <a:pt x="4318000" y="1627587"/>
                    <a:pt x="4294587" y="1651000"/>
                    <a:pt x="4265706" y="1651000"/>
                  </a:cubicBezTo>
                  <a:lnTo>
                    <a:pt x="52294" y="1651000"/>
                  </a:lnTo>
                  <a:cubicBezTo>
                    <a:pt x="23413" y="1651000"/>
                    <a:pt x="0" y="1627587"/>
                    <a:pt x="0" y="15987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176BB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318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BÜYÜK DİL</a:t>
              </a:r>
            </a:p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MODELLERİ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095500" y="2066925"/>
            <a:ext cx="66675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176BB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YAPAY ZEKÂ • geniş alan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95750" y="2924175"/>
            <a:ext cx="66675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176BB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MAKİNE ÖĞRENMESİ • veriden örüntü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86500" y="3686175"/>
            <a:ext cx="60960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DERİN ÖĞRENME • çok katmanlı sinir ağları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809750" y="8048625"/>
            <a:ext cx="14668500" cy="1000125"/>
            <a:chOff x="0" y="0"/>
            <a:chExt cx="19558000" cy="1333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558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19558000">
                  <a:moveTo>
                    <a:pt x="0" y="0"/>
                  </a:moveTo>
                  <a:lnTo>
                    <a:pt x="19558000" y="0"/>
                  </a:lnTo>
                  <a:lnTo>
                    <a:pt x="19558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0E5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9558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381250" y="8343900"/>
            <a:ext cx="13525500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 b="true">
                <a:solidFill>
                  <a:srgbClr val="ED7A2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  Her yapay zekâ sistemi derin öğrenme kullanmaz.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790575"/>
            <a:ext cx="10477500" cy="686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6"/>
              </a:lnSpc>
            </a:pPr>
            <a:r>
              <a:rPr lang="en-US" sz="5025" i="true" b="true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Attention Is All You Need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2171700"/>
            <a:ext cx="8096250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24B8C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2017 — TRANSFORMER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8200" y="3438525"/>
            <a:ext cx="7905750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Ashish Vaswani ve ekibi, Transformer mimarisini tanıttı. Dikkat mekanizması, bir dizideki öğelerin birbirleriyle ilişkisini aynı anda değerlendirmeyi sağladı. Bu yaklaşım, modern dil modellerinin gelişiminde güçlü bir temel oluşturdu.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382250" y="1619250"/>
            <a:ext cx="6667500" cy="6858000"/>
          </a:xfrm>
          <a:custGeom>
            <a:avLst/>
            <a:gdLst/>
            <a:ahLst/>
            <a:cxnLst/>
            <a:rect r="r" b="b" t="t" l="l"/>
            <a:pathLst>
              <a:path h="6858000" w="6667500">
                <a:moveTo>
                  <a:pt x="0" y="0"/>
                </a:moveTo>
                <a:lnTo>
                  <a:pt x="6667500" y="0"/>
                </a:lnTo>
                <a:lnTo>
                  <a:pt x="66675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" t="0" r="-14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3905250"/>
            <a:ext cx="3143250" cy="1809750"/>
            <a:chOff x="0" y="0"/>
            <a:chExt cx="4191000" cy="2413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1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2359121"/>
                  </a:lnTo>
                  <a:cubicBezTo>
                    <a:pt x="4191000" y="2373411"/>
                    <a:pt x="4185324" y="2387115"/>
                    <a:pt x="4175219" y="2397219"/>
                  </a:cubicBezTo>
                  <a:cubicBezTo>
                    <a:pt x="4165115" y="2407324"/>
                    <a:pt x="4151411" y="2413000"/>
                    <a:pt x="4137121" y="2413000"/>
                  </a:cubicBezTo>
                  <a:lnTo>
                    <a:pt x="53879" y="2413000"/>
                  </a:lnTo>
                  <a:cubicBezTo>
                    <a:pt x="39589" y="2413000"/>
                    <a:pt x="25885" y="2407324"/>
                    <a:pt x="15781" y="2397219"/>
                  </a:cubicBezTo>
                  <a:cubicBezTo>
                    <a:pt x="5676" y="2387115"/>
                    <a:pt x="0" y="2373411"/>
                    <a:pt x="0" y="23591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176BB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91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GİRDİ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SÖZCÜKLER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4191000" y="4810125"/>
            <a:ext cx="1047750" cy="0"/>
          </a:xfrm>
          <a:prstGeom prst="line">
            <a:avLst/>
          </a:prstGeom>
          <a:ln cap="rnd" w="47625">
            <a:solidFill>
              <a:srgbClr val="24B8C4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6" id="6"/>
          <p:cNvGrpSpPr/>
          <p:nvPr/>
        </p:nvGrpSpPr>
        <p:grpSpPr>
          <a:xfrm rot="0">
            <a:off x="5334000" y="3905250"/>
            <a:ext cx="3143250" cy="1809750"/>
            <a:chOff x="0" y="0"/>
            <a:chExt cx="4191000" cy="241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91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2359121"/>
                  </a:lnTo>
                  <a:cubicBezTo>
                    <a:pt x="4191000" y="2373411"/>
                    <a:pt x="4185324" y="2387115"/>
                    <a:pt x="4175219" y="2397219"/>
                  </a:cubicBezTo>
                  <a:cubicBezTo>
                    <a:pt x="4165115" y="2407324"/>
                    <a:pt x="4151411" y="2413000"/>
                    <a:pt x="4137121" y="2413000"/>
                  </a:cubicBezTo>
                  <a:lnTo>
                    <a:pt x="53879" y="2413000"/>
                  </a:lnTo>
                  <a:cubicBezTo>
                    <a:pt x="39589" y="2413000"/>
                    <a:pt x="25885" y="2407324"/>
                    <a:pt x="15781" y="2397219"/>
                  </a:cubicBezTo>
                  <a:cubicBezTo>
                    <a:pt x="5676" y="2387115"/>
                    <a:pt x="0" y="2373411"/>
                    <a:pt x="0" y="23591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7650A6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191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DİKKAT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İLİŞKİLERİ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8477250" y="4810125"/>
            <a:ext cx="1047750" cy="0"/>
          </a:xfrm>
          <a:prstGeom prst="line">
            <a:avLst/>
          </a:prstGeom>
          <a:ln cap="rnd" w="47625">
            <a:solidFill>
              <a:srgbClr val="24B8C4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9620250" y="3905250"/>
            <a:ext cx="3143250" cy="1809750"/>
            <a:chOff x="0" y="0"/>
            <a:chExt cx="4191000" cy="2413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91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2359121"/>
                  </a:lnTo>
                  <a:cubicBezTo>
                    <a:pt x="4191000" y="2373411"/>
                    <a:pt x="4185324" y="2387115"/>
                    <a:pt x="4175219" y="2397219"/>
                  </a:cubicBezTo>
                  <a:cubicBezTo>
                    <a:pt x="4165115" y="2407324"/>
                    <a:pt x="4151411" y="2413000"/>
                    <a:pt x="4137121" y="2413000"/>
                  </a:cubicBezTo>
                  <a:lnTo>
                    <a:pt x="53879" y="2413000"/>
                  </a:lnTo>
                  <a:cubicBezTo>
                    <a:pt x="39589" y="2413000"/>
                    <a:pt x="25885" y="2407324"/>
                    <a:pt x="15781" y="2397219"/>
                  </a:cubicBezTo>
                  <a:cubicBezTo>
                    <a:pt x="5676" y="2387115"/>
                    <a:pt x="0" y="2373411"/>
                    <a:pt x="0" y="23591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176BB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191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ÇOKLU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KATMANLAR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12763500" y="4810125"/>
            <a:ext cx="1047750" cy="0"/>
          </a:xfrm>
          <a:prstGeom prst="line">
            <a:avLst/>
          </a:prstGeom>
          <a:ln cap="rnd" w="47625">
            <a:solidFill>
              <a:srgbClr val="24B8C4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13906500" y="3905250"/>
            <a:ext cx="3143250" cy="1809750"/>
            <a:chOff x="0" y="0"/>
            <a:chExt cx="4191000" cy="2413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91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2359121"/>
                  </a:lnTo>
                  <a:cubicBezTo>
                    <a:pt x="4191000" y="2373411"/>
                    <a:pt x="4185324" y="2387115"/>
                    <a:pt x="4175219" y="2397219"/>
                  </a:cubicBezTo>
                  <a:cubicBezTo>
                    <a:pt x="4165115" y="2407324"/>
                    <a:pt x="4151411" y="2413000"/>
                    <a:pt x="4137121" y="2413000"/>
                  </a:cubicBezTo>
                  <a:lnTo>
                    <a:pt x="53879" y="2413000"/>
                  </a:lnTo>
                  <a:cubicBezTo>
                    <a:pt x="39589" y="2413000"/>
                    <a:pt x="25885" y="2407324"/>
                    <a:pt x="15781" y="2397219"/>
                  </a:cubicBezTo>
                  <a:cubicBezTo>
                    <a:pt x="5676" y="2387115"/>
                    <a:pt x="0" y="2373411"/>
                    <a:pt x="0" y="23591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17865C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191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ÇIKTI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TEMSİLİ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38200" y="657225"/>
            <a:ext cx="1381125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Transformer ilişkileri nasıl değerlendirir?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8200" y="1552575"/>
            <a:ext cx="15716250" cy="31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Örnek: “Kedi sütü içti çünkü o susamıştı.” Sistem, “o” sözcüğünün hangi sözcükle ilişkili olabileceğine dikkat eder.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24000" y="7953375"/>
            <a:ext cx="15240000" cy="1143000"/>
            <a:chOff x="0" y="0"/>
            <a:chExt cx="20320000" cy="152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32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0E5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320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000250" y="8258175"/>
            <a:ext cx="142875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 b="true">
                <a:solidFill>
                  <a:srgbClr val="ED7A2F"/>
                </a:solidFill>
                <a:latin typeface="Aptos Bold"/>
                <a:ea typeface="Aptos Bold"/>
                <a:cs typeface="Aptos Bold"/>
                <a:sym typeface="Aptos Bold"/>
              </a:rPr>
              <a:t>Transformer bir mimaridir; tek başına çeviri, sohbet veya özetleme uygulaması değildir.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657225"/>
            <a:ext cx="12382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Yapay zekâ nerelerde kullanılır?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38250" y="1714500"/>
            <a:ext cx="15621000" cy="590550"/>
            <a:chOff x="0" y="0"/>
            <a:chExt cx="20828000" cy="787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828000" cy="787400"/>
            </a:xfrm>
            <a:custGeom>
              <a:avLst/>
              <a:gdLst/>
              <a:ahLst/>
              <a:cxnLst/>
              <a:rect r="r" b="b" t="t" l="l"/>
              <a:pathLst>
                <a:path h="787400" w="20828000">
                  <a:moveTo>
                    <a:pt x="10841" y="0"/>
                  </a:moveTo>
                  <a:lnTo>
                    <a:pt x="20817159" y="0"/>
                  </a:lnTo>
                  <a:cubicBezTo>
                    <a:pt x="20823146" y="0"/>
                    <a:pt x="20828000" y="4854"/>
                    <a:pt x="20828000" y="10841"/>
                  </a:cubicBezTo>
                  <a:lnTo>
                    <a:pt x="20828000" y="776559"/>
                  </a:lnTo>
                  <a:cubicBezTo>
                    <a:pt x="20828000" y="782546"/>
                    <a:pt x="20823146" y="787400"/>
                    <a:pt x="20817159" y="787400"/>
                  </a:cubicBezTo>
                  <a:lnTo>
                    <a:pt x="10841" y="787400"/>
                  </a:lnTo>
                  <a:cubicBezTo>
                    <a:pt x="4854" y="787400"/>
                    <a:pt x="0" y="782546"/>
                    <a:pt x="0" y="776559"/>
                  </a:cubicBezTo>
                  <a:lnTo>
                    <a:pt x="0" y="10841"/>
                  </a:lnTo>
                  <a:cubicBezTo>
                    <a:pt x="0" y="4854"/>
                    <a:pt x="4854" y="0"/>
                    <a:pt x="10841" y="0"/>
                  </a:cubicBezTo>
                  <a:close/>
                </a:path>
              </a:pathLst>
            </a:custGeom>
            <a:solidFill>
              <a:srgbClr val="10283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828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ALAN                          VERİ TÜRÜ                          AMAÇ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8250" y="2362200"/>
            <a:ext cx="15621000" cy="742950"/>
            <a:chOff x="0" y="0"/>
            <a:chExt cx="20828000" cy="990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28000" cy="990600"/>
            </a:xfrm>
            <a:custGeom>
              <a:avLst/>
              <a:gdLst/>
              <a:ahLst/>
              <a:cxnLst/>
              <a:rect r="r" b="b" t="t" l="l"/>
              <a:pathLst>
                <a:path h="990600" w="20828000">
                  <a:moveTo>
                    <a:pt x="0" y="0"/>
                  </a:moveTo>
                  <a:lnTo>
                    <a:pt x="20828000" y="0"/>
                  </a:lnTo>
                  <a:lnTo>
                    <a:pt x="208280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828000" cy="1028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38250" y="2419350"/>
            <a:ext cx="15621000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Sanayi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Ürün fotoğrafı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Kusur bulma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38250" y="3267075"/>
            <a:ext cx="15621000" cy="742950"/>
            <a:chOff x="0" y="0"/>
            <a:chExt cx="20828000" cy="990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828000" cy="990600"/>
            </a:xfrm>
            <a:custGeom>
              <a:avLst/>
              <a:gdLst/>
              <a:ahLst/>
              <a:cxnLst/>
              <a:rect r="r" b="b" t="t" l="l"/>
              <a:pathLst>
                <a:path h="990600" w="20828000">
                  <a:moveTo>
                    <a:pt x="0" y="0"/>
                  </a:moveTo>
                  <a:lnTo>
                    <a:pt x="20828000" y="0"/>
                  </a:lnTo>
                  <a:lnTo>
                    <a:pt x="208280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828000" cy="1028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38250" y="3324225"/>
            <a:ext cx="15621000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Eğitim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Yanıt ve başarı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Ek alıştırma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38250" y="4171950"/>
            <a:ext cx="15621000" cy="742950"/>
            <a:chOff x="0" y="0"/>
            <a:chExt cx="20828000" cy="990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828000" cy="990600"/>
            </a:xfrm>
            <a:custGeom>
              <a:avLst/>
              <a:gdLst/>
              <a:ahLst/>
              <a:cxnLst/>
              <a:rect r="r" b="b" t="t" l="l"/>
              <a:pathLst>
                <a:path h="990600" w="20828000">
                  <a:moveTo>
                    <a:pt x="0" y="0"/>
                  </a:moveTo>
                  <a:lnTo>
                    <a:pt x="20828000" y="0"/>
                  </a:lnTo>
                  <a:lnTo>
                    <a:pt x="208280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828000" cy="1028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38250" y="4229100"/>
            <a:ext cx="15621000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Sağlık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Tıbbi görüntü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İnceleme desteği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38250" y="5076825"/>
            <a:ext cx="15621000" cy="742950"/>
            <a:chOff x="0" y="0"/>
            <a:chExt cx="20828000" cy="990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828000" cy="990600"/>
            </a:xfrm>
            <a:custGeom>
              <a:avLst/>
              <a:gdLst/>
              <a:ahLst/>
              <a:cxnLst/>
              <a:rect r="r" b="b" t="t" l="l"/>
              <a:pathLst>
                <a:path h="990600" w="20828000">
                  <a:moveTo>
                    <a:pt x="0" y="0"/>
                  </a:moveTo>
                  <a:lnTo>
                    <a:pt x="20828000" y="0"/>
                  </a:lnTo>
                  <a:lnTo>
                    <a:pt x="208280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828000" cy="1028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38250" y="5133975"/>
            <a:ext cx="15621000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Tarım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Drone görüntüsü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Canlı/ürün sayımı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38250" y="5981700"/>
            <a:ext cx="15621000" cy="742950"/>
            <a:chOff x="0" y="0"/>
            <a:chExt cx="20828000" cy="990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828000" cy="990600"/>
            </a:xfrm>
            <a:custGeom>
              <a:avLst/>
              <a:gdLst/>
              <a:ahLst/>
              <a:cxnLst/>
              <a:rect r="r" b="b" t="t" l="l"/>
              <a:pathLst>
                <a:path h="990600" w="20828000">
                  <a:moveTo>
                    <a:pt x="0" y="0"/>
                  </a:moveTo>
                  <a:lnTo>
                    <a:pt x="20828000" y="0"/>
                  </a:lnTo>
                  <a:lnTo>
                    <a:pt x="208280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0828000" cy="1028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38250" y="6038850"/>
            <a:ext cx="15621000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Ulaşım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Konum ve trafik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Rota tahmini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38250" y="6886575"/>
            <a:ext cx="15621000" cy="742950"/>
            <a:chOff x="0" y="0"/>
            <a:chExt cx="20828000" cy="990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828000" cy="990600"/>
            </a:xfrm>
            <a:custGeom>
              <a:avLst/>
              <a:gdLst/>
              <a:ahLst/>
              <a:cxnLst/>
              <a:rect r="r" b="b" t="t" l="l"/>
              <a:pathLst>
                <a:path h="990600" w="20828000">
                  <a:moveTo>
                    <a:pt x="0" y="0"/>
                  </a:moveTo>
                  <a:lnTo>
                    <a:pt x="20828000" y="0"/>
                  </a:lnTo>
                  <a:lnTo>
                    <a:pt x="208280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0828000" cy="1028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38250" y="6943725"/>
            <a:ext cx="15621000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Güvenlik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Sensör kayıtları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Risk işareti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38250" y="7791450"/>
            <a:ext cx="15621000" cy="742950"/>
            <a:chOff x="0" y="0"/>
            <a:chExt cx="20828000" cy="990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828000" cy="990600"/>
            </a:xfrm>
            <a:custGeom>
              <a:avLst/>
              <a:gdLst/>
              <a:ahLst/>
              <a:cxnLst/>
              <a:rect r="r" b="b" t="t" l="l"/>
              <a:pathLst>
                <a:path h="990600" w="20828000">
                  <a:moveTo>
                    <a:pt x="0" y="0"/>
                  </a:moveTo>
                  <a:lnTo>
                    <a:pt x="20828000" y="0"/>
                  </a:lnTo>
                  <a:lnTo>
                    <a:pt x="208280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0828000" cy="1028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38250" y="7848600"/>
            <a:ext cx="15621000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Dijital hizmet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Metin ve tıklama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Arama/öneri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34500" y="0"/>
            <a:ext cx="8953500" cy="10287000"/>
          </a:xfrm>
          <a:custGeom>
            <a:avLst/>
            <a:gdLst/>
            <a:ahLst/>
            <a:cxnLst/>
            <a:rect r="r" b="b" t="t" l="l"/>
            <a:pathLst>
              <a:path h="10287000" w="8953500">
                <a:moveTo>
                  <a:pt x="0" y="0"/>
                </a:moveTo>
                <a:lnTo>
                  <a:pt x="8953500" y="0"/>
                </a:lnTo>
                <a:lnTo>
                  <a:pt x="8953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" r="0" b="-21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9810750" cy="10287000"/>
            <a:chOff x="0" y="0"/>
            <a:chExt cx="13081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81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081000">
                  <a:moveTo>
                    <a:pt x="0" y="0"/>
                  </a:moveTo>
                  <a:lnTo>
                    <a:pt x="13081000" y="0"/>
                  </a:lnTo>
                  <a:lnTo>
                    <a:pt x="13081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8FC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081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38200" y="828675"/>
            <a:ext cx="7810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Sanayide: Hatalı ürün tespiti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8200" y="2600325"/>
            <a:ext cx="7239000" cy="96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Kamera, üretim bandındaki ürünleri görüntüler. Sistem; çatlak, kırık veya eksik parça örüntülerini arar. Şüpheli ürünü işaretleyerek kalite kontrol çalışanına yardımcı olur.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38200" y="6477000"/>
            <a:ext cx="7620000" cy="2000250"/>
            <a:chOff x="0" y="0"/>
            <a:chExt cx="10160000" cy="2667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0E5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160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90625" y="6829425"/>
            <a:ext cx="6858000" cy="101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 b="true">
                <a:solidFill>
                  <a:srgbClr val="C83F3F"/>
                </a:solidFill>
                <a:latin typeface="Aptos Bold"/>
                <a:ea typeface="Aptos Bold"/>
                <a:cs typeface="Aptos Bold"/>
                <a:sym typeface="Aptos Bold"/>
              </a:rPr>
              <a:t>SINIRLILIK</a:t>
            </a:r>
          </a:p>
          <a:p>
            <a:pPr algn="l">
              <a:lnSpc>
                <a:spcPts val="2733"/>
              </a:lnSpc>
            </a:pPr>
            <a:r>
              <a:rPr lang="en-US" sz="2025" b="true">
                <a:solidFill>
                  <a:srgbClr val="C83F3F"/>
                </a:solidFill>
                <a:latin typeface="Aptos Bold"/>
                <a:ea typeface="Aptos Bold"/>
                <a:cs typeface="Aptos Bold"/>
                <a:sym typeface="Aptos Bold"/>
              </a:rPr>
              <a:t>Küçük, gizli veya daha önce görülmemiş kusurların tamamı bulunamayabilir.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2143125"/>
            <a:ext cx="6191250" cy="876300"/>
            <a:chOff x="0" y="0"/>
            <a:chExt cx="8255000" cy="116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55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8255000">
                  <a:moveTo>
                    <a:pt x="27354" y="0"/>
                  </a:moveTo>
                  <a:lnTo>
                    <a:pt x="8227646" y="0"/>
                  </a:lnTo>
                  <a:cubicBezTo>
                    <a:pt x="8234901" y="0"/>
                    <a:pt x="8241858" y="2882"/>
                    <a:pt x="8246988" y="8012"/>
                  </a:cubicBezTo>
                  <a:cubicBezTo>
                    <a:pt x="8252118" y="13142"/>
                    <a:pt x="8255000" y="20099"/>
                    <a:pt x="8255000" y="27354"/>
                  </a:cubicBezTo>
                  <a:lnTo>
                    <a:pt x="8255000" y="1141046"/>
                  </a:lnTo>
                  <a:cubicBezTo>
                    <a:pt x="8255000" y="1148301"/>
                    <a:pt x="8252118" y="1155258"/>
                    <a:pt x="8246988" y="1160388"/>
                  </a:cubicBezTo>
                  <a:cubicBezTo>
                    <a:pt x="8241858" y="1165518"/>
                    <a:pt x="8234901" y="1168400"/>
                    <a:pt x="8227646" y="1168400"/>
                  </a:cubicBezTo>
                  <a:lnTo>
                    <a:pt x="27354" y="1168400"/>
                  </a:lnTo>
                  <a:cubicBezTo>
                    <a:pt x="20099" y="1168400"/>
                    <a:pt x="13142" y="1165518"/>
                    <a:pt x="8012" y="1160388"/>
                  </a:cubicBezTo>
                  <a:cubicBezTo>
                    <a:pt x="2882" y="1155258"/>
                    <a:pt x="0" y="1148301"/>
                    <a:pt x="0" y="1141046"/>
                  </a:cubicBezTo>
                  <a:lnTo>
                    <a:pt x="0" y="27354"/>
                  </a:lnTo>
                  <a:cubicBezTo>
                    <a:pt x="0" y="20099"/>
                    <a:pt x="2882" y="13142"/>
                    <a:pt x="8012" y="8012"/>
                  </a:cubicBezTo>
                  <a:cubicBezTo>
                    <a:pt x="13142" y="2882"/>
                    <a:pt x="20099" y="0"/>
                    <a:pt x="27354" y="0"/>
                  </a:cubicBezTo>
                  <a:close/>
                </a:path>
              </a:pathLst>
            </a:custGeom>
            <a:solidFill>
              <a:srgbClr val="176BB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255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YANITLARI</a:t>
              </a:r>
            </a:p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TOPLA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4238625" y="3019425"/>
            <a:ext cx="0" cy="342900"/>
          </a:xfrm>
          <a:prstGeom prst="line">
            <a:avLst/>
          </a:prstGeom>
          <a:ln cap="rnd" w="47625">
            <a:solidFill>
              <a:srgbClr val="24B8C4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6" id="6"/>
          <p:cNvGrpSpPr/>
          <p:nvPr/>
        </p:nvGrpSpPr>
        <p:grpSpPr>
          <a:xfrm rot="0">
            <a:off x="1143000" y="3429000"/>
            <a:ext cx="6191250" cy="876300"/>
            <a:chOff x="0" y="0"/>
            <a:chExt cx="8255000" cy="116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55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8255000">
                  <a:moveTo>
                    <a:pt x="27354" y="0"/>
                  </a:moveTo>
                  <a:lnTo>
                    <a:pt x="8227646" y="0"/>
                  </a:lnTo>
                  <a:cubicBezTo>
                    <a:pt x="8234901" y="0"/>
                    <a:pt x="8241858" y="2882"/>
                    <a:pt x="8246988" y="8012"/>
                  </a:cubicBezTo>
                  <a:cubicBezTo>
                    <a:pt x="8252118" y="13142"/>
                    <a:pt x="8255000" y="20099"/>
                    <a:pt x="8255000" y="27354"/>
                  </a:cubicBezTo>
                  <a:lnTo>
                    <a:pt x="8255000" y="1141046"/>
                  </a:lnTo>
                  <a:cubicBezTo>
                    <a:pt x="8255000" y="1148301"/>
                    <a:pt x="8252118" y="1155258"/>
                    <a:pt x="8246988" y="1160388"/>
                  </a:cubicBezTo>
                  <a:cubicBezTo>
                    <a:pt x="8241858" y="1165518"/>
                    <a:pt x="8234901" y="1168400"/>
                    <a:pt x="8227646" y="1168400"/>
                  </a:cubicBezTo>
                  <a:lnTo>
                    <a:pt x="27354" y="1168400"/>
                  </a:lnTo>
                  <a:cubicBezTo>
                    <a:pt x="20099" y="1168400"/>
                    <a:pt x="13142" y="1165518"/>
                    <a:pt x="8012" y="1160388"/>
                  </a:cubicBezTo>
                  <a:cubicBezTo>
                    <a:pt x="2882" y="1155258"/>
                    <a:pt x="0" y="1148301"/>
                    <a:pt x="0" y="1141046"/>
                  </a:cubicBezTo>
                  <a:lnTo>
                    <a:pt x="0" y="27354"/>
                  </a:lnTo>
                  <a:cubicBezTo>
                    <a:pt x="0" y="20099"/>
                    <a:pt x="2882" y="13142"/>
                    <a:pt x="8012" y="8012"/>
                  </a:cubicBezTo>
                  <a:cubicBezTo>
                    <a:pt x="13142" y="2882"/>
                    <a:pt x="20099" y="0"/>
                    <a:pt x="27354" y="0"/>
                  </a:cubicBezTo>
                  <a:close/>
                </a:path>
              </a:pathLst>
            </a:custGeom>
            <a:solidFill>
              <a:srgbClr val="176BBA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255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PERFORMANSI</a:t>
              </a:r>
            </a:p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ANALİZ ET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4238625" y="4305300"/>
            <a:ext cx="0" cy="342900"/>
          </a:xfrm>
          <a:prstGeom prst="line">
            <a:avLst/>
          </a:prstGeom>
          <a:ln cap="rnd" w="47625">
            <a:solidFill>
              <a:srgbClr val="24B8C4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1143000" y="4714875"/>
            <a:ext cx="6191250" cy="876300"/>
            <a:chOff x="0" y="0"/>
            <a:chExt cx="8255000" cy="1168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55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8255000">
                  <a:moveTo>
                    <a:pt x="27354" y="0"/>
                  </a:moveTo>
                  <a:lnTo>
                    <a:pt x="8227646" y="0"/>
                  </a:lnTo>
                  <a:cubicBezTo>
                    <a:pt x="8234901" y="0"/>
                    <a:pt x="8241858" y="2882"/>
                    <a:pt x="8246988" y="8012"/>
                  </a:cubicBezTo>
                  <a:cubicBezTo>
                    <a:pt x="8252118" y="13142"/>
                    <a:pt x="8255000" y="20099"/>
                    <a:pt x="8255000" y="27354"/>
                  </a:cubicBezTo>
                  <a:lnTo>
                    <a:pt x="8255000" y="1141046"/>
                  </a:lnTo>
                  <a:cubicBezTo>
                    <a:pt x="8255000" y="1148301"/>
                    <a:pt x="8252118" y="1155258"/>
                    <a:pt x="8246988" y="1160388"/>
                  </a:cubicBezTo>
                  <a:cubicBezTo>
                    <a:pt x="8241858" y="1165518"/>
                    <a:pt x="8234901" y="1168400"/>
                    <a:pt x="8227646" y="1168400"/>
                  </a:cubicBezTo>
                  <a:lnTo>
                    <a:pt x="27354" y="1168400"/>
                  </a:lnTo>
                  <a:cubicBezTo>
                    <a:pt x="20099" y="1168400"/>
                    <a:pt x="13142" y="1165518"/>
                    <a:pt x="8012" y="1160388"/>
                  </a:cubicBezTo>
                  <a:cubicBezTo>
                    <a:pt x="2882" y="1155258"/>
                    <a:pt x="0" y="1148301"/>
                    <a:pt x="0" y="1141046"/>
                  </a:cubicBezTo>
                  <a:lnTo>
                    <a:pt x="0" y="27354"/>
                  </a:lnTo>
                  <a:cubicBezTo>
                    <a:pt x="0" y="20099"/>
                    <a:pt x="2882" y="13142"/>
                    <a:pt x="8012" y="8012"/>
                  </a:cubicBezTo>
                  <a:cubicBezTo>
                    <a:pt x="13142" y="2882"/>
                    <a:pt x="20099" y="0"/>
                    <a:pt x="27354" y="0"/>
                  </a:cubicBezTo>
                  <a:close/>
                </a:path>
              </a:pathLst>
            </a:custGeom>
            <a:solidFill>
              <a:srgbClr val="176BB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255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EKSİĞİ</a:t>
              </a:r>
            </a:p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BELİRLE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4238625" y="5591175"/>
            <a:ext cx="0" cy="342900"/>
          </a:xfrm>
          <a:prstGeom prst="line">
            <a:avLst/>
          </a:prstGeom>
          <a:ln cap="rnd" w="47625">
            <a:solidFill>
              <a:srgbClr val="24B8C4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1143000" y="6000750"/>
            <a:ext cx="6191250" cy="876300"/>
            <a:chOff x="0" y="0"/>
            <a:chExt cx="8255000" cy="1168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55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8255000">
                  <a:moveTo>
                    <a:pt x="27354" y="0"/>
                  </a:moveTo>
                  <a:lnTo>
                    <a:pt x="8227646" y="0"/>
                  </a:lnTo>
                  <a:cubicBezTo>
                    <a:pt x="8234901" y="0"/>
                    <a:pt x="8241858" y="2882"/>
                    <a:pt x="8246988" y="8012"/>
                  </a:cubicBezTo>
                  <a:cubicBezTo>
                    <a:pt x="8252118" y="13142"/>
                    <a:pt x="8255000" y="20099"/>
                    <a:pt x="8255000" y="27354"/>
                  </a:cubicBezTo>
                  <a:lnTo>
                    <a:pt x="8255000" y="1141046"/>
                  </a:lnTo>
                  <a:cubicBezTo>
                    <a:pt x="8255000" y="1148301"/>
                    <a:pt x="8252118" y="1155258"/>
                    <a:pt x="8246988" y="1160388"/>
                  </a:cubicBezTo>
                  <a:cubicBezTo>
                    <a:pt x="8241858" y="1165518"/>
                    <a:pt x="8234901" y="1168400"/>
                    <a:pt x="8227646" y="1168400"/>
                  </a:cubicBezTo>
                  <a:lnTo>
                    <a:pt x="27354" y="1168400"/>
                  </a:lnTo>
                  <a:cubicBezTo>
                    <a:pt x="20099" y="1168400"/>
                    <a:pt x="13142" y="1165518"/>
                    <a:pt x="8012" y="1160388"/>
                  </a:cubicBezTo>
                  <a:cubicBezTo>
                    <a:pt x="2882" y="1155258"/>
                    <a:pt x="0" y="1148301"/>
                    <a:pt x="0" y="1141046"/>
                  </a:cubicBezTo>
                  <a:lnTo>
                    <a:pt x="0" y="27354"/>
                  </a:lnTo>
                  <a:cubicBezTo>
                    <a:pt x="0" y="20099"/>
                    <a:pt x="2882" y="13142"/>
                    <a:pt x="8012" y="8012"/>
                  </a:cubicBezTo>
                  <a:cubicBezTo>
                    <a:pt x="13142" y="2882"/>
                    <a:pt x="20099" y="0"/>
                    <a:pt x="27354" y="0"/>
                  </a:cubicBezTo>
                  <a:close/>
                </a:path>
              </a:pathLst>
            </a:custGeom>
            <a:solidFill>
              <a:srgbClr val="17865C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255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ALIŞTIRMA</a:t>
              </a:r>
            </a:p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ÖNER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38200" y="685800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Eğitimde: Kişiselleştirilmiş öğrenme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572750" y="1666875"/>
            <a:ext cx="6572250" cy="6191250"/>
          </a:xfrm>
          <a:custGeom>
            <a:avLst/>
            <a:gdLst/>
            <a:ahLst/>
            <a:cxnLst/>
            <a:rect r="r" b="b" t="t" l="l"/>
            <a:pathLst>
              <a:path h="6191250" w="6572250">
                <a:moveTo>
                  <a:pt x="0" y="0"/>
                </a:moveTo>
                <a:lnTo>
                  <a:pt x="6572250" y="0"/>
                </a:lnTo>
                <a:lnTo>
                  <a:pt x="6572250" y="6191250"/>
                </a:lnTo>
                <a:lnTo>
                  <a:pt x="0" y="619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" t="0" r="-41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9" id="19"/>
          <p:cNvGrpSpPr/>
          <p:nvPr/>
        </p:nvGrpSpPr>
        <p:grpSpPr>
          <a:xfrm rot="0">
            <a:off x="1047750" y="7286625"/>
            <a:ext cx="8572500" cy="1143000"/>
            <a:chOff x="0" y="0"/>
            <a:chExt cx="11430000" cy="152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43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1430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428750" y="7600950"/>
            <a:ext cx="7620000" cy="66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 b="true">
                <a:solidFill>
                  <a:srgbClr val="17865C"/>
                </a:solidFill>
                <a:latin typeface="Aptos Bold"/>
                <a:ea typeface="Aptos Bold"/>
                <a:cs typeface="Aptos Bold"/>
                <a:sym typeface="Aptos Bold"/>
              </a:rPr>
              <a:t>DOĞRU ÖRNEK  Öğrencinin kesirlerde zorlandığını fark edip uygun ek alıştırma önermek.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47750" y="8191500"/>
            <a:ext cx="15240000" cy="1143000"/>
            <a:chOff x="0" y="0"/>
            <a:chExt cx="20320000" cy="1524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32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0E5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0320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28750" y="8458200"/>
            <a:ext cx="14763750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 b="true">
                <a:solidFill>
                  <a:srgbClr val="C83F3F"/>
                </a:solidFill>
                <a:latin typeface="Aptos Bold"/>
                <a:ea typeface="Aptos Bold"/>
                <a:cs typeface="Aptos Bold"/>
                <a:sym typeface="Aptos Bold"/>
              </a:rPr>
              <a:t>Yapay zekâ öğretmenin yerini almaz; öğretmen bağlamı, duyguyu ve öğrencinin ihtiyaçlarını değerlendirir.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191500" cy="10287000"/>
          </a:xfrm>
          <a:custGeom>
            <a:avLst/>
            <a:gdLst/>
            <a:ahLst/>
            <a:cxnLst/>
            <a:rect r="r" b="b" t="t" l="l"/>
            <a:pathLst>
              <a:path h="10287000" w="8191500">
                <a:moveTo>
                  <a:pt x="0" y="0"/>
                </a:moveTo>
                <a:lnTo>
                  <a:pt x="8191500" y="0"/>
                </a:lnTo>
                <a:lnTo>
                  <a:pt x="8191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" r="0" b="-81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048625" y="0"/>
            <a:ext cx="171450" cy="10287000"/>
            <a:chOff x="0" y="0"/>
            <a:chExt cx="2286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7A2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048750" y="762000"/>
            <a:ext cx="7905750" cy="37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85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Sağlıkta: Röntgen görüntülerini inceleme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48750" y="2647950"/>
            <a:ext cx="7620000" cy="160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1  Röntgen görüntüsü sisteme verilir.</a:t>
            </a:r>
          </a:p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2  Sistem, öğrendiği örüntülere göre dikkat edilmesi gereken bölgeleri işaretler.</a:t>
            </a:r>
          </a:p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3  Sağlık uzmanı görüntüyü, hastanın öyküsünü ve diğer bulguları birlikte değerlendirir.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58250" y="6858000"/>
            <a:ext cx="8001000" cy="1809750"/>
            <a:chOff x="0" y="0"/>
            <a:chExt cx="10668000" cy="241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68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FFF0E5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668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429750" y="7219950"/>
            <a:ext cx="6858000" cy="696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175" b="true">
                <a:solidFill>
                  <a:srgbClr val="C83F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YAPAY ZEKÂ TEK BAŞINA TANI KOYMAZ.</a:t>
            </a:r>
          </a:p>
          <a:p>
            <a:pPr algn="l">
              <a:lnSpc>
                <a:spcPts val="2827"/>
              </a:lnSpc>
            </a:pPr>
            <a:r>
              <a:rPr lang="en-US" sz="2175" b="true">
                <a:solidFill>
                  <a:srgbClr val="C83F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Son karar ve sorumluluk sağlık uzmanındadır.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685800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Tarım ve hayvancılıkta: Drone ile sayım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2457450"/>
            <a:ext cx="7239000" cy="1284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1  Drone mera görüntülerini toplar.</a:t>
            </a:r>
          </a:p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2  Görüntü analiz sistemi keçileri tespit eder.</a:t>
            </a:r>
          </a:p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3  Tespitler sayılır ve haritalanır.</a:t>
            </a:r>
          </a:p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4  Çiftçi sonucu kontrol eder.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239250" y="1619250"/>
            <a:ext cx="8096250" cy="5334000"/>
          </a:xfrm>
          <a:custGeom>
            <a:avLst/>
            <a:gdLst/>
            <a:ahLst/>
            <a:cxnLst/>
            <a:rect r="r" b="b" t="t" l="l"/>
            <a:pathLst>
              <a:path h="5334000" w="8096250">
                <a:moveTo>
                  <a:pt x="0" y="0"/>
                </a:moveTo>
                <a:lnTo>
                  <a:pt x="8096250" y="0"/>
                </a:lnTo>
                <a:lnTo>
                  <a:pt x="8096250" y="5334000"/>
                </a:lnTo>
                <a:lnTo>
                  <a:pt x="0" y="533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838200" y="6572250"/>
            <a:ext cx="7524750" cy="952500"/>
            <a:chOff x="0" y="0"/>
            <a:chExt cx="10033000" cy="127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33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0033000">
                  <a:moveTo>
                    <a:pt x="0" y="0"/>
                  </a:moveTo>
                  <a:lnTo>
                    <a:pt x="10033000" y="0"/>
                  </a:lnTo>
                  <a:lnTo>
                    <a:pt x="10033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033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3000" y="6867525"/>
            <a:ext cx="68580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786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AMAÇ  Sürü takibi ve zaman tasarrufu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38200" y="7715250"/>
            <a:ext cx="15621000" cy="1238250"/>
            <a:chOff x="0" y="0"/>
            <a:chExt cx="20828000" cy="1651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82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20828000">
                  <a:moveTo>
                    <a:pt x="0" y="0"/>
                  </a:moveTo>
                  <a:lnTo>
                    <a:pt x="20828000" y="0"/>
                  </a:lnTo>
                  <a:lnTo>
                    <a:pt x="2082800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FFF0E5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828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43000" y="7981950"/>
            <a:ext cx="14287500" cy="32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 b="true">
                <a:solidFill>
                  <a:srgbClr val="C83F3F"/>
                </a:solidFill>
                <a:latin typeface="Aptos Bold"/>
                <a:ea typeface="Aptos Bold"/>
                <a:cs typeface="Aptos Bold"/>
                <a:sym typeface="Aptos Bold"/>
              </a:rPr>
              <a:t>ZORLUKLAR  Çalılar, gölgeler, benzer renkler ve düşük görüntü kalitesi sayımı etkileyebilir.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657225"/>
            <a:ext cx="12382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Senaryodan kullanım alanını bul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43000" y="1809750"/>
            <a:ext cx="16002000" cy="666750"/>
            <a:chOff x="0" y="0"/>
            <a:chExt cx="21336000" cy="889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336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1336000">
                  <a:moveTo>
                    <a:pt x="10583" y="0"/>
                  </a:moveTo>
                  <a:lnTo>
                    <a:pt x="21325416" y="0"/>
                  </a:lnTo>
                  <a:cubicBezTo>
                    <a:pt x="21328224" y="0"/>
                    <a:pt x="21330915" y="1115"/>
                    <a:pt x="21332901" y="3100"/>
                  </a:cubicBezTo>
                  <a:cubicBezTo>
                    <a:pt x="21334885" y="5085"/>
                    <a:pt x="21336000" y="7776"/>
                    <a:pt x="21336000" y="10583"/>
                  </a:cubicBezTo>
                  <a:lnTo>
                    <a:pt x="21336000" y="878417"/>
                  </a:lnTo>
                  <a:cubicBezTo>
                    <a:pt x="21336000" y="881224"/>
                    <a:pt x="21334885" y="883915"/>
                    <a:pt x="21332901" y="885900"/>
                  </a:cubicBezTo>
                  <a:cubicBezTo>
                    <a:pt x="21330915" y="887885"/>
                    <a:pt x="21328224" y="889000"/>
                    <a:pt x="21325416" y="889000"/>
                  </a:cubicBezTo>
                  <a:lnTo>
                    <a:pt x="10583" y="889000"/>
                  </a:lnTo>
                  <a:cubicBezTo>
                    <a:pt x="7776" y="889000"/>
                    <a:pt x="5085" y="887885"/>
                    <a:pt x="3100" y="885900"/>
                  </a:cubicBezTo>
                  <a:cubicBezTo>
                    <a:pt x="1115" y="883915"/>
                    <a:pt x="0" y="881224"/>
                    <a:pt x="0" y="878417"/>
                  </a:cubicBezTo>
                  <a:lnTo>
                    <a:pt x="0" y="10583"/>
                  </a:lnTo>
                  <a:cubicBezTo>
                    <a:pt x="0" y="7776"/>
                    <a:pt x="1115" y="5085"/>
                    <a:pt x="3100" y="3100"/>
                  </a:cubicBezTo>
                  <a:cubicBezTo>
                    <a:pt x="5085" y="1115"/>
                    <a:pt x="7776" y="0"/>
                    <a:pt x="10583" y="0"/>
                  </a:cubicBezTo>
                  <a:close/>
                </a:path>
              </a:pathLst>
            </a:custGeom>
            <a:solidFill>
              <a:srgbClr val="10283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336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SENARYO                 VERİ                 İŞLEV                 ALAN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43000" y="2619375"/>
            <a:ext cx="16002000" cy="952500"/>
            <a:chOff x="0" y="0"/>
            <a:chExt cx="21336000" cy="127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43000" y="2686050"/>
            <a:ext cx="16002000" cy="1250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Bantta çatlak parça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Fotoğraf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Kusur bulur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Sanayi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43000" y="3762375"/>
            <a:ext cx="16002000" cy="952500"/>
            <a:chOff x="0" y="0"/>
            <a:chExt cx="21336000" cy="127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43000" y="3829050"/>
            <a:ext cx="16002000" cy="1250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Röntgende bölge işareti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Tıbbi görüntü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Örüntü arar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Sağlık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4905375"/>
            <a:ext cx="16002000" cy="952500"/>
            <a:chOff x="0" y="0"/>
            <a:chExt cx="21336000" cy="127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43000" y="4972050"/>
            <a:ext cx="16002000" cy="1250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Yanlış sorulara ek çalışma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Yanıt/puan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Eksik belirler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Eğitim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43000" y="6048375"/>
            <a:ext cx="16002000" cy="952500"/>
            <a:chOff x="0" y="0"/>
            <a:chExt cx="21336000" cy="127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43000" y="6115050"/>
            <a:ext cx="16002000" cy="1250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Drone ile keçi sayımı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Hava görüntüsü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Nesne sayar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Tarım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3000" y="7191375"/>
            <a:ext cx="16002000" cy="952500"/>
            <a:chOff x="0" y="0"/>
            <a:chExt cx="21336000" cy="127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43000" y="7258050"/>
            <a:ext cx="16002000" cy="1250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Yoğunluğa göre rota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Konum/trafik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Süre tahmin eder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Ulaşım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857500" y="8582025"/>
            <a:ext cx="12573000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 b="true">
                <a:solidFill>
                  <a:srgbClr val="1786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İPUCU  Önce veri türünü, sonra sistemin yaptığı işi sor.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619125"/>
            <a:ext cx="1476375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Yapay zekâ neden hatalı sonuç üretebilir?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1952625"/>
            <a:ext cx="3810000" cy="2381250"/>
            <a:chOff x="0" y="0"/>
            <a:chExt cx="5080000" cy="3175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5080000" cy="3175000"/>
              <a:chOff x="0" y="0"/>
              <a:chExt cx="5080000" cy="3175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080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0E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5080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17500" y="317500"/>
              <a:ext cx="571500" cy="571500"/>
              <a:chOff x="0" y="0"/>
              <a:chExt cx="571500" cy="571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71500" cy="571500"/>
              </a:xfrm>
              <a:custGeom>
                <a:avLst/>
                <a:gdLst/>
                <a:ahLst/>
                <a:cxnLst/>
                <a:rect r="r" b="b" t="t" l="l"/>
                <a:pathLst>
                  <a:path h="571500" w="571500">
                    <a:moveTo>
                      <a:pt x="0" y="0"/>
                    </a:moveTo>
                    <a:lnTo>
                      <a:pt x="571500" y="0"/>
                    </a:lnTo>
                    <a:lnTo>
                      <a:pt x="571500" y="571500"/>
                    </a:lnTo>
                    <a:lnTo>
                      <a:pt x="0" y="571500"/>
                    </a:lnTo>
                    <a:close/>
                  </a:path>
                </a:pathLst>
              </a:custGeom>
              <a:solidFill>
                <a:srgbClr val="C83F3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571500" cy="60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55600" y="542925"/>
              <a:ext cx="4445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 b="true">
                  <a:solidFill>
                    <a:srgbClr val="C83F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YETERSİZ VERİ</a:t>
              </a:r>
            </a:p>
            <a:p>
              <a:pPr algn="l">
                <a:lnSpc>
                  <a:spcPts val="2531"/>
                </a:lnSpc>
              </a:pPr>
              <a:r>
                <a:rPr lang="en-US" sz="1875" b="true">
                  <a:solidFill>
                    <a:srgbClr val="C83F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Az örnek → zayıf öğrenme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191125" y="1952625"/>
            <a:ext cx="3810000" cy="2381250"/>
            <a:chOff x="0" y="0"/>
            <a:chExt cx="5080000" cy="3175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5080000" cy="3175000"/>
              <a:chOff x="0" y="0"/>
              <a:chExt cx="5080000" cy="3175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080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0E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080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317500" y="317500"/>
              <a:ext cx="571500" cy="571500"/>
              <a:chOff x="0" y="0"/>
              <a:chExt cx="571500" cy="5715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71500" cy="571500"/>
              </a:xfrm>
              <a:custGeom>
                <a:avLst/>
                <a:gdLst/>
                <a:ahLst/>
                <a:cxnLst/>
                <a:rect r="r" b="b" t="t" l="l"/>
                <a:pathLst>
                  <a:path h="571500" w="571500">
                    <a:moveTo>
                      <a:pt x="0" y="0"/>
                    </a:moveTo>
                    <a:lnTo>
                      <a:pt x="571500" y="0"/>
                    </a:lnTo>
                    <a:lnTo>
                      <a:pt x="571500" y="571500"/>
                    </a:lnTo>
                    <a:lnTo>
                      <a:pt x="0" y="571500"/>
                    </a:lnTo>
                    <a:close/>
                  </a:path>
                </a:pathLst>
              </a:custGeom>
              <a:solidFill>
                <a:srgbClr val="C83F3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571500" cy="60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55600" y="542925"/>
              <a:ext cx="4445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 b="true">
                  <a:solidFill>
                    <a:srgbClr val="C83F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HATALI ETİKET</a:t>
              </a:r>
            </a:p>
            <a:p>
              <a:pPr algn="l">
                <a:lnSpc>
                  <a:spcPts val="2531"/>
                </a:lnSpc>
              </a:pPr>
              <a:r>
                <a:rPr lang="en-US" sz="1875" b="true">
                  <a:solidFill>
                    <a:srgbClr val="C83F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Yanlış ad → yanlış ilişki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429750" y="1952625"/>
            <a:ext cx="3810000" cy="2381250"/>
            <a:chOff x="0" y="0"/>
            <a:chExt cx="5080000" cy="31750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5080000" cy="3175000"/>
              <a:chOff x="0" y="0"/>
              <a:chExt cx="5080000" cy="3175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080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0E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5080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317500" y="317500"/>
              <a:ext cx="571500" cy="571500"/>
              <a:chOff x="0" y="0"/>
              <a:chExt cx="571500" cy="5715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571500" cy="571500"/>
              </a:xfrm>
              <a:custGeom>
                <a:avLst/>
                <a:gdLst/>
                <a:ahLst/>
                <a:cxnLst/>
                <a:rect r="r" b="b" t="t" l="l"/>
                <a:pathLst>
                  <a:path h="571500" w="571500">
                    <a:moveTo>
                      <a:pt x="0" y="0"/>
                    </a:moveTo>
                    <a:lnTo>
                      <a:pt x="571500" y="0"/>
                    </a:lnTo>
                    <a:lnTo>
                      <a:pt x="571500" y="571500"/>
                    </a:lnTo>
                    <a:lnTo>
                      <a:pt x="0" y="571500"/>
                    </a:lnTo>
                    <a:close/>
                  </a:path>
                </a:pathLst>
              </a:custGeom>
              <a:solidFill>
                <a:srgbClr val="C83F3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571500" cy="60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355600" y="542925"/>
              <a:ext cx="4445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 b="true">
                  <a:solidFill>
                    <a:srgbClr val="C83F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YANLI VERİ</a:t>
              </a:r>
            </a:p>
            <a:p>
              <a:pPr algn="l">
                <a:lnSpc>
                  <a:spcPts val="2531"/>
                </a:lnSpc>
              </a:pPr>
              <a:r>
                <a:rPr lang="en-US" sz="1875" b="true">
                  <a:solidFill>
                    <a:srgbClr val="C83F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Bazı gruplar eksik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668375" y="1952625"/>
            <a:ext cx="3810000" cy="2381250"/>
            <a:chOff x="0" y="0"/>
            <a:chExt cx="5080000" cy="3175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5080000" cy="3175000"/>
              <a:chOff x="0" y="0"/>
              <a:chExt cx="5080000" cy="3175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5080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0E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5080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17500" y="317500"/>
              <a:ext cx="571500" cy="571500"/>
              <a:chOff x="0" y="0"/>
              <a:chExt cx="571500" cy="5715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571500" cy="571500"/>
              </a:xfrm>
              <a:custGeom>
                <a:avLst/>
                <a:gdLst/>
                <a:ahLst/>
                <a:cxnLst/>
                <a:rect r="r" b="b" t="t" l="l"/>
                <a:pathLst>
                  <a:path h="571500" w="571500">
                    <a:moveTo>
                      <a:pt x="0" y="0"/>
                    </a:moveTo>
                    <a:lnTo>
                      <a:pt x="571500" y="0"/>
                    </a:lnTo>
                    <a:lnTo>
                      <a:pt x="571500" y="571500"/>
                    </a:lnTo>
                    <a:lnTo>
                      <a:pt x="0" y="571500"/>
                    </a:lnTo>
                    <a:close/>
                  </a:path>
                </a:pathLst>
              </a:custGeom>
              <a:solidFill>
                <a:srgbClr val="C83F3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571500" cy="60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355600" y="542925"/>
              <a:ext cx="4445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 b="true">
                  <a:solidFill>
                    <a:srgbClr val="C83F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DÜŞÜK KALİTE</a:t>
              </a:r>
            </a:p>
            <a:p>
              <a:pPr algn="l">
                <a:lnSpc>
                  <a:spcPts val="2531"/>
                </a:lnSpc>
              </a:pPr>
              <a:r>
                <a:rPr lang="en-US" sz="1875" b="true">
                  <a:solidFill>
                    <a:srgbClr val="C83F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Bulanık/gürültülü giriş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52500" y="5095875"/>
            <a:ext cx="3810000" cy="2381250"/>
            <a:chOff x="0" y="0"/>
            <a:chExt cx="5080000" cy="31750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5080000" cy="3175000"/>
              <a:chOff x="0" y="0"/>
              <a:chExt cx="5080000" cy="31750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5080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5080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317500" y="317500"/>
              <a:ext cx="571500" cy="571500"/>
              <a:chOff x="0" y="0"/>
              <a:chExt cx="571500" cy="5715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571500" cy="571500"/>
              </a:xfrm>
              <a:custGeom>
                <a:avLst/>
                <a:gdLst/>
                <a:ahLst/>
                <a:cxnLst/>
                <a:rect r="r" b="b" t="t" l="l"/>
                <a:pathLst>
                  <a:path h="571500" w="571500">
                    <a:moveTo>
                      <a:pt x="0" y="0"/>
                    </a:moveTo>
                    <a:lnTo>
                      <a:pt x="571500" y="0"/>
                    </a:lnTo>
                    <a:lnTo>
                      <a:pt x="571500" y="571500"/>
                    </a:lnTo>
                    <a:lnTo>
                      <a:pt x="0" y="571500"/>
                    </a:lnTo>
                    <a:close/>
                  </a:path>
                </a:pathLst>
              </a:custGeom>
              <a:solidFill>
                <a:srgbClr val="ED7A2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571500" cy="60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355600" y="542925"/>
              <a:ext cx="4445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YENİ DURUM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Eğitimde görülmemiş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191125" y="5095875"/>
            <a:ext cx="3810000" cy="2381250"/>
            <a:chOff x="0" y="0"/>
            <a:chExt cx="5080000" cy="3175000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5080000" cy="3175000"/>
              <a:chOff x="0" y="0"/>
              <a:chExt cx="5080000" cy="31750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5080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5080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317500" y="317500"/>
              <a:ext cx="571500" cy="571500"/>
              <a:chOff x="0" y="0"/>
              <a:chExt cx="571500" cy="5715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571500" cy="571500"/>
              </a:xfrm>
              <a:custGeom>
                <a:avLst/>
                <a:gdLst/>
                <a:ahLst/>
                <a:cxnLst/>
                <a:rect r="r" b="b" t="t" l="l"/>
                <a:pathLst>
                  <a:path h="571500" w="571500">
                    <a:moveTo>
                      <a:pt x="0" y="0"/>
                    </a:moveTo>
                    <a:lnTo>
                      <a:pt x="571500" y="0"/>
                    </a:lnTo>
                    <a:lnTo>
                      <a:pt x="571500" y="571500"/>
                    </a:lnTo>
                    <a:lnTo>
                      <a:pt x="0" y="571500"/>
                    </a:lnTo>
                    <a:close/>
                  </a:path>
                </a:pathLst>
              </a:custGeom>
              <a:solidFill>
                <a:srgbClr val="ED7A2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571500" cy="60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355600" y="542925"/>
              <a:ext cx="4445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MODEL SINIRI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Karmaşıklığı yakalayamaz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429750" y="5095875"/>
            <a:ext cx="3810000" cy="2381250"/>
            <a:chOff x="0" y="0"/>
            <a:chExt cx="5080000" cy="317500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5080000" cy="3175000"/>
              <a:chOff x="0" y="0"/>
              <a:chExt cx="5080000" cy="31750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5080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5080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317500" y="317500"/>
              <a:ext cx="571500" cy="571500"/>
              <a:chOff x="0" y="0"/>
              <a:chExt cx="571500" cy="5715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571500" cy="571500"/>
              </a:xfrm>
              <a:custGeom>
                <a:avLst/>
                <a:gdLst/>
                <a:ahLst/>
                <a:cxnLst/>
                <a:rect r="r" b="b" t="t" l="l"/>
                <a:pathLst>
                  <a:path h="571500" w="571500">
                    <a:moveTo>
                      <a:pt x="0" y="0"/>
                    </a:moveTo>
                    <a:lnTo>
                      <a:pt x="571500" y="0"/>
                    </a:lnTo>
                    <a:lnTo>
                      <a:pt x="571500" y="571500"/>
                    </a:lnTo>
                    <a:lnTo>
                      <a:pt x="0" y="571500"/>
                    </a:lnTo>
                    <a:close/>
                  </a:path>
                </a:pathLst>
              </a:custGeom>
              <a:solidFill>
                <a:srgbClr val="ED7A2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571500" cy="60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355600" y="542925"/>
              <a:ext cx="4445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BAĞLAM HATASI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Sözün anlamı karışır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668375" y="5095875"/>
            <a:ext cx="3810000" cy="2381250"/>
            <a:chOff x="0" y="0"/>
            <a:chExt cx="5080000" cy="3175000"/>
          </a:xfrm>
        </p:grpSpPr>
        <p:grpSp>
          <p:nvGrpSpPr>
            <p:cNvPr name="Group 60" id="60"/>
            <p:cNvGrpSpPr/>
            <p:nvPr/>
          </p:nvGrpSpPr>
          <p:grpSpPr>
            <a:xfrm rot="0">
              <a:off x="0" y="0"/>
              <a:ext cx="5080000" cy="3175000"/>
              <a:chOff x="0" y="0"/>
              <a:chExt cx="5080000" cy="31750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5080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38100"/>
                <a:ext cx="5080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317500" y="317500"/>
              <a:ext cx="571500" cy="571500"/>
              <a:chOff x="0" y="0"/>
              <a:chExt cx="571500" cy="57150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571500" cy="571500"/>
              </a:xfrm>
              <a:custGeom>
                <a:avLst/>
                <a:gdLst/>
                <a:ahLst/>
                <a:cxnLst/>
                <a:rect r="r" b="b" t="t" l="l"/>
                <a:pathLst>
                  <a:path h="571500" w="571500">
                    <a:moveTo>
                      <a:pt x="0" y="0"/>
                    </a:moveTo>
                    <a:lnTo>
                      <a:pt x="571500" y="0"/>
                    </a:lnTo>
                    <a:lnTo>
                      <a:pt x="571500" y="571500"/>
                    </a:lnTo>
                    <a:lnTo>
                      <a:pt x="0" y="571500"/>
                    </a:lnTo>
                    <a:close/>
                  </a:path>
                </a:pathLst>
              </a:custGeom>
              <a:solidFill>
                <a:srgbClr val="ED7A2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38100"/>
                <a:ext cx="571500" cy="60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6" id="66"/>
            <p:cNvSpPr txBox="true"/>
            <p:nvPr/>
          </p:nvSpPr>
          <p:spPr>
            <a:xfrm rot="0">
              <a:off x="355600" y="542925"/>
              <a:ext cx="4445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ESKİ BİLGİ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Güncel değişikliği bilmez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714500" y="8724900"/>
            <a:ext cx="148590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 b="true">
                <a:solidFill>
                  <a:srgbClr val="C83F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SINAVDA ÖNE ÇIKAN 4 NEDEN: yetersiz veri • hatalı etiket • yanlı veri • düşük kalite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685800"/>
            <a:ext cx="1285875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 hatanın temel nedeni nedir?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43000" y="2190750"/>
            <a:ext cx="7620000" cy="2286000"/>
            <a:chOff x="0" y="0"/>
            <a:chExt cx="10160000" cy="3048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160000" cy="3048000"/>
              <a:chOff x="0" y="0"/>
              <a:chExt cx="10160000" cy="3048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160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FFF0E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160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508000" y="415925"/>
              <a:ext cx="9144000" cy="1348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A  Sistem, gece çekilen fotoğraflarda keçileri kaçırıyor.</a:t>
              </a:r>
            </a:p>
            <a:p>
              <a:pPr algn="l">
                <a:lnSpc>
                  <a:spcPts val="2733"/>
                </a:lnSpc>
              </a:pP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?  Hata nedeni: __________________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29750" y="2190750"/>
            <a:ext cx="7620000" cy="2286000"/>
            <a:chOff x="0" y="0"/>
            <a:chExt cx="10160000" cy="3048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160000" cy="3048000"/>
              <a:chOff x="0" y="0"/>
              <a:chExt cx="10160000" cy="3048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160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160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08000" y="415925"/>
              <a:ext cx="9144000" cy="1805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B  Kedi fotoğraflarının bir kısmı yanlışlıkla ‘köpek’ diye etiketlenmiş.</a:t>
              </a:r>
            </a:p>
            <a:p>
              <a:pPr algn="l">
                <a:lnSpc>
                  <a:spcPts val="2733"/>
                </a:lnSpc>
              </a:pP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?  Hata nedeni: __________________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43000" y="5048250"/>
            <a:ext cx="7620000" cy="2286000"/>
            <a:chOff x="0" y="0"/>
            <a:chExt cx="10160000" cy="3048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160000" cy="3048000"/>
              <a:chOff x="0" y="0"/>
              <a:chExt cx="10160000" cy="3048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160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FFF0E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0160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08000" y="415925"/>
              <a:ext cx="9144000" cy="1805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C  Çeviri sistemi yeni çıkan bir teknoloji terimini yanlış çeviriyor.</a:t>
              </a:r>
            </a:p>
            <a:p>
              <a:pPr algn="l">
                <a:lnSpc>
                  <a:spcPts val="2733"/>
                </a:lnSpc>
              </a:pP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?  Hata nedeni: __________________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29750" y="5048250"/>
            <a:ext cx="7620000" cy="2286000"/>
            <a:chOff x="0" y="0"/>
            <a:chExt cx="10160000" cy="3048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160000" cy="3048000"/>
              <a:chOff x="0" y="0"/>
              <a:chExt cx="10160000" cy="3048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160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0160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08000" y="415925"/>
              <a:ext cx="9144000" cy="1348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D  Sesli asistan gürültülü sınıfta komutu yanlış anlıyor.</a:t>
              </a:r>
            </a:p>
            <a:p>
              <a:pPr algn="l">
                <a:lnSpc>
                  <a:spcPts val="2733"/>
                </a:lnSpc>
              </a:pP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?  Hata nedeni: __________________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095500" y="8534400"/>
            <a:ext cx="14097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ED7A2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Düşün → Kanıtı bul → Nedenini adlandır. Cevaplar sonraki değerlendirmede tartışılacak.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685800"/>
            <a:ext cx="1285875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Sonucu kullanmadan önce 5 kontrol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28750" y="1905000"/>
            <a:ext cx="15240000" cy="876300"/>
            <a:chOff x="0" y="0"/>
            <a:chExt cx="20320000" cy="1168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320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E8F1F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320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000250" y="2057400"/>
            <a:ext cx="14287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01   Başka güvenilir bilgilerle doğrula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28750" y="3095625"/>
            <a:ext cx="15240000" cy="876300"/>
            <a:chOff x="0" y="0"/>
            <a:chExt cx="20320000" cy="1168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20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320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000250" y="3248025"/>
            <a:ext cx="14287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02   Verinin kalitesini ve kaynağını sorgula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28750" y="4286250"/>
            <a:ext cx="15240000" cy="876300"/>
            <a:chOff x="0" y="0"/>
            <a:chExt cx="20320000" cy="1168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20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E8F1F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320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00250" y="4438650"/>
            <a:ext cx="14287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03   Sistemin amacını ve sınırını bil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28750" y="5476875"/>
            <a:ext cx="15240000" cy="876300"/>
            <a:chOff x="0" y="0"/>
            <a:chExt cx="20320000" cy="1168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320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320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000250" y="5629275"/>
            <a:ext cx="14287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04   Tahmini kesin gerçek sanma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28750" y="6667500"/>
            <a:ext cx="15240000" cy="876300"/>
            <a:chOff x="0" y="0"/>
            <a:chExt cx="20320000" cy="1168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320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FFF0E5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320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000250" y="6819900"/>
            <a:ext cx="14287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0283D"/>
                </a:solidFill>
                <a:latin typeface="Aptos Bold"/>
                <a:ea typeface="Aptos Bold"/>
                <a:cs typeface="Aptos Bold"/>
                <a:sym typeface="Aptos Bold"/>
              </a:rPr>
              <a:t>05   Kişisel verileri koru; sağlıkta uzmana danış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714500" y="7953375"/>
            <a:ext cx="14859000" cy="1047750"/>
            <a:chOff x="0" y="0"/>
            <a:chExt cx="19812000" cy="1397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812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9812000">
                  <a:moveTo>
                    <a:pt x="0" y="0"/>
                  </a:moveTo>
                  <a:lnTo>
                    <a:pt x="19812000" y="0"/>
                  </a:lnTo>
                  <a:lnTo>
                    <a:pt x="19812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176BBA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9812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286000" y="8239125"/>
            <a:ext cx="13716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Yapay zekâ yararlıdır; ama sonuçları dikkatle kullanılmalıdır.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685800"/>
            <a:ext cx="76200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Kavram haritası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239000" y="4095750"/>
            <a:ext cx="3810000" cy="1619250"/>
            <a:chOff x="0" y="0"/>
            <a:chExt cx="5080000" cy="2159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80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5080000">
                  <a:moveTo>
                    <a:pt x="44450" y="0"/>
                  </a:moveTo>
                  <a:lnTo>
                    <a:pt x="5035550" y="0"/>
                  </a:lnTo>
                  <a:cubicBezTo>
                    <a:pt x="5060099" y="0"/>
                    <a:pt x="5080000" y="19901"/>
                    <a:pt x="5080000" y="44450"/>
                  </a:cubicBezTo>
                  <a:lnTo>
                    <a:pt x="5080000" y="2114550"/>
                  </a:lnTo>
                  <a:cubicBezTo>
                    <a:pt x="5080000" y="2139099"/>
                    <a:pt x="5060099" y="2159000"/>
                    <a:pt x="5035550" y="2159000"/>
                  </a:cubicBezTo>
                  <a:lnTo>
                    <a:pt x="44450" y="2159000"/>
                  </a:lnTo>
                  <a:cubicBezTo>
                    <a:pt x="19901" y="2159000"/>
                    <a:pt x="0" y="2139099"/>
                    <a:pt x="0" y="21145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176BB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080000" cy="220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YAPAY ZEKÂ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14500" y="2286000"/>
            <a:ext cx="2667000" cy="1143000"/>
            <a:chOff x="0" y="0"/>
            <a:chExt cx="3556000" cy="152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5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556000">
                  <a:moveTo>
                    <a:pt x="63500" y="0"/>
                  </a:moveTo>
                  <a:lnTo>
                    <a:pt x="3492500" y="0"/>
                  </a:lnTo>
                  <a:cubicBezTo>
                    <a:pt x="3527570" y="0"/>
                    <a:pt x="3556000" y="28430"/>
                    <a:pt x="3556000" y="63500"/>
                  </a:cubicBezTo>
                  <a:lnTo>
                    <a:pt x="3556000" y="1460500"/>
                  </a:lnTo>
                  <a:cubicBezTo>
                    <a:pt x="3556000" y="1495570"/>
                    <a:pt x="3527570" y="1524000"/>
                    <a:pt x="3492500" y="1524000"/>
                  </a:cubicBezTo>
                  <a:lnTo>
                    <a:pt x="63500" y="1524000"/>
                  </a:lnTo>
                  <a:cubicBezTo>
                    <a:pt x="28430" y="1524000"/>
                    <a:pt x="0" y="1495570"/>
                    <a:pt x="0" y="1460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76BBA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556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TANIM</a:t>
              </a:r>
            </a:p>
          </p:txBody>
        </p:sp>
      </p:grpSp>
      <p:sp>
        <p:nvSpPr>
          <p:cNvPr name="AutoShape 9" id="9"/>
          <p:cNvSpPr/>
          <p:nvPr/>
        </p:nvSpPr>
        <p:spPr>
          <a:xfrm flipH="true" flipV="true">
            <a:off x="3048000" y="2857500"/>
            <a:ext cx="6096000" cy="2047875"/>
          </a:xfrm>
          <a:prstGeom prst="line">
            <a:avLst/>
          </a:prstGeom>
          <a:ln cap="rnd" w="47625">
            <a:solidFill>
              <a:srgbClr val="176BBA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1143000" y="6191250"/>
            <a:ext cx="2667000" cy="1143000"/>
            <a:chOff x="0" y="0"/>
            <a:chExt cx="3556000" cy="152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5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556000">
                  <a:moveTo>
                    <a:pt x="63500" y="0"/>
                  </a:moveTo>
                  <a:lnTo>
                    <a:pt x="3492500" y="0"/>
                  </a:lnTo>
                  <a:cubicBezTo>
                    <a:pt x="3527570" y="0"/>
                    <a:pt x="3556000" y="28430"/>
                    <a:pt x="3556000" y="63500"/>
                  </a:cubicBezTo>
                  <a:lnTo>
                    <a:pt x="3556000" y="1460500"/>
                  </a:lnTo>
                  <a:cubicBezTo>
                    <a:pt x="3556000" y="1495570"/>
                    <a:pt x="3527570" y="1524000"/>
                    <a:pt x="3492500" y="1524000"/>
                  </a:cubicBezTo>
                  <a:lnTo>
                    <a:pt x="63500" y="1524000"/>
                  </a:lnTo>
                  <a:cubicBezTo>
                    <a:pt x="28430" y="1524000"/>
                    <a:pt x="0" y="1495570"/>
                    <a:pt x="0" y="1460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76BB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556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İNSAN</a:t>
              </a:r>
            </a:p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KARŞILAŞTIRMASI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flipH="true">
            <a:off x="2476500" y="4905375"/>
            <a:ext cx="6667500" cy="1857375"/>
          </a:xfrm>
          <a:prstGeom prst="line">
            <a:avLst/>
          </a:prstGeom>
          <a:ln cap="rnd" w="47625">
            <a:solidFill>
              <a:srgbClr val="176BBA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4953000" y="1809750"/>
            <a:ext cx="2667000" cy="1143000"/>
            <a:chOff x="0" y="0"/>
            <a:chExt cx="3556000" cy="152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5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556000">
                  <a:moveTo>
                    <a:pt x="63500" y="0"/>
                  </a:moveTo>
                  <a:lnTo>
                    <a:pt x="3492500" y="0"/>
                  </a:lnTo>
                  <a:cubicBezTo>
                    <a:pt x="3527570" y="0"/>
                    <a:pt x="3556000" y="28430"/>
                    <a:pt x="3556000" y="63500"/>
                  </a:cubicBezTo>
                  <a:lnTo>
                    <a:pt x="3556000" y="1460500"/>
                  </a:lnTo>
                  <a:cubicBezTo>
                    <a:pt x="3556000" y="1495570"/>
                    <a:pt x="3527570" y="1524000"/>
                    <a:pt x="3492500" y="1524000"/>
                  </a:cubicBezTo>
                  <a:lnTo>
                    <a:pt x="63500" y="1524000"/>
                  </a:lnTo>
                  <a:cubicBezTo>
                    <a:pt x="28430" y="1524000"/>
                    <a:pt x="0" y="1495570"/>
                    <a:pt x="0" y="1460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7650A6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556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TARİHÇE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flipH="true" flipV="true">
            <a:off x="6286500" y="2381250"/>
            <a:ext cx="2857500" cy="2524125"/>
          </a:xfrm>
          <a:prstGeom prst="line">
            <a:avLst/>
          </a:prstGeom>
          <a:ln cap="rnd" w="47625">
            <a:solidFill>
              <a:srgbClr val="7650A6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12668250" y="2095500"/>
            <a:ext cx="2667000" cy="1143000"/>
            <a:chOff x="0" y="0"/>
            <a:chExt cx="3556000" cy="152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5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556000">
                  <a:moveTo>
                    <a:pt x="63500" y="0"/>
                  </a:moveTo>
                  <a:lnTo>
                    <a:pt x="3492500" y="0"/>
                  </a:lnTo>
                  <a:cubicBezTo>
                    <a:pt x="3527570" y="0"/>
                    <a:pt x="3556000" y="28430"/>
                    <a:pt x="3556000" y="63500"/>
                  </a:cubicBezTo>
                  <a:lnTo>
                    <a:pt x="3556000" y="1460500"/>
                  </a:lnTo>
                  <a:cubicBezTo>
                    <a:pt x="3556000" y="1495570"/>
                    <a:pt x="3527570" y="1524000"/>
                    <a:pt x="3492500" y="1524000"/>
                  </a:cubicBezTo>
                  <a:lnTo>
                    <a:pt x="63500" y="1524000"/>
                  </a:lnTo>
                  <a:cubicBezTo>
                    <a:pt x="28430" y="1524000"/>
                    <a:pt x="0" y="1495570"/>
                    <a:pt x="0" y="1460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7650A6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556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TURING</a:t>
              </a:r>
            </a:p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TESTİ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flipV="true">
            <a:off x="9144000" y="2667000"/>
            <a:ext cx="4857750" cy="2238375"/>
          </a:xfrm>
          <a:prstGeom prst="line">
            <a:avLst/>
          </a:prstGeom>
          <a:ln cap="rnd" w="47625">
            <a:solidFill>
              <a:srgbClr val="7650A6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2" id="22"/>
          <p:cNvGrpSpPr/>
          <p:nvPr/>
        </p:nvGrpSpPr>
        <p:grpSpPr>
          <a:xfrm rot="0">
            <a:off x="13811250" y="5810250"/>
            <a:ext cx="2667000" cy="1143000"/>
            <a:chOff x="0" y="0"/>
            <a:chExt cx="3556000" cy="152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5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556000">
                  <a:moveTo>
                    <a:pt x="63500" y="0"/>
                  </a:moveTo>
                  <a:lnTo>
                    <a:pt x="3492500" y="0"/>
                  </a:lnTo>
                  <a:cubicBezTo>
                    <a:pt x="3527570" y="0"/>
                    <a:pt x="3556000" y="28430"/>
                    <a:pt x="3556000" y="63500"/>
                  </a:cubicBezTo>
                  <a:lnTo>
                    <a:pt x="3556000" y="1460500"/>
                  </a:lnTo>
                  <a:cubicBezTo>
                    <a:pt x="3556000" y="1495570"/>
                    <a:pt x="3527570" y="1524000"/>
                    <a:pt x="3492500" y="1524000"/>
                  </a:cubicBezTo>
                  <a:lnTo>
                    <a:pt x="63500" y="1524000"/>
                  </a:lnTo>
                  <a:cubicBezTo>
                    <a:pt x="28430" y="1524000"/>
                    <a:pt x="0" y="1495570"/>
                    <a:pt x="0" y="1460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24B8C4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556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McCARTHY</a:t>
              </a:r>
            </a:p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DARTMOUTH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9144000" y="4905375"/>
            <a:ext cx="6000750" cy="1476375"/>
          </a:xfrm>
          <a:prstGeom prst="line">
            <a:avLst/>
          </a:prstGeom>
          <a:ln cap="rnd" w="47625">
            <a:solidFill>
              <a:srgbClr val="24B8C4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6" id="26"/>
          <p:cNvGrpSpPr/>
          <p:nvPr/>
        </p:nvGrpSpPr>
        <p:grpSpPr>
          <a:xfrm rot="0">
            <a:off x="10191750" y="7524750"/>
            <a:ext cx="2667000" cy="1143000"/>
            <a:chOff x="0" y="0"/>
            <a:chExt cx="3556000" cy="1524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5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556000">
                  <a:moveTo>
                    <a:pt x="63500" y="0"/>
                  </a:moveTo>
                  <a:lnTo>
                    <a:pt x="3492500" y="0"/>
                  </a:lnTo>
                  <a:cubicBezTo>
                    <a:pt x="3527570" y="0"/>
                    <a:pt x="3556000" y="28430"/>
                    <a:pt x="3556000" y="63500"/>
                  </a:cubicBezTo>
                  <a:lnTo>
                    <a:pt x="3556000" y="1460500"/>
                  </a:lnTo>
                  <a:cubicBezTo>
                    <a:pt x="3556000" y="1495570"/>
                    <a:pt x="3527570" y="1524000"/>
                    <a:pt x="3492500" y="1524000"/>
                  </a:cubicBezTo>
                  <a:lnTo>
                    <a:pt x="63500" y="1524000"/>
                  </a:lnTo>
                  <a:cubicBezTo>
                    <a:pt x="28430" y="1524000"/>
                    <a:pt x="0" y="1495570"/>
                    <a:pt x="0" y="1460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7650A6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556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TRANSFORMER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9144000" y="4905375"/>
            <a:ext cx="2381250" cy="3190875"/>
          </a:xfrm>
          <a:prstGeom prst="line">
            <a:avLst/>
          </a:prstGeom>
          <a:ln cap="rnd" w="47625">
            <a:solidFill>
              <a:srgbClr val="7650A6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0" id="30"/>
          <p:cNvGrpSpPr/>
          <p:nvPr/>
        </p:nvGrpSpPr>
        <p:grpSpPr>
          <a:xfrm rot="0">
            <a:off x="4762500" y="7620000"/>
            <a:ext cx="2667000" cy="1143000"/>
            <a:chOff x="0" y="0"/>
            <a:chExt cx="3556000" cy="1524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5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556000">
                  <a:moveTo>
                    <a:pt x="63500" y="0"/>
                  </a:moveTo>
                  <a:lnTo>
                    <a:pt x="3492500" y="0"/>
                  </a:lnTo>
                  <a:cubicBezTo>
                    <a:pt x="3527570" y="0"/>
                    <a:pt x="3556000" y="28430"/>
                    <a:pt x="3556000" y="63500"/>
                  </a:cubicBezTo>
                  <a:lnTo>
                    <a:pt x="3556000" y="1460500"/>
                  </a:lnTo>
                  <a:cubicBezTo>
                    <a:pt x="3556000" y="1495570"/>
                    <a:pt x="3527570" y="1524000"/>
                    <a:pt x="3492500" y="1524000"/>
                  </a:cubicBezTo>
                  <a:lnTo>
                    <a:pt x="63500" y="1524000"/>
                  </a:lnTo>
                  <a:cubicBezTo>
                    <a:pt x="28430" y="1524000"/>
                    <a:pt x="0" y="1495570"/>
                    <a:pt x="0" y="1460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7865C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556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KULLANIM</a:t>
              </a:r>
            </a:p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ALANLARI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flipH="true">
            <a:off x="6096000" y="4905375"/>
            <a:ext cx="3048000" cy="3286125"/>
          </a:xfrm>
          <a:prstGeom prst="line">
            <a:avLst/>
          </a:prstGeom>
          <a:ln cap="rnd" w="47625">
            <a:solidFill>
              <a:srgbClr val="17865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4" id="34"/>
          <p:cNvGrpSpPr/>
          <p:nvPr/>
        </p:nvGrpSpPr>
        <p:grpSpPr>
          <a:xfrm rot="0">
            <a:off x="1428750" y="7810500"/>
            <a:ext cx="2667000" cy="1143000"/>
            <a:chOff x="0" y="0"/>
            <a:chExt cx="3556000" cy="152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55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556000">
                  <a:moveTo>
                    <a:pt x="63500" y="0"/>
                  </a:moveTo>
                  <a:lnTo>
                    <a:pt x="3492500" y="0"/>
                  </a:lnTo>
                  <a:cubicBezTo>
                    <a:pt x="3527570" y="0"/>
                    <a:pt x="3556000" y="28430"/>
                    <a:pt x="3556000" y="63500"/>
                  </a:cubicBezTo>
                  <a:lnTo>
                    <a:pt x="3556000" y="1460500"/>
                  </a:lnTo>
                  <a:cubicBezTo>
                    <a:pt x="3556000" y="1495570"/>
                    <a:pt x="3527570" y="1524000"/>
                    <a:pt x="3492500" y="1524000"/>
                  </a:cubicBezTo>
                  <a:lnTo>
                    <a:pt x="63500" y="1524000"/>
                  </a:lnTo>
                  <a:cubicBezTo>
                    <a:pt x="28430" y="1524000"/>
                    <a:pt x="0" y="1495570"/>
                    <a:pt x="0" y="1460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ED7A2F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556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HATALAR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flipH="true">
            <a:off x="2762250" y="4905375"/>
            <a:ext cx="6381750" cy="3476625"/>
          </a:xfrm>
          <a:prstGeom prst="line">
            <a:avLst/>
          </a:prstGeom>
          <a:ln cap="rnd" w="47625">
            <a:solidFill>
              <a:srgbClr val="ED7A2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619125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Sınava hazırlık: 12 kısa bilgi kartı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04875" y="1762125"/>
            <a:ext cx="3810000" cy="2143125"/>
            <a:chOff x="0" y="0"/>
            <a:chExt cx="5080000" cy="28575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5080000" cy="2857500"/>
              <a:chOff x="0" y="0"/>
              <a:chExt cx="5080000" cy="28575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080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DFF5E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5080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5080000" cy="152400"/>
              <a:chOff x="0" y="0"/>
              <a:chExt cx="5080000" cy="152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08000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17865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5080000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55600" y="377825"/>
              <a:ext cx="4445000" cy="1165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 b="true">
                  <a:solidFill>
                    <a:srgbClr val="1028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YZ nedir?</a:t>
              </a:r>
            </a:p>
            <a:p>
              <a:pPr algn="l">
                <a:lnSpc>
                  <a:spcPts val="2328"/>
                </a:lnSpc>
              </a:pPr>
              <a:r>
                <a:rPr lang="en-US" sz="1725" b="true">
                  <a:solidFill>
                    <a:srgbClr val="1028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Veriden örüntü öğrenen sistemler alanı.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143500" y="1762125"/>
            <a:ext cx="3810000" cy="2143125"/>
            <a:chOff x="0" y="0"/>
            <a:chExt cx="5080000" cy="28575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5080000" cy="2857500"/>
              <a:chOff x="0" y="0"/>
              <a:chExt cx="5080000" cy="28575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080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080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5080000" cy="152400"/>
              <a:chOff x="0" y="0"/>
              <a:chExt cx="5080000" cy="152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08000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176BB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5080000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55600" y="377825"/>
              <a:ext cx="4445000" cy="772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Bilinçli midir?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Hayır.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382125" y="1762125"/>
            <a:ext cx="3810000" cy="2143125"/>
            <a:chOff x="0" y="0"/>
            <a:chExt cx="5080000" cy="28575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5080000" cy="2857500"/>
              <a:chOff x="0" y="0"/>
              <a:chExt cx="5080000" cy="28575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080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DFF5E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5080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0"/>
              <a:ext cx="5080000" cy="152400"/>
              <a:chOff x="0" y="0"/>
              <a:chExt cx="5080000" cy="1524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508000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176BB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5080000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355600" y="377825"/>
              <a:ext cx="4445000" cy="772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Sesli asistan?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Ses → anlama → yanıt.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620750" y="1762125"/>
            <a:ext cx="3810000" cy="2143125"/>
            <a:chOff x="0" y="0"/>
            <a:chExt cx="5080000" cy="28575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5080000" cy="2857500"/>
              <a:chOff x="0" y="0"/>
              <a:chExt cx="5080000" cy="28575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5080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5080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0"/>
              <a:ext cx="5080000" cy="152400"/>
              <a:chOff x="0" y="0"/>
              <a:chExt cx="5080000" cy="1524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508000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17865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5080000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355600" y="377825"/>
              <a:ext cx="4445000" cy="772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 b="true">
                  <a:solidFill>
                    <a:srgbClr val="1028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Turing?</a:t>
              </a:r>
            </a:p>
            <a:p>
              <a:pPr algn="l">
                <a:lnSpc>
                  <a:spcPts val="2328"/>
                </a:lnSpc>
              </a:pPr>
              <a:r>
                <a:rPr lang="en-US" sz="1725" b="true">
                  <a:solidFill>
                    <a:srgbClr val="1028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1950 makalesi ve test.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04875" y="4381500"/>
            <a:ext cx="3810000" cy="2143125"/>
            <a:chOff x="0" y="0"/>
            <a:chExt cx="5080000" cy="28575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5080000" cy="2857500"/>
              <a:chOff x="0" y="0"/>
              <a:chExt cx="5080000" cy="28575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5080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DFF5E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5080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0"/>
              <a:ext cx="5080000" cy="152400"/>
              <a:chOff x="0" y="0"/>
              <a:chExt cx="5080000" cy="1524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508000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176BB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5080000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355600" y="377825"/>
              <a:ext cx="4445000" cy="772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McCarthy?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1956, yapay zekâ terimi.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143500" y="4381500"/>
            <a:ext cx="3810000" cy="2143125"/>
            <a:chOff x="0" y="0"/>
            <a:chExt cx="5080000" cy="2857500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5080000" cy="2857500"/>
              <a:chOff x="0" y="0"/>
              <a:chExt cx="5080000" cy="28575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5080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5080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0" y="0"/>
              <a:ext cx="5080000" cy="152400"/>
              <a:chOff x="0" y="0"/>
              <a:chExt cx="5080000" cy="1524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508000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176BB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5080000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355600" y="377825"/>
              <a:ext cx="4445000" cy="772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Dartmouth?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Alanın dönüm noktası.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382125" y="4381500"/>
            <a:ext cx="3810000" cy="2143125"/>
            <a:chOff x="0" y="0"/>
            <a:chExt cx="5080000" cy="285750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5080000" cy="2857500"/>
              <a:chOff x="0" y="0"/>
              <a:chExt cx="5080000" cy="28575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5080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DFF5E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5080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0"/>
              <a:ext cx="5080000" cy="152400"/>
              <a:chOff x="0" y="0"/>
              <a:chExt cx="5080000" cy="1524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508000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17865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5080000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355600" y="377825"/>
              <a:ext cx="4445000" cy="772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 b="true">
                  <a:solidFill>
                    <a:srgbClr val="1028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Transformer?</a:t>
              </a:r>
            </a:p>
            <a:p>
              <a:pPr algn="l">
                <a:lnSpc>
                  <a:spcPts val="2328"/>
                </a:lnSpc>
              </a:pPr>
              <a:r>
                <a:rPr lang="en-US" sz="1725" b="true">
                  <a:solidFill>
                    <a:srgbClr val="1028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İlişkileri dikkatle işler.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620750" y="4381500"/>
            <a:ext cx="3810000" cy="2143125"/>
            <a:chOff x="0" y="0"/>
            <a:chExt cx="5080000" cy="2857500"/>
          </a:xfrm>
        </p:grpSpPr>
        <p:grpSp>
          <p:nvGrpSpPr>
            <p:cNvPr name="Group 60" id="60"/>
            <p:cNvGrpSpPr/>
            <p:nvPr/>
          </p:nvGrpSpPr>
          <p:grpSpPr>
            <a:xfrm rot="0">
              <a:off x="0" y="0"/>
              <a:ext cx="5080000" cy="2857500"/>
              <a:chOff x="0" y="0"/>
              <a:chExt cx="5080000" cy="28575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5080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38100"/>
                <a:ext cx="5080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0" y="0"/>
              <a:ext cx="5080000" cy="152400"/>
              <a:chOff x="0" y="0"/>
              <a:chExt cx="5080000" cy="15240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508000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176BB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38100"/>
                <a:ext cx="5080000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6" id="66"/>
            <p:cNvSpPr txBox="true"/>
            <p:nvPr/>
          </p:nvSpPr>
          <p:spPr>
            <a:xfrm rot="0">
              <a:off x="355600" y="377825"/>
              <a:ext cx="4445000" cy="772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Derin öğrenme?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Çok katmanlı sinir ağları.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04875" y="7000875"/>
            <a:ext cx="3810000" cy="2143125"/>
            <a:chOff x="0" y="0"/>
            <a:chExt cx="5080000" cy="2857500"/>
          </a:xfrm>
        </p:grpSpPr>
        <p:grpSp>
          <p:nvGrpSpPr>
            <p:cNvPr name="Group 68" id="68"/>
            <p:cNvGrpSpPr/>
            <p:nvPr/>
          </p:nvGrpSpPr>
          <p:grpSpPr>
            <a:xfrm rot="0">
              <a:off x="0" y="0"/>
              <a:ext cx="5080000" cy="2857500"/>
              <a:chOff x="0" y="0"/>
              <a:chExt cx="5080000" cy="285750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5080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DFF5E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38100"/>
                <a:ext cx="5080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0" y="0"/>
              <a:ext cx="5080000" cy="152400"/>
              <a:chOff x="0" y="0"/>
              <a:chExt cx="5080000" cy="15240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508000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176BB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38100"/>
                <a:ext cx="5080000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4" id="74"/>
            <p:cNvSpPr txBox="true"/>
            <p:nvPr/>
          </p:nvSpPr>
          <p:spPr>
            <a:xfrm rot="0">
              <a:off x="355600" y="377825"/>
              <a:ext cx="4445000" cy="772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Sağlıkta rol?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Uzman kararına destek.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5143500" y="7000875"/>
            <a:ext cx="3810000" cy="2143125"/>
            <a:chOff x="0" y="0"/>
            <a:chExt cx="5080000" cy="2857500"/>
          </a:xfrm>
        </p:grpSpPr>
        <p:grpSp>
          <p:nvGrpSpPr>
            <p:cNvPr name="Group 76" id="76"/>
            <p:cNvGrpSpPr/>
            <p:nvPr/>
          </p:nvGrpSpPr>
          <p:grpSpPr>
            <a:xfrm rot="0">
              <a:off x="0" y="0"/>
              <a:ext cx="5080000" cy="2857500"/>
              <a:chOff x="0" y="0"/>
              <a:chExt cx="5080000" cy="2857500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5080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38100"/>
                <a:ext cx="5080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0" y="0"/>
              <a:ext cx="5080000" cy="152400"/>
              <a:chOff x="0" y="0"/>
              <a:chExt cx="5080000" cy="152400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508000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17865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38100"/>
                <a:ext cx="5080000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2" id="82"/>
            <p:cNvSpPr txBox="true"/>
            <p:nvPr/>
          </p:nvSpPr>
          <p:spPr>
            <a:xfrm rot="0">
              <a:off x="355600" y="377825"/>
              <a:ext cx="4445000" cy="772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 b="true">
                  <a:solidFill>
                    <a:srgbClr val="1028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Sanayide rol?</a:t>
              </a:r>
            </a:p>
            <a:p>
              <a:pPr algn="l">
                <a:lnSpc>
                  <a:spcPts val="2328"/>
                </a:lnSpc>
              </a:pPr>
              <a:r>
                <a:rPr lang="en-US" sz="1725" b="true">
                  <a:solidFill>
                    <a:srgbClr val="1028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Kusur tespiti.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382125" y="7000875"/>
            <a:ext cx="3810000" cy="2143125"/>
            <a:chOff x="0" y="0"/>
            <a:chExt cx="5080000" cy="2857500"/>
          </a:xfrm>
        </p:grpSpPr>
        <p:grpSp>
          <p:nvGrpSpPr>
            <p:cNvPr name="Group 84" id="84"/>
            <p:cNvGrpSpPr/>
            <p:nvPr/>
          </p:nvGrpSpPr>
          <p:grpSpPr>
            <a:xfrm rot="0">
              <a:off x="0" y="0"/>
              <a:ext cx="5080000" cy="2857500"/>
              <a:chOff x="0" y="0"/>
              <a:chExt cx="5080000" cy="2857500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5080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DFF5E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0" y="-38100"/>
                <a:ext cx="5080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7" id="87"/>
            <p:cNvGrpSpPr/>
            <p:nvPr/>
          </p:nvGrpSpPr>
          <p:grpSpPr>
            <a:xfrm rot="0">
              <a:off x="0" y="0"/>
              <a:ext cx="5080000" cy="152400"/>
              <a:chOff x="0" y="0"/>
              <a:chExt cx="5080000" cy="152400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508000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176BB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9" id="89"/>
              <p:cNvSpPr txBox="true"/>
              <p:nvPr/>
            </p:nvSpPr>
            <p:spPr>
              <a:xfrm>
                <a:off x="0" y="-38100"/>
                <a:ext cx="5080000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0" id="90"/>
            <p:cNvSpPr txBox="true"/>
            <p:nvPr/>
          </p:nvSpPr>
          <p:spPr>
            <a:xfrm rot="0">
              <a:off x="355600" y="377825"/>
              <a:ext cx="4445000" cy="772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Tarımda rol?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Görüntüden sayım.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3620750" y="7000875"/>
            <a:ext cx="3810000" cy="2143125"/>
            <a:chOff x="0" y="0"/>
            <a:chExt cx="5080000" cy="2857500"/>
          </a:xfrm>
        </p:grpSpPr>
        <p:grpSp>
          <p:nvGrpSpPr>
            <p:cNvPr name="Group 92" id="92"/>
            <p:cNvGrpSpPr/>
            <p:nvPr/>
          </p:nvGrpSpPr>
          <p:grpSpPr>
            <a:xfrm rot="0">
              <a:off x="0" y="0"/>
              <a:ext cx="5080000" cy="2857500"/>
              <a:chOff x="0" y="0"/>
              <a:chExt cx="5080000" cy="2857500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5080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0" y="-38100"/>
                <a:ext cx="5080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5" id="95"/>
            <p:cNvGrpSpPr/>
            <p:nvPr/>
          </p:nvGrpSpPr>
          <p:grpSpPr>
            <a:xfrm rot="0">
              <a:off x="0" y="0"/>
              <a:ext cx="5080000" cy="152400"/>
              <a:chOff x="0" y="0"/>
              <a:chExt cx="5080000" cy="152400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0" y="0"/>
                <a:ext cx="508000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176BB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7" id="97"/>
              <p:cNvSpPr txBox="true"/>
              <p:nvPr/>
            </p:nvSpPr>
            <p:spPr>
              <a:xfrm>
                <a:off x="0" y="-38100"/>
                <a:ext cx="5080000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8" id="98"/>
            <p:cNvSpPr txBox="true"/>
            <p:nvPr/>
          </p:nvSpPr>
          <p:spPr>
            <a:xfrm rot="0">
              <a:off x="355600" y="377825"/>
              <a:ext cx="4445000" cy="772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Hata nedeni?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Veri, etiket, bağlam, model.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638175"/>
            <a:ext cx="114300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Mini test: Temel kavramlar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57250" y="1619250"/>
            <a:ext cx="7810500" cy="6667500"/>
            <a:chOff x="0" y="0"/>
            <a:chExt cx="10414000" cy="889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414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E8F1F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4140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620250" y="1619250"/>
            <a:ext cx="7810500" cy="6667500"/>
            <a:chOff x="0" y="0"/>
            <a:chExt cx="10414000" cy="889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14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4140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43000" y="1876425"/>
            <a:ext cx="7239000" cy="2821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1. Sesli asistanın ilk adımı nedir?</a:t>
            </a:r>
          </a:p>
          <a:p>
            <a:pPr algn="l">
              <a:lnSpc>
                <a:spcPts val="2531"/>
              </a:lnSpc>
            </a:pP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2. Turing’in 1950 çalışması neyi sorgular?</a:t>
            </a:r>
          </a:p>
          <a:p>
            <a:pPr algn="l">
              <a:lnSpc>
                <a:spcPts val="2531"/>
              </a:lnSpc>
            </a:pP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3. ‘Yapay zekâ’ terimi kimle ilişkilidir?</a:t>
            </a:r>
          </a:p>
          <a:p>
            <a:pPr algn="l">
              <a:lnSpc>
                <a:spcPts val="2531"/>
              </a:lnSpc>
            </a:pP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4. Dartmouth toplantısı hangi yıldadır?</a:t>
            </a:r>
          </a:p>
          <a:p>
            <a:pPr algn="l">
              <a:lnSpc>
                <a:spcPts val="2531"/>
              </a:lnSpc>
            </a:pP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5. Transformer’ın temel fikri nedir?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6000" y="1876425"/>
            <a:ext cx="7239000" cy="2821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6. Röntgen analizinde son kararı kim verir?</a:t>
            </a:r>
          </a:p>
          <a:p>
            <a:pPr algn="l">
              <a:lnSpc>
                <a:spcPts val="2531"/>
              </a:lnSpc>
            </a:pP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7. Yanlış etiket hangi soruna yol açar?</a:t>
            </a:r>
          </a:p>
          <a:p>
            <a:pPr algn="l">
              <a:lnSpc>
                <a:spcPts val="2531"/>
              </a:lnSpc>
            </a:pP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8. Drone ile keçi sayımı hangi alandır?</a:t>
            </a:r>
          </a:p>
          <a:p>
            <a:pPr algn="l">
              <a:lnSpc>
                <a:spcPts val="2531"/>
              </a:lnSpc>
            </a:pP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9. Turing Testi neyi değerlendirir?</a:t>
            </a:r>
          </a:p>
          <a:p>
            <a:pPr algn="l">
              <a:lnSpc>
                <a:spcPts val="2531"/>
              </a:lnSpc>
            </a:pP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83D"/>
                </a:solidFill>
                <a:latin typeface="Aptos"/>
                <a:ea typeface="Aptos"/>
                <a:cs typeface="Aptos"/>
                <a:sym typeface="Aptos"/>
              </a:rPr>
              <a:t>10. Yapay zekâ neden bilinçli sayılmaz?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86000" y="8724900"/>
            <a:ext cx="13716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176BB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Her soru için A–D seçeneklerini öğretmeninizden dinleyin. Tek doğru cevap vardır.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638175"/>
            <a:ext cx="1381125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8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Mini test: Senaryoları yorumlayalım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1809750"/>
            <a:ext cx="7620000" cy="1809750"/>
            <a:chOff x="0" y="0"/>
            <a:chExt cx="10160000" cy="2413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160000" cy="2413000"/>
              <a:chOff x="0" y="0"/>
              <a:chExt cx="10160000" cy="2413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160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E8F1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160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17500" y="317500"/>
              <a:ext cx="609600" cy="609600"/>
              <a:chOff x="0" y="0"/>
              <a:chExt cx="609600" cy="6096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solidFill>
                <a:srgbClr val="176BB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609600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08000" y="415925"/>
              <a:ext cx="9017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1  Bir öneri sistemi hep aynı tür filmi öneriyor. Hangi veri sorunu olabilir?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34500" y="1809750"/>
            <a:ext cx="7620000" cy="1809750"/>
            <a:chOff x="0" y="0"/>
            <a:chExt cx="10160000" cy="2413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0160000" cy="2413000"/>
              <a:chOff x="0" y="0"/>
              <a:chExt cx="10160000" cy="2413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160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0160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317500" y="317500"/>
              <a:ext cx="609600" cy="609600"/>
              <a:chOff x="0" y="0"/>
              <a:chExt cx="609600" cy="6096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solidFill>
                <a:srgbClr val="176BB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609600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508000" y="415925"/>
              <a:ext cx="9017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2  Bulanık drone görüntüsünde keçiler eksik sayıldı. Temel neden nedir?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47750" y="4048125"/>
            <a:ext cx="7620000" cy="1809750"/>
            <a:chOff x="0" y="0"/>
            <a:chExt cx="10160000" cy="24130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0160000" cy="2413000"/>
              <a:chOff x="0" y="0"/>
              <a:chExt cx="10160000" cy="2413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160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E8F1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0160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317500" y="317500"/>
              <a:ext cx="609600" cy="609600"/>
              <a:chOff x="0" y="0"/>
              <a:chExt cx="609600" cy="6096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solidFill>
                <a:srgbClr val="176BB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609600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508000" y="415925"/>
              <a:ext cx="9017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3  Sohbet robotu güncel bir olayı bilmiyor. Hangi sınırlılık?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0" y="4048125"/>
            <a:ext cx="7620000" cy="1809750"/>
            <a:chOff x="0" y="0"/>
            <a:chExt cx="10160000" cy="2413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0160000" cy="2413000"/>
              <a:chOff x="0" y="0"/>
              <a:chExt cx="10160000" cy="2413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0160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0160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17500" y="317500"/>
              <a:ext cx="609600" cy="609600"/>
              <a:chOff x="0" y="0"/>
              <a:chExt cx="609600" cy="6096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solidFill>
                <a:srgbClr val="176BB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609600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508000" y="415925"/>
              <a:ext cx="9017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4  Sistem bazı öğrenci gruplarında daha çok hata yapıyor. Neyi sorgularsın?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47750" y="6286500"/>
            <a:ext cx="7620000" cy="1809750"/>
            <a:chOff x="0" y="0"/>
            <a:chExt cx="10160000" cy="24130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0160000" cy="2413000"/>
              <a:chOff x="0" y="0"/>
              <a:chExt cx="10160000" cy="24130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0160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E8F1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10160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317500" y="317500"/>
              <a:ext cx="609600" cy="609600"/>
              <a:chOff x="0" y="0"/>
              <a:chExt cx="609600" cy="6096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solidFill>
                <a:srgbClr val="176BB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609600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508000" y="415925"/>
              <a:ext cx="9017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5  Röntgende işaretlenen bölge normal çıktı. Son kararı kim vermeliydi?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34500" y="6286500"/>
            <a:ext cx="7620000" cy="1809750"/>
            <a:chOff x="0" y="0"/>
            <a:chExt cx="10160000" cy="2413000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10160000" cy="2413000"/>
              <a:chOff x="0" y="0"/>
              <a:chExt cx="10160000" cy="24130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0160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10160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317500" y="317500"/>
              <a:ext cx="609600" cy="609600"/>
              <a:chOff x="0" y="0"/>
              <a:chExt cx="609600" cy="6096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solidFill>
                <a:srgbClr val="176BB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609600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508000" y="415925"/>
              <a:ext cx="9017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83D"/>
                  </a:solidFill>
                  <a:latin typeface="Aptos"/>
                  <a:ea typeface="Aptos"/>
                  <a:cs typeface="Aptos"/>
                  <a:sym typeface="Aptos"/>
                </a:rPr>
                <a:t>6  ‘O’ zamirini yanlış kişiye bağlayan modelde hangi tür hata vardır?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3810000" y="8677275"/>
            <a:ext cx="106680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 b="true">
                <a:solidFill>
                  <a:srgbClr val="ED7A2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Cevaplar sonraki derste birlikte gerekçelendirilecek.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590550"/>
            <a:ext cx="1476375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Son tekrar: En önemli eşleştirmeler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38250" y="1571625"/>
            <a:ext cx="15811500" cy="666750"/>
            <a:chOff x="0" y="0"/>
            <a:chExt cx="21082000" cy="889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8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1082000">
                  <a:moveTo>
                    <a:pt x="0" y="0"/>
                  </a:moveTo>
                  <a:lnTo>
                    <a:pt x="21082000" y="0"/>
                  </a:lnTo>
                  <a:lnTo>
                    <a:pt x="210820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176BBA">
                <a:alpha val="2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082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8250" y="1571625"/>
            <a:ext cx="133350" cy="666750"/>
            <a:chOff x="0" y="0"/>
            <a:chExt cx="177800" cy="889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800" cy="889000"/>
            </a:xfrm>
            <a:custGeom>
              <a:avLst/>
              <a:gdLst/>
              <a:ahLst/>
              <a:cxnLst/>
              <a:rect r="r" b="b" t="t" l="l"/>
              <a:pathLst>
                <a:path h="889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176BBA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7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14500" y="1676400"/>
            <a:ext cx="148590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YAPAY ZEKÂ     Veri + örüntü + tahmin; bilinç değil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38250" y="2428875"/>
            <a:ext cx="15811500" cy="666750"/>
            <a:chOff x="0" y="0"/>
            <a:chExt cx="21082000" cy="88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8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1082000">
                  <a:moveTo>
                    <a:pt x="0" y="0"/>
                  </a:moveTo>
                  <a:lnTo>
                    <a:pt x="21082000" y="0"/>
                  </a:lnTo>
                  <a:lnTo>
                    <a:pt x="210820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17865C">
                <a:alpha val="2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082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8250" y="2428875"/>
            <a:ext cx="133350" cy="666750"/>
            <a:chOff x="0" y="0"/>
            <a:chExt cx="177800" cy="889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7800" cy="889000"/>
            </a:xfrm>
            <a:custGeom>
              <a:avLst/>
              <a:gdLst/>
              <a:ahLst/>
              <a:cxnLst/>
              <a:rect r="r" b="b" t="t" l="l"/>
              <a:pathLst>
                <a:path h="889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17865C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7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14500" y="2533650"/>
            <a:ext cx="148590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SESLİ ASİSTAN     Ses → anlama → yanıt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38250" y="3286125"/>
            <a:ext cx="15811500" cy="666750"/>
            <a:chOff x="0" y="0"/>
            <a:chExt cx="21082000" cy="889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8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1082000">
                  <a:moveTo>
                    <a:pt x="0" y="0"/>
                  </a:moveTo>
                  <a:lnTo>
                    <a:pt x="21082000" y="0"/>
                  </a:lnTo>
                  <a:lnTo>
                    <a:pt x="210820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ED7A2F">
                <a:alpha val="2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082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8250" y="3286125"/>
            <a:ext cx="133350" cy="666750"/>
            <a:chOff x="0" y="0"/>
            <a:chExt cx="177800" cy="889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7800" cy="889000"/>
            </a:xfrm>
            <a:custGeom>
              <a:avLst/>
              <a:gdLst/>
              <a:ahLst/>
              <a:cxnLst/>
              <a:rect r="r" b="b" t="t" l="l"/>
              <a:pathLst>
                <a:path h="889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ED7A2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77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714500" y="3390900"/>
            <a:ext cx="148590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İNSAN / YZ     Yaşam deneyimi ↔ veri ve algoritma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38250" y="4143375"/>
            <a:ext cx="15811500" cy="666750"/>
            <a:chOff x="0" y="0"/>
            <a:chExt cx="21082000" cy="889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08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1082000">
                  <a:moveTo>
                    <a:pt x="0" y="0"/>
                  </a:moveTo>
                  <a:lnTo>
                    <a:pt x="21082000" y="0"/>
                  </a:lnTo>
                  <a:lnTo>
                    <a:pt x="210820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7650A6">
                <a:alpha val="2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082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38250" y="4143375"/>
            <a:ext cx="133350" cy="666750"/>
            <a:chOff x="0" y="0"/>
            <a:chExt cx="177800" cy="889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7800" cy="889000"/>
            </a:xfrm>
            <a:custGeom>
              <a:avLst/>
              <a:gdLst/>
              <a:ahLst/>
              <a:cxnLst/>
              <a:rect r="r" b="b" t="t" l="l"/>
              <a:pathLst>
                <a:path h="889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7650A6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77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714500" y="4248150"/>
            <a:ext cx="148590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TURING     1950 • Makale • Turing Testi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38250" y="5000625"/>
            <a:ext cx="15811500" cy="666750"/>
            <a:chOff x="0" y="0"/>
            <a:chExt cx="21082000" cy="889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08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1082000">
                  <a:moveTo>
                    <a:pt x="0" y="0"/>
                  </a:moveTo>
                  <a:lnTo>
                    <a:pt x="21082000" y="0"/>
                  </a:lnTo>
                  <a:lnTo>
                    <a:pt x="210820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24B8C4">
                <a:alpha val="2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1082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38250" y="5000625"/>
            <a:ext cx="133350" cy="666750"/>
            <a:chOff x="0" y="0"/>
            <a:chExt cx="177800" cy="889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7800" cy="889000"/>
            </a:xfrm>
            <a:custGeom>
              <a:avLst/>
              <a:gdLst/>
              <a:ahLst/>
              <a:cxnLst/>
              <a:rect r="r" b="b" t="t" l="l"/>
              <a:pathLst>
                <a:path h="889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24B8C4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77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714500" y="5105400"/>
            <a:ext cx="148590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McCARTHY     1956 • Dartmouth • terim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38250" y="5857875"/>
            <a:ext cx="15811500" cy="666750"/>
            <a:chOff x="0" y="0"/>
            <a:chExt cx="21082000" cy="889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08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1082000">
                  <a:moveTo>
                    <a:pt x="0" y="0"/>
                  </a:moveTo>
                  <a:lnTo>
                    <a:pt x="21082000" y="0"/>
                  </a:lnTo>
                  <a:lnTo>
                    <a:pt x="210820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7650A6">
                <a:alpha val="2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1082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38250" y="5857875"/>
            <a:ext cx="133350" cy="666750"/>
            <a:chOff x="0" y="0"/>
            <a:chExt cx="177800" cy="889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7800" cy="889000"/>
            </a:xfrm>
            <a:custGeom>
              <a:avLst/>
              <a:gdLst/>
              <a:ahLst/>
              <a:cxnLst/>
              <a:rect r="r" b="b" t="t" l="l"/>
              <a:pathLst>
                <a:path h="889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7650A6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77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714500" y="5962650"/>
            <a:ext cx="148590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TRANSFORMER     Dikkat mekanizması • mimari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238250" y="6715125"/>
            <a:ext cx="15811500" cy="666750"/>
            <a:chOff x="0" y="0"/>
            <a:chExt cx="21082000" cy="889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08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1082000">
                  <a:moveTo>
                    <a:pt x="0" y="0"/>
                  </a:moveTo>
                  <a:lnTo>
                    <a:pt x="21082000" y="0"/>
                  </a:lnTo>
                  <a:lnTo>
                    <a:pt x="210820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17865C">
                <a:alpha val="2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1082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38250" y="6715125"/>
            <a:ext cx="133350" cy="666750"/>
            <a:chOff x="0" y="0"/>
            <a:chExt cx="177800" cy="889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77800" cy="889000"/>
            </a:xfrm>
            <a:custGeom>
              <a:avLst/>
              <a:gdLst/>
              <a:ahLst/>
              <a:cxnLst/>
              <a:rect r="r" b="b" t="t" l="l"/>
              <a:pathLst>
                <a:path h="889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17865C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77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714500" y="6819900"/>
            <a:ext cx="148590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KULLANIM     Sanayi • eğitim • sağlık • tarım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238250" y="7572375"/>
            <a:ext cx="15811500" cy="666750"/>
            <a:chOff x="0" y="0"/>
            <a:chExt cx="21082000" cy="889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08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1082000">
                  <a:moveTo>
                    <a:pt x="0" y="0"/>
                  </a:moveTo>
                  <a:lnTo>
                    <a:pt x="21082000" y="0"/>
                  </a:lnTo>
                  <a:lnTo>
                    <a:pt x="210820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ED7A2F">
                <a:alpha val="2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1082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38250" y="7572375"/>
            <a:ext cx="133350" cy="666750"/>
            <a:chOff x="0" y="0"/>
            <a:chExt cx="177800" cy="8890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77800" cy="889000"/>
            </a:xfrm>
            <a:custGeom>
              <a:avLst/>
              <a:gdLst/>
              <a:ahLst/>
              <a:cxnLst/>
              <a:rect r="r" b="b" t="t" l="l"/>
              <a:pathLst>
                <a:path h="889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ED7A2F"/>
            </a:solidFill>
            <a:ln cap="sq">
              <a:noFill/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77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714500" y="7677150"/>
            <a:ext cx="148590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HATALAR     Veri • etiket • kalite • bağlam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048000" y="8953500"/>
            <a:ext cx="121920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 b="true">
                <a:solidFill>
                  <a:srgbClr val="24B8C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Merak et, doğrula, sorumlu kullan.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DAHZDO2GwrQ</dc:identifier>
  <dcterms:modified xsi:type="dcterms:W3CDTF">2011-08-01T06:04:30Z</dcterms:modified>
  <cp:revision>1</cp:revision>
  <dc:title>Yapay Zekâ Uygulamaları</dc:title>
</cp:coreProperties>
</file>