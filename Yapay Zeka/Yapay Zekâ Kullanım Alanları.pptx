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9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Montserrat Bold" charset="1" panose="00000800000000000000"/>
      <p:regular r:id="rId22"/>
    </p:embeddedFont>
    <p:embeddedFont>
      <p:font typeface="Noto Sans" charset="1" panose="020B0502040504020204"/>
      <p:regular r:id="rId23"/>
    </p:embeddedFont>
    <p:embeddedFont>
      <p:font typeface="Noto Sans Bold" charset="1" panose="020B0802040504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notesMasters/notesMaster1.xml" Type="http://schemas.openxmlformats.org/officeDocument/2006/relationships/notesMaster"/><Relationship Id="rId2" Target="presProps.xml" Type="http://schemas.openxmlformats.org/officeDocument/2006/relationships/presProps"/><Relationship Id="rId20" Target="theme/theme2.xml" Type="http://schemas.openxmlformats.org/officeDocument/2006/relationships/theme"/><Relationship Id="rId21" Target="notesSlides/notesSlide1.xml" Type="http://schemas.openxmlformats.org/officeDocument/2006/relationships/notes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notesSlides/notesSlide2.xml" Type="http://schemas.openxmlformats.org/officeDocument/2006/relationships/notesSlide"/><Relationship Id="rId26" Target="notesSlides/notesSlide3.xml" Type="http://schemas.openxmlformats.org/officeDocument/2006/relationships/notesSlide"/><Relationship Id="rId27" Target="notesSlides/notesSlide4.xml" Type="http://schemas.openxmlformats.org/officeDocument/2006/relationships/notesSlide"/><Relationship Id="rId28" Target="notesSlides/notesSlide5.xml" Type="http://schemas.openxmlformats.org/officeDocument/2006/relationships/notesSlide"/><Relationship Id="rId29" Target="notesSlides/notesSlide6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7.xml" Type="http://schemas.openxmlformats.org/officeDocument/2006/relationships/notesSlide"/><Relationship Id="rId31" Target="notesSlides/notesSlide8.xml" Type="http://schemas.openxmlformats.org/officeDocument/2006/relationships/notesSlide"/><Relationship Id="rId32" Target="notesSlides/notesSlide9.xml" Type="http://schemas.openxmlformats.org/officeDocument/2006/relationships/notesSlide"/><Relationship Id="rId33" Target="notesSlides/notesSlide10.xml" Type="http://schemas.openxmlformats.org/officeDocument/2006/relationships/notesSlide"/><Relationship Id="rId34" Target="notesSlides/notesSlide11.xml" Type="http://schemas.openxmlformats.org/officeDocument/2006/relationships/notesSlide"/><Relationship Id="rId35" Target="notesSlides/notesSlide12.xml" Type="http://schemas.openxmlformats.org/officeDocument/2006/relationships/notesSlide"/><Relationship Id="rId36" Target="notesSlides/notesSlide13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notları: Yapay zekânın günlük yaşamdaki görünmez varlığını vurgulayın; öğrencilerden deneyim isteyin.</a:t>
            </a:r>
          </a:p>
          <a:p>
            <a:r>
              <a:rPr lang="en-US"/>
              <a:t>Soru: Sabah kullandığınız hangi cihazlarda yapay zekâ olabilir?</a:t>
            </a:r>
          </a:p>
          <a:p>
            <a:r>
              <a:rPr lang="en-US"/>
              <a:t>Beklenen cevap: Akıllı telefon, tablet, navigasyon ve sesli asistan.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notları: Veri ve model kavramlarını öğrencilerin kendi kelimeleriyle anlatmasını isteyin.</a:t>
            </a:r>
          </a:p>
          <a:p>
            <a:r>
              <a:rPr lang="en-US"/>
              <a:t>Soru: Yapay zekâ bir fotoğrafı nasıl tanıyabilir?</a:t>
            </a:r>
          </a:p>
          <a:p>
            <a:r>
              <a:rPr lang="en-US"/>
              <a:t>Beklenen cevap: Örneklerden öğrenip benzerlikleri karşılaştırarak.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notları: Alanları kısaca tanıtın; ayrıntıların sonraki slaytlarda geleceğini belirtin.</a:t>
            </a:r>
          </a:p>
          <a:p>
            <a:r>
              <a:rPr lang="en-US"/>
              <a:t>Soru: Bu alanlardan hangileri size en ilginç geliyor? Neden?</a:t>
            </a:r>
          </a:p>
          <a:p>
            <a:r>
              <a:rPr lang="en-US"/>
              <a:t>Beklenen cevap: Yanıtlar öğrencilerin ilgi alanlarına göre değişir.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notları: Yapay zekâyı öğretmenin yerine geçen değil, öğrenmeyi destekleyen bir araç olarak konumlayın.</a:t>
            </a:r>
          </a:p>
          <a:p>
            <a:r>
              <a:rPr lang="en-US"/>
              <a:t>Soru: Yapay zekâ öğretmenimizin yerini alabilir mi? Neden?</a:t>
            </a:r>
          </a:p>
          <a:p>
            <a:r>
              <a:rPr lang="en-US"/>
              <a:t>Beklenen cevap: Hayır; insan ilişkisi, rehberlik ve öğretmen kararı önemlidir.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notları: Yapay zekânın uzmana ikinci bir göz sunduğunu, tek başına teşhis koymadığını vurgulayın.</a:t>
            </a:r>
          </a:p>
          <a:p>
            <a:r>
              <a:rPr lang="en-US"/>
              <a:t>Soru: Yapay zekâ doktorların işini kolaylaştırır mı?</a:t>
            </a:r>
          </a:p>
          <a:p>
            <a:r>
              <a:rPr lang="en-US"/>
              <a:t>Beklenen cevap: Evet; veriyi incelemeye yardım eder, ancak doktorun yerini alamaz.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notları: Doğa ve teknoloji ilişkisini açıklayın; sonuçların hava ve görüntü kalitesine bağlı olduğunu belirtin.</a:t>
            </a:r>
          </a:p>
          <a:p>
            <a:r>
              <a:rPr lang="en-US"/>
              <a:t>Soru: Yapay zekâ tarımı nasıl kolaylaştırabilir?</a:t>
            </a:r>
          </a:p>
          <a:p>
            <a:r>
              <a:rPr lang="en-US"/>
              <a:t>Beklenen cevap: Doğru sulama önerisi ve hastalıkların erken tespitiyle.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notları: Navigasyonun rota önerdiğini; otonom aracın çevreyi algılayıp aracı yönettiğini ayırın.</a:t>
            </a:r>
          </a:p>
          <a:p>
            <a:r>
              <a:rPr lang="en-US"/>
              <a:t>Soru: Otonom araçlar ne zaman yaygın olur?</a:t>
            </a:r>
          </a:p>
          <a:p>
            <a:r>
              <a:rPr lang="en-US"/>
              <a:t>Beklenen cevap: Teknoloji geliştikçe ve güvenlik yeterince arttıkça.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notları: Konuyu Endüstri 4.0 ile ilişkilendirin; değişen iş süreçlerine dikkat çekin.</a:t>
            </a:r>
          </a:p>
          <a:p>
            <a:r>
              <a:rPr lang="en-US"/>
              <a:t>Soru: Yapay zekâ fabrikalarda işimizi kolaylaştırır mı?</a:t>
            </a:r>
          </a:p>
          <a:p>
            <a:r>
              <a:rPr lang="en-US"/>
              <a:t>Beklenen cevap: Evet; kaliteyi artırır ve israfı azaltır, ama güvenli kullanılmalıdır.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notları: Güvenli işaretinin garanti olmadığını ve insan denetiminin sürdüğünü anlatın.</a:t>
            </a:r>
          </a:p>
          <a:p>
            <a:r>
              <a:rPr lang="en-US"/>
              <a:t>Soru: Yapay zekâ siber saldırıları önleyebilir mi?</a:t>
            </a:r>
          </a:p>
          <a:p>
            <a:r>
              <a:rPr lang="en-US"/>
              <a:t>Beklenen cevap: Yardımcı olur; ancak tek başına yeterli değildir.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notları: Konuşma-metne ve metin-konuşma teknolojilerini günlük örneklerle açıklayın.</a:t>
            </a:r>
          </a:p>
          <a:p>
            <a:r>
              <a:rPr lang="en-US"/>
              <a:t>Soru: Yapay zekâ farklı diller arasında nasıl yardımcı olur?</a:t>
            </a:r>
          </a:p>
          <a:p>
            <a:r>
              <a:rPr lang="en-US"/>
              <a:t>Beklenen cevap: Otomatik çeviri yaparak.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notları: Üretken yapay zekânın yeni metin, görsel veya ses ürettiğini açıklayın.</a:t>
            </a:r>
          </a:p>
          <a:p>
            <a:r>
              <a:rPr lang="en-US"/>
              <a:t>Soru: Yapay zekâ ile yaratılan içerikler ne gibi sorunlar yaratabilir?</a:t>
            </a:r>
          </a:p>
          <a:p>
            <a:r>
              <a:rPr lang="en-US"/>
              <a:t>Beklenen cevap: Yanıltıcı içerik, deepfake ve telif sorunları.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notları: Aynı veri→görev→katkı örüntüsünün çok farklı alanlarda çalıştığını gösterin.</a:t>
            </a:r>
          </a:p>
          <a:p>
            <a:r>
              <a:rPr lang="en-US"/>
              <a:t>Soru: Bu alanlardan hangisi sizi en çok etkiledi? Neden?</a:t>
            </a:r>
          </a:p>
          <a:p>
            <a:r>
              <a:rPr lang="en-US"/>
              <a:t>Beklenen cevap: Yanıtlar öğrenci ilgisine göre değişir.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Öğretmen notları: Sınıfta kısa tartışma başlatın; her faydanın yanında koşul ve sorumluluk arayın.</a:t>
            </a:r>
          </a:p>
          <a:p>
            <a:r>
              <a:rPr lang="en-US"/>
              <a:t>Soru: Yapay zekâyı güvenli ve faydalı kullanmak için neler yapmalıyız?</a:t>
            </a:r>
          </a:p>
          <a:p>
            <a:r>
              <a:rPr lang="en-US"/>
              <a:t>Beklenen cevap: Doğru veri, insan denetimi, güvenlik ve etik kurallar kullanmalıyız.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5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572500" y="0"/>
            <a:ext cx="9715500" cy="10287000"/>
          </a:xfrm>
          <a:custGeom>
            <a:avLst/>
            <a:gdLst/>
            <a:ahLst/>
            <a:cxnLst/>
            <a:rect r="r" b="b" t="t" l="l"/>
            <a:pathLst>
              <a:path h="10287000" w="9715500">
                <a:moveTo>
                  <a:pt x="0" y="0"/>
                </a:moveTo>
                <a:lnTo>
                  <a:pt x="9715500" y="0"/>
                </a:lnTo>
                <a:lnTo>
                  <a:pt x="9715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6" r="0" b="-36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7239000" y="0"/>
            <a:ext cx="4095750" cy="10287000"/>
            <a:chOff x="0" y="0"/>
            <a:chExt cx="5461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61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5461000">
                  <a:moveTo>
                    <a:pt x="0" y="0"/>
                  </a:moveTo>
                  <a:lnTo>
                    <a:pt x="5461000" y="0"/>
                  </a:lnTo>
                  <a:lnTo>
                    <a:pt x="5461000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071B33">
                    <a:alpha val="100000"/>
                  </a:srgbClr>
                </a:gs>
                <a:gs pos="100000">
                  <a:srgbClr val="071B33">
                    <a:alpha val="0"/>
                  </a:srgbClr>
                </a:gs>
              </a:gsLst>
              <a:lin ang="16200000"/>
            </a:gra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5461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90600" y="1333500"/>
            <a:ext cx="8096250" cy="1598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21"/>
              </a:lnSpc>
            </a:pPr>
            <a:r>
              <a:rPr lang="en-US" sz="59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Yapay Zekâ</a:t>
            </a:r>
          </a:p>
          <a:p>
            <a:pPr algn="l">
              <a:lnSpc>
                <a:spcPts val="6221"/>
              </a:lnSpc>
            </a:pPr>
            <a:r>
              <a:rPr lang="en-US" sz="59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Nerelerde Kullanılır?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0600" y="3562350"/>
            <a:ext cx="6667500" cy="384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8"/>
              </a:lnSpc>
            </a:pPr>
            <a:r>
              <a:rPr lang="en-US" sz="2325">
                <a:solidFill>
                  <a:srgbClr val="C8DBEF"/>
                </a:solidFill>
                <a:latin typeface="Noto Sans"/>
                <a:ea typeface="Noto Sans"/>
                <a:cs typeface="Noto Sans"/>
                <a:sym typeface="Noto Sans"/>
              </a:rPr>
              <a:t>Günlük yaşamdan bilime, eğitimden sanayiye…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0600" y="5162550"/>
            <a:ext cx="723900" cy="76200"/>
            <a:chOff x="0" y="0"/>
            <a:chExt cx="965200" cy="1016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65200" cy="101600"/>
            </a:xfrm>
            <a:custGeom>
              <a:avLst/>
              <a:gdLst/>
              <a:ahLst/>
              <a:cxnLst/>
              <a:rect r="r" b="b" t="t" l="l"/>
              <a:pathLst>
                <a:path h="101600" w="965200">
                  <a:moveTo>
                    <a:pt x="0" y="0"/>
                  </a:moveTo>
                  <a:lnTo>
                    <a:pt x="965200" y="0"/>
                  </a:lnTo>
                  <a:lnTo>
                    <a:pt x="9652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8B6C9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652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90600" y="5438775"/>
            <a:ext cx="6667500" cy="1121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550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Bugün uyandığınız andan okula gelene kadar yapay zekâ ile karşılaşmış olabilir misiniz?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990600" y="7810500"/>
            <a:ext cx="2000250" cy="495300"/>
            <a:chOff x="0" y="0"/>
            <a:chExt cx="2667000" cy="6604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2667000" cy="660400"/>
              <a:chOff x="0" y="0"/>
              <a:chExt cx="2667000" cy="6604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266700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2667000">
                    <a:moveTo>
                      <a:pt x="0" y="0"/>
                    </a:moveTo>
                    <a:lnTo>
                      <a:pt x="2667000" y="0"/>
                    </a:lnTo>
                    <a:lnTo>
                      <a:pt x="2667000" y="660400"/>
                    </a:lnTo>
                    <a:lnTo>
                      <a:pt x="0" y="660400"/>
                    </a:lnTo>
                    <a:close/>
                  </a:path>
                </a:pathLst>
              </a:custGeom>
              <a:solidFill>
                <a:srgbClr val="1677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26670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0" y="152400"/>
              <a:ext cx="2667000" cy="318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Yüz tanıma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3181350" y="7810500"/>
            <a:ext cx="2000250" cy="495300"/>
            <a:chOff x="0" y="0"/>
            <a:chExt cx="2667000" cy="660400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2667000" cy="660400"/>
              <a:chOff x="0" y="0"/>
              <a:chExt cx="2667000" cy="6604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266700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2667000">
                    <a:moveTo>
                      <a:pt x="0" y="0"/>
                    </a:moveTo>
                    <a:lnTo>
                      <a:pt x="2667000" y="0"/>
                    </a:lnTo>
                    <a:lnTo>
                      <a:pt x="2667000" y="660400"/>
                    </a:lnTo>
                    <a:lnTo>
                      <a:pt x="0" y="660400"/>
                    </a:lnTo>
                    <a:close/>
                  </a:path>
                </a:pathLst>
              </a:custGeom>
              <a:solidFill>
                <a:srgbClr val="7957D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26670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0" y="152400"/>
              <a:ext cx="2667000" cy="318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Video önerileri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72100" y="7810500"/>
            <a:ext cx="2000250" cy="495300"/>
            <a:chOff x="0" y="0"/>
            <a:chExt cx="2667000" cy="660400"/>
          </a:xfrm>
        </p:grpSpPr>
        <p:grpSp>
          <p:nvGrpSpPr>
            <p:cNvPr name="Group 23" id="23"/>
            <p:cNvGrpSpPr/>
            <p:nvPr/>
          </p:nvGrpSpPr>
          <p:grpSpPr>
            <a:xfrm rot="0">
              <a:off x="0" y="0"/>
              <a:ext cx="2667000" cy="660400"/>
              <a:chOff x="0" y="0"/>
              <a:chExt cx="2667000" cy="660400"/>
            </a:xfrm>
          </p:grpSpPr>
          <p:sp>
            <p:nvSpPr>
              <p:cNvPr name="Freeform 24" id="24"/>
              <p:cNvSpPr/>
              <p:nvPr/>
            </p:nvSpPr>
            <p:spPr>
              <a:xfrm flipH="false" flipV="false" rot="0">
                <a:off x="0" y="0"/>
                <a:ext cx="266700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2667000">
                    <a:moveTo>
                      <a:pt x="0" y="0"/>
                    </a:moveTo>
                    <a:lnTo>
                      <a:pt x="2667000" y="0"/>
                    </a:lnTo>
                    <a:lnTo>
                      <a:pt x="2667000" y="660400"/>
                    </a:lnTo>
                    <a:lnTo>
                      <a:pt x="0" y="660400"/>
                    </a:lnTo>
                    <a:close/>
                  </a:path>
                </a:pathLst>
              </a:custGeom>
              <a:solidFill>
                <a:srgbClr val="1677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5" id="25"/>
              <p:cNvSpPr txBox="true"/>
              <p:nvPr/>
            </p:nvSpPr>
            <p:spPr>
              <a:xfrm>
                <a:off x="0" y="-38100"/>
                <a:ext cx="26670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6" id="26"/>
            <p:cNvSpPr txBox="true"/>
            <p:nvPr/>
          </p:nvSpPr>
          <p:spPr>
            <a:xfrm rot="0">
              <a:off x="0" y="152400"/>
              <a:ext cx="2667000" cy="318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Navigasyon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90600" y="8458200"/>
            <a:ext cx="2000250" cy="495300"/>
            <a:chOff x="0" y="0"/>
            <a:chExt cx="2667000" cy="660400"/>
          </a:xfrm>
        </p:grpSpPr>
        <p:grpSp>
          <p:nvGrpSpPr>
            <p:cNvPr name="Group 28" id="28"/>
            <p:cNvGrpSpPr/>
            <p:nvPr/>
          </p:nvGrpSpPr>
          <p:grpSpPr>
            <a:xfrm rot="0">
              <a:off x="0" y="0"/>
              <a:ext cx="2667000" cy="660400"/>
              <a:chOff x="0" y="0"/>
              <a:chExt cx="2667000" cy="660400"/>
            </a:xfrm>
          </p:grpSpPr>
          <p:sp>
            <p:nvSpPr>
              <p:cNvPr name="Freeform 29" id="29"/>
              <p:cNvSpPr/>
              <p:nvPr/>
            </p:nvSpPr>
            <p:spPr>
              <a:xfrm flipH="false" flipV="false" rot="0">
                <a:off x="0" y="0"/>
                <a:ext cx="266700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2667000">
                    <a:moveTo>
                      <a:pt x="0" y="0"/>
                    </a:moveTo>
                    <a:lnTo>
                      <a:pt x="2667000" y="0"/>
                    </a:lnTo>
                    <a:lnTo>
                      <a:pt x="2667000" y="660400"/>
                    </a:lnTo>
                    <a:lnTo>
                      <a:pt x="0" y="660400"/>
                    </a:lnTo>
                    <a:close/>
                  </a:path>
                </a:pathLst>
              </a:custGeom>
              <a:solidFill>
                <a:srgbClr val="7957D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0" id="30"/>
              <p:cNvSpPr txBox="true"/>
              <p:nvPr/>
            </p:nvSpPr>
            <p:spPr>
              <a:xfrm>
                <a:off x="0" y="-38100"/>
                <a:ext cx="26670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1" id="31"/>
            <p:cNvSpPr txBox="true"/>
            <p:nvPr/>
          </p:nvSpPr>
          <p:spPr>
            <a:xfrm rot="0">
              <a:off x="0" y="152400"/>
              <a:ext cx="2667000" cy="318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Sesli asistan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181350" y="8458200"/>
            <a:ext cx="2000250" cy="495300"/>
            <a:chOff x="0" y="0"/>
            <a:chExt cx="2667000" cy="660400"/>
          </a:xfrm>
        </p:grpSpPr>
        <p:grpSp>
          <p:nvGrpSpPr>
            <p:cNvPr name="Group 33" id="33"/>
            <p:cNvGrpSpPr/>
            <p:nvPr/>
          </p:nvGrpSpPr>
          <p:grpSpPr>
            <a:xfrm rot="0">
              <a:off x="0" y="0"/>
              <a:ext cx="2667000" cy="660400"/>
              <a:chOff x="0" y="0"/>
              <a:chExt cx="2667000" cy="660400"/>
            </a:xfrm>
          </p:grpSpPr>
          <p:sp>
            <p:nvSpPr>
              <p:cNvPr name="Freeform 34" id="34"/>
              <p:cNvSpPr/>
              <p:nvPr/>
            </p:nvSpPr>
            <p:spPr>
              <a:xfrm flipH="false" flipV="false" rot="0">
                <a:off x="0" y="0"/>
                <a:ext cx="2667000" cy="660400"/>
              </a:xfrm>
              <a:custGeom>
                <a:avLst/>
                <a:gdLst/>
                <a:ahLst/>
                <a:cxnLst/>
                <a:rect r="r" b="b" t="t" l="l"/>
                <a:pathLst>
                  <a:path h="660400" w="2667000">
                    <a:moveTo>
                      <a:pt x="0" y="0"/>
                    </a:moveTo>
                    <a:lnTo>
                      <a:pt x="2667000" y="0"/>
                    </a:lnTo>
                    <a:lnTo>
                      <a:pt x="2667000" y="660400"/>
                    </a:lnTo>
                    <a:lnTo>
                      <a:pt x="0" y="660400"/>
                    </a:lnTo>
                    <a:close/>
                  </a:path>
                </a:pathLst>
              </a:custGeom>
              <a:solidFill>
                <a:srgbClr val="1677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5" id="35"/>
              <p:cNvSpPr txBox="true"/>
              <p:nvPr/>
            </p:nvSpPr>
            <p:spPr>
              <a:xfrm>
                <a:off x="0" y="-38100"/>
                <a:ext cx="2667000" cy="6985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6" id="36"/>
            <p:cNvSpPr txBox="true"/>
            <p:nvPr/>
          </p:nvSpPr>
          <p:spPr>
            <a:xfrm rot="0">
              <a:off x="0" y="152400"/>
              <a:ext cx="2667000" cy="3181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811"/>
                </a:lnSpc>
              </a:pPr>
              <a:r>
                <a:rPr lang="en-US" sz="1575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Çeviri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76275"/>
            <a:ext cx="1428750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426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Yapay zekâ nedir?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323975"/>
            <a:ext cx="140970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52677F"/>
                </a:solidFill>
                <a:latin typeface="Noto Sans"/>
                <a:ea typeface="Noto Sans"/>
                <a:cs typeface="Noto Sans"/>
                <a:sym typeface="Noto Sans"/>
              </a:rPr>
              <a:t>Bilgisayarların veriden örüntü öğrenerek tahmin, sınıflandırma veya öneri yapabilmesidir.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28650" y="628650"/>
            <a:ext cx="114300" cy="552450"/>
            <a:chOff x="0" y="0"/>
            <a:chExt cx="152400" cy="736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736600"/>
            </a:xfrm>
            <a:custGeom>
              <a:avLst/>
              <a:gdLst/>
              <a:ahLst/>
              <a:cxnLst/>
              <a:rect r="r" b="b" t="t" l="l"/>
              <a:pathLst>
                <a:path h="736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2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38250" y="3333750"/>
            <a:ext cx="2667000" cy="1619250"/>
            <a:chOff x="0" y="0"/>
            <a:chExt cx="3556000" cy="2159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56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2077357"/>
                  </a:lnTo>
                  <a:cubicBezTo>
                    <a:pt x="3556000" y="2122447"/>
                    <a:pt x="3519447" y="2159000"/>
                    <a:pt x="3474357" y="2159000"/>
                  </a:cubicBezTo>
                  <a:lnTo>
                    <a:pt x="81643" y="2159000"/>
                  </a:lnTo>
                  <a:cubicBezTo>
                    <a:pt x="36553" y="2159000"/>
                    <a:pt x="0" y="2122447"/>
                    <a:pt x="0" y="2077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3556000" cy="213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VERİ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Kedi • Köpek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4019550" y="4143375"/>
            <a:ext cx="390525" cy="0"/>
          </a:xfrm>
          <a:prstGeom prst="line">
            <a:avLst/>
          </a:prstGeom>
          <a:ln cap="rnd" w="47625">
            <a:solidFill>
              <a:srgbClr val="D7E3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4524375" y="3333750"/>
            <a:ext cx="2667000" cy="1619250"/>
            <a:chOff x="0" y="0"/>
            <a:chExt cx="3556000" cy="2159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556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2077357"/>
                  </a:lnTo>
                  <a:cubicBezTo>
                    <a:pt x="3556000" y="2122447"/>
                    <a:pt x="3519447" y="2159000"/>
                    <a:pt x="3474357" y="2159000"/>
                  </a:cubicBezTo>
                  <a:lnTo>
                    <a:pt x="81643" y="2159000"/>
                  </a:lnTo>
                  <a:cubicBezTo>
                    <a:pt x="36553" y="2159000"/>
                    <a:pt x="0" y="2122447"/>
                    <a:pt x="0" y="2077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7957D5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3556000" cy="213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MODEL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Örüntü öğrenir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7305675" y="4143375"/>
            <a:ext cx="390525" cy="0"/>
          </a:xfrm>
          <a:prstGeom prst="line">
            <a:avLst/>
          </a:prstGeom>
          <a:ln cap="rnd" w="47625">
            <a:solidFill>
              <a:srgbClr val="D7E3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7810500" y="3333750"/>
            <a:ext cx="2667000" cy="1619250"/>
            <a:chOff x="0" y="0"/>
            <a:chExt cx="3556000" cy="2159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3556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2077357"/>
                  </a:lnTo>
                  <a:cubicBezTo>
                    <a:pt x="3556000" y="2122447"/>
                    <a:pt x="3519447" y="2159000"/>
                    <a:pt x="3474357" y="2159000"/>
                  </a:cubicBezTo>
                  <a:lnTo>
                    <a:pt x="81643" y="2159000"/>
                  </a:lnTo>
                  <a:cubicBezTo>
                    <a:pt x="36553" y="2159000"/>
                    <a:pt x="0" y="2122447"/>
                    <a:pt x="0" y="2077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18B6C9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3556000" cy="213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TAHMİN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“Bu bir kedi”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10591800" y="4143375"/>
            <a:ext cx="390525" cy="0"/>
          </a:xfrm>
          <a:prstGeom prst="line">
            <a:avLst/>
          </a:prstGeom>
          <a:ln cap="rnd" w="47625">
            <a:solidFill>
              <a:srgbClr val="D7E3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1096625" y="3333750"/>
            <a:ext cx="2667000" cy="1619250"/>
            <a:chOff x="0" y="0"/>
            <a:chExt cx="3556000" cy="2159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3556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2077357"/>
                  </a:lnTo>
                  <a:cubicBezTo>
                    <a:pt x="3556000" y="2122447"/>
                    <a:pt x="3519447" y="2159000"/>
                    <a:pt x="3474357" y="2159000"/>
                  </a:cubicBezTo>
                  <a:lnTo>
                    <a:pt x="81643" y="2159000"/>
                  </a:lnTo>
                  <a:cubicBezTo>
                    <a:pt x="36553" y="2159000"/>
                    <a:pt x="0" y="2122447"/>
                    <a:pt x="0" y="2077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19A66A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19050"/>
              <a:ext cx="3556000" cy="213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SINIFLANDIRMA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Gruba ayırır</a:t>
              </a:r>
            </a:p>
          </p:txBody>
        </p:sp>
      </p:grpSp>
      <p:sp>
        <p:nvSpPr>
          <p:cNvPr name="AutoShape 22" id="22"/>
          <p:cNvSpPr/>
          <p:nvPr/>
        </p:nvSpPr>
        <p:spPr>
          <a:xfrm>
            <a:off x="13877925" y="4143375"/>
            <a:ext cx="390525" cy="0"/>
          </a:xfrm>
          <a:prstGeom prst="line">
            <a:avLst/>
          </a:prstGeom>
          <a:ln cap="rnd" w="47625">
            <a:solidFill>
              <a:srgbClr val="D7E3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14382750" y="3333750"/>
            <a:ext cx="2667000" cy="1619250"/>
            <a:chOff x="0" y="0"/>
            <a:chExt cx="3556000" cy="2159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556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2077357"/>
                  </a:lnTo>
                  <a:cubicBezTo>
                    <a:pt x="3556000" y="2122447"/>
                    <a:pt x="3519447" y="2159000"/>
                    <a:pt x="3474357" y="2159000"/>
                  </a:cubicBezTo>
                  <a:lnTo>
                    <a:pt x="81643" y="2159000"/>
                  </a:lnTo>
                  <a:cubicBezTo>
                    <a:pt x="36553" y="2159000"/>
                    <a:pt x="0" y="2122447"/>
                    <a:pt x="0" y="2077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F28C28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19050"/>
              <a:ext cx="3556000" cy="213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ÖNERİ</a:t>
              </a:r>
            </a:p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Sonraki adım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3048000" y="6572250"/>
            <a:ext cx="12192000" cy="2095500"/>
            <a:chOff x="0" y="0"/>
            <a:chExt cx="16256000" cy="2794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6256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16256000">
                  <a:moveTo>
                    <a:pt x="0" y="0"/>
                  </a:moveTo>
                  <a:lnTo>
                    <a:pt x="16256000" y="0"/>
                  </a:lnTo>
                  <a:lnTo>
                    <a:pt x="16256000" y="2794000"/>
                  </a:lnTo>
                  <a:lnTo>
                    <a:pt x="0" y="2794000"/>
                  </a:lnTo>
                  <a:close/>
                </a:path>
              </a:pathLst>
            </a:custGeom>
            <a:solidFill>
              <a:srgbClr val="FFF0ED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16256000" cy="283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3619500" y="6905625"/>
            <a:ext cx="1104900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000" b="true">
                <a:solidFill>
                  <a:srgbClr val="E64C4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Yapay zekâ her zaman doğru sonuç vermez.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572000" y="7581900"/>
            <a:ext cx="9144000" cy="6677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32"/>
              </a:lnSpc>
            </a:pPr>
            <a:r>
              <a:rPr lang="en-US" sz="1950">
                <a:solidFill>
                  <a:srgbClr val="52677F"/>
                </a:solidFill>
                <a:latin typeface="Noto Sans"/>
                <a:ea typeface="Noto Sans"/>
                <a:cs typeface="Noto Sans"/>
                <a:sym typeface="Noto Sans"/>
              </a:rPr>
              <a:t>Sonuç; verinin kalitesine, modelin eğitimine ve karşılaştığı yeni duruma bağlıdır.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76275"/>
            <a:ext cx="1428750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426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Yapay zekânın 12 kullanım alanı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323975"/>
            <a:ext cx="140970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52677F"/>
                </a:solidFill>
                <a:latin typeface="Noto Sans"/>
                <a:ea typeface="Noto Sans"/>
                <a:cs typeface="Noto Sans"/>
                <a:sym typeface="Noto Sans"/>
              </a:rPr>
              <a:t>Aynı temel yetenekler, farklı sorunları çözmek için kullanılır.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28650" y="628650"/>
            <a:ext cx="114300" cy="552450"/>
            <a:chOff x="0" y="0"/>
            <a:chExt cx="152400" cy="736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736600"/>
            </a:xfrm>
            <a:custGeom>
              <a:avLst/>
              <a:gdLst/>
              <a:ahLst/>
              <a:cxnLst/>
              <a:rect r="r" b="b" t="t" l="l"/>
              <a:pathLst>
                <a:path h="736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2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239000" y="3905250"/>
            <a:ext cx="3810000" cy="2095500"/>
            <a:chOff x="0" y="0"/>
            <a:chExt cx="5080000" cy="2794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080000" cy="2794000"/>
            </a:xfrm>
            <a:custGeom>
              <a:avLst/>
              <a:gdLst/>
              <a:ahLst/>
              <a:cxnLst/>
              <a:rect r="r" b="b" t="t" l="l"/>
              <a:pathLst>
                <a:path h="2794000" w="5080000">
                  <a:moveTo>
                    <a:pt x="2540000" y="0"/>
                  </a:moveTo>
                  <a:cubicBezTo>
                    <a:pt x="3942803" y="0"/>
                    <a:pt x="5080000" y="625458"/>
                    <a:pt x="5080000" y="1397000"/>
                  </a:cubicBezTo>
                  <a:cubicBezTo>
                    <a:pt x="5080000" y="2168542"/>
                    <a:pt x="3942803" y="2794000"/>
                    <a:pt x="2540000" y="2794000"/>
                  </a:cubicBezTo>
                  <a:cubicBezTo>
                    <a:pt x="1137197" y="2794000"/>
                    <a:pt x="0" y="2168542"/>
                    <a:pt x="0" y="1397000"/>
                  </a:cubicBezTo>
                  <a:cubicBezTo>
                    <a:pt x="0" y="625458"/>
                    <a:pt x="1137197" y="0"/>
                    <a:pt x="2540000" y="0"/>
                  </a:cubicBezTo>
                  <a:close/>
                </a:path>
              </a:pathLst>
            </a:custGeom>
            <a:solidFill>
              <a:srgbClr val="071B33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57150"/>
              <a:ext cx="5080000" cy="2851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200"/>
                </a:lnSpc>
              </a:pPr>
              <a:r>
                <a:rPr lang="en-US" sz="3000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YAPAY ZEKÂ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00125" y="2476500"/>
            <a:ext cx="3486150" cy="1428750"/>
            <a:chOff x="0" y="0"/>
            <a:chExt cx="4648200" cy="19050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4648200" cy="1905000"/>
              <a:chOff x="0" y="0"/>
              <a:chExt cx="4648200" cy="19050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46482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4648200">
                    <a:moveTo>
                      <a:pt x="0" y="0"/>
                    </a:moveTo>
                    <a:lnTo>
                      <a:pt x="4648200" y="0"/>
                    </a:lnTo>
                    <a:lnTo>
                      <a:pt x="46482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1677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4648200" cy="194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228600" y="806450"/>
              <a:ext cx="4191000" cy="325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Eğitim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238750" y="2476500"/>
            <a:ext cx="3486150" cy="1428750"/>
            <a:chOff x="0" y="0"/>
            <a:chExt cx="4648200" cy="1905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4648200" cy="1905000"/>
              <a:chOff x="0" y="0"/>
              <a:chExt cx="4648200" cy="1905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46482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4648200">
                    <a:moveTo>
                      <a:pt x="0" y="0"/>
                    </a:moveTo>
                    <a:lnTo>
                      <a:pt x="4648200" y="0"/>
                    </a:lnTo>
                    <a:lnTo>
                      <a:pt x="46482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19A66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4648200" cy="194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228600" y="806450"/>
              <a:ext cx="4191000" cy="325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Sağlık ve tıp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9477375" y="2476500"/>
            <a:ext cx="3486150" cy="1428750"/>
            <a:chOff x="0" y="0"/>
            <a:chExt cx="4648200" cy="19050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4648200" cy="1905000"/>
              <a:chOff x="0" y="0"/>
              <a:chExt cx="4648200" cy="19050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46482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4648200">
                    <a:moveTo>
                      <a:pt x="0" y="0"/>
                    </a:moveTo>
                    <a:lnTo>
                      <a:pt x="4648200" y="0"/>
                    </a:lnTo>
                    <a:lnTo>
                      <a:pt x="46482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7957D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4648200" cy="194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228600" y="806450"/>
              <a:ext cx="4191000" cy="325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Tarım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3716000" y="2476500"/>
            <a:ext cx="3486150" cy="1428750"/>
            <a:chOff x="0" y="0"/>
            <a:chExt cx="4648200" cy="19050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4648200" cy="1905000"/>
              <a:chOff x="0" y="0"/>
              <a:chExt cx="4648200" cy="19050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46482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4648200">
                    <a:moveTo>
                      <a:pt x="0" y="0"/>
                    </a:moveTo>
                    <a:lnTo>
                      <a:pt x="4648200" y="0"/>
                    </a:lnTo>
                    <a:lnTo>
                      <a:pt x="46482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F28C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4648200" cy="194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228600" y="806450"/>
              <a:ext cx="4191000" cy="325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Ulaşım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000125" y="4810125"/>
            <a:ext cx="3486150" cy="1428750"/>
            <a:chOff x="0" y="0"/>
            <a:chExt cx="4648200" cy="1905000"/>
          </a:xfrm>
        </p:grpSpPr>
        <p:grpSp>
          <p:nvGrpSpPr>
            <p:cNvPr name="Group 31" id="31"/>
            <p:cNvGrpSpPr/>
            <p:nvPr/>
          </p:nvGrpSpPr>
          <p:grpSpPr>
            <a:xfrm rot="0">
              <a:off x="0" y="0"/>
              <a:ext cx="4648200" cy="1905000"/>
              <a:chOff x="0" y="0"/>
              <a:chExt cx="4648200" cy="1905000"/>
            </a:xfrm>
          </p:grpSpPr>
          <p:sp>
            <p:nvSpPr>
              <p:cNvPr name="Freeform 32" id="32"/>
              <p:cNvSpPr/>
              <p:nvPr/>
            </p:nvSpPr>
            <p:spPr>
              <a:xfrm flipH="false" flipV="false" rot="0">
                <a:off x="0" y="0"/>
                <a:ext cx="46482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4648200">
                    <a:moveTo>
                      <a:pt x="0" y="0"/>
                    </a:moveTo>
                    <a:lnTo>
                      <a:pt x="4648200" y="0"/>
                    </a:lnTo>
                    <a:lnTo>
                      <a:pt x="46482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1677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3" id="33"/>
              <p:cNvSpPr txBox="true"/>
              <p:nvPr/>
            </p:nvSpPr>
            <p:spPr>
              <a:xfrm>
                <a:off x="0" y="-38100"/>
                <a:ext cx="4648200" cy="194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4" id="34"/>
            <p:cNvSpPr txBox="true"/>
            <p:nvPr/>
          </p:nvSpPr>
          <p:spPr>
            <a:xfrm rot="0">
              <a:off x="228600" y="806450"/>
              <a:ext cx="4191000" cy="325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Sanayi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5238750" y="4810125"/>
            <a:ext cx="3486150" cy="1428750"/>
            <a:chOff x="0" y="0"/>
            <a:chExt cx="4648200" cy="1905000"/>
          </a:xfrm>
        </p:grpSpPr>
        <p:grpSp>
          <p:nvGrpSpPr>
            <p:cNvPr name="Group 36" id="36"/>
            <p:cNvGrpSpPr/>
            <p:nvPr/>
          </p:nvGrpSpPr>
          <p:grpSpPr>
            <a:xfrm rot="0">
              <a:off x="0" y="0"/>
              <a:ext cx="4648200" cy="1905000"/>
              <a:chOff x="0" y="0"/>
              <a:chExt cx="4648200" cy="1905000"/>
            </a:xfrm>
          </p:grpSpPr>
          <p:sp>
            <p:nvSpPr>
              <p:cNvPr name="Freeform 37" id="37"/>
              <p:cNvSpPr/>
              <p:nvPr/>
            </p:nvSpPr>
            <p:spPr>
              <a:xfrm flipH="false" flipV="false" rot="0">
                <a:off x="0" y="0"/>
                <a:ext cx="46482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4648200">
                    <a:moveTo>
                      <a:pt x="0" y="0"/>
                    </a:moveTo>
                    <a:lnTo>
                      <a:pt x="4648200" y="0"/>
                    </a:lnTo>
                    <a:lnTo>
                      <a:pt x="46482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19A66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8" id="38"/>
              <p:cNvSpPr txBox="true"/>
              <p:nvPr/>
            </p:nvSpPr>
            <p:spPr>
              <a:xfrm>
                <a:off x="0" y="-38100"/>
                <a:ext cx="4648200" cy="194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9" id="39"/>
            <p:cNvSpPr txBox="true"/>
            <p:nvPr/>
          </p:nvSpPr>
          <p:spPr>
            <a:xfrm rot="0">
              <a:off x="228600" y="806450"/>
              <a:ext cx="4191000" cy="325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Siber güvenlik</a:t>
              </a:r>
            </a:p>
          </p:txBody>
        </p:sp>
      </p:grpSp>
      <p:grpSp>
        <p:nvGrpSpPr>
          <p:cNvPr name="Group 40" id="40"/>
          <p:cNvGrpSpPr/>
          <p:nvPr/>
        </p:nvGrpSpPr>
        <p:grpSpPr>
          <a:xfrm rot="0">
            <a:off x="9477375" y="4810125"/>
            <a:ext cx="3486150" cy="1428750"/>
            <a:chOff x="0" y="0"/>
            <a:chExt cx="4648200" cy="1905000"/>
          </a:xfrm>
        </p:grpSpPr>
        <p:grpSp>
          <p:nvGrpSpPr>
            <p:cNvPr name="Group 41" id="41"/>
            <p:cNvGrpSpPr/>
            <p:nvPr/>
          </p:nvGrpSpPr>
          <p:grpSpPr>
            <a:xfrm rot="0">
              <a:off x="0" y="0"/>
              <a:ext cx="4648200" cy="1905000"/>
              <a:chOff x="0" y="0"/>
              <a:chExt cx="4648200" cy="1905000"/>
            </a:xfrm>
          </p:grpSpPr>
          <p:sp>
            <p:nvSpPr>
              <p:cNvPr name="Freeform 42" id="42"/>
              <p:cNvSpPr/>
              <p:nvPr/>
            </p:nvSpPr>
            <p:spPr>
              <a:xfrm flipH="false" flipV="false" rot="0">
                <a:off x="0" y="0"/>
                <a:ext cx="46482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4648200">
                    <a:moveTo>
                      <a:pt x="0" y="0"/>
                    </a:moveTo>
                    <a:lnTo>
                      <a:pt x="4648200" y="0"/>
                    </a:lnTo>
                    <a:lnTo>
                      <a:pt x="46482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7957D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3" id="43"/>
              <p:cNvSpPr txBox="true"/>
              <p:nvPr/>
            </p:nvSpPr>
            <p:spPr>
              <a:xfrm>
                <a:off x="0" y="-38100"/>
                <a:ext cx="4648200" cy="194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4" id="44"/>
            <p:cNvSpPr txBox="true"/>
            <p:nvPr/>
          </p:nvSpPr>
          <p:spPr>
            <a:xfrm rot="0">
              <a:off x="228600" y="806450"/>
              <a:ext cx="4191000" cy="325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Dil teknolojileri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3716000" y="4810125"/>
            <a:ext cx="3486150" cy="1428750"/>
            <a:chOff x="0" y="0"/>
            <a:chExt cx="4648200" cy="1905000"/>
          </a:xfrm>
        </p:grpSpPr>
        <p:grpSp>
          <p:nvGrpSpPr>
            <p:cNvPr name="Group 46" id="46"/>
            <p:cNvGrpSpPr/>
            <p:nvPr/>
          </p:nvGrpSpPr>
          <p:grpSpPr>
            <a:xfrm rot="0">
              <a:off x="0" y="0"/>
              <a:ext cx="4648200" cy="1905000"/>
              <a:chOff x="0" y="0"/>
              <a:chExt cx="4648200" cy="1905000"/>
            </a:xfrm>
          </p:grpSpPr>
          <p:sp>
            <p:nvSpPr>
              <p:cNvPr name="Freeform 47" id="47"/>
              <p:cNvSpPr/>
              <p:nvPr/>
            </p:nvSpPr>
            <p:spPr>
              <a:xfrm flipH="false" flipV="false" rot="0">
                <a:off x="0" y="0"/>
                <a:ext cx="46482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4648200">
                    <a:moveTo>
                      <a:pt x="0" y="0"/>
                    </a:moveTo>
                    <a:lnTo>
                      <a:pt x="4648200" y="0"/>
                    </a:lnTo>
                    <a:lnTo>
                      <a:pt x="46482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F28C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48" id="48"/>
              <p:cNvSpPr txBox="true"/>
              <p:nvPr/>
            </p:nvSpPr>
            <p:spPr>
              <a:xfrm>
                <a:off x="0" y="-38100"/>
                <a:ext cx="4648200" cy="194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49" id="49"/>
            <p:cNvSpPr txBox="true"/>
            <p:nvPr/>
          </p:nvSpPr>
          <p:spPr>
            <a:xfrm rot="0">
              <a:off x="228600" y="806450"/>
              <a:ext cx="4191000" cy="325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Eğlence ve medya</a:t>
              </a:r>
            </a:p>
          </p:txBody>
        </p:sp>
      </p:grpSp>
      <p:grpSp>
        <p:nvGrpSpPr>
          <p:cNvPr name="Group 50" id="50"/>
          <p:cNvGrpSpPr/>
          <p:nvPr/>
        </p:nvGrpSpPr>
        <p:grpSpPr>
          <a:xfrm rot="0">
            <a:off x="1000125" y="7143750"/>
            <a:ext cx="3486150" cy="1428750"/>
            <a:chOff x="0" y="0"/>
            <a:chExt cx="4648200" cy="1905000"/>
          </a:xfrm>
        </p:grpSpPr>
        <p:grpSp>
          <p:nvGrpSpPr>
            <p:cNvPr name="Group 51" id="51"/>
            <p:cNvGrpSpPr/>
            <p:nvPr/>
          </p:nvGrpSpPr>
          <p:grpSpPr>
            <a:xfrm rot="0">
              <a:off x="0" y="0"/>
              <a:ext cx="4648200" cy="1905000"/>
              <a:chOff x="0" y="0"/>
              <a:chExt cx="4648200" cy="1905000"/>
            </a:xfrm>
          </p:grpSpPr>
          <p:sp>
            <p:nvSpPr>
              <p:cNvPr name="Freeform 52" id="52"/>
              <p:cNvSpPr/>
              <p:nvPr/>
            </p:nvSpPr>
            <p:spPr>
              <a:xfrm flipH="false" flipV="false" rot="0">
                <a:off x="0" y="0"/>
                <a:ext cx="46482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4648200">
                    <a:moveTo>
                      <a:pt x="0" y="0"/>
                    </a:moveTo>
                    <a:lnTo>
                      <a:pt x="4648200" y="0"/>
                    </a:lnTo>
                    <a:lnTo>
                      <a:pt x="46482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1677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3" id="53"/>
              <p:cNvSpPr txBox="true"/>
              <p:nvPr/>
            </p:nvSpPr>
            <p:spPr>
              <a:xfrm>
                <a:off x="0" y="-38100"/>
                <a:ext cx="4648200" cy="194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4" id="54"/>
            <p:cNvSpPr txBox="true"/>
            <p:nvPr/>
          </p:nvSpPr>
          <p:spPr>
            <a:xfrm rot="0">
              <a:off x="228600" y="806450"/>
              <a:ext cx="4191000" cy="325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Çevre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5238750" y="7143750"/>
            <a:ext cx="3486150" cy="1428750"/>
            <a:chOff x="0" y="0"/>
            <a:chExt cx="4648200" cy="1905000"/>
          </a:xfrm>
        </p:grpSpPr>
        <p:grpSp>
          <p:nvGrpSpPr>
            <p:cNvPr name="Group 56" id="56"/>
            <p:cNvGrpSpPr/>
            <p:nvPr/>
          </p:nvGrpSpPr>
          <p:grpSpPr>
            <a:xfrm rot="0">
              <a:off x="0" y="0"/>
              <a:ext cx="4648200" cy="1905000"/>
              <a:chOff x="0" y="0"/>
              <a:chExt cx="4648200" cy="1905000"/>
            </a:xfrm>
          </p:grpSpPr>
          <p:sp>
            <p:nvSpPr>
              <p:cNvPr name="Freeform 57" id="57"/>
              <p:cNvSpPr/>
              <p:nvPr/>
            </p:nvSpPr>
            <p:spPr>
              <a:xfrm flipH="false" flipV="false" rot="0">
                <a:off x="0" y="0"/>
                <a:ext cx="46482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4648200">
                    <a:moveTo>
                      <a:pt x="0" y="0"/>
                    </a:moveTo>
                    <a:lnTo>
                      <a:pt x="4648200" y="0"/>
                    </a:lnTo>
                    <a:lnTo>
                      <a:pt x="46482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19A66A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58" id="58"/>
              <p:cNvSpPr txBox="true"/>
              <p:nvPr/>
            </p:nvSpPr>
            <p:spPr>
              <a:xfrm>
                <a:off x="0" y="-38100"/>
                <a:ext cx="4648200" cy="194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59" id="59"/>
            <p:cNvSpPr txBox="true"/>
            <p:nvPr/>
          </p:nvSpPr>
          <p:spPr>
            <a:xfrm rot="0">
              <a:off x="228600" y="806450"/>
              <a:ext cx="4191000" cy="325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Finans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9477375" y="7143750"/>
            <a:ext cx="3486150" cy="1428750"/>
            <a:chOff x="0" y="0"/>
            <a:chExt cx="4648200" cy="1905000"/>
          </a:xfrm>
        </p:grpSpPr>
        <p:grpSp>
          <p:nvGrpSpPr>
            <p:cNvPr name="Group 61" id="61"/>
            <p:cNvGrpSpPr/>
            <p:nvPr/>
          </p:nvGrpSpPr>
          <p:grpSpPr>
            <a:xfrm rot="0">
              <a:off x="0" y="0"/>
              <a:ext cx="4648200" cy="1905000"/>
              <a:chOff x="0" y="0"/>
              <a:chExt cx="4648200" cy="1905000"/>
            </a:xfrm>
          </p:grpSpPr>
          <p:sp>
            <p:nvSpPr>
              <p:cNvPr name="Freeform 62" id="62"/>
              <p:cNvSpPr/>
              <p:nvPr/>
            </p:nvSpPr>
            <p:spPr>
              <a:xfrm flipH="false" flipV="false" rot="0">
                <a:off x="0" y="0"/>
                <a:ext cx="46482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4648200">
                    <a:moveTo>
                      <a:pt x="0" y="0"/>
                    </a:moveTo>
                    <a:lnTo>
                      <a:pt x="4648200" y="0"/>
                    </a:lnTo>
                    <a:lnTo>
                      <a:pt x="46482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7957D5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3" id="63"/>
              <p:cNvSpPr txBox="true"/>
              <p:nvPr/>
            </p:nvSpPr>
            <p:spPr>
              <a:xfrm>
                <a:off x="0" y="-38100"/>
                <a:ext cx="4648200" cy="194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4" id="64"/>
            <p:cNvSpPr txBox="true"/>
            <p:nvPr/>
          </p:nvSpPr>
          <p:spPr>
            <a:xfrm rot="0">
              <a:off x="228600" y="806450"/>
              <a:ext cx="4191000" cy="325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Bilim ve uzay</a:t>
              </a:r>
            </a:p>
          </p:txBody>
        </p:sp>
      </p:grpSp>
      <p:grpSp>
        <p:nvGrpSpPr>
          <p:cNvPr name="Group 65" id="65"/>
          <p:cNvGrpSpPr/>
          <p:nvPr/>
        </p:nvGrpSpPr>
        <p:grpSpPr>
          <a:xfrm rot="0">
            <a:off x="13716000" y="7143750"/>
            <a:ext cx="3486150" cy="1428750"/>
            <a:chOff x="0" y="0"/>
            <a:chExt cx="4648200" cy="1905000"/>
          </a:xfrm>
        </p:grpSpPr>
        <p:grpSp>
          <p:nvGrpSpPr>
            <p:cNvPr name="Group 66" id="66"/>
            <p:cNvGrpSpPr/>
            <p:nvPr/>
          </p:nvGrpSpPr>
          <p:grpSpPr>
            <a:xfrm rot="0">
              <a:off x="0" y="0"/>
              <a:ext cx="4648200" cy="1905000"/>
              <a:chOff x="0" y="0"/>
              <a:chExt cx="4648200" cy="1905000"/>
            </a:xfrm>
          </p:grpSpPr>
          <p:sp>
            <p:nvSpPr>
              <p:cNvPr name="Freeform 67" id="67"/>
              <p:cNvSpPr/>
              <p:nvPr/>
            </p:nvSpPr>
            <p:spPr>
              <a:xfrm flipH="false" flipV="false" rot="0">
                <a:off x="0" y="0"/>
                <a:ext cx="4648200" cy="1905000"/>
              </a:xfrm>
              <a:custGeom>
                <a:avLst/>
                <a:gdLst/>
                <a:ahLst/>
                <a:cxnLst/>
                <a:rect r="r" b="b" t="t" l="l"/>
                <a:pathLst>
                  <a:path h="1905000" w="4648200">
                    <a:moveTo>
                      <a:pt x="0" y="0"/>
                    </a:moveTo>
                    <a:lnTo>
                      <a:pt x="4648200" y="0"/>
                    </a:lnTo>
                    <a:lnTo>
                      <a:pt x="4648200" y="1905000"/>
                    </a:lnTo>
                    <a:lnTo>
                      <a:pt x="0" y="1905000"/>
                    </a:lnTo>
                    <a:close/>
                  </a:path>
                </a:pathLst>
              </a:custGeom>
              <a:solidFill>
                <a:srgbClr val="F28C28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68" id="68"/>
              <p:cNvSpPr txBox="true"/>
              <p:nvPr/>
            </p:nvSpPr>
            <p:spPr>
              <a:xfrm>
                <a:off x="0" y="-38100"/>
                <a:ext cx="4648200" cy="194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69" id="69"/>
            <p:cNvSpPr txBox="true"/>
            <p:nvPr/>
          </p:nvSpPr>
          <p:spPr>
            <a:xfrm rot="0">
              <a:off x="228600" y="806450"/>
              <a:ext cx="4191000" cy="325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983"/>
                </a:lnSpc>
              </a:pPr>
              <a:r>
                <a:rPr lang="en-US" sz="1725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Erişilebilirlik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76275"/>
            <a:ext cx="1428750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426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Eğitimde yapay zekâ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323975"/>
            <a:ext cx="140970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52677F"/>
                </a:solidFill>
                <a:latin typeface="Noto Sans"/>
                <a:ea typeface="Noto Sans"/>
                <a:cs typeface="Noto Sans"/>
                <a:sym typeface="Noto Sans"/>
              </a:rPr>
              <a:t>Amaç: Her öğrenciye doğru zamanda uygun destek sunmak.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28650" y="628650"/>
            <a:ext cx="114300" cy="552450"/>
            <a:chOff x="0" y="0"/>
            <a:chExt cx="152400" cy="736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736600"/>
            </a:xfrm>
            <a:custGeom>
              <a:avLst/>
              <a:gdLst/>
              <a:ahLst/>
              <a:cxnLst/>
              <a:rect r="r" b="b" t="t" l="l"/>
              <a:pathLst>
                <a:path h="736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2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47750" y="2857500"/>
            <a:ext cx="3429000" cy="1809750"/>
            <a:chOff x="0" y="0"/>
            <a:chExt cx="4572000" cy="2413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72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572000">
                  <a:moveTo>
                    <a:pt x="63500" y="0"/>
                  </a:moveTo>
                  <a:lnTo>
                    <a:pt x="4508500" y="0"/>
                  </a:lnTo>
                  <a:cubicBezTo>
                    <a:pt x="4543570" y="0"/>
                    <a:pt x="4572000" y="28430"/>
                    <a:pt x="4572000" y="63500"/>
                  </a:cubicBezTo>
                  <a:lnTo>
                    <a:pt x="4572000" y="2349500"/>
                  </a:lnTo>
                  <a:cubicBezTo>
                    <a:pt x="4572000" y="2384570"/>
                    <a:pt x="4543570" y="2413000"/>
                    <a:pt x="4508500" y="2413000"/>
                  </a:cubicBezTo>
                  <a:lnTo>
                    <a:pt x="63500" y="2413000"/>
                  </a:lnTo>
                  <a:cubicBezTo>
                    <a:pt x="28430" y="2413000"/>
                    <a:pt x="0" y="2384570"/>
                    <a:pt x="0" y="2349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28575"/>
              <a:ext cx="4572000" cy="238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HATAYI FARK ET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Aynı işlemde zorlanma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4572000" y="3762375"/>
            <a:ext cx="666750" cy="0"/>
          </a:xfrm>
          <a:prstGeom prst="line">
            <a:avLst/>
          </a:prstGeom>
          <a:ln cap="rnd" w="57150">
            <a:solidFill>
              <a:srgbClr val="D7E3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5334000" y="2857500"/>
            <a:ext cx="3429000" cy="1809750"/>
            <a:chOff x="0" y="0"/>
            <a:chExt cx="4572000" cy="2413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572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572000">
                  <a:moveTo>
                    <a:pt x="63500" y="0"/>
                  </a:moveTo>
                  <a:lnTo>
                    <a:pt x="4508500" y="0"/>
                  </a:lnTo>
                  <a:cubicBezTo>
                    <a:pt x="4543570" y="0"/>
                    <a:pt x="4572000" y="28430"/>
                    <a:pt x="4572000" y="63500"/>
                  </a:cubicBezTo>
                  <a:lnTo>
                    <a:pt x="4572000" y="2349500"/>
                  </a:lnTo>
                  <a:cubicBezTo>
                    <a:pt x="4572000" y="2384570"/>
                    <a:pt x="4543570" y="2413000"/>
                    <a:pt x="4508500" y="2413000"/>
                  </a:cubicBezTo>
                  <a:lnTo>
                    <a:pt x="63500" y="2413000"/>
                  </a:lnTo>
                  <a:cubicBezTo>
                    <a:pt x="28430" y="2413000"/>
                    <a:pt x="0" y="2384570"/>
                    <a:pt x="0" y="2349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7957D5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28575"/>
              <a:ext cx="4572000" cy="238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İHTİYACI BELİRLE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Eksik kazanımı bul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8858250" y="3762375"/>
            <a:ext cx="666750" cy="0"/>
          </a:xfrm>
          <a:prstGeom prst="line">
            <a:avLst/>
          </a:prstGeom>
          <a:ln cap="rnd" w="57150">
            <a:solidFill>
              <a:srgbClr val="D7E3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9620250" y="2857500"/>
            <a:ext cx="3429000" cy="1809750"/>
            <a:chOff x="0" y="0"/>
            <a:chExt cx="4572000" cy="2413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572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572000">
                  <a:moveTo>
                    <a:pt x="63500" y="0"/>
                  </a:moveTo>
                  <a:lnTo>
                    <a:pt x="4508500" y="0"/>
                  </a:lnTo>
                  <a:cubicBezTo>
                    <a:pt x="4543570" y="0"/>
                    <a:pt x="4572000" y="28430"/>
                    <a:pt x="4572000" y="63500"/>
                  </a:cubicBezTo>
                  <a:lnTo>
                    <a:pt x="4572000" y="2349500"/>
                  </a:lnTo>
                  <a:cubicBezTo>
                    <a:pt x="4572000" y="2384570"/>
                    <a:pt x="4543570" y="2413000"/>
                    <a:pt x="4508500" y="2413000"/>
                  </a:cubicBezTo>
                  <a:lnTo>
                    <a:pt x="63500" y="2413000"/>
                  </a:lnTo>
                  <a:cubicBezTo>
                    <a:pt x="28430" y="2413000"/>
                    <a:pt x="0" y="2384570"/>
                    <a:pt x="0" y="2349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18B6C9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28575"/>
              <a:ext cx="4572000" cy="238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ÖNERİ SUN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Ek alıştırma ver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13144500" y="3762375"/>
            <a:ext cx="666750" cy="0"/>
          </a:xfrm>
          <a:prstGeom prst="line">
            <a:avLst/>
          </a:prstGeom>
          <a:ln cap="rnd" w="57150">
            <a:solidFill>
              <a:srgbClr val="D7E3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3906500" y="2857500"/>
            <a:ext cx="3429000" cy="1809750"/>
            <a:chOff x="0" y="0"/>
            <a:chExt cx="4572000" cy="2413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572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572000">
                  <a:moveTo>
                    <a:pt x="63500" y="0"/>
                  </a:moveTo>
                  <a:lnTo>
                    <a:pt x="4508500" y="0"/>
                  </a:lnTo>
                  <a:cubicBezTo>
                    <a:pt x="4543570" y="0"/>
                    <a:pt x="4572000" y="28430"/>
                    <a:pt x="4572000" y="63500"/>
                  </a:cubicBezTo>
                  <a:lnTo>
                    <a:pt x="4572000" y="2349500"/>
                  </a:lnTo>
                  <a:cubicBezTo>
                    <a:pt x="4572000" y="2384570"/>
                    <a:pt x="4543570" y="2413000"/>
                    <a:pt x="4508500" y="2413000"/>
                  </a:cubicBezTo>
                  <a:lnTo>
                    <a:pt x="63500" y="2413000"/>
                  </a:lnTo>
                  <a:cubicBezTo>
                    <a:pt x="28430" y="2413000"/>
                    <a:pt x="0" y="2384570"/>
                    <a:pt x="0" y="2349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19A66A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28575"/>
              <a:ext cx="4572000" cy="238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GERİ BİLDİR</a:t>
              </a:r>
            </a:p>
            <a:p>
              <a:pPr algn="ctr">
                <a:lnSpc>
                  <a:spcPts val="1980"/>
                </a:lnSpc>
              </a:pPr>
              <a:r>
                <a:rPr lang="en-US" sz="180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İlerlemeyi göster</a:t>
              </a: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52500" y="5905500"/>
            <a:ext cx="7239000" cy="1619250"/>
            <a:chOff x="0" y="0"/>
            <a:chExt cx="9652000" cy="21590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9652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E5F7EF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9652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1238250" y="6210300"/>
            <a:ext cx="6667500" cy="642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7"/>
              </a:lnSpc>
            </a:pPr>
            <a:r>
              <a:rPr lang="en-US" sz="2250" b="true">
                <a:solidFill>
                  <a:srgbClr val="19A66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FAYDA</a:t>
            </a:r>
          </a:p>
          <a:p>
            <a:pPr algn="ctr">
              <a:lnSpc>
                <a:spcPts val="2587"/>
              </a:lnSpc>
            </a:pPr>
            <a:r>
              <a:rPr lang="en-US" sz="2250" b="true">
                <a:solidFill>
                  <a:srgbClr val="19A66A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Kişiselleştirilmiş öğrenme • Hızlı geri bildirim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0096500" y="5905500"/>
            <a:ext cx="7239000" cy="1619250"/>
            <a:chOff x="0" y="0"/>
            <a:chExt cx="9652000" cy="21590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9652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9652000">
                  <a:moveTo>
                    <a:pt x="0" y="0"/>
                  </a:moveTo>
                  <a:lnTo>
                    <a:pt x="9652000" y="0"/>
                  </a:lnTo>
                  <a:lnTo>
                    <a:pt x="9652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FFF0ED"/>
            </a:solidFill>
            <a:ln cap="sq">
              <a:noFill/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38100"/>
              <a:ext cx="9652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10382250" y="6210300"/>
            <a:ext cx="6667500" cy="642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7"/>
              </a:lnSpc>
            </a:pPr>
            <a:r>
              <a:rPr lang="en-US" sz="2250" b="true">
                <a:solidFill>
                  <a:srgbClr val="E64C4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RİSK</a:t>
            </a:r>
          </a:p>
          <a:p>
            <a:pPr algn="ctr">
              <a:lnSpc>
                <a:spcPts val="2587"/>
              </a:lnSpc>
            </a:pPr>
            <a:r>
              <a:rPr lang="en-US" sz="2250" b="true">
                <a:solidFill>
                  <a:srgbClr val="E64C4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Yanlış bilgi • Kopyacılık • Gizlilik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000500" y="8429625"/>
            <a:ext cx="10287000" cy="4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3300" b="true">
                <a:solidFill>
                  <a:srgbClr val="071B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Araçtır; öğretmenin yerine geçmez.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76275"/>
            <a:ext cx="1428750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426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Sağlık ve tıpta yapay zekâ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323975"/>
            <a:ext cx="140970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52677F"/>
                </a:solidFill>
                <a:latin typeface="Noto Sans"/>
                <a:ea typeface="Noto Sans"/>
                <a:cs typeface="Noto Sans"/>
                <a:sym typeface="Noto Sans"/>
              </a:rPr>
              <a:t>Büyük sağlık verisini tarar; uzman kararını destekler.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28650" y="628650"/>
            <a:ext cx="114300" cy="552450"/>
            <a:chOff x="0" y="0"/>
            <a:chExt cx="152400" cy="736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736600"/>
            </a:xfrm>
            <a:custGeom>
              <a:avLst/>
              <a:gdLst/>
              <a:ahLst/>
              <a:cxnLst/>
              <a:rect r="r" b="b" t="t" l="l"/>
              <a:pathLst>
                <a:path h="736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2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00125" y="2428875"/>
            <a:ext cx="8096250" cy="6477000"/>
          </a:xfrm>
          <a:custGeom>
            <a:avLst/>
            <a:gdLst/>
            <a:ahLst/>
            <a:cxnLst/>
            <a:rect r="r" b="b" t="t" l="l"/>
            <a:pathLst>
              <a:path h="6477000" w="8096250">
                <a:moveTo>
                  <a:pt x="0" y="0"/>
                </a:moveTo>
                <a:lnTo>
                  <a:pt x="8096250" y="0"/>
                </a:lnTo>
                <a:lnTo>
                  <a:pt x="8096250" y="6477000"/>
                </a:lnTo>
                <a:lnTo>
                  <a:pt x="0" y="647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8" t="0" r="-78" b="0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8" id="8"/>
          <p:cNvSpPr txBox="true"/>
          <p:nvPr/>
        </p:nvSpPr>
        <p:spPr>
          <a:xfrm rot="0">
            <a:off x="10001250" y="2876550"/>
            <a:ext cx="6191250" cy="1614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87"/>
              </a:lnSpc>
            </a:pPr>
            <a:r>
              <a:rPr lang="en-US" sz="2250" b="true">
                <a:solidFill>
                  <a:srgbClr val="14263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NE YAPAR?</a:t>
            </a:r>
          </a:p>
          <a:p>
            <a:pPr algn="l">
              <a:lnSpc>
                <a:spcPts val="2587"/>
              </a:lnSpc>
            </a:pPr>
            <a:r>
              <a:rPr lang="en-US" sz="2250" b="true">
                <a:solidFill>
                  <a:srgbClr val="14263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Anormallik tespiti</a:t>
            </a:r>
          </a:p>
          <a:p>
            <a:pPr algn="l">
              <a:lnSpc>
                <a:spcPts val="2587"/>
              </a:lnSpc>
            </a:pPr>
            <a:r>
              <a:rPr lang="en-US" sz="2250" b="true">
                <a:solidFill>
                  <a:srgbClr val="14263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Veri analizi</a:t>
            </a:r>
          </a:p>
          <a:p>
            <a:pPr algn="l">
              <a:lnSpc>
                <a:spcPts val="2587"/>
              </a:lnSpc>
            </a:pPr>
            <a:r>
              <a:rPr lang="en-US" sz="2250" b="true">
                <a:solidFill>
                  <a:srgbClr val="14263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İlaç geliştirme</a:t>
            </a:r>
          </a:p>
          <a:p>
            <a:pPr algn="l">
              <a:lnSpc>
                <a:spcPts val="2587"/>
              </a:lnSpc>
            </a:pPr>
            <a:r>
              <a:rPr lang="en-US" sz="2250" b="true">
                <a:solidFill>
                  <a:srgbClr val="14263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Robotik ameliyat desteği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001250" y="5953125"/>
            <a:ext cx="1047750" cy="76200"/>
            <a:chOff x="0" y="0"/>
            <a:chExt cx="1397000" cy="101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97000" cy="101600"/>
            </a:xfrm>
            <a:custGeom>
              <a:avLst/>
              <a:gdLst/>
              <a:ahLst/>
              <a:cxnLst/>
              <a:rect r="r" b="b" t="t" l="l"/>
              <a:pathLst>
                <a:path h="101600" w="1397000">
                  <a:moveTo>
                    <a:pt x="0" y="0"/>
                  </a:moveTo>
                  <a:lnTo>
                    <a:pt x="1397000" y="0"/>
                  </a:lnTo>
                  <a:lnTo>
                    <a:pt x="1397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19A66A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397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0001250" y="6219825"/>
            <a:ext cx="6191250" cy="3205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1"/>
              </a:lnSpc>
            </a:pPr>
            <a:r>
              <a:rPr lang="en-US" sz="2325" b="true">
                <a:solidFill>
                  <a:srgbClr val="19A6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Uzmanlara hız ve ikinci görüş sağlar.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0001250" y="7191375"/>
            <a:ext cx="1047750" cy="76200"/>
            <a:chOff x="0" y="0"/>
            <a:chExt cx="1397000" cy="1016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97000" cy="101600"/>
            </a:xfrm>
            <a:custGeom>
              <a:avLst/>
              <a:gdLst/>
              <a:ahLst/>
              <a:cxnLst/>
              <a:rect r="r" b="b" t="t" l="l"/>
              <a:pathLst>
                <a:path h="101600" w="1397000">
                  <a:moveTo>
                    <a:pt x="0" y="0"/>
                  </a:moveTo>
                  <a:lnTo>
                    <a:pt x="1397000" y="0"/>
                  </a:lnTo>
                  <a:lnTo>
                    <a:pt x="1397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E64C4C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397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0001250" y="7400925"/>
            <a:ext cx="6191250" cy="693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100">
                <a:solidFill>
                  <a:srgbClr val="E64C4C"/>
                </a:solidFill>
                <a:latin typeface="Noto Sans"/>
                <a:ea typeface="Noto Sans"/>
                <a:cs typeface="Noto Sans"/>
                <a:sym typeface="Noto Sans"/>
              </a:rPr>
              <a:t>Yanlış sonuç ve gizlilik riski vardır. Tek başına teşhis değildir.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76275"/>
            <a:ext cx="1428750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426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Tarım ve hayvancılıkta yapay zekâ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323975"/>
            <a:ext cx="140970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52677F"/>
                </a:solidFill>
                <a:latin typeface="Noto Sans"/>
                <a:ea typeface="Noto Sans"/>
                <a:cs typeface="Noto Sans"/>
                <a:sym typeface="Noto Sans"/>
              </a:rPr>
              <a:t>Tarladan ve sürüden gelen veriyi, zamanında karara dönüştürür.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28650" y="628650"/>
            <a:ext cx="114300" cy="552450"/>
            <a:chOff x="0" y="0"/>
            <a:chExt cx="152400" cy="736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736600"/>
            </a:xfrm>
            <a:custGeom>
              <a:avLst/>
              <a:gdLst/>
              <a:ahLst/>
              <a:cxnLst/>
              <a:rect r="r" b="b" t="t" l="l"/>
              <a:pathLst>
                <a:path h="736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2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7810500" y="2333625"/>
            <a:ext cx="9525000" cy="6667500"/>
          </a:xfrm>
          <a:custGeom>
            <a:avLst/>
            <a:gdLst/>
            <a:ahLst/>
            <a:cxnLst/>
            <a:rect r="r" b="b" t="t" l="l"/>
            <a:pathLst>
              <a:path h="6667500" w="9525000">
                <a:moveTo>
                  <a:pt x="0" y="0"/>
                </a:moveTo>
                <a:lnTo>
                  <a:pt x="9525000" y="0"/>
                </a:lnTo>
                <a:lnTo>
                  <a:pt x="9525000" y="6667500"/>
                </a:lnTo>
                <a:lnTo>
                  <a:pt x="0" y="6667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8" id="8"/>
          <p:cNvSpPr txBox="true"/>
          <p:nvPr/>
        </p:nvSpPr>
        <p:spPr>
          <a:xfrm rot="0">
            <a:off x="1047750" y="2905125"/>
            <a:ext cx="571500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0"/>
              </a:lnSpc>
            </a:pPr>
            <a:r>
              <a:rPr lang="en-US" sz="3000" b="true">
                <a:solidFill>
                  <a:srgbClr val="19A6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DRONE İLE KOYUN SAYMA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47750" y="3876675"/>
            <a:ext cx="5334000" cy="1890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52677F"/>
                </a:solidFill>
                <a:latin typeface="Noto Sans"/>
                <a:ea typeface="Noto Sans"/>
                <a:cs typeface="Noto Sans"/>
                <a:sym typeface="Noto Sans"/>
              </a:rPr>
              <a:t>• Hastalık tespiti</a:t>
            </a:r>
          </a:p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52677F"/>
                </a:solidFill>
                <a:latin typeface="Noto Sans"/>
                <a:ea typeface="Noto Sans"/>
                <a:cs typeface="Noto Sans"/>
                <a:sym typeface="Noto Sans"/>
              </a:rPr>
              <a:t>• Sulama önerisi</a:t>
            </a:r>
          </a:p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52677F"/>
                </a:solidFill>
                <a:latin typeface="Noto Sans"/>
                <a:ea typeface="Noto Sans"/>
                <a:cs typeface="Noto Sans"/>
                <a:sym typeface="Noto Sans"/>
              </a:rPr>
              <a:t>• Drone ile izleme</a:t>
            </a:r>
          </a:p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52677F"/>
                </a:solidFill>
                <a:latin typeface="Noto Sans"/>
                <a:ea typeface="Noto Sans"/>
                <a:cs typeface="Noto Sans"/>
                <a:sym typeface="Noto Sans"/>
              </a:rPr>
              <a:t>• Hayvan sayımı</a:t>
            </a:r>
          </a:p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52677F"/>
                </a:solidFill>
                <a:latin typeface="Noto Sans"/>
                <a:ea typeface="Noto Sans"/>
                <a:cs typeface="Noto Sans"/>
                <a:sym typeface="Noto Sans"/>
              </a:rPr>
              <a:t>• Verim tahmini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809625" y="6953250"/>
            <a:ext cx="6096000" cy="1809750"/>
            <a:chOff x="0" y="0"/>
            <a:chExt cx="8128000" cy="2413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28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8128000">
                  <a:moveTo>
                    <a:pt x="0" y="0"/>
                  </a:moveTo>
                  <a:lnTo>
                    <a:pt x="8128000" y="0"/>
                  </a:lnTo>
                  <a:lnTo>
                    <a:pt x="8128000" y="2413000"/>
                  </a:lnTo>
                  <a:lnTo>
                    <a:pt x="0" y="2413000"/>
                  </a:lnTo>
                  <a:close/>
                </a:path>
              </a:pathLst>
            </a:custGeom>
            <a:solidFill>
              <a:srgbClr val="FFF3DF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8128000" cy="2451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47750" y="7239000"/>
            <a:ext cx="5524500" cy="8986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28"/>
              </a:lnSpc>
            </a:pPr>
            <a:r>
              <a:rPr lang="en-US" sz="2025" b="true">
                <a:solidFill>
                  <a:srgbClr val="F28C2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SINIRLILIK</a:t>
            </a:r>
          </a:p>
          <a:p>
            <a:pPr algn="l">
              <a:lnSpc>
                <a:spcPts val="2328"/>
              </a:lnSpc>
            </a:pPr>
            <a:r>
              <a:rPr lang="en-US" sz="2025" b="true">
                <a:solidFill>
                  <a:srgbClr val="F28C28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Görüntü kalitesi, hava koşulları ve eksik veri sonucu etkiler.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76275"/>
            <a:ext cx="1428750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426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Ulaşım ve otomotivde yapay zekâ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323975"/>
            <a:ext cx="140970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52677F"/>
                </a:solidFill>
                <a:latin typeface="Noto Sans"/>
                <a:ea typeface="Noto Sans"/>
                <a:cs typeface="Noto Sans"/>
                <a:sym typeface="Noto Sans"/>
              </a:rPr>
              <a:t>Tahmin eder, önerir ve bazı sistemlerde aracı kontrol etmeye yardım eder.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28650" y="628650"/>
            <a:ext cx="114300" cy="552450"/>
            <a:chOff x="0" y="0"/>
            <a:chExt cx="152400" cy="736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736600"/>
            </a:xfrm>
            <a:custGeom>
              <a:avLst/>
              <a:gdLst/>
              <a:ahLst/>
              <a:cxnLst/>
              <a:rect r="r" b="b" t="t" l="l"/>
              <a:pathLst>
                <a:path h="736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2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333500" y="2914650"/>
            <a:ext cx="5715000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600" b="true">
                <a:solidFill>
                  <a:srgbClr val="1677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NAVİGASYON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3500" y="3638550"/>
            <a:ext cx="5715000" cy="747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52677F"/>
                </a:solidFill>
                <a:latin typeface="Noto Sans"/>
                <a:ea typeface="Noto Sans"/>
                <a:cs typeface="Noto Sans"/>
                <a:sym typeface="Noto Sans"/>
              </a:rPr>
              <a:t>Trafik verisini inceler → en uygun rotayı önerir.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572750" y="2914650"/>
            <a:ext cx="5905500" cy="487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600" b="true">
                <a:solidFill>
                  <a:srgbClr val="7957D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OTONOM ARAÇ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572750" y="3638550"/>
            <a:ext cx="5905500" cy="747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52677F"/>
                </a:solidFill>
                <a:latin typeface="Noto Sans"/>
                <a:ea typeface="Noto Sans"/>
                <a:cs typeface="Noto Sans"/>
                <a:sym typeface="Noto Sans"/>
              </a:rPr>
              <a:t>Kamera ve sensörlerle çevreyi algılar → sürüş kararı verir.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524000" y="5619750"/>
            <a:ext cx="2667000" cy="1047750"/>
            <a:chOff x="0" y="0"/>
            <a:chExt cx="3556000" cy="1397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556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1315357"/>
                  </a:lnTo>
                  <a:cubicBezTo>
                    <a:pt x="3556000" y="1360447"/>
                    <a:pt x="3519447" y="1397000"/>
                    <a:pt x="3474357" y="1397000"/>
                  </a:cubicBezTo>
                  <a:lnTo>
                    <a:pt x="81643" y="1397000"/>
                  </a:lnTo>
                  <a:cubicBezTo>
                    <a:pt x="36553" y="1397000"/>
                    <a:pt x="0" y="1360447"/>
                    <a:pt x="0" y="1315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9525"/>
              <a:ext cx="35560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27"/>
                </a:lnSpc>
              </a:pPr>
              <a:r>
                <a:rPr lang="en-US" sz="2025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OKUL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5715000" y="5619750"/>
            <a:ext cx="2667000" cy="1047750"/>
            <a:chOff x="0" y="0"/>
            <a:chExt cx="3556000" cy="1397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556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1315357"/>
                  </a:lnTo>
                  <a:cubicBezTo>
                    <a:pt x="3556000" y="1360447"/>
                    <a:pt x="3519447" y="1397000"/>
                    <a:pt x="3474357" y="1397000"/>
                  </a:cubicBezTo>
                  <a:lnTo>
                    <a:pt x="81643" y="1397000"/>
                  </a:lnTo>
                  <a:cubicBezTo>
                    <a:pt x="36553" y="1397000"/>
                    <a:pt x="0" y="1360447"/>
                    <a:pt x="0" y="1315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19A66A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9525"/>
              <a:ext cx="3556000" cy="1387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27"/>
                </a:lnSpc>
              </a:pPr>
              <a:r>
                <a:rPr lang="en-US" sz="2025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EV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>
            <a:off x="4286250" y="6143625"/>
            <a:ext cx="1333500" cy="0"/>
          </a:xfrm>
          <a:prstGeom prst="line">
            <a:avLst/>
          </a:prstGeom>
          <a:ln cap="rnd" w="114300">
            <a:solidFill>
              <a:srgbClr val="18B6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0763250" y="5429250"/>
            <a:ext cx="4762500" cy="1428750"/>
            <a:chOff x="0" y="0"/>
            <a:chExt cx="6350000" cy="1905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6350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6350000">
                  <a:moveTo>
                    <a:pt x="45720" y="0"/>
                  </a:moveTo>
                  <a:lnTo>
                    <a:pt x="6304280" y="0"/>
                  </a:lnTo>
                  <a:cubicBezTo>
                    <a:pt x="6316406" y="0"/>
                    <a:pt x="6328035" y="4817"/>
                    <a:pt x="6336609" y="13391"/>
                  </a:cubicBezTo>
                  <a:cubicBezTo>
                    <a:pt x="6345183" y="21965"/>
                    <a:pt x="6350000" y="33594"/>
                    <a:pt x="6350000" y="45720"/>
                  </a:cubicBezTo>
                  <a:lnTo>
                    <a:pt x="6350000" y="1859280"/>
                  </a:lnTo>
                  <a:cubicBezTo>
                    <a:pt x="6350000" y="1884531"/>
                    <a:pt x="6329530" y="1905000"/>
                    <a:pt x="6304280" y="1905000"/>
                  </a:cubicBezTo>
                  <a:lnTo>
                    <a:pt x="45720" y="1905000"/>
                  </a:lnTo>
                  <a:cubicBezTo>
                    <a:pt x="20470" y="1905000"/>
                    <a:pt x="0" y="1884531"/>
                    <a:pt x="0" y="1859280"/>
                  </a:cubicBezTo>
                  <a:lnTo>
                    <a:pt x="0" y="45720"/>
                  </a:lnTo>
                  <a:cubicBezTo>
                    <a:pt x="0" y="20470"/>
                    <a:pt x="20470" y="0"/>
                    <a:pt x="45720" y="0"/>
                  </a:cubicBezTo>
                  <a:close/>
                </a:path>
              </a:pathLst>
            </a:custGeom>
            <a:solidFill>
              <a:srgbClr val="7957D5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19050"/>
              <a:ext cx="6350000" cy="1885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062"/>
                </a:lnSpc>
              </a:pPr>
              <a:r>
                <a:rPr lang="en-US" sz="1875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ALGILA → KARAR VER → UYGULA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3143250" y="7810500"/>
            <a:ext cx="12001500" cy="1143000"/>
            <a:chOff x="0" y="0"/>
            <a:chExt cx="16002000" cy="1524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6002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16002000">
                  <a:moveTo>
                    <a:pt x="0" y="0"/>
                  </a:moveTo>
                  <a:lnTo>
                    <a:pt x="16002000" y="0"/>
                  </a:lnTo>
                  <a:lnTo>
                    <a:pt x="16002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FF0ED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16002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3714750" y="8105775"/>
            <a:ext cx="10858500" cy="378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2"/>
              </a:lnSpc>
            </a:pPr>
            <a:r>
              <a:rPr lang="en-US" sz="2550" b="true">
                <a:solidFill>
                  <a:srgbClr val="E64C4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Riskler: algılama hatası • kötü hava • siber güvenlik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76275"/>
            <a:ext cx="1428750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426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Sanayi, robotik ve üretimde yapay zekâ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323975"/>
            <a:ext cx="140970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52677F"/>
                </a:solidFill>
                <a:latin typeface="Noto Sans"/>
                <a:ea typeface="Noto Sans"/>
                <a:cs typeface="Noto Sans"/>
                <a:sym typeface="Noto Sans"/>
              </a:rPr>
              <a:t>Makine görmesi kaliteyi, tahmin sistemleri sürekliliği destekler.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28650" y="628650"/>
            <a:ext cx="114300" cy="552450"/>
            <a:chOff x="0" y="0"/>
            <a:chExt cx="152400" cy="736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736600"/>
            </a:xfrm>
            <a:custGeom>
              <a:avLst/>
              <a:gdLst/>
              <a:ahLst/>
              <a:cxnLst/>
              <a:rect r="r" b="b" t="t" l="l"/>
              <a:pathLst>
                <a:path h="736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2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952500" y="2381250"/>
            <a:ext cx="9906000" cy="6667500"/>
          </a:xfrm>
          <a:custGeom>
            <a:avLst/>
            <a:gdLst/>
            <a:ahLst/>
            <a:cxnLst/>
            <a:rect r="r" b="b" t="t" l="l"/>
            <a:pathLst>
              <a:path h="6667500" w="9906000">
                <a:moveTo>
                  <a:pt x="0" y="0"/>
                </a:moveTo>
                <a:lnTo>
                  <a:pt x="9906000" y="0"/>
                </a:lnTo>
                <a:lnTo>
                  <a:pt x="9906000" y="6667500"/>
                </a:lnTo>
                <a:lnTo>
                  <a:pt x="0" y="6667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2" t="0" r="-42" b="0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8" id="8"/>
          <p:cNvSpPr txBox="true"/>
          <p:nvPr/>
        </p:nvSpPr>
        <p:spPr>
          <a:xfrm rot="0">
            <a:off x="11811000" y="2867025"/>
            <a:ext cx="5048250" cy="1492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2"/>
              </a:lnSpc>
            </a:pPr>
            <a:r>
              <a:rPr lang="en-US" sz="2550" b="true">
                <a:solidFill>
                  <a:srgbClr val="14263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Kusur tespiti</a:t>
            </a:r>
          </a:p>
          <a:p>
            <a:pPr algn="l">
              <a:lnSpc>
                <a:spcPts val="2932"/>
              </a:lnSpc>
            </a:pPr>
            <a:r>
              <a:rPr lang="en-US" sz="2550" b="true">
                <a:solidFill>
                  <a:srgbClr val="14263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Bakım tahmini</a:t>
            </a:r>
          </a:p>
          <a:p>
            <a:pPr algn="l">
              <a:lnSpc>
                <a:spcPts val="2932"/>
              </a:lnSpc>
            </a:pPr>
            <a:r>
              <a:rPr lang="en-US" sz="2550" b="true">
                <a:solidFill>
                  <a:srgbClr val="14263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Süreç planlama</a:t>
            </a:r>
          </a:p>
          <a:p>
            <a:pPr algn="l">
              <a:lnSpc>
                <a:spcPts val="2932"/>
              </a:lnSpc>
            </a:pPr>
            <a:r>
              <a:rPr lang="en-US" sz="2550" b="true">
                <a:solidFill>
                  <a:srgbClr val="14263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Robot hareketleri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11000" y="5962650"/>
            <a:ext cx="5048250" cy="1107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1"/>
              </a:lnSpc>
            </a:pPr>
            <a:r>
              <a:rPr lang="en-US" sz="4125" b="true">
                <a:solidFill>
                  <a:srgbClr val="19A6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KALİTE ↑</a:t>
            </a:r>
          </a:p>
          <a:p>
            <a:pPr algn="l">
              <a:lnSpc>
                <a:spcPts val="4331"/>
              </a:lnSpc>
            </a:pPr>
            <a:r>
              <a:rPr lang="en-US" sz="4125" b="true">
                <a:solidFill>
                  <a:srgbClr val="19A66A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İSRAF ↓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811000" y="7772400"/>
            <a:ext cx="5143500" cy="685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33"/>
              </a:lnSpc>
            </a:pPr>
            <a:r>
              <a:rPr lang="en-US" sz="2025">
                <a:solidFill>
                  <a:srgbClr val="E64C4C"/>
                </a:solidFill>
                <a:latin typeface="Noto Sans"/>
                <a:ea typeface="Noto Sans"/>
                <a:cs typeface="Noto Sans"/>
                <a:sym typeface="Noto Sans"/>
              </a:rPr>
              <a:t>İş süreçleri değişir; insan ve makine güvenliği planlanmalıdır.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76275"/>
            <a:ext cx="1428750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426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Güvenlik ve siber güvenlikte yapay zekâ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323975"/>
            <a:ext cx="140970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52677F"/>
                </a:solidFill>
                <a:latin typeface="Noto Sans"/>
                <a:ea typeface="Noto Sans"/>
                <a:cs typeface="Noto Sans"/>
                <a:sym typeface="Noto Sans"/>
              </a:rPr>
              <a:t>Normal davranışı öğrenir; olağandışı olanı işaretler.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28650" y="628650"/>
            <a:ext cx="114300" cy="552450"/>
            <a:chOff x="0" y="0"/>
            <a:chExt cx="152400" cy="736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736600"/>
            </a:xfrm>
            <a:custGeom>
              <a:avLst/>
              <a:gdLst/>
              <a:ahLst/>
              <a:cxnLst/>
              <a:rect r="r" b="b" t="t" l="l"/>
              <a:pathLst>
                <a:path h="736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2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238250" y="3143250"/>
            <a:ext cx="4095750" cy="2381250"/>
            <a:chOff x="0" y="0"/>
            <a:chExt cx="5461000" cy="3175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461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5461000">
                  <a:moveTo>
                    <a:pt x="53163" y="0"/>
                  </a:moveTo>
                  <a:lnTo>
                    <a:pt x="5407837" y="0"/>
                  </a:lnTo>
                  <a:cubicBezTo>
                    <a:pt x="5421937" y="0"/>
                    <a:pt x="5435459" y="5601"/>
                    <a:pt x="5445429" y="15571"/>
                  </a:cubicBezTo>
                  <a:cubicBezTo>
                    <a:pt x="5455399" y="25541"/>
                    <a:pt x="5461000" y="39063"/>
                    <a:pt x="5461000" y="53163"/>
                  </a:cubicBezTo>
                  <a:lnTo>
                    <a:pt x="5461000" y="3121837"/>
                  </a:lnTo>
                  <a:cubicBezTo>
                    <a:pt x="5461000" y="3135937"/>
                    <a:pt x="5455399" y="3149459"/>
                    <a:pt x="5445429" y="3159429"/>
                  </a:cubicBezTo>
                  <a:cubicBezTo>
                    <a:pt x="5435459" y="3169399"/>
                    <a:pt x="5421937" y="3175000"/>
                    <a:pt x="5407837" y="3175000"/>
                  </a:cubicBezTo>
                  <a:lnTo>
                    <a:pt x="53163" y="3175000"/>
                  </a:lnTo>
                  <a:cubicBezTo>
                    <a:pt x="39063" y="3175000"/>
                    <a:pt x="25541" y="3169399"/>
                    <a:pt x="15571" y="3159429"/>
                  </a:cubicBezTo>
                  <a:cubicBezTo>
                    <a:pt x="5601" y="3149459"/>
                    <a:pt x="0" y="3135937"/>
                    <a:pt x="0" y="3121837"/>
                  </a:cubicBezTo>
                  <a:lnTo>
                    <a:pt x="0" y="53163"/>
                  </a:lnTo>
                  <a:cubicBezTo>
                    <a:pt x="0" y="39063"/>
                    <a:pt x="5601" y="25541"/>
                    <a:pt x="15571" y="15571"/>
                  </a:cubicBezTo>
                  <a:cubicBezTo>
                    <a:pt x="25541" y="5601"/>
                    <a:pt x="39063" y="0"/>
                    <a:pt x="53163" y="0"/>
                  </a:cubicBez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5461000" cy="316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27"/>
                </a:lnSpc>
              </a:pPr>
              <a:r>
                <a:rPr lang="en-US" sz="2025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GELEN E-POSTA</a:t>
              </a:r>
            </a:p>
            <a:p>
              <a:pPr algn="ctr">
                <a:lnSpc>
                  <a:spcPts val="2227"/>
                </a:lnSpc>
              </a:pPr>
              <a:r>
                <a:rPr lang="en-US" sz="2025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Bağlantı • Gönderen • İçerik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096125" y="3143250"/>
            <a:ext cx="4095750" cy="2381250"/>
            <a:chOff x="0" y="0"/>
            <a:chExt cx="5461000" cy="3175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461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5461000">
                  <a:moveTo>
                    <a:pt x="53163" y="0"/>
                  </a:moveTo>
                  <a:lnTo>
                    <a:pt x="5407837" y="0"/>
                  </a:lnTo>
                  <a:cubicBezTo>
                    <a:pt x="5421937" y="0"/>
                    <a:pt x="5435459" y="5601"/>
                    <a:pt x="5445429" y="15571"/>
                  </a:cubicBezTo>
                  <a:cubicBezTo>
                    <a:pt x="5455399" y="25541"/>
                    <a:pt x="5461000" y="39063"/>
                    <a:pt x="5461000" y="53163"/>
                  </a:cubicBezTo>
                  <a:lnTo>
                    <a:pt x="5461000" y="3121837"/>
                  </a:lnTo>
                  <a:cubicBezTo>
                    <a:pt x="5461000" y="3135937"/>
                    <a:pt x="5455399" y="3149459"/>
                    <a:pt x="5445429" y="3159429"/>
                  </a:cubicBezTo>
                  <a:cubicBezTo>
                    <a:pt x="5435459" y="3169399"/>
                    <a:pt x="5421937" y="3175000"/>
                    <a:pt x="5407837" y="3175000"/>
                  </a:cubicBezTo>
                  <a:lnTo>
                    <a:pt x="53163" y="3175000"/>
                  </a:lnTo>
                  <a:cubicBezTo>
                    <a:pt x="39063" y="3175000"/>
                    <a:pt x="25541" y="3169399"/>
                    <a:pt x="15571" y="3159429"/>
                  </a:cubicBezTo>
                  <a:cubicBezTo>
                    <a:pt x="5601" y="3149459"/>
                    <a:pt x="0" y="3135937"/>
                    <a:pt x="0" y="3121837"/>
                  </a:cubicBezTo>
                  <a:lnTo>
                    <a:pt x="0" y="53163"/>
                  </a:lnTo>
                  <a:cubicBezTo>
                    <a:pt x="0" y="39063"/>
                    <a:pt x="5601" y="25541"/>
                    <a:pt x="15571" y="15571"/>
                  </a:cubicBezTo>
                  <a:cubicBezTo>
                    <a:pt x="25541" y="5601"/>
                    <a:pt x="39063" y="0"/>
                    <a:pt x="53163" y="0"/>
                  </a:cubicBezTo>
                  <a:close/>
                </a:path>
              </a:pathLst>
            </a:custGeom>
            <a:solidFill>
              <a:srgbClr val="7957D5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5461000" cy="316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27"/>
                </a:lnSpc>
              </a:pPr>
              <a:r>
                <a:rPr lang="en-US" sz="2025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YAPAY ZEKÂ TARAMASI</a:t>
              </a:r>
            </a:p>
            <a:p>
              <a:pPr algn="ctr">
                <a:lnSpc>
                  <a:spcPts val="2227"/>
                </a:lnSpc>
              </a:pPr>
              <a:r>
                <a:rPr lang="en-US" sz="2025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Benzer riskleri karşılaştır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954000" y="3143250"/>
            <a:ext cx="4095750" cy="2381250"/>
            <a:chOff x="0" y="0"/>
            <a:chExt cx="5461000" cy="3175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5461000" cy="3175000"/>
            </a:xfrm>
            <a:custGeom>
              <a:avLst/>
              <a:gdLst/>
              <a:ahLst/>
              <a:cxnLst/>
              <a:rect r="r" b="b" t="t" l="l"/>
              <a:pathLst>
                <a:path h="3175000" w="5461000">
                  <a:moveTo>
                    <a:pt x="53163" y="0"/>
                  </a:moveTo>
                  <a:lnTo>
                    <a:pt x="5407837" y="0"/>
                  </a:lnTo>
                  <a:cubicBezTo>
                    <a:pt x="5421937" y="0"/>
                    <a:pt x="5435459" y="5601"/>
                    <a:pt x="5445429" y="15571"/>
                  </a:cubicBezTo>
                  <a:cubicBezTo>
                    <a:pt x="5455399" y="25541"/>
                    <a:pt x="5461000" y="39063"/>
                    <a:pt x="5461000" y="53163"/>
                  </a:cubicBezTo>
                  <a:lnTo>
                    <a:pt x="5461000" y="3121837"/>
                  </a:lnTo>
                  <a:cubicBezTo>
                    <a:pt x="5461000" y="3135937"/>
                    <a:pt x="5455399" y="3149459"/>
                    <a:pt x="5445429" y="3159429"/>
                  </a:cubicBezTo>
                  <a:cubicBezTo>
                    <a:pt x="5435459" y="3169399"/>
                    <a:pt x="5421937" y="3175000"/>
                    <a:pt x="5407837" y="3175000"/>
                  </a:cubicBezTo>
                  <a:lnTo>
                    <a:pt x="53163" y="3175000"/>
                  </a:lnTo>
                  <a:cubicBezTo>
                    <a:pt x="39063" y="3175000"/>
                    <a:pt x="25541" y="3169399"/>
                    <a:pt x="15571" y="3159429"/>
                  </a:cubicBezTo>
                  <a:cubicBezTo>
                    <a:pt x="5601" y="3149459"/>
                    <a:pt x="0" y="3135937"/>
                    <a:pt x="0" y="3121837"/>
                  </a:cubicBezTo>
                  <a:lnTo>
                    <a:pt x="0" y="53163"/>
                  </a:lnTo>
                  <a:cubicBezTo>
                    <a:pt x="0" y="39063"/>
                    <a:pt x="5601" y="25541"/>
                    <a:pt x="15571" y="15571"/>
                  </a:cubicBezTo>
                  <a:cubicBezTo>
                    <a:pt x="25541" y="5601"/>
                    <a:pt x="39063" y="0"/>
                    <a:pt x="53163" y="0"/>
                  </a:cubicBezTo>
                  <a:close/>
                </a:path>
              </a:pathLst>
            </a:custGeom>
            <a:solidFill>
              <a:srgbClr val="F28C28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5461000" cy="3165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27"/>
                </a:lnSpc>
              </a:pPr>
              <a:r>
                <a:rPr lang="en-US" sz="2025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RİSKLİ OLABİLİR</a:t>
              </a:r>
            </a:p>
            <a:p>
              <a:pPr algn="ctr">
                <a:lnSpc>
                  <a:spcPts val="2227"/>
                </a:lnSpc>
              </a:pPr>
              <a:r>
                <a:rPr lang="en-US" sz="2025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İnsan kontrol etsin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>
            <a:off x="5524500" y="4333875"/>
            <a:ext cx="1381125" cy="0"/>
          </a:xfrm>
          <a:prstGeom prst="line">
            <a:avLst/>
          </a:prstGeom>
          <a:ln cap="flat" w="66675">
            <a:solidFill>
              <a:srgbClr val="D7E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1382375" y="4333875"/>
            <a:ext cx="1381125" cy="0"/>
          </a:xfrm>
          <a:prstGeom prst="line">
            <a:avLst/>
          </a:prstGeom>
          <a:ln cap="flat" w="66675">
            <a:solidFill>
              <a:srgbClr val="D7E3EE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2095500" y="6677025"/>
            <a:ext cx="14097000" cy="338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73"/>
              </a:lnSpc>
            </a:pPr>
            <a:r>
              <a:rPr lang="en-US" sz="2325" b="true">
                <a:solidFill>
                  <a:srgbClr val="14263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Spam sınıflandırma • Şüpheli ağ trafiği • Anormal hareket • Kamera analizi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2381250" y="7715250"/>
            <a:ext cx="13525500" cy="1428750"/>
            <a:chOff x="0" y="0"/>
            <a:chExt cx="18034000" cy="1905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8034000" cy="1905000"/>
            </a:xfrm>
            <a:custGeom>
              <a:avLst/>
              <a:gdLst/>
              <a:ahLst/>
              <a:cxnLst/>
              <a:rect r="r" b="b" t="t" l="l"/>
              <a:pathLst>
                <a:path h="1905000" w="18034000">
                  <a:moveTo>
                    <a:pt x="0" y="0"/>
                  </a:moveTo>
                  <a:lnTo>
                    <a:pt x="18034000" y="0"/>
                  </a:lnTo>
                  <a:lnTo>
                    <a:pt x="18034000" y="1905000"/>
                  </a:lnTo>
                  <a:lnTo>
                    <a:pt x="0" y="1905000"/>
                  </a:lnTo>
                  <a:close/>
                </a:path>
              </a:pathLst>
            </a:custGeom>
            <a:solidFill>
              <a:srgbClr val="FFF0ED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18034000" cy="194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952750" y="7915275"/>
            <a:ext cx="12382500" cy="384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38"/>
              </a:lnSpc>
            </a:pPr>
            <a:r>
              <a:rPr lang="en-US" sz="2325">
                <a:solidFill>
                  <a:srgbClr val="E64C4C"/>
                </a:solidFill>
                <a:latin typeface="Noto Sans"/>
                <a:ea typeface="Noto Sans"/>
                <a:cs typeface="Noto Sans"/>
                <a:sym typeface="Noto Sans"/>
              </a:rPr>
              <a:t>Yanlış alarm olabilir. “Güvenli” işareti garanti değildir; gizlilik korunmalıdır.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76275"/>
            <a:ext cx="1428750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426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İletişim, dil ve erişilebilirlik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323975"/>
            <a:ext cx="140970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52677F"/>
                </a:solidFill>
                <a:latin typeface="Noto Sans"/>
                <a:ea typeface="Noto Sans"/>
                <a:cs typeface="Noto Sans"/>
                <a:sym typeface="Noto Sans"/>
              </a:rPr>
              <a:t>Bilgiyi farklı biçimlere dönüştürerek iletişim engellerini azaltır.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28650" y="628650"/>
            <a:ext cx="114300" cy="552450"/>
            <a:chOff x="0" y="0"/>
            <a:chExt cx="152400" cy="736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736600"/>
            </a:xfrm>
            <a:custGeom>
              <a:avLst/>
              <a:gdLst/>
              <a:ahLst/>
              <a:cxnLst/>
              <a:rect r="r" b="b" t="t" l="l"/>
              <a:pathLst>
                <a:path h="736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2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43000" y="3333750"/>
            <a:ext cx="3333750" cy="1809750"/>
            <a:chOff x="0" y="0"/>
            <a:chExt cx="4445000" cy="2413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445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2347686"/>
                  </a:lnTo>
                  <a:cubicBezTo>
                    <a:pt x="4445000" y="2365008"/>
                    <a:pt x="4438119" y="2381621"/>
                    <a:pt x="4425870" y="2393870"/>
                  </a:cubicBezTo>
                  <a:cubicBezTo>
                    <a:pt x="4413621" y="2406119"/>
                    <a:pt x="4397008" y="2413000"/>
                    <a:pt x="4379686" y="2413000"/>
                  </a:cubicBezTo>
                  <a:lnTo>
                    <a:pt x="65314" y="2413000"/>
                  </a:lnTo>
                  <a:cubicBezTo>
                    <a:pt x="47992" y="2413000"/>
                    <a:pt x="31379" y="2406119"/>
                    <a:pt x="19130" y="2393870"/>
                  </a:cubicBezTo>
                  <a:cubicBezTo>
                    <a:pt x="6881" y="2381621"/>
                    <a:pt x="0" y="2365008"/>
                    <a:pt x="0" y="23476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4445000" cy="239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210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KONUŞMA</a:t>
              </a:r>
            </a:p>
          </p:txBody>
        </p:sp>
      </p:grpSp>
      <p:sp>
        <p:nvSpPr>
          <p:cNvPr name="AutoShape 10" id="10"/>
          <p:cNvSpPr/>
          <p:nvPr/>
        </p:nvSpPr>
        <p:spPr>
          <a:xfrm>
            <a:off x="4572000" y="4238625"/>
            <a:ext cx="285750" cy="0"/>
          </a:xfrm>
          <a:prstGeom prst="line">
            <a:avLst/>
          </a:prstGeom>
          <a:ln cap="flat" w="57150">
            <a:solidFill>
              <a:srgbClr val="D7E3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4953000" y="3333750"/>
            <a:ext cx="3333750" cy="1809750"/>
            <a:chOff x="0" y="0"/>
            <a:chExt cx="4445000" cy="2413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445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2347686"/>
                  </a:lnTo>
                  <a:cubicBezTo>
                    <a:pt x="4445000" y="2365008"/>
                    <a:pt x="4438119" y="2381621"/>
                    <a:pt x="4425870" y="2393870"/>
                  </a:cubicBezTo>
                  <a:cubicBezTo>
                    <a:pt x="4413621" y="2406119"/>
                    <a:pt x="4397008" y="2413000"/>
                    <a:pt x="4379686" y="2413000"/>
                  </a:cubicBezTo>
                  <a:lnTo>
                    <a:pt x="65314" y="2413000"/>
                  </a:lnTo>
                  <a:cubicBezTo>
                    <a:pt x="47992" y="2413000"/>
                    <a:pt x="31379" y="2406119"/>
                    <a:pt x="19130" y="2393870"/>
                  </a:cubicBezTo>
                  <a:cubicBezTo>
                    <a:pt x="6881" y="2381621"/>
                    <a:pt x="0" y="2365008"/>
                    <a:pt x="0" y="23476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18B6C9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19050"/>
              <a:ext cx="4445000" cy="239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210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METİN / ALTYAZI</a:t>
              </a:r>
            </a:p>
          </p:txBody>
        </p:sp>
      </p:grpSp>
      <p:sp>
        <p:nvSpPr>
          <p:cNvPr name="AutoShape 14" id="14"/>
          <p:cNvSpPr/>
          <p:nvPr/>
        </p:nvSpPr>
        <p:spPr>
          <a:xfrm>
            <a:off x="8382000" y="4238625"/>
            <a:ext cx="285750" cy="0"/>
          </a:xfrm>
          <a:prstGeom prst="line">
            <a:avLst/>
          </a:prstGeom>
          <a:ln cap="flat" w="57150">
            <a:solidFill>
              <a:srgbClr val="D7E3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8763000" y="3333750"/>
            <a:ext cx="3333750" cy="1809750"/>
            <a:chOff x="0" y="0"/>
            <a:chExt cx="4445000" cy="24130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445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2347686"/>
                  </a:lnTo>
                  <a:cubicBezTo>
                    <a:pt x="4445000" y="2365008"/>
                    <a:pt x="4438119" y="2381621"/>
                    <a:pt x="4425870" y="2393870"/>
                  </a:cubicBezTo>
                  <a:cubicBezTo>
                    <a:pt x="4413621" y="2406119"/>
                    <a:pt x="4397008" y="2413000"/>
                    <a:pt x="4379686" y="2413000"/>
                  </a:cubicBezTo>
                  <a:lnTo>
                    <a:pt x="65314" y="2413000"/>
                  </a:lnTo>
                  <a:cubicBezTo>
                    <a:pt x="47992" y="2413000"/>
                    <a:pt x="31379" y="2406119"/>
                    <a:pt x="19130" y="2393870"/>
                  </a:cubicBezTo>
                  <a:cubicBezTo>
                    <a:pt x="6881" y="2381621"/>
                    <a:pt x="0" y="2365008"/>
                    <a:pt x="0" y="23476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7957D5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4445000" cy="239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210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ÇEVİRİ</a:t>
              </a:r>
            </a:p>
          </p:txBody>
        </p:sp>
      </p:grpSp>
      <p:sp>
        <p:nvSpPr>
          <p:cNvPr name="AutoShape 18" id="18"/>
          <p:cNvSpPr/>
          <p:nvPr/>
        </p:nvSpPr>
        <p:spPr>
          <a:xfrm>
            <a:off x="12192000" y="4238625"/>
            <a:ext cx="285750" cy="0"/>
          </a:xfrm>
          <a:prstGeom prst="line">
            <a:avLst/>
          </a:prstGeom>
          <a:ln cap="flat" w="57150">
            <a:solidFill>
              <a:srgbClr val="D7E3E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12573000" y="3333750"/>
            <a:ext cx="3333750" cy="1809750"/>
            <a:chOff x="0" y="0"/>
            <a:chExt cx="4445000" cy="24130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4445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445000">
                  <a:moveTo>
                    <a:pt x="65314" y="0"/>
                  </a:moveTo>
                  <a:lnTo>
                    <a:pt x="4379686" y="0"/>
                  </a:lnTo>
                  <a:cubicBezTo>
                    <a:pt x="4397008" y="0"/>
                    <a:pt x="4413621" y="6881"/>
                    <a:pt x="4425870" y="19130"/>
                  </a:cubicBezTo>
                  <a:cubicBezTo>
                    <a:pt x="4438119" y="31379"/>
                    <a:pt x="4445000" y="47992"/>
                    <a:pt x="4445000" y="65314"/>
                  </a:cubicBezTo>
                  <a:lnTo>
                    <a:pt x="4445000" y="2347686"/>
                  </a:lnTo>
                  <a:cubicBezTo>
                    <a:pt x="4445000" y="2365008"/>
                    <a:pt x="4438119" y="2381621"/>
                    <a:pt x="4425870" y="2393870"/>
                  </a:cubicBezTo>
                  <a:cubicBezTo>
                    <a:pt x="4413621" y="2406119"/>
                    <a:pt x="4397008" y="2413000"/>
                    <a:pt x="4379686" y="2413000"/>
                  </a:cubicBezTo>
                  <a:lnTo>
                    <a:pt x="65314" y="2413000"/>
                  </a:lnTo>
                  <a:cubicBezTo>
                    <a:pt x="47992" y="2413000"/>
                    <a:pt x="31379" y="2406119"/>
                    <a:pt x="19130" y="2393870"/>
                  </a:cubicBezTo>
                  <a:cubicBezTo>
                    <a:pt x="6881" y="2381621"/>
                    <a:pt x="0" y="2365008"/>
                    <a:pt x="0" y="2347686"/>
                  </a:cubicBezTo>
                  <a:lnTo>
                    <a:pt x="0" y="65314"/>
                  </a:lnTo>
                  <a:cubicBezTo>
                    <a:pt x="0" y="47992"/>
                    <a:pt x="6881" y="31379"/>
                    <a:pt x="19130" y="19130"/>
                  </a:cubicBezTo>
                  <a:cubicBezTo>
                    <a:pt x="31379" y="6881"/>
                    <a:pt x="47992" y="0"/>
                    <a:pt x="65314" y="0"/>
                  </a:cubicBezTo>
                  <a:close/>
                </a:path>
              </a:pathLst>
            </a:custGeom>
            <a:solidFill>
              <a:srgbClr val="19A66A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19050"/>
              <a:ext cx="4445000" cy="2393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10"/>
                </a:lnSpc>
              </a:pPr>
              <a:r>
                <a:rPr lang="en-US" sz="2100" b="true">
                  <a:solidFill>
                    <a:srgbClr val="FFFFFF"/>
                  </a:solidFill>
                  <a:latin typeface="Noto Sans Bold"/>
                  <a:ea typeface="Noto Sans Bold"/>
                  <a:cs typeface="Noto Sans Bold"/>
                  <a:sym typeface="Noto Sans Bold"/>
                </a:rPr>
                <a:t>SES / ERİŞİM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2857500" y="6238875"/>
            <a:ext cx="12573000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50"/>
              </a:lnSpc>
            </a:pPr>
            <a:r>
              <a:rPr lang="en-US" sz="3000" b="true">
                <a:solidFill>
                  <a:srgbClr val="071B3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Örnek: Öğretmenin konuşması anlık olarak metne çevrilir.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3714750" y="7715250"/>
            <a:ext cx="10858500" cy="1047750"/>
            <a:chOff x="0" y="0"/>
            <a:chExt cx="14478000" cy="13970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4478000" cy="1397000"/>
            </a:xfrm>
            <a:custGeom>
              <a:avLst/>
              <a:gdLst/>
              <a:ahLst/>
              <a:cxnLst/>
              <a:rect r="r" b="b" t="t" l="l"/>
              <a:pathLst>
                <a:path h="1397000" w="14478000">
                  <a:moveTo>
                    <a:pt x="0" y="0"/>
                  </a:moveTo>
                  <a:lnTo>
                    <a:pt x="14478000" y="0"/>
                  </a:lnTo>
                  <a:lnTo>
                    <a:pt x="14478000" y="1397000"/>
                  </a:lnTo>
                  <a:lnTo>
                    <a:pt x="0" y="1397000"/>
                  </a:lnTo>
                  <a:close/>
                </a:path>
              </a:pathLst>
            </a:custGeom>
            <a:solidFill>
              <a:srgbClr val="FFF3DF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14478000" cy="143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4095750" y="7924800"/>
            <a:ext cx="10096500" cy="3586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6"/>
              </a:lnSpc>
            </a:pPr>
            <a:r>
              <a:rPr lang="en-US" sz="2175">
                <a:solidFill>
                  <a:srgbClr val="F28C28"/>
                </a:solidFill>
                <a:latin typeface="Noto Sans"/>
                <a:ea typeface="Noto Sans"/>
                <a:cs typeface="Noto Sans"/>
                <a:sym typeface="Noto Sans"/>
              </a:rPr>
              <a:t>Aksan, arka plan gürültüsü ve bağlam; hatalara neden olabilir.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76275"/>
            <a:ext cx="1428750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426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Eğlence, medya ve üretken yapay zekâ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323975"/>
            <a:ext cx="140970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52677F"/>
                </a:solidFill>
                <a:latin typeface="Noto Sans"/>
                <a:ea typeface="Noto Sans"/>
                <a:cs typeface="Noto Sans"/>
                <a:sym typeface="Noto Sans"/>
              </a:rPr>
              <a:t>Hem seçer hem üretir: öneri sistemleri ile üretken sistemleri ayıralım.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28650" y="628650"/>
            <a:ext cx="114300" cy="552450"/>
            <a:chOff x="0" y="0"/>
            <a:chExt cx="152400" cy="736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736600"/>
            </a:xfrm>
            <a:custGeom>
              <a:avLst/>
              <a:gdLst/>
              <a:ahLst/>
              <a:cxnLst/>
              <a:rect r="r" b="b" t="t" l="l"/>
              <a:pathLst>
                <a:path h="736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2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000125" y="2381250"/>
            <a:ext cx="7810500" cy="6667500"/>
          </a:xfrm>
          <a:custGeom>
            <a:avLst/>
            <a:gdLst/>
            <a:ahLst/>
            <a:cxnLst/>
            <a:rect r="r" b="b" t="t" l="l"/>
            <a:pathLst>
              <a:path h="6667500" w="7810500">
                <a:moveTo>
                  <a:pt x="0" y="0"/>
                </a:moveTo>
                <a:lnTo>
                  <a:pt x="7810500" y="0"/>
                </a:lnTo>
                <a:lnTo>
                  <a:pt x="7810500" y="6667500"/>
                </a:lnTo>
                <a:lnTo>
                  <a:pt x="0" y="6667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7" t="0" r="-67" b="0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8" id="8"/>
          <p:cNvSpPr txBox="true"/>
          <p:nvPr/>
        </p:nvSpPr>
        <p:spPr>
          <a:xfrm rot="0">
            <a:off x="9810750" y="2876550"/>
            <a:ext cx="6858000" cy="102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400" b="true">
                <a:solidFill>
                  <a:srgbClr val="1677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ÖNERİ SİSTEMİ</a:t>
            </a:r>
          </a:p>
          <a:p>
            <a:pPr algn="l">
              <a:lnSpc>
                <a:spcPts val="2760"/>
              </a:lnSpc>
            </a:pPr>
            <a:r>
              <a:rPr lang="en-US" sz="2400" b="true">
                <a:solidFill>
                  <a:srgbClr val="1677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Geçmiş seçimlere göre benzer şarkı veya video önerir.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810750" y="4972050"/>
            <a:ext cx="6858000" cy="10248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60"/>
              </a:lnSpc>
            </a:pPr>
            <a:r>
              <a:rPr lang="en-US" sz="2400" b="true">
                <a:solidFill>
                  <a:srgbClr val="7957D5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ÜRETKEN YAPAY ZEKÂ</a:t>
            </a:r>
          </a:p>
          <a:p>
            <a:pPr algn="l">
              <a:lnSpc>
                <a:spcPts val="2760"/>
              </a:lnSpc>
            </a:pPr>
            <a:r>
              <a:rPr lang="en-US" sz="2400" b="true">
                <a:solidFill>
                  <a:srgbClr val="7957D5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Yeni metin, görsel, ses veya oyun içeriği oluşturabilir.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477375" y="7143750"/>
            <a:ext cx="7524750" cy="1619250"/>
            <a:chOff x="0" y="0"/>
            <a:chExt cx="10033000" cy="2159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033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10033000">
                  <a:moveTo>
                    <a:pt x="0" y="0"/>
                  </a:moveTo>
                  <a:lnTo>
                    <a:pt x="10033000" y="0"/>
                  </a:lnTo>
                  <a:lnTo>
                    <a:pt x="10033000" y="2159000"/>
                  </a:lnTo>
                  <a:lnTo>
                    <a:pt x="0" y="2159000"/>
                  </a:lnTo>
                  <a:close/>
                </a:path>
              </a:pathLst>
            </a:custGeom>
            <a:solidFill>
              <a:srgbClr val="FFF0ED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0033000" cy="219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810750" y="7439025"/>
            <a:ext cx="6858000" cy="6719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73"/>
              </a:lnSpc>
            </a:pPr>
            <a:r>
              <a:rPr lang="en-US" sz="2325" b="true">
                <a:solidFill>
                  <a:srgbClr val="E64C4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DİKKAT</a:t>
            </a:r>
          </a:p>
          <a:p>
            <a:pPr algn="l">
              <a:lnSpc>
                <a:spcPts val="2673"/>
              </a:lnSpc>
            </a:pPr>
            <a:r>
              <a:rPr lang="en-US" sz="2325" b="true">
                <a:solidFill>
                  <a:srgbClr val="E64C4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Telif hakkı • Deepfake • Yanlış bilgi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4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676275"/>
            <a:ext cx="14287500" cy="587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67"/>
              </a:lnSpc>
            </a:pPr>
            <a:r>
              <a:rPr lang="en-US" sz="4350" b="true">
                <a:solidFill>
                  <a:srgbClr val="14263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Çevre, meteoroloji, finans ve bilim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0600" y="1323975"/>
            <a:ext cx="140970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52677F"/>
                </a:solidFill>
                <a:latin typeface="Noto Sans"/>
                <a:ea typeface="Noto Sans"/>
                <a:cs typeface="Noto Sans"/>
                <a:sym typeface="Noto Sans"/>
              </a:rPr>
              <a:t>Farklı alan; aynı düşünme zinciri: veri → görev → katkı.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628650" y="628650"/>
            <a:ext cx="114300" cy="552450"/>
            <a:chOff x="0" y="0"/>
            <a:chExt cx="152400" cy="7366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52400" cy="736600"/>
            </a:xfrm>
            <a:custGeom>
              <a:avLst/>
              <a:gdLst/>
              <a:ahLst/>
              <a:cxnLst/>
              <a:rect r="r" b="b" t="t" l="l"/>
              <a:pathLst>
                <a:path h="736600" w="152400">
                  <a:moveTo>
                    <a:pt x="0" y="0"/>
                  </a:moveTo>
                  <a:lnTo>
                    <a:pt x="152400" y="0"/>
                  </a:lnTo>
                  <a:lnTo>
                    <a:pt x="152400" y="736600"/>
                  </a:lnTo>
                  <a:lnTo>
                    <a:pt x="0" y="736600"/>
                  </a:ln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52400" cy="774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238250" y="2590800"/>
            <a:ext cx="2857500" cy="239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3"/>
              </a:lnSpc>
            </a:pPr>
            <a:r>
              <a:rPr lang="en-US" sz="1725" b="true">
                <a:solidFill>
                  <a:srgbClr val="14263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ALAN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572000" y="2590800"/>
            <a:ext cx="3619500" cy="239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3"/>
              </a:lnSpc>
            </a:pPr>
            <a:r>
              <a:rPr lang="en-US" sz="1725" b="true">
                <a:solidFill>
                  <a:srgbClr val="14263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KULLANILAN VERİ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72500" y="2590800"/>
            <a:ext cx="4095750" cy="239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3"/>
              </a:lnSpc>
            </a:pPr>
            <a:r>
              <a:rPr lang="en-US" sz="1725" b="true">
                <a:solidFill>
                  <a:srgbClr val="14263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YAPAY ZEKÂNIN GÖREVİ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239750" y="2590800"/>
            <a:ext cx="3714750" cy="239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3"/>
              </a:lnSpc>
            </a:pPr>
            <a:r>
              <a:rPr lang="en-US" sz="1725" b="true">
                <a:solidFill>
                  <a:srgbClr val="14263D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KATKI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00125" y="3286125"/>
            <a:ext cx="16287750" cy="1143000"/>
            <a:chOff x="0" y="0"/>
            <a:chExt cx="21717000" cy="1524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1717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21717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00125" y="3286125"/>
            <a:ext cx="3238500" cy="1143000"/>
            <a:chOff x="0" y="0"/>
            <a:chExt cx="4318000" cy="152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318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19A66A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38100"/>
              <a:ext cx="4318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381125" y="3695700"/>
            <a:ext cx="2571750" cy="269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875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ÇEVRE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572000" y="3657600"/>
            <a:ext cx="34290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52677F"/>
                </a:solidFill>
                <a:latin typeface="Noto Sans"/>
                <a:ea typeface="Noto Sans"/>
                <a:cs typeface="Noto Sans"/>
                <a:sym typeface="Noto Sans"/>
              </a:rPr>
              <a:t>Uydu görüntüleri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572500" y="3657600"/>
            <a:ext cx="38100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52677F"/>
                </a:solidFill>
                <a:latin typeface="Noto Sans"/>
                <a:ea typeface="Noto Sans"/>
                <a:cs typeface="Noto Sans"/>
                <a:sym typeface="Noto Sans"/>
              </a:rPr>
              <a:t>Değişimi izleme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3239750" y="3657600"/>
            <a:ext cx="34290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52677F"/>
                </a:solidFill>
                <a:latin typeface="Noto Sans"/>
                <a:ea typeface="Noto Sans"/>
                <a:cs typeface="Noto Sans"/>
                <a:sym typeface="Noto Sans"/>
              </a:rPr>
              <a:t>Erken fark etme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00125" y="4667250"/>
            <a:ext cx="16287750" cy="1143000"/>
            <a:chOff x="0" y="0"/>
            <a:chExt cx="21717000" cy="15240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717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38100"/>
              <a:ext cx="21717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000125" y="4667250"/>
            <a:ext cx="3238500" cy="1143000"/>
            <a:chOff x="0" y="0"/>
            <a:chExt cx="4318000" cy="15240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318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18B6C9"/>
            </a:solidFill>
            <a:ln cap="sq">
              <a:noFill/>
              <a:prstDash val="solid"/>
              <a:miter/>
            </a:ln>
          </p:spPr>
        </p:sp>
        <p:sp>
          <p:nvSpPr>
            <p:cNvPr name="TextBox 26" id="26"/>
            <p:cNvSpPr txBox="true"/>
            <p:nvPr/>
          </p:nvSpPr>
          <p:spPr>
            <a:xfrm>
              <a:off x="0" y="-38100"/>
              <a:ext cx="4318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1381125" y="5076825"/>
            <a:ext cx="2571750" cy="269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875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METEOROLOJİ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572000" y="5038725"/>
            <a:ext cx="34290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52677F"/>
                </a:solidFill>
                <a:latin typeface="Noto Sans"/>
                <a:ea typeface="Noto Sans"/>
                <a:cs typeface="Noto Sans"/>
                <a:sym typeface="Noto Sans"/>
              </a:rPr>
              <a:t>Hava ölçümleri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572500" y="5038725"/>
            <a:ext cx="38100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52677F"/>
                </a:solidFill>
                <a:latin typeface="Noto Sans"/>
                <a:ea typeface="Noto Sans"/>
                <a:cs typeface="Noto Sans"/>
                <a:sym typeface="Noto Sans"/>
              </a:rPr>
              <a:t>Tahmin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3239750" y="5038725"/>
            <a:ext cx="34290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52677F"/>
                </a:solidFill>
                <a:latin typeface="Noto Sans"/>
                <a:ea typeface="Noto Sans"/>
                <a:cs typeface="Noto Sans"/>
                <a:sym typeface="Noto Sans"/>
              </a:rPr>
              <a:t>Hazırlık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1000125" y="6048375"/>
            <a:ext cx="16287750" cy="1143000"/>
            <a:chOff x="0" y="0"/>
            <a:chExt cx="21717000" cy="15240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21717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21717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1000125" y="6048375"/>
            <a:ext cx="3238500" cy="1143000"/>
            <a:chOff x="0" y="0"/>
            <a:chExt cx="4318000" cy="15240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318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28C28"/>
            </a:solidFill>
            <a:ln cap="sq">
              <a:noFill/>
              <a:prstDash val="solid"/>
              <a:miter/>
            </a:ln>
          </p:spPr>
        </p:sp>
        <p:sp>
          <p:nvSpPr>
            <p:cNvPr name="TextBox 36" id="36"/>
            <p:cNvSpPr txBox="true"/>
            <p:nvPr/>
          </p:nvSpPr>
          <p:spPr>
            <a:xfrm>
              <a:off x="0" y="-38100"/>
              <a:ext cx="4318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37" id="37"/>
          <p:cNvSpPr txBox="true"/>
          <p:nvPr/>
        </p:nvSpPr>
        <p:spPr>
          <a:xfrm rot="0">
            <a:off x="1381125" y="6457950"/>
            <a:ext cx="2571750" cy="269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875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FİNANS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572000" y="6419850"/>
            <a:ext cx="34290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52677F"/>
                </a:solidFill>
                <a:latin typeface="Noto Sans"/>
                <a:ea typeface="Noto Sans"/>
                <a:cs typeface="Noto Sans"/>
                <a:sym typeface="Noto Sans"/>
              </a:rPr>
              <a:t>İşlem verileri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8572500" y="6419850"/>
            <a:ext cx="38100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52677F"/>
                </a:solidFill>
                <a:latin typeface="Noto Sans"/>
                <a:ea typeface="Noto Sans"/>
                <a:cs typeface="Noto Sans"/>
                <a:sym typeface="Noto Sans"/>
              </a:rPr>
              <a:t>Risk analizi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239750" y="6419850"/>
            <a:ext cx="34290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52677F"/>
                </a:solidFill>
                <a:latin typeface="Noto Sans"/>
                <a:ea typeface="Noto Sans"/>
                <a:cs typeface="Noto Sans"/>
                <a:sym typeface="Noto Sans"/>
              </a:rPr>
              <a:t>Şüpheli işlemi bulma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1000125" y="7429500"/>
            <a:ext cx="16287750" cy="1143000"/>
            <a:chOff x="0" y="0"/>
            <a:chExt cx="21717000" cy="15240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1717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21717000">
                  <a:moveTo>
                    <a:pt x="0" y="0"/>
                  </a:moveTo>
                  <a:lnTo>
                    <a:pt x="21717000" y="0"/>
                  </a:lnTo>
                  <a:lnTo>
                    <a:pt x="21717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43" id="43"/>
            <p:cNvSpPr txBox="true"/>
            <p:nvPr/>
          </p:nvSpPr>
          <p:spPr>
            <a:xfrm>
              <a:off x="0" y="-38100"/>
              <a:ext cx="21717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00125" y="7429500"/>
            <a:ext cx="3238500" cy="1143000"/>
            <a:chOff x="0" y="0"/>
            <a:chExt cx="4318000" cy="15240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4318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4318000">
                  <a:moveTo>
                    <a:pt x="0" y="0"/>
                  </a:moveTo>
                  <a:lnTo>
                    <a:pt x="4318000" y="0"/>
                  </a:lnTo>
                  <a:lnTo>
                    <a:pt x="4318000" y="1524000"/>
                  </a:lnTo>
                  <a:lnTo>
                    <a:pt x="0" y="1524000"/>
                  </a:lnTo>
                  <a:close/>
                </a:path>
              </a:pathLst>
            </a:custGeom>
            <a:solidFill>
              <a:srgbClr val="7957D5"/>
            </a:solidFill>
            <a:ln cap="sq">
              <a:noFill/>
              <a:prstDash val="solid"/>
              <a:miter/>
            </a:ln>
          </p:spPr>
        </p:sp>
        <p:sp>
          <p:nvSpPr>
            <p:cNvPr name="TextBox 46" id="46"/>
            <p:cNvSpPr txBox="true"/>
            <p:nvPr/>
          </p:nvSpPr>
          <p:spPr>
            <a:xfrm>
              <a:off x="0" y="-38100"/>
              <a:ext cx="4318000" cy="1562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381125" y="7839075"/>
            <a:ext cx="2571750" cy="269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56"/>
              </a:lnSpc>
            </a:pPr>
            <a:r>
              <a:rPr lang="en-US" sz="1875" b="true">
                <a:solidFill>
                  <a:srgbClr val="FFFFFF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BİLİM &amp; UZAY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572000" y="7800975"/>
            <a:ext cx="34290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52677F"/>
                </a:solidFill>
                <a:latin typeface="Noto Sans"/>
                <a:ea typeface="Noto Sans"/>
                <a:cs typeface="Noto Sans"/>
                <a:sym typeface="Noto Sans"/>
              </a:rPr>
              <a:t>Büyük veri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8572500" y="7800975"/>
            <a:ext cx="38100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52677F"/>
                </a:solidFill>
                <a:latin typeface="Noto Sans"/>
                <a:ea typeface="Noto Sans"/>
                <a:cs typeface="Noto Sans"/>
                <a:sym typeface="Noto Sans"/>
              </a:rPr>
              <a:t>Gök cismi sınıflama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3239750" y="7800975"/>
            <a:ext cx="3429000" cy="307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31"/>
              </a:lnSpc>
            </a:pPr>
            <a:r>
              <a:rPr lang="en-US" sz="1875">
                <a:solidFill>
                  <a:srgbClr val="52677F"/>
                </a:solidFill>
                <a:latin typeface="Noto Sans"/>
                <a:ea typeface="Noto Sans"/>
                <a:cs typeface="Noto Sans"/>
                <a:sym typeface="Noto Sans"/>
              </a:rPr>
              <a:t>Keşfi hızlandırma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6191250" y="9201150"/>
            <a:ext cx="5905500" cy="318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01"/>
              </a:lnSpc>
            </a:pPr>
            <a:r>
              <a:rPr lang="en-US" sz="2175" b="true">
                <a:solidFill>
                  <a:srgbClr val="E64C4C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Tahmin, kesinlik değildir.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07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90600" y="742950"/>
            <a:ext cx="14287500" cy="1455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70"/>
              </a:lnSpc>
            </a:pPr>
            <a:r>
              <a:rPr lang="en-US" sz="54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Yapay zekâ her alanda</a:t>
            </a:r>
          </a:p>
          <a:p>
            <a:pPr algn="l">
              <a:lnSpc>
                <a:spcPts val="5670"/>
              </a:lnSpc>
            </a:pPr>
            <a:r>
              <a:rPr lang="en-US" sz="5400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avantaj mı sağlar?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52500" y="2667000"/>
            <a:ext cx="7429500" cy="4476750"/>
            <a:chOff x="0" y="0"/>
            <a:chExt cx="9906000" cy="5969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906000" cy="5969000"/>
            </a:xfrm>
            <a:custGeom>
              <a:avLst/>
              <a:gdLst/>
              <a:ahLst/>
              <a:cxnLst/>
              <a:rect r="r" b="b" t="t" l="l"/>
              <a:pathLst>
                <a:path h="59690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5969000"/>
                  </a:lnTo>
                  <a:lnTo>
                    <a:pt x="0" y="5969000"/>
                  </a:lnTo>
                  <a:close/>
                </a:path>
              </a:pathLst>
            </a:custGeom>
            <a:solidFill>
              <a:srgbClr val="103D3B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9906000" cy="600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333500" y="2895600"/>
            <a:ext cx="6477000" cy="35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6"/>
              </a:lnSpc>
            </a:pPr>
            <a:r>
              <a:rPr lang="en-US" sz="2625" b="true">
                <a:solidFill>
                  <a:srgbClr val="72E0AD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OLUMLU YÖNLER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33500" y="3590925"/>
            <a:ext cx="6572250" cy="1890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Büyük veriyi hızlı inceleme</a:t>
            </a:r>
          </a:p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Otomatikleştirme</a:t>
            </a:r>
          </a:p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Hata azaltma</a:t>
            </a:r>
          </a:p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Kişiye özel hizmet</a:t>
            </a:r>
          </a:p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Erişilebilirlik artışı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906000" y="2667000"/>
            <a:ext cx="7429500" cy="4476750"/>
            <a:chOff x="0" y="0"/>
            <a:chExt cx="9906000" cy="5969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06000" cy="5969000"/>
            </a:xfrm>
            <a:custGeom>
              <a:avLst/>
              <a:gdLst/>
              <a:ahLst/>
              <a:cxnLst/>
              <a:rect r="r" b="b" t="t" l="l"/>
              <a:pathLst>
                <a:path h="59690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5969000"/>
                  </a:lnTo>
                  <a:lnTo>
                    <a:pt x="0" y="5969000"/>
                  </a:lnTo>
                  <a:close/>
                </a:path>
              </a:pathLst>
            </a:custGeom>
            <a:solidFill>
              <a:srgbClr val="4B2633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9906000" cy="6007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477500" y="2895600"/>
            <a:ext cx="6477000" cy="354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6"/>
              </a:lnSpc>
            </a:pPr>
            <a:r>
              <a:rPr lang="en-US" sz="2625" b="true">
                <a:solidFill>
                  <a:srgbClr val="FF9B8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RİSKLER &amp; SINIRLAR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477500" y="3590925"/>
            <a:ext cx="6572250" cy="1890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Yanlış bilgi ve önyargı</a:t>
            </a:r>
          </a:p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Gizlilik sorunları</a:t>
            </a:r>
          </a:p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İnsan denetimi gereği</a:t>
            </a:r>
          </a:p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Mesleklerin değişimi</a:t>
            </a:r>
          </a:p>
          <a:p>
            <a:pPr algn="l">
              <a:lnSpc>
                <a:spcPts val="3037"/>
              </a:lnSpc>
            </a:pPr>
            <a:r>
              <a:rPr lang="en-US" sz="225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Enerji tüketimi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2000250" y="7953375"/>
            <a:ext cx="14287500" cy="1238250"/>
            <a:chOff x="0" y="0"/>
            <a:chExt cx="19050000" cy="1651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050000" cy="1651000"/>
            </a:xfrm>
            <a:custGeom>
              <a:avLst/>
              <a:gdLst/>
              <a:ahLst/>
              <a:cxnLst/>
              <a:rect r="r" b="b" t="t" l="l"/>
              <a:pathLst>
                <a:path h="1651000" w="19050000">
                  <a:moveTo>
                    <a:pt x="0" y="0"/>
                  </a:moveTo>
                  <a:lnTo>
                    <a:pt x="19050000" y="0"/>
                  </a:lnTo>
                  <a:lnTo>
                    <a:pt x="19050000" y="1651000"/>
                  </a:lnTo>
                  <a:lnTo>
                    <a:pt x="0" y="1651000"/>
                  </a:lnTo>
                  <a:close/>
                </a:path>
              </a:pathLst>
            </a:custGeom>
            <a:solidFill>
              <a:srgbClr val="1677FF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9050000" cy="168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476500" y="8343900"/>
            <a:ext cx="13335000" cy="432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86"/>
              </a:lnSpc>
            </a:pPr>
            <a:r>
              <a:rPr lang="en-US" sz="3225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ETKİ = VERİ + AMAÇ + DENETİM + GÜVENLİK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DAHXs0Fs-lk</dc:identifier>
  <dcterms:modified xsi:type="dcterms:W3CDTF">2011-08-01T06:04:30Z</dcterms:modified>
  <cp:revision>1</cp:revision>
  <dc:title>Yapay Zekâ Kullanım Alanları</dc:title>
</cp:coreProperties>
</file>