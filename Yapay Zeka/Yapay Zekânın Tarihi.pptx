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22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League Spartan" charset="1" panose="00000800000000000000"/>
      <p:regular r:id="rId25"/>
    </p:embeddedFont>
    <p:embeddedFont>
      <p:font typeface="Nunito Sans" charset="1" panose="00000000000000000000"/>
      <p:regular r:id="rId26"/>
    </p:embeddedFont>
    <p:embeddedFont>
      <p:font typeface="Nunito Sans Bold" charset="1" panose="00000000000000000000"/>
      <p:regular r:id="rId27"/>
    </p:embeddedFont>
    <p:embeddedFont>
      <p:font typeface="Nunito Sans Italics" charset="1" panose="0000000000000000000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notesMasters/notesMaster1.xml" Type="http://schemas.openxmlformats.org/officeDocument/2006/relationships/notesMaster"/><Relationship Id="rId23" Target="theme/theme2.xml" Type="http://schemas.openxmlformats.org/officeDocument/2006/relationships/theme"/><Relationship Id="rId24" Target="notesSlides/notesSlide1.xml" Type="http://schemas.openxmlformats.org/officeDocument/2006/relationships/notesSlide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29" Target="notesSlides/notesSlide2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3.xml" Type="http://schemas.openxmlformats.org/officeDocument/2006/relationships/notesSlide"/><Relationship Id="rId31" Target="notesSlides/notesSlide4.xml" Type="http://schemas.openxmlformats.org/officeDocument/2006/relationships/notesSlide"/><Relationship Id="rId32" Target="notesSlides/notesSlide5.xml" Type="http://schemas.openxmlformats.org/officeDocument/2006/relationships/notesSlide"/><Relationship Id="rId33" Target="notesSlides/notesSlide6.xml" Type="http://schemas.openxmlformats.org/officeDocument/2006/relationships/notesSlide"/><Relationship Id="rId34" Target="notesSlides/notesSlide7.xml" Type="http://schemas.openxmlformats.org/officeDocument/2006/relationships/notesSlide"/><Relationship Id="rId35" Target="notesSlides/notesSlide8.xml" Type="http://schemas.openxmlformats.org/officeDocument/2006/relationships/notesSlide"/><Relationship Id="rId36" Target="notesSlides/notesSlide9.xml" Type="http://schemas.openxmlformats.org/officeDocument/2006/relationships/notesSlide"/><Relationship Id="rId37" Target="notesSlides/notesSlide10.xml" Type="http://schemas.openxmlformats.org/officeDocument/2006/relationships/notesSlide"/><Relationship Id="rId38" Target="notesSlides/notesSlide11.xml" Type="http://schemas.openxmlformats.org/officeDocument/2006/relationships/notesSlide"/><Relationship Id="rId39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40" Target="notesSlides/notesSlide13.xml" Type="http://schemas.openxmlformats.org/officeDocument/2006/relationships/notesSlide"/><Relationship Id="rId41" Target="notesSlides/notesSlide14.xml" Type="http://schemas.openxmlformats.org/officeDocument/2006/relationships/notesSlide"/><Relationship Id="rId42" Target="notesSlides/notesSlide15.xml" Type="http://schemas.openxmlformats.org/officeDocument/2006/relationships/notesSlide"/><Relationship Id="rId43" Target="notesSlides/notesSlide16.xml" Type="http://schemas.openxmlformats.org/officeDocument/2006/relationships/notesSlid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Yapay zekânın yalnızca robotlardan ibaret olmadığını; matematik, mantık, bilgisayar bilimi, veri ve donanımın birlikte ilerlemesiyle oluştuğunu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Babbage ve Lovelace’i doğrudan yapay zekânın mucitleri olarak tanımlamayın; programlanabilir hesaplama fikrine yaptıkları temel katkıyı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Biyolojik nöronların sinyal alıp ilettiğini basitçe açıklayın. Yapay nöronun beynin tam kopyası değil, işlevden esinlenen matematiksel bir model olduğunu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Turing’in 1950 makalesinde 'Makineler düşünebilir mi?' sorusunu ölçülebilir bir davranış problemine çevirdiğini; testin bilinç ya da gerçek anlayışı kanıtlamadığını açıklayın.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1956 çalıştayının yapay zekâyı ayrı bir araştırma alanı olarak görünür kıldığını; farklı araştırmacıların ortak sorular etrafında buluştuğunu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Perceptronda ağırlıkların örneklere göre ayarlandığını; ELIZA’nın ise kalıp ve dönüşüm kuralları kullandığını açıklayın. ELIZA’yı modern dil modelleriyle eşitlemeyin.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Bilimsel ilerlemenin düz bir çizgi olmadığını anlatın. Beklentiler, donanım ve veri kapasitesini aştığında finansman ve ilginin azaldığını; uzman sistemlerin dar alanlarda değer ürettiğini belirtin.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Satranç gibi kuralları ve hedefi açık problemlerde çok sayıda olasılığın değerlendirilebildiğini açıklayın. Bu başarının genel zekâ anlamına gelmediğini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Algoritmaların tek başına yeterli olmadığını vurgulayın: internet veriyi, güçlü işlemciler hesaplama hızını, depolama sistemleri ise büyük veri kümelerini kullanılabilir kıldı.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Derin öğrenmeyi, çok katmanlı sinir ağlarının örneklerden özellik öğrenmesi olarak tanımlayın. 2012’nin icat tarihi değil; önceki fikirlerin büyük veri ve GPU ile güçlü sonuç verdiği dönüm noktası olduğunu belirtin.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Pekiştirmeli öğrenmeyi, doğru hamlelerin ödül; başarısızların geri bildirim sağladığı deneme-yanılma süreciyle açıklayın. AlphaGo’nun sinir ağlarını ağaç aramasıyla birleştirdiğini belirtin.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Attention mekanizmasını, cümledeki her kelimenin diğer önemli kelimelere bakması gibi açıklayın. Transformer’ın yapay zekânın tamamı değil, belirli bir sinir ağı mimarisi olduğunu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Büyük dil modellerinin çok büyük metin koleksiyonlarında sonraki parçayı tahmin etmeyi öğrenerek metin ürettiğini açıklayın. 2022’nin başlangıç değil, uzun araştırma zincirinin görünür hâle geldiği dönem olduğunu vurgulayın.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Çok modlu sistemlerin farklı veri türlerini birlikte işlediğini açıklayın. Sağlık, eğitim, tarım ve çevre örneklerinde yarar kadar güvenlik, adalet, gizlilik ve insan denetimini tartışın; geleceğin kesin olmadığını belirtin.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Dönüm noktalarını neden-sonuç zinciri olarak tekrar edin: hesaplama fikri → matematiksel modeller → araştırma alanı → veri ve donanım ölçeği → derin öğrenme → üretken ve çok modlu sistemler.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Soruları ezber testi gibi değil, neden-sonuç tartışması olarak kullanın. Öğrencilerden cevaplarını tarihsel kanıtlarla gerekçelendirmelerini isteyin; farklı doğru açıklamalara alan açın.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6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3.xml" Type="http://schemas.openxmlformats.org/officeDocument/2006/relationships/notesSlide"/><Relationship Id="rId3" Target="../media/image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6.xml" Type="http://schemas.openxmlformats.org/officeDocument/2006/relationships/notesSlid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B33">
                <a:alpha val="61961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38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914400" y="1066800"/>
            <a:ext cx="1619250" cy="95250"/>
            <a:chOff x="0" y="0"/>
            <a:chExt cx="2159000" cy="127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159000" cy="127000"/>
            </a:xfrm>
            <a:custGeom>
              <a:avLst/>
              <a:gdLst/>
              <a:ahLst/>
              <a:cxnLst/>
              <a:rect r="r" b="b" t="t" l="l"/>
              <a:pathLst>
                <a:path h="127000" w="2159000">
                  <a:moveTo>
                    <a:pt x="0" y="0"/>
                  </a:moveTo>
                  <a:lnTo>
                    <a:pt x="2159000" y="0"/>
                  </a:lnTo>
                  <a:lnTo>
                    <a:pt x="2159000" y="127000"/>
                  </a:lnTo>
                  <a:lnTo>
                    <a:pt x="0" y="127000"/>
                  </a:ln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159000" cy="165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1628775"/>
            <a:ext cx="11715750" cy="19053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31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Yapay Zekânın</a:t>
            </a:r>
          </a:p>
          <a:p>
            <a:pPr algn="l">
              <a:lnSpc>
                <a:spcPts val="7331"/>
              </a:lnSpc>
            </a:pPr>
            <a:r>
              <a:rPr lang="en-US" sz="780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Tarihsel Gelişimi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3705225"/>
            <a:ext cx="10668000" cy="3933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87"/>
              </a:lnSpc>
            </a:pPr>
            <a:r>
              <a:rPr lang="en-US" sz="255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Matematiksel fikirlerden öğrenen makinelere ve üretken yapay zekâya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5810250"/>
            <a:ext cx="9334500" cy="329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66"/>
              </a:lnSpc>
            </a:pPr>
            <a:r>
              <a:rPr lang="en-US" sz="2175" b="true">
                <a:solidFill>
                  <a:srgbClr val="F4C95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Bilgisayarların insan gibi düşünebilmesi fikri ne zaman ortaya çıktı?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4382750" y="7962900"/>
            <a:ext cx="2857500" cy="281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310"/>
              </a:lnSpc>
            </a:pPr>
            <a:r>
              <a:rPr lang="en-US" sz="1650" i="true">
                <a:solidFill>
                  <a:srgbClr val="FFFFFF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Temsili zaman panoraması</a:t>
            </a:r>
          </a:p>
        </p:txBody>
      </p:sp>
      <p:grpSp>
        <p:nvGrpSpPr>
          <p:cNvPr name="Group 13" id="13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14" id="14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5" id="15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330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6" id="16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7" id="17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Sizce bilgisayarlar insan gibi düşünebilir mi? Neden?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733425"/>
            <a:ext cx="8953500" cy="12058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80"/>
              </a:lnSpc>
            </a:pPr>
            <a:r>
              <a:rPr lang="en-US" sz="450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Babbage ve Lovelace:</a:t>
            </a:r>
          </a:p>
          <a:p>
            <a:pPr algn="l">
              <a:lnSpc>
                <a:spcPts val="4680"/>
              </a:lnSpc>
            </a:pPr>
            <a:r>
              <a:rPr lang="en-US" sz="450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programlanabilir makine fikri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457450"/>
            <a:ext cx="8382000" cy="101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Charles Babbage (1791–1871), Analitik Makine ile genel amaçlı hesaplama tasarladı. Ada Lovelace (1815–1852), makinenin izleyeceği işlem adımlarını notlarında açıkladı.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14400" y="4810125"/>
            <a:ext cx="7429500" cy="38100"/>
            <a:chOff x="0" y="0"/>
            <a:chExt cx="9906000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9906000" cy="50800"/>
            </a:xfrm>
            <a:custGeom>
              <a:avLst/>
              <a:gdLst/>
              <a:ahLst/>
              <a:cxnLst/>
              <a:rect r="r" b="b" t="t" l="l"/>
              <a:pathLst>
                <a:path h="50800" w="9906000">
                  <a:moveTo>
                    <a:pt x="0" y="0"/>
                  </a:moveTo>
                  <a:lnTo>
                    <a:pt x="9906000" y="0"/>
                  </a:lnTo>
                  <a:lnTo>
                    <a:pt x="9906000" y="50800"/>
                  </a:lnTo>
                  <a:lnTo>
                    <a:pt x="0" y="50800"/>
                  </a:ln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9906000" cy="88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914400" y="5000625"/>
            <a:ext cx="20955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2388D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Ana fikir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476875"/>
            <a:ext cx="8382000" cy="1221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94"/>
              </a:lnSpc>
            </a:pPr>
            <a:r>
              <a:rPr lang="en-US" sz="2700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Önce makinelerin hesaplaması ve talimat izlemesi mümkün hâle geldi; yapay zekâ daha sonra bu temel üzerine kuruldu.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0668000" y="0"/>
            <a:ext cx="7620000" cy="7810500"/>
          </a:xfrm>
          <a:custGeom>
            <a:avLst/>
            <a:gdLst/>
            <a:ahLst/>
            <a:cxnLst/>
            <a:rect r="r" b="b" t="t" l="l"/>
            <a:pathLst>
              <a:path h="7810500" w="7620000">
                <a:moveTo>
                  <a:pt x="0" y="0"/>
                </a:moveTo>
                <a:lnTo>
                  <a:pt x="7620000" y="0"/>
                </a:lnTo>
                <a:lnTo>
                  <a:pt x="7620000" y="7810500"/>
                </a:lnTo>
                <a:lnTo>
                  <a:pt x="0" y="78105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31" r="0" b="-31"/>
            </a:stretch>
          </a:blipFill>
          <a:ln cap="sq">
            <a:noFill/>
            <a:prstDash val="solid"/>
            <a:miter/>
          </a:ln>
        </p:spPr>
      </p:sp>
      <p:sp>
        <p:nvSpPr>
          <p:cNvPr name="TextBox 10" id="10"/>
          <p:cNvSpPr txBox="true"/>
          <p:nvPr/>
        </p:nvSpPr>
        <p:spPr>
          <a:xfrm rot="0">
            <a:off x="11620500" y="7953375"/>
            <a:ext cx="5715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i="true">
                <a:solidFill>
                  <a:srgbClr val="66768A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Temsili yeniden canlandırma • tarihsel fotoğraf değildir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Bu çalışmalar bugünkü bilgisayarlarla nasıl bağlantılı olabilir?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076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90"/>
              </a:lnSpc>
            </a:pPr>
            <a:r>
              <a:rPr lang="en-US" sz="450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1943 — Beyinden esinlenen matematiksel model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333500" y="2057400"/>
            <a:ext cx="5334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2388D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BİYOLOJİK NÖRON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525250" y="2057400"/>
            <a:ext cx="4953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NÖRON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3524250" y="3714750"/>
            <a:ext cx="1619250" cy="1619250"/>
            <a:chOff x="0" y="0"/>
            <a:chExt cx="2159000" cy="21590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59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159000">
                  <a:moveTo>
                    <a:pt x="1079500" y="0"/>
                  </a:moveTo>
                  <a:cubicBezTo>
                    <a:pt x="1675691" y="0"/>
                    <a:pt x="2159000" y="483309"/>
                    <a:pt x="2159000" y="1079500"/>
                  </a:cubicBezTo>
                  <a:cubicBezTo>
                    <a:pt x="2159000" y="1675691"/>
                    <a:pt x="1675691" y="2159000"/>
                    <a:pt x="1079500" y="2159000"/>
                  </a:cubicBezTo>
                  <a:cubicBezTo>
                    <a:pt x="483309" y="2159000"/>
                    <a:pt x="0" y="1675691"/>
                    <a:pt x="0" y="1079500"/>
                  </a:cubicBezTo>
                  <a:cubicBezTo>
                    <a:pt x="0" y="483309"/>
                    <a:pt x="483309" y="0"/>
                    <a:pt x="1079500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2159000" cy="21875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hücre</a:t>
              </a:r>
            </a:p>
            <a:p>
              <a:pPr algn="ctr">
                <a:lnSpc>
                  <a:spcPts val="2520"/>
                </a:lnSpc>
              </a:pPr>
              <a:r>
                <a:rPr lang="en-US" sz="18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gövdesi</a:t>
              </a:r>
            </a:p>
          </p:txBody>
        </p:sp>
      </p:grpSp>
      <p:sp>
        <p:nvSpPr>
          <p:cNvPr name="AutoShape 8" id="8"/>
          <p:cNvSpPr/>
          <p:nvPr/>
        </p:nvSpPr>
        <p:spPr>
          <a:xfrm>
            <a:off x="5143500" y="4524375"/>
            <a:ext cx="2095500" cy="0"/>
          </a:xfrm>
          <a:prstGeom prst="line">
            <a:avLst/>
          </a:prstGeom>
          <a:ln cap="rnd" w="85725">
            <a:solidFill>
              <a:srgbClr val="2388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9" id="9"/>
          <p:cNvGrpSpPr/>
          <p:nvPr/>
        </p:nvGrpSpPr>
        <p:grpSpPr>
          <a:xfrm rot="0">
            <a:off x="9334500" y="3190875"/>
            <a:ext cx="1809750" cy="714375"/>
            <a:chOff x="0" y="0"/>
            <a:chExt cx="2413000" cy="9525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13000" cy="952500"/>
            </a:xfrm>
            <a:custGeom>
              <a:avLst/>
              <a:gdLst/>
              <a:ahLst/>
              <a:cxnLst/>
              <a:rect r="r" b="b" t="t" l="l"/>
              <a:pathLst>
                <a:path h="952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832184"/>
                  </a:lnTo>
                  <a:cubicBezTo>
                    <a:pt x="2413000" y="864094"/>
                    <a:pt x="2400324" y="894697"/>
                    <a:pt x="2377760" y="917260"/>
                  </a:cubicBezTo>
                  <a:cubicBezTo>
                    <a:pt x="2355197" y="939824"/>
                    <a:pt x="2324594" y="952500"/>
                    <a:pt x="2292684" y="952500"/>
                  </a:cubicBezTo>
                  <a:lnTo>
                    <a:pt x="120316" y="952500"/>
                  </a:lnTo>
                  <a:cubicBezTo>
                    <a:pt x="88406" y="952500"/>
                    <a:pt x="57803" y="939824"/>
                    <a:pt x="35240" y="917260"/>
                  </a:cubicBezTo>
                  <a:cubicBezTo>
                    <a:pt x="12676" y="894697"/>
                    <a:pt x="0" y="864094"/>
                    <a:pt x="0" y="832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9525"/>
              <a:ext cx="2413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girdi 1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9334500" y="4286250"/>
            <a:ext cx="1809750" cy="714375"/>
            <a:chOff x="0" y="0"/>
            <a:chExt cx="2413000" cy="9525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413000" cy="952500"/>
            </a:xfrm>
            <a:custGeom>
              <a:avLst/>
              <a:gdLst/>
              <a:ahLst/>
              <a:cxnLst/>
              <a:rect r="r" b="b" t="t" l="l"/>
              <a:pathLst>
                <a:path h="952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832184"/>
                  </a:lnTo>
                  <a:cubicBezTo>
                    <a:pt x="2413000" y="864094"/>
                    <a:pt x="2400324" y="894697"/>
                    <a:pt x="2377760" y="917260"/>
                  </a:cubicBezTo>
                  <a:cubicBezTo>
                    <a:pt x="2355197" y="939824"/>
                    <a:pt x="2324594" y="952500"/>
                    <a:pt x="2292684" y="952500"/>
                  </a:cubicBezTo>
                  <a:lnTo>
                    <a:pt x="120316" y="952500"/>
                  </a:lnTo>
                  <a:cubicBezTo>
                    <a:pt x="88406" y="952500"/>
                    <a:pt x="57803" y="939824"/>
                    <a:pt x="35240" y="917260"/>
                  </a:cubicBezTo>
                  <a:cubicBezTo>
                    <a:pt x="12676" y="894697"/>
                    <a:pt x="0" y="864094"/>
                    <a:pt x="0" y="832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9525"/>
              <a:ext cx="2413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girdi 2</a:t>
              </a: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334500" y="5381625"/>
            <a:ext cx="1809750" cy="714375"/>
            <a:chOff x="0" y="0"/>
            <a:chExt cx="2413000" cy="9525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2413000" cy="952500"/>
            </a:xfrm>
            <a:custGeom>
              <a:avLst/>
              <a:gdLst/>
              <a:ahLst/>
              <a:cxnLst/>
              <a:rect r="r" b="b" t="t" l="l"/>
              <a:pathLst>
                <a:path h="952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832184"/>
                  </a:lnTo>
                  <a:cubicBezTo>
                    <a:pt x="2413000" y="864094"/>
                    <a:pt x="2400324" y="894697"/>
                    <a:pt x="2377760" y="917260"/>
                  </a:cubicBezTo>
                  <a:cubicBezTo>
                    <a:pt x="2355197" y="939824"/>
                    <a:pt x="2324594" y="952500"/>
                    <a:pt x="2292684" y="952500"/>
                  </a:cubicBezTo>
                  <a:lnTo>
                    <a:pt x="120316" y="952500"/>
                  </a:lnTo>
                  <a:cubicBezTo>
                    <a:pt x="88406" y="952500"/>
                    <a:pt x="57803" y="939824"/>
                    <a:pt x="35240" y="917260"/>
                  </a:cubicBezTo>
                  <a:cubicBezTo>
                    <a:pt x="12676" y="894697"/>
                    <a:pt x="0" y="864094"/>
                    <a:pt x="0" y="832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9525"/>
              <a:ext cx="2413000" cy="942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girdi 3</a:t>
              </a:r>
            </a:p>
          </p:txBody>
        </p:sp>
      </p:grpSp>
      <p:grpSp>
        <p:nvGrpSpPr>
          <p:cNvPr name="Group 18" id="18"/>
          <p:cNvGrpSpPr/>
          <p:nvPr/>
        </p:nvGrpSpPr>
        <p:grpSpPr>
          <a:xfrm rot="0">
            <a:off x="11811000" y="3571875"/>
            <a:ext cx="1809750" cy="1571625"/>
            <a:chOff x="0" y="0"/>
            <a:chExt cx="2413000" cy="20955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413000" cy="2095500"/>
            </a:xfrm>
            <a:custGeom>
              <a:avLst/>
              <a:gdLst/>
              <a:ahLst/>
              <a:cxnLst/>
              <a:rect r="r" b="b" t="t" l="l"/>
              <a:pathLst>
                <a:path h="2095500" w="2413000">
                  <a:moveTo>
                    <a:pt x="120316" y="0"/>
                  </a:moveTo>
                  <a:lnTo>
                    <a:pt x="2292684" y="0"/>
                  </a:lnTo>
                  <a:cubicBezTo>
                    <a:pt x="2324594" y="0"/>
                    <a:pt x="2355197" y="12676"/>
                    <a:pt x="2377760" y="35240"/>
                  </a:cubicBezTo>
                  <a:cubicBezTo>
                    <a:pt x="2400324" y="57803"/>
                    <a:pt x="2413000" y="88406"/>
                    <a:pt x="2413000" y="120316"/>
                  </a:cubicBezTo>
                  <a:lnTo>
                    <a:pt x="2413000" y="1975184"/>
                  </a:lnTo>
                  <a:cubicBezTo>
                    <a:pt x="2413000" y="2007094"/>
                    <a:pt x="2400324" y="2037697"/>
                    <a:pt x="2377760" y="2060260"/>
                  </a:cubicBezTo>
                  <a:cubicBezTo>
                    <a:pt x="2355197" y="2082824"/>
                    <a:pt x="2324594" y="2095500"/>
                    <a:pt x="2292684" y="2095500"/>
                  </a:cubicBezTo>
                  <a:lnTo>
                    <a:pt x="120316" y="2095500"/>
                  </a:lnTo>
                  <a:cubicBezTo>
                    <a:pt x="88406" y="2095500"/>
                    <a:pt x="57803" y="2082824"/>
                    <a:pt x="35240" y="2060260"/>
                  </a:cubicBezTo>
                  <a:cubicBezTo>
                    <a:pt x="12676" y="2037697"/>
                    <a:pt x="0" y="2007094"/>
                    <a:pt x="0" y="1975184"/>
                  </a:cubicBezTo>
                  <a:lnTo>
                    <a:pt x="0" y="120316"/>
                  </a:lnTo>
                  <a:cubicBezTo>
                    <a:pt x="0" y="88406"/>
                    <a:pt x="12676" y="57803"/>
                    <a:pt x="35240" y="35240"/>
                  </a:cubicBezTo>
                  <a:cubicBezTo>
                    <a:pt x="57803" y="12676"/>
                    <a:pt x="88406" y="0"/>
                    <a:pt x="120316" y="0"/>
                  </a:cubicBez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9525"/>
              <a:ext cx="2413000" cy="2085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ağırlıklı</a:t>
              </a:r>
            </a:p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toplam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>
            <a:off x="11144250" y="3543300"/>
            <a:ext cx="666750" cy="552450"/>
          </a:xfrm>
          <a:prstGeom prst="line">
            <a:avLst/>
          </a:prstGeom>
          <a:ln cap="flat" w="38100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 flipV="true">
            <a:off x="11144250" y="4429125"/>
            <a:ext cx="666750" cy="209550"/>
          </a:xfrm>
          <a:prstGeom prst="line">
            <a:avLst/>
          </a:prstGeom>
          <a:ln cap="flat" w="38100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 flipV="true">
            <a:off x="11144250" y="4762500"/>
            <a:ext cx="666750" cy="971550"/>
          </a:xfrm>
          <a:prstGeom prst="line">
            <a:avLst/>
          </a:prstGeom>
          <a:ln cap="flat" w="38100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13620750" y="4352925"/>
            <a:ext cx="952500" cy="0"/>
          </a:xfrm>
          <a:prstGeom prst="line">
            <a:avLst/>
          </a:prstGeom>
          <a:ln cap="flat" w="47625">
            <a:solidFill>
              <a:srgbClr val="2AA8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5" id="25"/>
          <p:cNvSpPr txBox="true"/>
          <p:nvPr/>
        </p:nvSpPr>
        <p:spPr>
          <a:xfrm rot="0">
            <a:off x="3238500" y="6848475"/>
            <a:ext cx="11811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10"/>
              </a:lnSpc>
            </a:pPr>
            <a:r>
              <a:rPr lang="en-US" sz="2175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Yapay nöron: Girdileri ağırlıklarla birleştirip basit bir çıktı üreten matematiksel model.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7" id="27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8" id="28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9" id="29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0" id="30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Sinir hücrelerini taklit etmek yapay zekâ için neden önemli olabilir?</a:t>
              </a: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668000" y="0"/>
            <a:ext cx="7620000" cy="10287000"/>
          </a:xfrm>
          <a:custGeom>
            <a:avLst/>
            <a:gdLst/>
            <a:ahLst/>
            <a:cxnLst/>
            <a:rect r="r" b="b" t="t" l="l"/>
            <a:pathLst>
              <a:path h="10287000" w="7620000">
                <a:moveTo>
                  <a:pt x="0" y="0"/>
                </a:moveTo>
                <a:lnTo>
                  <a:pt x="7620000" y="0"/>
                </a:lnTo>
                <a:lnTo>
                  <a:pt x="7620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1906250" cy="10287000"/>
            <a:chOff x="0" y="0"/>
            <a:chExt cx="15875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5875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5875000">
                  <a:moveTo>
                    <a:pt x="0" y="0"/>
                  </a:moveTo>
                  <a:lnTo>
                    <a:pt x="15875000" y="0"/>
                  </a:lnTo>
                  <a:lnTo>
                    <a:pt x="15875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B33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5875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923925"/>
            <a:ext cx="8572500" cy="124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1950 — “Makineler</a:t>
            </a:r>
          </a:p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düşünebilir mi?”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933700"/>
            <a:ext cx="8382000" cy="101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Alan Turing, “Computing Machinery and Intelligence” makalesinde Taklit Oyunu’nu önerdi: Bir sorgulayıcı, yalnızca yazılı mesajlara bakarak insanı makineden ayırabilir mi?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667375"/>
            <a:ext cx="15240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F0644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SINIR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6143625"/>
            <a:ext cx="8096250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00"/>
              </a:lnSpc>
            </a:pPr>
            <a:r>
              <a:rPr lang="en-US" sz="1500" b="true">
                <a:solidFill>
                  <a:srgbClr val="F0644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Test, insan benzeri iletişimi ölçer; bilinçli olmayı ya da gerçekten anlamayı kanıtlamaz.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4287500" y="7877175"/>
            <a:ext cx="28575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i="true">
                <a:solidFill>
                  <a:srgbClr val="FFFFFF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Temsili tarihsel portre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330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Bir makinenin insan gibi düşünüp düşünmediğini nasıl anlayabiliriz?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1956 — Yapay zekâ bir araştırma alanı oluyor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2257425"/>
            <a:ext cx="7620000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90"/>
              </a:lnSpc>
            </a:pPr>
            <a:r>
              <a:rPr lang="en-US" sz="4350" b="true">
                <a:solidFill>
                  <a:srgbClr val="2388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“artificial intelligence”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14400" y="3171825"/>
            <a:ext cx="7429500" cy="101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John McCarthy terimi önerdi; Marvin Minsky, Claude Shannon ve Nathaniel Rochester projenin önemli katılımcılarıydı.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14400" y="5048250"/>
            <a:ext cx="2857500" cy="333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25"/>
              </a:lnSpc>
            </a:pPr>
            <a:r>
              <a:rPr lang="en-US" sz="1875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Ortak hedef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14400" y="5534025"/>
            <a:ext cx="7620000" cy="3881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18"/>
              </a:lnSpc>
            </a:pPr>
            <a:r>
              <a:rPr lang="en-US" sz="2625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Öğrenme • akıl yürütme • problem çözme • dil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9906000" y="2190750"/>
            <a:ext cx="7429500" cy="5238750"/>
          </a:xfrm>
          <a:custGeom>
            <a:avLst/>
            <a:gdLst/>
            <a:ahLst/>
            <a:cxnLst/>
            <a:rect r="r" b="b" t="t" l="l"/>
            <a:pathLst>
              <a:path h="5238750" w="7429500">
                <a:moveTo>
                  <a:pt x="0" y="0"/>
                </a:moveTo>
                <a:lnTo>
                  <a:pt x="7429500" y="0"/>
                </a:lnTo>
                <a:lnTo>
                  <a:pt x="7429500" y="5238750"/>
                </a:lnTo>
                <a:lnTo>
                  <a:pt x="0" y="52387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9" t="0" r="-9" b="0"/>
            </a:stretch>
          </a:blipFill>
          <a:ln cap="rnd">
            <a:noFill/>
            <a:prstDash val="solid"/>
            <a:round/>
          </a:ln>
        </p:spPr>
      </p:sp>
      <p:sp>
        <p:nvSpPr>
          <p:cNvPr name="TextBox 8" id="8"/>
          <p:cNvSpPr txBox="true"/>
          <p:nvPr/>
        </p:nvSpPr>
        <p:spPr>
          <a:xfrm rot="0">
            <a:off x="13811250" y="7591425"/>
            <a:ext cx="342900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i="true">
                <a:solidFill>
                  <a:srgbClr val="66768A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Temsili çalıştay sahnesi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10" id="10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1" id="11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2" id="12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3" id="13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Araştırmaların ayrı bir alan olarak başlaması neden önemliydi?</a:t>
              </a: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1950’ler–1960’lar — İki farklı yol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143125"/>
            <a:ext cx="7886700" cy="5429250"/>
            <a:chOff x="0" y="0"/>
            <a:chExt cx="10515600" cy="7239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10515600" cy="7239000"/>
              <a:chOff x="0" y="0"/>
              <a:chExt cx="10515600" cy="7239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05156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515600">
                    <a:moveTo>
                      <a:pt x="0" y="0"/>
                    </a:moveTo>
                    <a:lnTo>
                      <a:pt x="10515600" y="0"/>
                    </a:lnTo>
                    <a:lnTo>
                      <a:pt x="105156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2AA876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105156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609600" y="568325"/>
              <a:ext cx="9271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2AA87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PERCEPTRON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609600" y="3073400"/>
              <a:ext cx="9271000" cy="19640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Frank Rosenblatt • 1957–1958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Girdilere ağırlık verir, örüntüleri iki sınıfa ayırmayı öğrenir. Tek katmanlı yapı karmaşık sorunlarda sınırlıdır.</a:t>
              </a:r>
            </a:p>
          </p:txBody>
        </p:sp>
        <p:grpSp>
          <p:nvGrpSpPr>
            <p:cNvPr name="Group 9" id="9"/>
            <p:cNvGrpSpPr/>
            <p:nvPr/>
          </p:nvGrpSpPr>
          <p:grpSpPr>
            <a:xfrm rot="0">
              <a:off x="609600" y="1778000"/>
              <a:ext cx="9271000" cy="939800"/>
              <a:chOff x="0" y="0"/>
              <a:chExt cx="9271000" cy="9398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92710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9271000">
                    <a:moveTo>
                      <a:pt x="31315" y="0"/>
                    </a:moveTo>
                    <a:lnTo>
                      <a:pt x="9239685" y="0"/>
                    </a:lnTo>
                    <a:cubicBezTo>
                      <a:pt x="9247991" y="0"/>
                      <a:pt x="9255955" y="3299"/>
                      <a:pt x="9261828" y="9172"/>
                    </a:cubicBezTo>
                    <a:cubicBezTo>
                      <a:pt x="9267701" y="15045"/>
                      <a:pt x="9271000" y="23010"/>
                      <a:pt x="9271000" y="31315"/>
                    </a:cubicBezTo>
                    <a:lnTo>
                      <a:pt x="9271000" y="908485"/>
                    </a:lnTo>
                    <a:cubicBezTo>
                      <a:pt x="9271000" y="916790"/>
                      <a:pt x="9267701" y="924755"/>
                      <a:pt x="9261828" y="930628"/>
                    </a:cubicBezTo>
                    <a:cubicBezTo>
                      <a:pt x="9255955" y="936501"/>
                      <a:pt x="9247991" y="939800"/>
                      <a:pt x="9239685" y="939800"/>
                    </a:cubicBezTo>
                    <a:lnTo>
                      <a:pt x="31315" y="939800"/>
                    </a:lnTo>
                    <a:cubicBezTo>
                      <a:pt x="23010" y="939800"/>
                      <a:pt x="15045" y="936501"/>
                      <a:pt x="9172" y="930628"/>
                    </a:cubicBezTo>
                    <a:cubicBezTo>
                      <a:pt x="3299" y="924755"/>
                      <a:pt x="0" y="916790"/>
                      <a:pt x="0" y="908485"/>
                    </a:cubicBezTo>
                    <a:lnTo>
                      <a:pt x="0" y="31315"/>
                    </a:lnTo>
                    <a:cubicBezTo>
                      <a:pt x="0" y="23010"/>
                      <a:pt x="3299" y="15045"/>
                      <a:pt x="9172" y="9172"/>
                    </a:cubicBezTo>
                    <a:cubicBezTo>
                      <a:pt x="15045" y="3299"/>
                      <a:pt x="23010" y="0"/>
                      <a:pt x="31315" y="0"/>
                    </a:cubicBezTo>
                    <a:close/>
                  </a:path>
                </a:pathLst>
              </a:custGeom>
              <a:solidFill>
                <a:srgbClr val="2AA87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9525"/>
                <a:ext cx="9271000" cy="9302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45"/>
                  </a:lnSpc>
                </a:pPr>
                <a:r>
                  <a:rPr lang="en-US" sz="1950" b="true">
                    <a:solidFill>
                      <a:srgbClr val="FFFFF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girdi → ağırlık → çıktı</a:t>
                </a:r>
              </a:p>
            </p:txBody>
          </p:sp>
        </p:grpSp>
      </p:grpSp>
      <p:grpSp>
        <p:nvGrpSpPr>
          <p:cNvPr name="Group 12" id="12"/>
          <p:cNvGrpSpPr/>
          <p:nvPr/>
        </p:nvGrpSpPr>
        <p:grpSpPr>
          <a:xfrm rot="0">
            <a:off x="9486900" y="2143125"/>
            <a:ext cx="7886700" cy="5429250"/>
            <a:chOff x="0" y="0"/>
            <a:chExt cx="10515600" cy="7239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10515600" cy="7239000"/>
              <a:chOff x="0" y="0"/>
              <a:chExt cx="10515600" cy="7239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10515600" cy="7239000"/>
              </a:xfrm>
              <a:custGeom>
                <a:avLst/>
                <a:gdLst/>
                <a:ahLst/>
                <a:cxnLst/>
                <a:rect r="r" b="b" t="t" l="l"/>
                <a:pathLst>
                  <a:path h="7239000" w="10515600">
                    <a:moveTo>
                      <a:pt x="0" y="0"/>
                    </a:moveTo>
                    <a:lnTo>
                      <a:pt x="10515600" y="0"/>
                    </a:lnTo>
                    <a:lnTo>
                      <a:pt x="10515600" y="7239000"/>
                    </a:lnTo>
                    <a:lnTo>
                      <a:pt x="0" y="723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7756C9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10515600" cy="727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6" id="16"/>
            <p:cNvSpPr txBox="true"/>
            <p:nvPr/>
          </p:nvSpPr>
          <p:spPr>
            <a:xfrm rot="0">
              <a:off x="609600" y="568325"/>
              <a:ext cx="9271000" cy="7956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5040"/>
                </a:lnSpc>
              </a:pPr>
              <a:r>
                <a:rPr lang="en-US" sz="3600" b="true">
                  <a:solidFill>
                    <a:srgbClr val="7756C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ELIZA</a:t>
              </a:r>
            </a:p>
          </p:txBody>
        </p:sp>
        <p:sp>
          <p:nvSpPr>
            <p:cNvPr name="TextBox 17" id="17"/>
            <p:cNvSpPr txBox="true"/>
            <p:nvPr/>
          </p:nvSpPr>
          <p:spPr>
            <a:xfrm rot="0">
              <a:off x="609600" y="3073400"/>
              <a:ext cx="9271000" cy="14687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Joseph Weizenbaum • 1966</a:t>
              </a:r>
            </a:p>
            <a:p>
              <a:pPr algn="l">
                <a:lnSpc>
                  <a:spcPts val="2936"/>
                </a:lnSpc>
              </a:pPr>
              <a:r>
                <a:rPr lang="en-US" sz="217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Yazılı konuşmayı kalıp ve dönüşüm kurallarıyla taklit eder. Anlamaz; modern büyük dil modeli değildir.</a:t>
              </a:r>
            </a:p>
          </p:txBody>
        </p:sp>
        <p:grpSp>
          <p:nvGrpSpPr>
            <p:cNvPr name="Group 18" id="18"/>
            <p:cNvGrpSpPr/>
            <p:nvPr/>
          </p:nvGrpSpPr>
          <p:grpSpPr>
            <a:xfrm rot="0">
              <a:off x="609600" y="1778000"/>
              <a:ext cx="9271000" cy="939800"/>
              <a:chOff x="0" y="0"/>
              <a:chExt cx="9271000" cy="939800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9271000" cy="939800"/>
              </a:xfrm>
              <a:custGeom>
                <a:avLst/>
                <a:gdLst/>
                <a:ahLst/>
                <a:cxnLst/>
                <a:rect r="r" b="b" t="t" l="l"/>
                <a:pathLst>
                  <a:path h="939800" w="9271000">
                    <a:moveTo>
                      <a:pt x="31315" y="0"/>
                    </a:moveTo>
                    <a:lnTo>
                      <a:pt x="9239685" y="0"/>
                    </a:lnTo>
                    <a:cubicBezTo>
                      <a:pt x="9247991" y="0"/>
                      <a:pt x="9255955" y="3299"/>
                      <a:pt x="9261828" y="9172"/>
                    </a:cubicBezTo>
                    <a:cubicBezTo>
                      <a:pt x="9267701" y="15045"/>
                      <a:pt x="9271000" y="23010"/>
                      <a:pt x="9271000" y="31315"/>
                    </a:cubicBezTo>
                    <a:lnTo>
                      <a:pt x="9271000" y="908485"/>
                    </a:lnTo>
                    <a:cubicBezTo>
                      <a:pt x="9271000" y="916790"/>
                      <a:pt x="9267701" y="924755"/>
                      <a:pt x="9261828" y="930628"/>
                    </a:cubicBezTo>
                    <a:cubicBezTo>
                      <a:pt x="9255955" y="936501"/>
                      <a:pt x="9247991" y="939800"/>
                      <a:pt x="9239685" y="939800"/>
                    </a:cubicBezTo>
                    <a:lnTo>
                      <a:pt x="31315" y="939800"/>
                    </a:lnTo>
                    <a:cubicBezTo>
                      <a:pt x="23010" y="939800"/>
                      <a:pt x="15045" y="936501"/>
                      <a:pt x="9172" y="930628"/>
                    </a:cubicBezTo>
                    <a:cubicBezTo>
                      <a:pt x="3299" y="924755"/>
                      <a:pt x="0" y="916790"/>
                      <a:pt x="0" y="908485"/>
                    </a:cubicBezTo>
                    <a:lnTo>
                      <a:pt x="0" y="31315"/>
                    </a:lnTo>
                    <a:cubicBezTo>
                      <a:pt x="0" y="23010"/>
                      <a:pt x="3299" y="15045"/>
                      <a:pt x="9172" y="9172"/>
                    </a:cubicBezTo>
                    <a:cubicBezTo>
                      <a:pt x="15045" y="3299"/>
                      <a:pt x="23010" y="0"/>
                      <a:pt x="31315" y="0"/>
                    </a:cubicBezTo>
                    <a:close/>
                  </a:path>
                </a:pathLst>
              </a:custGeom>
              <a:solidFill>
                <a:srgbClr val="7756C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9525"/>
                <a:ext cx="9271000" cy="930275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ctr">
                  <a:lnSpc>
                    <a:spcPts val="2145"/>
                  </a:lnSpc>
                </a:pPr>
                <a:r>
                  <a:rPr lang="en-US" sz="1950" b="true">
                    <a:solidFill>
                      <a:srgbClr val="FFFFFF"/>
                    </a:solidFill>
                    <a:latin typeface="Nunito Sans Bold"/>
                    <a:ea typeface="Nunito Sans Bold"/>
                    <a:cs typeface="Nunito Sans Bold"/>
                    <a:sym typeface="Nunito Sans Bold"/>
                  </a:rPr>
                  <a:t>metin → kalıp → yanıt</a:t>
                </a:r>
              </a:p>
            </p:txBody>
          </p:sp>
        </p:grpSp>
      </p:grpSp>
      <p:grpSp>
        <p:nvGrpSpPr>
          <p:cNvPr name="Group 21" id="2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Bilgisayarların “öğrenmesi” sizce ne anlama gelir?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95325"/>
            <a:ext cx="14287500" cy="60940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66"/>
              </a:lnSpc>
            </a:pPr>
            <a:r>
              <a:rPr lang="en-US" sz="4575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1970’ler–1980’ler — İlerleme neden yavaşladı?</a:t>
            </a:r>
          </a:p>
        </p:txBody>
      </p:sp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29549" y="1453796"/>
            <a:ext cx="11889149" cy="6617409"/>
          </a:xfrm>
          <a:prstGeom prst="rect">
            <a:avLst/>
          </a:prstGeom>
        </p:spPr>
      </p:pic>
      <p:sp>
        <p:nvSpPr>
          <p:cNvPr name="TextBox 4" id="4"/>
          <p:cNvSpPr txBox="true"/>
          <p:nvPr/>
        </p:nvSpPr>
        <p:spPr>
          <a:xfrm rot="0">
            <a:off x="11811000" y="2514600"/>
            <a:ext cx="5334000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9"/>
              </a:lnSpc>
            </a:pPr>
            <a:r>
              <a:rPr lang="en-US" sz="3150" b="true">
                <a:solidFill>
                  <a:srgbClr val="F0644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YAPAY ZEKÂ KIŞI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811000" y="3267075"/>
            <a:ext cx="5334000" cy="13586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Finansman ve ilginin azaldığı dönem. Nedenler: sınırlı işlem gücü, az veri, yüksek beklenti ve gerçek dünyanın karmaşıklığı.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811000" y="5572125"/>
            <a:ext cx="5334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49"/>
              </a:lnSpc>
            </a:pPr>
            <a:r>
              <a:rPr lang="en-US" sz="2250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YEŞİL SÜRÜGÜN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811000" y="6096000"/>
            <a:ext cx="5334000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Uzman sistemler, belirli alanlarda insan bilgisini kurallar hâlinde kullandı.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330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Bir teknolojinin gelişmesi neden bazen yavaşlar veya durur?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8572500" cy="10287000"/>
          </a:xfrm>
          <a:custGeom>
            <a:avLst/>
            <a:gdLst/>
            <a:ahLst/>
            <a:cxnLst/>
            <a:rect r="r" b="b" t="t" l="l"/>
            <a:pathLst>
              <a:path h="10287000" w="8572500">
                <a:moveTo>
                  <a:pt x="0" y="0"/>
                </a:moveTo>
                <a:lnTo>
                  <a:pt x="8572500" y="0"/>
                </a:lnTo>
                <a:lnTo>
                  <a:pt x="85725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0" r="0" b="-50"/>
            </a:stretch>
          </a:blipFill>
          <a:ln cap="sq">
            <a:noFill/>
            <a:prstDash val="solid"/>
            <a:miter/>
          </a:ln>
        </p:spPr>
      </p:sp>
      <p:sp>
        <p:nvSpPr>
          <p:cNvPr name="TextBox 3" id="3"/>
          <p:cNvSpPr txBox="true"/>
          <p:nvPr/>
        </p:nvSpPr>
        <p:spPr>
          <a:xfrm rot="0">
            <a:off x="9620250" y="781050"/>
            <a:ext cx="7620000" cy="124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1996–1997 —</a:t>
            </a:r>
          </a:p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Satrançta tarihî başarı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9620250" y="2667000"/>
            <a:ext cx="21907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b="true">
                <a:solidFill>
                  <a:srgbClr val="F0644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1996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620250" y="3533775"/>
            <a:ext cx="523875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Kasparov maçı kazandı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9620250" y="4429125"/>
            <a:ext cx="2190750" cy="895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350"/>
              </a:lnSpc>
            </a:pPr>
            <a:r>
              <a:rPr lang="en-US" sz="5250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1997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620250" y="5295900"/>
            <a:ext cx="57150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Deep Blue rövanşı kazandı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620250" y="6438900"/>
            <a:ext cx="7334250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90"/>
              </a:lnSpc>
            </a:pPr>
            <a:r>
              <a:rPr lang="en-US" sz="2325" b="true">
                <a:solidFill>
                  <a:srgbClr val="2388D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Önemli ama sınırlı: Deep Blue, satranç konumlarını çok hızlı değerlendiren özel amaçlı bir sistemdi; genel zekâ değildi.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857750" y="7972425"/>
            <a:ext cx="29527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i="true">
                <a:solidFill>
                  <a:srgbClr val="FFFFFF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Temsili karşılaşma sahnesi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11" id="11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2" id="12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3" id="13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4" id="14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Satrançta insanı yenmek neden önemli ama aynı zamanda sınırlıdır?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97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02"/>
              </a:lnSpc>
            </a:pPr>
            <a:r>
              <a:rPr lang="en-US" sz="510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2000’ler — Üç güç aynı anda büyüdü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914400" y="2333625"/>
            <a:ext cx="4953000" cy="3524250"/>
            <a:chOff x="0" y="0"/>
            <a:chExt cx="6604000" cy="4699000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0" y="0"/>
              <a:ext cx="6604000" cy="4699000"/>
              <a:chOff x="0" y="0"/>
              <a:chExt cx="6604000" cy="4699000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6604000" cy="4699000"/>
              </a:xfrm>
              <a:custGeom>
                <a:avLst/>
                <a:gdLst/>
                <a:ahLst/>
                <a:cxnLst/>
                <a:rect r="r" b="b" t="t" l="l"/>
                <a:pathLst>
                  <a:path h="469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699000"/>
                    </a:lnTo>
                    <a:lnTo>
                      <a:pt x="0" y="469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2388D9"/>
                </a:solidFill>
                <a:prstDash val="solid"/>
                <a:miter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38100"/>
                <a:ext cx="6604000" cy="473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7" id="7"/>
            <p:cNvGrpSpPr/>
            <p:nvPr/>
          </p:nvGrpSpPr>
          <p:grpSpPr>
            <a:xfrm rot="0">
              <a:off x="2667000" y="317500"/>
              <a:ext cx="1270000" cy="1270000"/>
              <a:chOff x="0" y="0"/>
              <a:chExt cx="1270000" cy="1270000"/>
            </a:xfrm>
          </p:grpSpPr>
          <p:sp>
            <p:nvSpPr>
              <p:cNvPr name="Freeform 8" id="8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2388D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9" id="9"/>
              <p:cNvSpPr txBox="true"/>
              <p:nvPr/>
            </p:nvSpPr>
            <p:spPr>
              <a:xfrm>
                <a:off x="0" y="-38100"/>
                <a:ext cx="127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0" id="10"/>
            <p:cNvSpPr txBox="true"/>
            <p:nvPr/>
          </p:nvSpPr>
          <p:spPr>
            <a:xfrm rot="0">
              <a:off x="406400" y="1012825"/>
              <a:ext cx="6096000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b="true">
                  <a:solidFill>
                    <a:srgbClr val="2388D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VERİ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508000" y="2628900"/>
              <a:ext cx="58928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İnternet ve dijital içerik</a:t>
              </a: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6248400" y="2333625"/>
            <a:ext cx="4953000" cy="3524250"/>
            <a:chOff x="0" y="0"/>
            <a:chExt cx="6604000" cy="4699000"/>
          </a:xfrm>
        </p:grpSpPr>
        <p:grpSp>
          <p:nvGrpSpPr>
            <p:cNvPr name="Group 13" id="13"/>
            <p:cNvGrpSpPr/>
            <p:nvPr/>
          </p:nvGrpSpPr>
          <p:grpSpPr>
            <a:xfrm rot="0">
              <a:off x="0" y="0"/>
              <a:ext cx="6604000" cy="4699000"/>
              <a:chOff x="0" y="0"/>
              <a:chExt cx="6604000" cy="4699000"/>
            </a:xfrm>
          </p:grpSpPr>
          <p:sp>
            <p:nvSpPr>
              <p:cNvPr name="Freeform 14" id="14"/>
              <p:cNvSpPr/>
              <p:nvPr/>
            </p:nvSpPr>
            <p:spPr>
              <a:xfrm flipH="false" flipV="false" rot="0">
                <a:off x="0" y="0"/>
                <a:ext cx="6604000" cy="4699000"/>
              </a:xfrm>
              <a:custGeom>
                <a:avLst/>
                <a:gdLst/>
                <a:ahLst/>
                <a:cxnLst/>
                <a:rect r="r" b="b" t="t" l="l"/>
                <a:pathLst>
                  <a:path h="469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699000"/>
                    </a:lnTo>
                    <a:lnTo>
                      <a:pt x="0" y="469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2AA876"/>
                </a:solidFill>
                <a:prstDash val="solid"/>
                <a:miter/>
              </a:ln>
            </p:spPr>
          </p:sp>
          <p:sp>
            <p:nvSpPr>
              <p:cNvPr name="TextBox 15" id="15"/>
              <p:cNvSpPr txBox="true"/>
              <p:nvPr/>
            </p:nvSpPr>
            <p:spPr>
              <a:xfrm>
                <a:off x="0" y="-38100"/>
                <a:ext cx="6604000" cy="473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16" id="16"/>
            <p:cNvGrpSpPr/>
            <p:nvPr/>
          </p:nvGrpSpPr>
          <p:grpSpPr>
            <a:xfrm rot="0">
              <a:off x="2667000" y="317500"/>
              <a:ext cx="1270000" cy="1270000"/>
              <a:chOff x="0" y="0"/>
              <a:chExt cx="1270000" cy="1270000"/>
            </a:xfrm>
          </p:grpSpPr>
          <p:sp>
            <p:nvSpPr>
              <p:cNvPr name="Freeform 17" id="17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2AA876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8" id="18"/>
              <p:cNvSpPr txBox="true"/>
              <p:nvPr/>
            </p:nvSpPr>
            <p:spPr>
              <a:xfrm>
                <a:off x="0" y="-38100"/>
                <a:ext cx="127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9" id="19"/>
            <p:cNvSpPr txBox="true"/>
            <p:nvPr/>
          </p:nvSpPr>
          <p:spPr>
            <a:xfrm rot="0">
              <a:off x="406400" y="1012825"/>
              <a:ext cx="6096000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b="true">
                  <a:solidFill>
                    <a:srgbClr val="2AA876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DONANIM</a:t>
              </a:r>
            </a:p>
          </p:txBody>
        </p:sp>
        <p:sp>
          <p:nvSpPr>
            <p:cNvPr name="TextBox 20" id="20"/>
            <p:cNvSpPr txBox="true"/>
            <p:nvPr/>
          </p:nvSpPr>
          <p:spPr>
            <a:xfrm rot="0">
              <a:off x="508000" y="2628900"/>
              <a:ext cx="58928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Hızlı işlemci ve depolama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11582400" y="2333625"/>
            <a:ext cx="4953000" cy="3524250"/>
            <a:chOff x="0" y="0"/>
            <a:chExt cx="6604000" cy="46990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6604000" cy="4699000"/>
              <a:chOff x="0" y="0"/>
              <a:chExt cx="6604000" cy="46990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6604000" cy="4699000"/>
              </a:xfrm>
              <a:custGeom>
                <a:avLst/>
                <a:gdLst/>
                <a:ahLst/>
                <a:cxnLst/>
                <a:rect r="r" b="b" t="t" l="l"/>
                <a:pathLst>
                  <a:path h="4699000" w="6604000">
                    <a:moveTo>
                      <a:pt x="0" y="0"/>
                    </a:moveTo>
                    <a:lnTo>
                      <a:pt x="6604000" y="0"/>
                    </a:lnTo>
                    <a:lnTo>
                      <a:pt x="6604000" y="4699000"/>
                    </a:lnTo>
                    <a:lnTo>
                      <a:pt x="0" y="4699000"/>
                    </a:lnTo>
                    <a:close/>
                  </a:path>
                </a:pathLst>
              </a:custGeom>
              <a:solidFill>
                <a:srgbClr val="FFFFFF"/>
              </a:solidFill>
              <a:ln w="28575" cap="sq">
                <a:solidFill>
                  <a:srgbClr val="7756C9"/>
                </a:solidFill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6604000" cy="4737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grpSp>
          <p:nvGrpSpPr>
            <p:cNvPr name="Group 25" id="25"/>
            <p:cNvGrpSpPr/>
            <p:nvPr/>
          </p:nvGrpSpPr>
          <p:grpSpPr>
            <a:xfrm rot="0">
              <a:off x="2667000" y="317500"/>
              <a:ext cx="1270000" cy="1270000"/>
              <a:chOff x="0" y="0"/>
              <a:chExt cx="1270000" cy="12700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1270000" cy="1270000"/>
              </a:xfrm>
              <a:custGeom>
                <a:avLst/>
                <a:gdLst/>
                <a:ahLst/>
                <a:cxnLst/>
                <a:rect r="r" b="b" t="t" l="l"/>
                <a:pathLst>
                  <a:path h="1270000" w="1270000">
                    <a:moveTo>
                      <a:pt x="635000" y="0"/>
                    </a:moveTo>
                    <a:cubicBezTo>
                      <a:pt x="985701" y="0"/>
                      <a:pt x="1270000" y="284299"/>
                      <a:pt x="1270000" y="635000"/>
                    </a:cubicBezTo>
                    <a:cubicBezTo>
                      <a:pt x="1270000" y="985701"/>
                      <a:pt x="985701" y="1270000"/>
                      <a:pt x="635000" y="1270000"/>
                    </a:cubicBezTo>
                    <a:cubicBezTo>
                      <a:pt x="284299" y="1270000"/>
                      <a:pt x="0" y="985701"/>
                      <a:pt x="0" y="635000"/>
                    </a:cubicBezTo>
                    <a:cubicBezTo>
                      <a:pt x="0" y="284299"/>
                      <a:pt x="284299" y="0"/>
                      <a:pt x="635000" y="0"/>
                    </a:cubicBezTo>
                    <a:close/>
                  </a:path>
                </a:pathLst>
              </a:custGeom>
              <a:solidFill>
                <a:srgbClr val="7756C9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1270000" cy="13081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1012825"/>
              <a:ext cx="6096000" cy="7296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620"/>
                </a:lnSpc>
              </a:pPr>
              <a:r>
                <a:rPr lang="en-US" sz="3300" b="true">
                  <a:solidFill>
                    <a:srgbClr val="7756C9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ALGORİTMA</a:t>
              </a:r>
            </a:p>
          </p:txBody>
        </p:sp>
        <p:sp>
          <p:nvSpPr>
            <p:cNvPr name="TextBox 29" id="29"/>
            <p:cNvSpPr txBox="true"/>
            <p:nvPr/>
          </p:nvSpPr>
          <p:spPr>
            <a:xfrm rot="0">
              <a:off x="508000" y="2628900"/>
              <a:ext cx="5892800" cy="4394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35"/>
                </a:lnSpc>
              </a:pPr>
              <a:r>
                <a:rPr lang="en-US" sz="2025">
                  <a:solidFill>
                    <a:srgbClr val="12233B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Makine öğrenmesi yöntemleri</a:t>
              </a:r>
            </a:p>
          </p:txBody>
        </p:sp>
      </p:grpSp>
      <p:sp>
        <p:nvSpPr>
          <p:cNvPr name="TextBox 30" id="30"/>
          <p:cNvSpPr txBox="true"/>
          <p:nvPr/>
        </p:nvSpPr>
        <p:spPr>
          <a:xfrm rot="0">
            <a:off x="2857500" y="6629400"/>
            <a:ext cx="1257300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b="true">
                <a:solidFill>
                  <a:srgbClr val="18B7B1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Sonuç: görüntü tanıma, arama motorları ve öneri sistemleri günlük yaşama yayıldı.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32" id="3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33" id="3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34" id="3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35" id="3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Yapay zekâ neden yalnızca yazılıma değil, veri ve donanıma da bağlıdır?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2012 — AlexNet: eski fikir, yeni ölçekte başarı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2857500" y="2276475"/>
            <a:ext cx="12573000" cy="514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sz="3000" b="true">
                <a:solidFill>
                  <a:srgbClr val="F4C95D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GPU + büyük veri + çok katmanlı ağ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238250" y="3619500"/>
            <a:ext cx="2000250" cy="1619250"/>
            <a:chOff x="0" y="0"/>
            <a:chExt cx="2667000" cy="2159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667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2667000">
                  <a:moveTo>
                    <a:pt x="108857" y="0"/>
                  </a:moveTo>
                  <a:lnTo>
                    <a:pt x="2558143" y="0"/>
                  </a:lnTo>
                  <a:cubicBezTo>
                    <a:pt x="2587014" y="0"/>
                    <a:pt x="2614702" y="11469"/>
                    <a:pt x="2635116" y="31884"/>
                  </a:cubicBezTo>
                  <a:cubicBezTo>
                    <a:pt x="2655531" y="52298"/>
                    <a:pt x="2667000" y="79986"/>
                    <a:pt x="2667000" y="108857"/>
                  </a:cubicBezTo>
                  <a:lnTo>
                    <a:pt x="2667000" y="2050143"/>
                  </a:lnTo>
                  <a:cubicBezTo>
                    <a:pt x="2667000" y="2079014"/>
                    <a:pt x="2655531" y="2106702"/>
                    <a:pt x="2635116" y="2127116"/>
                  </a:cubicBezTo>
                  <a:cubicBezTo>
                    <a:pt x="2614702" y="2147531"/>
                    <a:pt x="2587014" y="2159000"/>
                    <a:pt x="2558143" y="2159000"/>
                  </a:cubicBezTo>
                  <a:lnTo>
                    <a:pt x="108857" y="2159000"/>
                  </a:lnTo>
                  <a:cubicBezTo>
                    <a:pt x="79986" y="2159000"/>
                    <a:pt x="52298" y="2147531"/>
                    <a:pt x="31884" y="2127116"/>
                  </a:cubicBezTo>
                  <a:cubicBezTo>
                    <a:pt x="11469" y="2106702"/>
                    <a:pt x="0" y="2079014"/>
                    <a:pt x="0" y="2050143"/>
                  </a:cubicBezTo>
                  <a:lnTo>
                    <a:pt x="0" y="108857"/>
                  </a:lnTo>
                  <a:cubicBezTo>
                    <a:pt x="0" y="79986"/>
                    <a:pt x="11469" y="52298"/>
                    <a:pt x="31884" y="31884"/>
                  </a:cubicBezTo>
                  <a:cubicBezTo>
                    <a:pt x="52298" y="11469"/>
                    <a:pt x="79986" y="0"/>
                    <a:pt x="108857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2667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Görüntü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3238500" y="4429125"/>
            <a:ext cx="952500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191000" y="3619500"/>
            <a:ext cx="2381250" cy="1619250"/>
            <a:chOff x="0" y="0"/>
            <a:chExt cx="3175000" cy="2159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175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175000">
                  <a:moveTo>
                    <a:pt x="91440" y="0"/>
                  </a:moveTo>
                  <a:lnTo>
                    <a:pt x="3083560" y="0"/>
                  </a:lnTo>
                  <a:cubicBezTo>
                    <a:pt x="3134061" y="0"/>
                    <a:pt x="3175000" y="40939"/>
                    <a:pt x="3175000" y="91440"/>
                  </a:cubicBezTo>
                  <a:lnTo>
                    <a:pt x="3175000" y="2067560"/>
                  </a:lnTo>
                  <a:cubicBezTo>
                    <a:pt x="3175000" y="2118061"/>
                    <a:pt x="3134061" y="2159000"/>
                    <a:pt x="3083560" y="2159000"/>
                  </a:cubicBezTo>
                  <a:lnTo>
                    <a:pt x="91440" y="2159000"/>
                  </a:lnTo>
                  <a:cubicBezTo>
                    <a:pt x="40939" y="2159000"/>
                    <a:pt x="0" y="2118061"/>
                    <a:pt x="0" y="2067560"/>
                  </a:cubicBezTo>
                  <a:lnTo>
                    <a:pt x="0" y="91440"/>
                  </a:lnTo>
                  <a:cubicBezTo>
                    <a:pt x="0" y="40939"/>
                    <a:pt x="40939" y="0"/>
                    <a:pt x="91440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175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Kenarlar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6572250" y="4429125"/>
            <a:ext cx="952500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7524750" y="3619500"/>
            <a:ext cx="2667000" cy="1619250"/>
            <a:chOff x="0" y="0"/>
            <a:chExt cx="3556000" cy="2159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Şekiller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0191750" y="4429125"/>
            <a:ext cx="952500" cy="0"/>
          </a:xfrm>
          <a:prstGeom prst="line">
            <a:avLst/>
          </a:prstGeom>
          <a:ln cap="flat" w="5715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1144250" y="3619500"/>
            <a:ext cx="2667000" cy="1619250"/>
            <a:chOff x="0" y="0"/>
            <a:chExt cx="3556000" cy="2159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556000" cy="2159000"/>
            </a:xfrm>
            <a:custGeom>
              <a:avLst/>
              <a:gdLst/>
              <a:ahLst/>
              <a:cxnLst/>
              <a:rect r="r" b="b" t="t" l="l"/>
              <a:pathLst>
                <a:path h="2159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2077357"/>
                  </a:lnTo>
                  <a:cubicBezTo>
                    <a:pt x="3556000" y="2122447"/>
                    <a:pt x="3519447" y="2159000"/>
                    <a:pt x="3474357" y="2159000"/>
                  </a:cubicBezTo>
                  <a:lnTo>
                    <a:pt x="81643" y="2159000"/>
                  </a:lnTo>
                  <a:cubicBezTo>
                    <a:pt x="36553" y="2159000"/>
                    <a:pt x="0" y="2122447"/>
                    <a:pt x="0" y="2077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556000" cy="2139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Nesne</a:t>
              </a:r>
            </a:p>
          </p:txBody>
        </p:sp>
      </p:grpSp>
      <p:sp>
        <p:nvSpPr>
          <p:cNvPr name="TextBox 19" id="19"/>
          <p:cNvSpPr txBox="true"/>
          <p:nvPr/>
        </p:nvSpPr>
        <p:spPr>
          <a:xfrm rot="0">
            <a:off x="2571750" y="6172200"/>
            <a:ext cx="13144500" cy="75152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022"/>
              </a:lnSpc>
            </a:pPr>
            <a:r>
              <a:rPr lang="en-US" sz="2325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ImageNet yarışmasındaki başarı, bilgisayarlı görüyü hızlandırdı. Alex Krizhevsky, Ilya Sutskever ve Geoffrey Hinton’ın çalışması önceki araştırmalar üzerine kuruldu.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330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Büyük veri ve güçlü işlemciler derin öğrenmeyi nasıl etkiler?</a:t>
              </a:r>
            </a:p>
          </p:txBody>
        </p:sp>
      </p:grp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2016 — AlphaGo: karmaşıklıkla başa çıkmak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1239500" y="1981200"/>
            <a:ext cx="590550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sz="3600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Lee Sedol’a karşı 4–1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143000" y="3048000"/>
            <a:ext cx="2857500" cy="1714500"/>
            <a:chOff x="0" y="0"/>
            <a:chExt cx="3810000" cy="228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209800"/>
                  </a:lnTo>
                  <a:cubicBezTo>
                    <a:pt x="3810000" y="2251884"/>
                    <a:pt x="3775884" y="2286000"/>
                    <a:pt x="373380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Konumu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incele</a:t>
              </a:r>
            </a:p>
          </p:txBody>
        </p:sp>
      </p:grpSp>
      <p:sp>
        <p:nvSpPr>
          <p:cNvPr name="AutoShape 7" id="7"/>
          <p:cNvSpPr/>
          <p:nvPr/>
        </p:nvSpPr>
        <p:spPr>
          <a:xfrm>
            <a:off x="4000500" y="3905250"/>
            <a:ext cx="762000" cy="0"/>
          </a:xfrm>
          <a:prstGeom prst="line">
            <a:avLst/>
          </a:prstGeom>
          <a:ln cap="flat" w="57150">
            <a:solidFill>
              <a:srgbClr val="1223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8" id="8"/>
          <p:cNvGrpSpPr/>
          <p:nvPr/>
        </p:nvGrpSpPr>
        <p:grpSpPr>
          <a:xfrm rot="0">
            <a:off x="4762500" y="3048000"/>
            <a:ext cx="2857500" cy="1714500"/>
            <a:chOff x="0" y="0"/>
            <a:chExt cx="3810000" cy="228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209800"/>
                  </a:lnTo>
                  <a:cubicBezTo>
                    <a:pt x="3810000" y="2251884"/>
                    <a:pt x="3775884" y="2286000"/>
                    <a:pt x="373380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Olası hamleleri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ara</a:t>
              </a:r>
            </a:p>
          </p:txBody>
        </p:sp>
      </p:grpSp>
      <p:sp>
        <p:nvSpPr>
          <p:cNvPr name="AutoShape 11" id="11"/>
          <p:cNvSpPr/>
          <p:nvPr/>
        </p:nvSpPr>
        <p:spPr>
          <a:xfrm>
            <a:off x="7620000" y="3905250"/>
            <a:ext cx="762000" cy="0"/>
          </a:xfrm>
          <a:prstGeom prst="line">
            <a:avLst/>
          </a:prstGeom>
          <a:ln cap="flat" w="57150">
            <a:solidFill>
              <a:srgbClr val="1223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2" id="12"/>
          <p:cNvGrpSpPr/>
          <p:nvPr/>
        </p:nvGrpSpPr>
        <p:grpSpPr>
          <a:xfrm rot="0">
            <a:off x="8382000" y="3048000"/>
            <a:ext cx="2857500" cy="1714500"/>
            <a:chOff x="0" y="0"/>
            <a:chExt cx="3810000" cy="2286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209800"/>
                  </a:lnTo>
                  <a:cubicBezTo>
                    <a:pt x="3810000" y="2251884"/>
                    <a:pt x="3775884" y="2286000"/>
                    <a:pt x="373380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4" id="14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Hamle yap</a:t>
              </a:r>
            </a:p>
          </p:txBody>
        </p:sp>
      </p:grpSp>
      <p:sp>
        <p:nvSpPr>
          <p:cNvPr name="AutoShape 15" id="15"/>
          <p:cNvSpPr/>
          <p:nvPr/>
        </p:nvSpPr>
        <p:spPr>
          <a:xfrm>
            <a:off x="11239500" y="3905250"/>
            <a:ext cx="762000" cy="0"/>
          </a:xfrm>
          <a:prstGeom prst="line">
            <a:avLst/>
          </a:prstGeom>
          <a:ln cap="flat" w="57150">
            <a:solidFill>
              <a:srgbClr val="12233B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6" id="16"/>
          <p:cNvGrpSpPr/>
          <p:nvPr/>
        </p:nvGrpSpPr>
        <p:grpSpPr>
          <a:xfrm rot="0">
            <a:off x="12001500" y="3048000"/>
            <a:ext cx="2857500" cy="1714500"/>
            <a:chOff x="0" y="0"/>
            <a:chExt cx="3810000" cy="22860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3810000" cy="2286000"/>
            </a:xfrm>
            <a:custGeom>
              <a:avLst/>
              <a:gdLst/>
              <a:ahLst/>
              <a:cxnLst/>
              <a:rect r="r" b="b" t="t" l="l"/>
              <a:pathLst>
                <a:path h="2286000" w="3810000">
                  <a:moveTo>
                    <a:pt x="76200" y="0"/>
                  </a:moveTo>
                  <a:lnTo>
                    <a:pt x="3733800" y="0"/>
                  </a:lnTo>
                  <a:cubicBezTo>
                    <a:pt x="3775884" y="0"/>
                    <a:pt x="3810000" y="34116"/>
                    <a:pt x="3810000" y="76200"/>
                  </a:cubicBezTo>
                  <a:lnTo>
                    <a:pt x="3810000" y="2209800"/>
                  </a:lnTo>
                  <a:cubicBezTo>
                    <a:pt x="3810000" y="2251884"/>
                    <a:pt x="3775884" y="2286000"/>
                    <a:pt x="3733800" y="2286000"/>
                  </a:cubicBezTo>
                  <a:lnTo>
                    <a:pt x="76200" y="2286000"/>
                  </a:lnTo>
                  <a:cubicBezTo>
                    <a:pt x="34116" y="2286000"/>
                    <a:pt x="0" y="2251884"/>
                    <a:pt x="0" y="2209800"/>
                  </a:cubicBezTo>
                  <a:lnTo>
                    <a:pt x="0" y="76200"/>
                  </a:lnTo>
                  <a:cubicBezTo>
                    <a:pt x="0" y="34116"/>
                    <a:pt x="34116" y="0"/>
                    <a:pt x="76200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8" id="18"/>
            <p:cNvSpPr txBox="true"/>
            <p:nvPr/>
          </p:nvSpPr>
          <p:spPr>
            <a:xfrm>
              <a:off x="0" y="19050"/>
              <a:ext cx="3810000" cy="2266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Ödül / geri</a:t>
              </a:r>
            </a:p>
            <a:p>
              <a:pPr algn="ctr">
                <a:lnSpc>
                  <a:spcPts val="2392"/>
                </a:lnSpc>
              </a:pPr>
              <a:r>
                <a:rPr lang="en-US" sz="217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bildirim</a:t>
              </a:r>
            </a:p>
          </p:txBody>
        </p:sp>
      </p:grpSp>
      <p:sp>
        <p:nvSpPr>
          <p:cNvPr name="AutoShape 19" id="19"/>
          <p:cNvSpPr/>
          <p:nvPr/>
        </p:nvSpPr>
        <p:spPr>
          <a:xfrm flipH="true">
            <a:off x="2571750" y="4953000"/>
            <a:ext cx="10858500" cy="857250"/>
          </a:xfrm>
          <a:prstGeom prst="line">
            <a:avLst/>
          </a:prstGeom>
          <a:ln cap="flat" w="47625">
            <a:solidFill>
              <a:srgbClr val="F06449"/>
            </a:solidFill>
            <a:prstDash val="lgDash"/>
            <a:headEnd type="none" len="sm" w="sm"/>
            <a:tailEnd type="none" len="sm" w="sm"/>
          </a:ln>
        </p:spPr>
      </p:sp>
      <p:sp>
        <p:nvSpPr>
          <p:cNvPr name="TextBox 20" id="20"/>
          <p:cNvSpPr txBox="true"/>
          <p:nvPr/>
        </p:nvSpPr>
        <p:spPr>
          <a:xfrm rot="0">
            <a:off x="2476500" y="6477000"/>
            <a:ext cx="13335000" cy="2996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70"/>
              </a:lnSpc>
            </a:pPr>
            <a:r>
              <a:rPr lang="en-US" sz="2025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Pekiştirmeli öğrenme: Bir sistemin ödül ve geri bildirim kullanarak zamanla daha iyi strateji geliştirmesi.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Bir yapay zekâ oyunda kendi kendine nasıl öğrenebilir?</a:t>
              </a:r>
            </a:p>
          </p:txBody>
        </p:sp>
      </p:grp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85800"/>
            <a:ext cx="14287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2017 — Transformer: bağlama dikkat etmek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14400" y="1962150"/>
            <a:ext cx="10953750" cy="3962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400" b="true">
                <a:solidFill>
                  <a:srgbClr val="2388D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“Attention Is All You Need” • Vaswani ve arkadaşları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524000" y="3333750"/>
            <a:ext cx="2476500" cy="952500"/>
            <a:chOff x="0" y="0"/>
            <a:chExt cx="3302000" cy="127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Öğrenci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572000" y="3333750"/>
            <a:ext cx="2476500" cy="952500"/>
            <a:chOff x="0" y="0"/>
            <a:chExt cx="3302000" cy="1270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kitabı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20000" y="3333750"/>
            <a:ext cx="2476500" cy="952500"/>
            <a:chOff x="0" y="0"/>
            <a:chExt cx="3302000" cy="1270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66768A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çünkü</a:t>
              </a: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0668000" y="3333750"/>
            <a:ext cx="2476500" cy="952500"/>
            <a:chOff x="0" y="0"/>
            <a:chExt cx="3302000" cy="1270000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3302000" cy="1270000"/>
            </a:xfrm>
            <a:custGeom>
              <a:avLst/>
              <a:gdLst/>
              <a:ahLst/>
              <a:cxnLst/>
              <a:rect r="r" b="b" t="t" l="l"/>
              <a:pathLst>
                <a:path h="1270000" w="3302000">
                  <a:moveTo>
                    <a:pt x="87923" y="0"/>
                  </a:moveTo>
                  <a:lnTo>
                    <a:pt x="3214077" y="0"/>
                  </a:lnTo>
                  <a:cubicBezTo>
                    <a:pt x="3237396" y="0"/>
                    <a:pt x="3259759" y="9263"/>
                    <a:pt x="3276248" y="25752"/>
                  </a:cubicBezTo>
                  <a:cubicBezTo>
                    <a:pt x="3292737" y="42241"/>
                    <a:pt x="3302000" y="64604"/>
                    <a:pt x="3302000" y="87923"/>
                  </a:cubicBezTo>
                  <a:lnTo>
                    <a:pt x="3302000" y="1182077"/>
                  </a:lnTo>
                  <a:cubicBezTo>
                    <a:pt x="3302000" y="1205396"/>
                    <a:pt x="3292737" y="1227759"/>
                    <a:pt x="3276248" y="1244248"/>
                  </a:cubicBezTo>
                  <a:cubicBezTo>
                    <a:pt x="3259759" y="1260737"/>
                    <a:pt x="3237396" y="1270000"/>
                    <a:pt x="3214077" y="1270000"/>
                  </a:cubicBezTo>
                  <a:lnTo>
                    <a:pt x="87923" y="1270000"/>
                  </a:lnTo>
                  <a:cubicBezTo>
                    <a:pt x="64604" y="1270000"/>
                    <a:pt x="42241" y="1260737"/>
                    <a:pt x="25752" y="1244248"/>
                  </a:cubicBezTo>
                  <a:cubicBezTo>
                    <a:pt x="9263" y="1227759"/>
                    <a:pt x="0" y="1205396"/>
                    <a:pt x="0" y="1182077"/>
                  </a:cubicBezTo>
                  <a:lnTo>
                    <a:pt x="0" y="87923"/>
                  </a:lnTo>
                  <a:cubicBezTo>
                    <a:pt x="0" y="64604"/>
                    <a:pt x="9263" y="42241"/>
                    <a:pt x="25752" y="25752"/>
                  </a:cubicBezTo>
                  <a:cubicBezTo>
                    <a:pt x="42241" y="9263"/>
                    <a:pt x="64604" y="0"/>
                    <a:pt x="87923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5" id="15"/>
            <p:cNvSpPr txBox="true"/>
            <p:nvPr/>
          </p:nvSpPr>
          <p:spPr>
            <a:xfrm>
              <a:off x="0" y="9525"/>
              <a:ext cx="3302000" cy="12604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45"/>
                </a:lnSpc>
              </a:pPr>
              <a:r>
                <a:rPr lang="en-US" sz="19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meraklıydı</a:t>
              </a:r>
            </a:p>
          </p:txBody>
        </p:sp>
      </p:grpSp>
      <p:sp>
        <p:nvSpPr>
          <p:cNvPr name="AutoShape 16" id="16"/>
          <p:cNvSpPr/>
          <p:nvPr/>
        </p:nvSpPr>
        <p:spPr>
          <a:xfrm flipV="true">
            <a:off x="2762250" y="2762250"/>
            <a:ext cx="9144000" cy="571500"/>
          </a:xfrm>
          <a:prstGeom prst="line">
            <a:avLst/>
          </a:prstGeom>
          <a:ln cap="rnd" w="66675">
            <a:solidFill>
              <a:srgbClr val="18B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5810250" y="4286250"/>
            <a:ext cx="6096000" cy="857250"/>
          </a:xfrm>
          <a:prstGeom prst="line">
            <a:avLst/>
          </a:prstGeom>
          <a:ln cap="rnd" w="38100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8" id="18"/>
          <p:cNvSpPr txBox="true"/>
          <p:nvPr/>
        </p:nvSpPr>
        <p:spPr>
          <a:xfrm rot="0">
            <a:off x="2667000" y="5943600"/>
            <a:ext cx="12954000" cy="247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968"/>
              </a:lnSpc>
            </a:pPr>
            <a:r>
              <a:rPr lang="en-US" sz="1575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Dikkat (attention): Dizideki öğeler arasındaki önemli ilişkileri hesaplayan mekanizma. Uzun metinlerde bağlamı izlemeyi kolaylaştırır.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048250" y="7486650"/>
            <a:ext cx="8191500" cy="356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40"/>
              </a:lnSpc>
            </a:pPr>
            <a:r>
              <a:rPr lang="en-US" sz="2100">
                <a:solidFill>
                  <a:srgbClr val="F06449"/>
                </a:solidFill>
                <a:latin typeface="Nunito Sans"/>
                <a:ea typeface="Nunito Sans"/>
                <a:cs typeface="Nunito Sans"/>
                <a:sym typeface="Nunito Sans"/>
              </a:rPr>
              <a:t>Bir mimaridir; yapay zekânın tamamı değildir.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1" id="21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2" id="22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3" id="23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4" id="24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Dil modellerinde bağlamı anlamak neden önemlidir?</a:t>
              </a:r>
            </a:p>
          </p:txBody>
        </p:sp>
      </p:grp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906000" y="0"/>
            <a:ext cx="8382000" cy="10287000"/>
          </a:xfrm>
          <a:custGeom>
            <a:avLst/>
            <a:gdLst/>
            <a:ahLst/>
            <a:cxnLst/>
            <a:rect r="r" b="b" t="t" l="l"/>
            <a:pathLst>
              <a:path h="10287000" w="8382000">
                <a:moveTo>
                  <a:pt x="0" y="0"/>
                </a:moveTo>
                <a:lnTo>
                  <a:pt x="8382000" y="0"/>
                </a:lnTo>
                <a:lnTo>
                  <a:pt x="8382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65" r="0" b="-65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0" y="0"/>
            <a:ext cx="10668000" cy="10287000"/>
            <a:chOff x="0" y="0"/>
            <a:chExt cx="14224000" cy="13716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2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4224000">
                  <a:moveTo>
                    <a:pt x="0" y="0"/>
                  </a:moveTo>
                  <a:lnTo>
                    <a:pt x="14224000" y="0"/>
                  </a:lnTo>
                  <a:lnTo>
                    <a:pt x="1422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81B33">
                <a:alpha val="95686"/>
              </a:srgbClr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14224000" cy="13754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" y="876300"/>
            <a:ext cx="7810500" cy="12470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2020–2022 —</a:t>
            </a:r>
          </a:p>
          <a:p>
            <a:pPr algn="l">
              <a:lnSpc>
                <a:spcPts val="4836"/>
              </a:lnSpc>
            </a:pPr>
            <a:r>
              <a:rPr lang="en-US" sz="4650" b="true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Üreten sistemler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2838450"/>
            <a:ext cx="7810500" cy="1015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Büyük dil modelleri, geniş metin koleksiyonlarından örüntüler öğrenir. Metin tamamlama, özetleme, soru yanıtlama, çeviri ve içerik üretimi yapabilir.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914400" y="5219700"/>
            <a:ext cx="4762500" cy="6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50"/>
              </a:lnSpc>
            </a:pPr>
            <a:r>
              <a:rPr lang="en-US" sz="3750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Kasım 2022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14400" y="5934075"/>
            <a:ext cx="7810500" cy="6728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72"/>
              </a:lnSpc>
            </a:pPr>
            <a:r>
              <a:rPr lang="en-US" sz="21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Sohbet tabanlı üretken yapay zekâ geniş kitlelere ulaştı. Bu bir başlangıç değil, önceki araştırmaların sonucuydu.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68250" y="7972425"/>
            <a:ext cx="4667250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100"/>
              </a:lnSpc>
            </a:pPr>
            <a:r>
              <a:rPr lang="en-US" sz="1500" i="true">
                <a:solidFill>
                  <a:srgbClr val="FFFFFF"/>
                </a:solidFill>
                <a:latin typeface="Nunito Sans Italics"/>
                <a:ea typeface="Nunito Sans Italics"/>
                <a:cs typeface="Nunito Sans Italics"/>
                <a:sym typeface="Nunito Sans Italics"/>
              </a:rPr>
              <a:t>Temsili üretken yapay zekâ görselleştirmesi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12" id="1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13" id="1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330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14" id="1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15" id="1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Üretken yapay zekâ hangi yeni yetenekleri sunar?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676275"/>
            <a:ext cx="14287500" cy="5835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60"/>
              </a:lnSpc>
            </a:pPr>
            <a:r>
              <a:rPr lang="en-US" sz="4275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Günümüz ve gelecek — Yetenek kadar sorumluluk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7429500" y="3333750"/>
            <a:ext cx="3429000" cy="1809750"/>
            <a:chOff x="0" y="0"/>
            <a:chExt cx="4572000" cy="2413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572000" cy="2413000"/>
            </a:xfrm>
            <a:custGeom>
              <a:avLst/>
              <a:gdLst/>
              <a:ahLst/>
              <a:cxnLst/>
              <a:rect r="r" b="b" t="t" l="l"/>
              <a:pathLst>
                <a:path h="2413000" w="4572000">
                  <a:moveTo>
                    <a:pt x="63500" y="0"/>
                  </a:moveTo>
                  <a:lnTo>
                    <a:pt x="4508500" y="0"/>
                  </a:lnTo>
                  <a:cubicBezTo>
                    <a:pt x="4543570" y="0"/>
                    <a:pt x="4572000" y="28430"/>
                    <a:pt x="4572000" y="63500"/>
                  </a:cubicBezTo>
                  <a:lnTo>
                    <a:pt x="4572000" y="2349500"/>
                  </a:lnTo>
                  <a:cubicBezTo>
                    <a:pt x="4572000" y="2384570"/>
                    <a:pt x="4543570" y="2413000"/>
                    <a:pt x="4508500" y="2413000"/>
                  </a:cubicBezTo>
                  <a:lnTo>
                    <a:pt x="63500" y="2413000"/>
                  </a:lnTo>
                  <a:cubicBezTo>
                    <a:pt x="28430" y="2413000"/>
                    <a:pt x="0" y="2384570"/>
                    <a:pt x="0" y="2349500"/>
                  </a:cubicBezTo>
                  <a:lnTo>
                    <a:pt x="0" y="63500"/>
                  </a:lnTo>
                  <a:cubicBezTo>
                    <a:pt x="0" y="28430"/>
                    <a:pt x="28430" y="0"/>
                    <a:pt x="63500" y="0"/>
                  </a:cubicBezTo>
                  <a:close/>
                </a:path>
              </a:pathLst>
            </a:custGeom>
            <a:solidFill>
              <a:srgbClr val="081B33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28575"/>
              <a:ext cx="4572000" cy="2384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57"/>
                </a:lnSpc>
              </a:pPr>
              <a:r>
                <a:rPr lang="en-US" sz="23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ÇOK MODLU</a:t>
              </a:r>
            </a:p>
            <a:p>
              <a:pPr algn="ctr">
                <a:lnSpc>
                  <a:spcPts val="2557"/>
                </a:lnSpc>
              </a:pPr>
              <a:r>
                <a:rPr lang="en-US" sz="2325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YAPAY ZEKÂ</a:t>
              </a: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43000" y="2381250"/>
            <a:ext cx="2667000" cy="1143000"/>
            <a:chOff x="0" y="0"/>
            <a:chExt cx="3556000" cy="1524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442357"/>
                  </a:lnTo>
                  <a:cubicBezTo>
                    <a:pt x="3556000" y="1487447"/>
                    <a:pt x="3519447" y="1524000"/>
                    <a:pt x="3474357" y="1524000"/>
                  </a:cubicBezTo>
                  <a:lnTo>
                    <a:pt x="81643" y="1524000"/>
                  </a:lnTo>
                  <a:cubicBezTo>
                    <a:pt x="36553" y="1524000"/>
                    <a:pt x="0" y="1487447"/>
                    <a:pt x="0" y="1442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19050"/>
              <a:ext cx="3556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metin</a:t>
              </a:r>
            </a:p>
          </p:txBody>
        </p:sp>
      </p:grpSp>
      <p:sp>
        <p:nvSpPr>
          <p:cNvPr name="AutoShape 9" id="9"/>
          <p:cNvSpPr/>
          <p:nvPr/>
        </p:nvSpPr>
        <p:spPr>
          <a:xfrm>
            <a:off x="3810000" y="2952750"/>
            <a:ext cx="3619500" cy="1285875"/>
          </a:xfrm>
          <a:prstGeom prst="line">
            <a:avLst/>
          </a:prstGeom>
          <a:ln cap="flat" w="47625">
            <a:solidFill>
              <a:srgbClr val="2388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0" id="10"/>
          <p:cNvGrpSpPr/>
          <p:nvPr/>
        </p:nvGrpSpPr>
        <p:grpSpPr>
          <a:xfrm rot="0">
            <a:off x="1143000" y="5048250"/>
            <a:ext cx="2667000" cy="1143000"/>
            <a:chOff x="0" y="0"/>
            <a:chExt cx="3556000" cy="15240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442357"/>
                  </a:lnTo>
                  <a:cubicBezTo>
                    <a:pt x="3556000" y="1487447"/>
                    <a:pt x="3519447" y="1524000"/>
                    <a:pt x="3474357" y="1524000"/>
                  </a:cubicBezTo>
                  <a:lnTo>
                    <a:pt x="81643" y="1524000"/>
                  </a:lnTo>
                  <a:cubicBezTo>
                    <a:pt x="36553" y="1524000"/>
                    <a:pt x="0" y="1487447"/>
                    <a:pt x="0" y="1442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12" id="12"/>
            <p:cNvSpPr txBox="true"/>
            <p:nvPr/>
          </p:nvSpPr>
          <p:spPr>
            <a:xfrm>
              <a:off x="0" y="19050"/>
              <a:ext cx="3556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görüntü</a:t>
              </a:r>
            </a:p>
          </p:txBody>
        </p:sp>
      </p:grpSp>
      <p:sp>
        <p:nvSpPr>
          <p:cNvPr name="AutoShape 13" id="13"/>
          <p:cNvSpPr/>
          <p:nvPr/>
        </p:nvSpPr>
        <p:spPr>
          <a:xfrm flipV="true">
            <a:off x="3810000" y="4238625"/>
            <a:ext cx="3619500" cy="1381125"/>
          </a:xfrm>
          <a:prstGeom prst="line">
            <a:avLst/>
          </a:prstGeom>
          <a:ln cap="flat" w="47625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4" id="14"/>
          <p:cNvGrpSpPr/>
          <p:nvPr/>
        </p:nvGrpSpPr>
        <p:grpSpPr>
          <a:xfrm rot="0">
            <a:off x="13716000" y="2381250"/>
            <a:ext cx="2667000" cy="1143000"/>
            <a:chOff x="0" y="0"/>
            <a:chExt cx="3556000" cy="15240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442357"/>
                  </a:lnTo>
                  <a:cubicBezTo>
                    <a:pt x="3556000" y="1487447"/>
                    <a:pt x="3519447" y="1524000"/>
                    <a:pt x="3474357" y="1524000"/>
                  </a:cubicBezTo>
                  <a:lnTo>
                    <a:pt x="81643" y="1524000"/>
                  </a:lnTo>
                  <a:cubicBezTo>
                    <a:pt x="36553" y="1524000"/>
                    <a:pt x="0" y="1487447"/>
                    <a:pt x="0" y="1442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19050"/>
              <a:ext cx="3556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ses</a:t>
              </a:r>
            </a:p>
          </p:txBody>
        </p:sp>
      </p:grpSp>
      <p:sp>
        <p:nvSpPr>
          <p:cNvPr name="AutoShape 17" id="17"/>
          <p:cNvSpPr/>
          <p:nvPr/>
        </p:nvSpPr>
        <p:spPr>
          <a:xfrm flipH="true">
            <a:off x="10858500" y="2952750"/>
            <a:ext cx="2857500" cy="1285875"/>
          </a:xfrm>
          <a:prstGeom prst="line">
            <a:avLst/>
          </a:prstGeom>
          <a:ln cap="flat" w="47625">
            <a:solidFill>
              <a:srgbClr val="18B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8" id="18"/>
          <p:cNvGrpSpPr/>
          <p:nvPr/>
        </p:nvGrpSpPr>
        <p:grpSpPr>
          <a:xfrm rot="0">
            <a:off x="13716000" y="5048250"/>
            <a:ext cx="2667000" cy="1143000"/>
            <a:chOff x="0" y="0"/>
            <a:chExt cx="3556000" cy="15240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3556000" cy="1524000"/>
            </a:xfrm>
            <a:custGeom>
              <a:avLst/>
              <a:gdLst/>
              <a:ahLst/>
              <a:cxnLst/>
              <a:rect r="r" b="b" t="t" l="l"/>
              <a:pathLst>
                <a:path h="1524000" w="3556000">
                  <a:moveTo>
                    <a:pt x="81643" y="0"/>
                  </a:moveTo>
                  <a:lnTo>
                    <a:pt x="3474357" y="0"/>
                  </a:lnTo>
                  <a:cubicBezTo>
                    <a:pt x="3519447" y="0"/>
                    <a:pt x="3556000" y="36553"/>
                    <a:pt x="3556000" y="81643"/>
                  </a:cubicBezTo>
                  <a:lnTo>
                    <a:pt x="3556000" y="1442357"/>
                  </a:lnTo>
                  <a:cubicBezTo>
                    <a:pt x="3556000" y="1487447"/>
                    <a:pt x="3519447" y="1524000"/>
                    <a:pt x="3474357" y="1524000"/>
                  </a:cubicBezTo>
                  <a:lnTo>
                    <a:pt x="81643" y="1524000"/>
                  </a:lnTo>
                  <a:cubicBezTo>
                    <a:pt x="36553" y="1524000"/>
                    <a:pt x="0" y="1487447"/>
                    <a:pt x="0" y="1442357"/>
                  </a:cubicBezTo>
                  <a:lnTo>
                    <a:pt x="0" y="81643"/>
                  </a:lnTo>
                  <a:cubicBezTo>
                    <a:pt x="0" y="36553"/>
                    <a:pt x="36553" y="0"/>
                    <a:pt x="81643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0" id="20"/>
            <p:cNvSpPr txBox="true"/>
            <p:nvPr/>
          </p:nvSpPr>
          <p:spPr>
            <a:xfrm>
              <a:off x="0" y="19050"/>
              <a:ext cx="3556000" cy="150495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475"/>
                </a:lnSpc>
              </a:pPr>
              <a:r>
                <a:rPr lang="en-US" sz="225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kod</a:t>
              </a:r>
            </a:p>
          </p:txBody>
        </p:sp>
      </p:grpSp>
      <p:sp>
        <p:nvSpPr>
          <p:cNvPr name="AutoShape 21" id="21"/>
          <p:cNvSpPr/>
          <p:nvPr/>
        </p:nvSpPr>
        <p:spPr>
          <a:xfrm flipH="true" flipV="true">
            <a:off x="10858500" y="4238625"/>
            <a:ext cx="2857500" cy="1381125"/>
          </a:xfrm>
          <a:prstGeom prst="line">
            <a:avLst/>
          </a:prstGeom>
          <a:ln cap="flat" w="47625">
            <a:solidFill>
              <a:srgbClr val="2AA876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2952750" y="6524625"/>
            <a:ext cx="12382500" cy="43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569"/>
              </a:lnSpc>
            </a:pPr>
            <a:r>
              <a:rPr lang="en-US" sz="2550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Sağlık • eğitim • tarım • çevre • üretim • bilim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476500" y="7477125"/>
            <a:ext cx="1333500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49"/>
              </a:lnSpc>
            </a:pPr>
            <a:r>
              <a:rPr lang="en-US" sz="2250" b="true">
                <a:solidFill>
                  <a:srgbClr val="F06449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GÜVENLİK  •  ADALET  •  GİZLİLİK  •  İNSAN DENETİMİ</a:t>
            </a:r>
          </a:p>
        </p:txBody>
      </p:sp>
      <p:grpSp>
        <p:nvGrpSpPr>
          <p:cNvPr name="Group 24" id="24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5" id="25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6" id="26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7" id="27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8" id="28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Hangi problemi yapay zekâyla çözerdiniz; çözümün hangi riskleri olurdu?</a:t>
              </a:r>
            </a:p>
          </p:txBody>
        </p:sp>
      </p:grp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08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1047750" y="4857750"/>
            <a:ext cx="16192500" cy="0"/>
          </a:xfrm>
          <a:prstGeom prst="line">
            <a:avLst/>
          </a:prstGeom>
          <a:ln cap="rnd" w="76200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" id="3"/>
          <p:cNvGrpSpPr/>
          <p:nvPr/>
        </p:nvGrpSpPr>
        <p:grpSpPr>
          <a:xfrm rot="0">
            <a:off x="1143000" y="4629150"/>
            <a:ext cx="457200" cy="457200"/>
            <a:chOff x="0" y="0"/>
            <a:chExt cx="609600" cy="6096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1371600" y="3429000"/>
            <a:ext cx="0" cy="1200150"/>
          </a:xfrm>
          <a:prstGeom prst="line">
            <a:avLst/>
          </a:prstGeom>
          <a:ln cap="flat" w="28575">
            <a:solidFill>
              <a:srgbClr val="2388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7" id="7"/>
          <p:cNvGrpSpPr/>
          <p:nvPr/>
        </p:nvGrpSpPr>
        <p:grpSpPr>
          <a:xfrm rot="0">
            <a:off x="2581275" y="4629150"/>
            <a:ext cx="457200" cy="457200"/>
            <a:chOff x="0" y="0"/>
            <a:chExt cx="609600" cy="6096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9" id="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0" id="10"/>
          <p:cNvSpPr/>
          <p:nvPr/>
        </p:nvSpPr>
        <p:spPr>
          <a:xfrm>
            <a:off x="2809875" y="5086350"/>
            <a:ext cx="0" cy="1200150"/>
          </a:xfrm>
          <a:prstGeom prst="line">
            <a:avLst/>
          </a:prstGeom>
          <a:ln cap="flat" w="28575">
            <a:solidFill>
              <a:srgbClr val="2388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1" id="11"/>
          <p:cNvGrpSpPr/>
          <p:nvPr/>
        </p:nvGrpSpPr>
        <p:grpSpPr>
          <a:xfrm rot="0">
            <a:off x="4019550" y="4629150"/>
            <a:ext cx="457200" cy="457200"/>
            <a:chOff x="0" y="0"/>
            <a:chExt cx="609600" cy="6096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4" id="14"/>
          <p:cNvSpPr/>
          <p:nvPr/>
        </p:nvSpPr>
        <p:spPr>
          <a:xfrm>
            <a:off x="4248150" y="3429000"/>
            <a:ext cx="0" cy="1200150"/>
          </a:xfrm>
          <a:prstGeom prst="line">
            <a:avLst/>
          </a:prstGeom>
          <a:ln cap="flat" w="28575">
            <a:solidFill>
              <a:srgbClr val="2388D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5" id="15"/>
          <p:cNvGrpSpPr/>
          <p:nvPr/>
        </p:nvGrpSpPr>
        <p:grpSpPr>
          <a:xfrm rot="0">
            <a:off x="5457825" y="4629150"/>
            <a:ext cx="457200" cy="457200"/>
            <a:chOff x="0" y="0"/>
            <a:chExt cx="609600" cy="6096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17" id="1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5686425" y="5086350"/>
            <a:ext cx="0" cy="1200150"/>
          </a:xfrm>
          <a:prstGeom prst="line">
            <a:avLst/>
          </a:prstGeom>
          <a:ln cap="flat" w="28575">
            <a:solidFill>
              <a:srgbClr val="2AA8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19" id="19"/>
          <p:cNvGrpSpPr/>
          <p:nvPr/>
        </p:nvGrpSpPr>
        <p:grpSpPr>
          <a:xfrm rot="0">
            <a:off x="6896100" y="4629150"/>
            <a:ext cx="457200" cy="457200"/>
            <a:chOff x="0" y="0"/>
            <a:chExt cx="609600" cy="6096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21" id="2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2" id="22"/>
          <p:cNvSpPr/>
          <p:nvPr/>
        </p:nvSpPr>
        <p:spPr>
          <a:xfrm>
            <a:off x="7124700" y="3429000"/>
            <a:ext cx="0" cy="1200150"/>
          </a:xfrm>
          <a:prstGeom prst="line">
            <a:avLst/>
          </a:prstGeom>
          <a:ln cap="flat" w="28575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3" id="23"/>
          <p:cNvGrpSpPr/>
          <p:nvPr/>
        </p:nvGrpSpPr>
        <p:grpSpPr>
          <a:xfrm rot="0">
            <a:off x="8334375" y="4629150"/>
            <a:ext cx="457200" cy="457200"/>
            <a:chOff x="0" y="0"/>
            <a:chExt cx="609600" cy="6096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F06449"/>
            </a:solidFill>
            <a:ln cap="sq">
              <a:noFill/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26" id="26"/>
          <p:cNvSpPr/>
          <p:nvPr/>
        </p:nvSpPr>
        <p:spPr>
          <a:xfrm>
            <a:off x="8562975" y="5086350"/>
            <a:ext cx="0" cy="1200150"/>
          </a:xfrm>
          <a:prstGeom prst="line">
            <a:avLst/>
          </a:prstGeom>
          <a:ln cap="flat" w="28575">
            <a:solidFill>
              <a:srgbClr val="F0644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27" id="27"/>
          <p:cNvGrpSpPr/>
          <p:nvPr/>
        </p:nvGrpSpPr>
        <p:grpSpPr>
          <a:xfrm rot="0">
            <a:off x="9772650" y="4629150"/>
            <a:ext cx="457200" cy="457200"/>
            <a:chOff x="0" y="0"/>
            <a:chExt cx="609600" cy="609600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29" id="2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0" id="30"/>
          <p:cNvSpPr/>
          <p:nvPr/>
        </p:nvSpPr>
        <p:spPr>
          <a:xfrm>
            <a:off x="10001250" y="3429000"/>
            <a:ext cx="0" cy="1200150"/>
          </a:xfrm>
          <a:prstGeom prst="line">
            <a:avLst/>
          </a:prstGeom>
          <a:ln cap="flat" w="28575">
            <a:solidFill>
              <a:srgbClr val="2AA8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1" id="31"/>
          <p:cNvGrpSpPr/>
          <p:nvPr/>
        </p:nvGrpSpPr>
        <p:grpSpPr>
          <a:xfrm rot="0">
            <a:off x="11210925" y="4629150"/>
            <a:ext cx="457200" cy="457200"/>
            <a:chOff x="0" y="0"/>
            <a:chExt cx="609600" cy="6096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33" id="33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4" id="34"/>
          <p:cNvSpPr/>
          <p:nvPr/>
        </p:nvSpPr>
        <p:spPr>
          <a:xfrm>
            <a:off x="11439525" y="5086350"/>
            <a:ext cx="0" cy="1200150"/>
          </a:xfrm>
          <a:prstGeom prst="line">
            <a:avLst/>
          </a:prstGeom>
          <a:ln cap="flat" w="28575">
            <a:solidFill>
              <a:srgbClr val="2AA8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5" id="35"/>
          <p:cNvGrpSpPr/>
          <p:nvPr/>
        </p:nvGrpSpPr>
        <p:grpSpPr>
          <a:xfrm rot="0">
            <a:off x="12649200" y="4629150"/>
            <a:ext cx="457200" cy="457200"/>
            <a:chOff x="0" y="0"/>
            <a:chExt cx="609600" cy="609600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2AA876"/>
            </a:solidFill>
            <a:ln cap="sq">
              <a:noFill/>
              <a:prstDash val="solid"/>
              <a:miter/>
            </a:ln>
          </p:spPr>
        </p:sp>
        <p:sp>
          <p:nvSpPr>
            <p:cNvPr name="TextBox 37" id="37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38" id="38"/>
          <p:cNvSpPr/>
          <p:nvPr/>
        </p:nvSpPr>
        <p:spPr>
          <a:xfrm>
            <a:off x="12877800" y="3429000"/>
            <a:ext cx="0" cy="1200150"/>
          </a:xfrm>
          <a:prstGeom prst="line">
            <a:avLst/>
          </a:prstGeom>
          <a:ln cap="flat" w="28575">
            <a:solidFill>
              <a:srgbClr val="2AA876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39" id="39"/>
          <p:cNvGrpSpPr/>
          <p:nvPr/>
        </p:nvGrpSpPr>
        <p:grpSpPr>
          <a:xfrm rot="0">
            <a:off x="14087475" y="4629150"/>
            <a:ext cx="457200" cy="457200"/>
            <a:chOff x="0" y="0"/>
            <a:chExt cx="609600" cy="609600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41" id="41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2" id="42"/>
          <p:cNvSpPr/>
          <p:nvPr/>
        </p:nvSpPr>
        <p:spPr>
          <a:xfrm>
            <a:off x="14316075" y="5086350"/>
            <a:ext cx="0" cy="1200150"/>
          </a:xfrm>
          <a:prstGeom prst="line">
            <a:avLst/>
          </a:prstGeom>
          <a:ln cap="flat" w="28575">
            <a:solidFill>
              <a:srgbClr val="18B7B1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3" id="43"/>
          <p:cNvGrpSpPr/>
          <p:nvPr/>
        </p:nvGrpSpPr>
        <p:grpSpPr>
          <a:xfrm rot="0">
            <a:off x="15525750" y="4629150"/>
            <a:ext cx="457200" cy="457200"/>
            <a:chOff x="0" y="0"/>
            <a:chExt cx="609600" cy="6096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7756C9"/>
            </a:solidFill>
            <a:ln cap="sq">
              <a:noFill/>
              <a:prstDash val="solid"/>
              <a:miter/>
            </a:ln>
          </p:spPr>
        </p:sp>
        <p:sp>
          <p:nvSpPr>
            <p:cNvPr name="TextBox 45" id="45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46" id="46"/>
          <p:cNvSpPr/>
          <p:nvPr/>
        </p:nvSpPr>
        <p:spPr>
          <a:xfrm>
            <a:off x="15754350" y="3429000"/>
            <a:ext cx="0" cy="1200150"/>
          </a:xfrm>
          <a:prstGeom prst="line">
            <a:avLst/>
          </a:prstGeom>
          <a:ln cap="flat" w="28575">
            <a:solidFill>
              <a:srgbClr val="7756C9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7" id="47"/>
          <p:cNvGrpSpPr/>
          <p:nvPr/>
        </p:nvGrpSpPr>
        <p:grpSpPr>
          <a:xfrm rot="0">
            <a:off x="16964025" y="4629150"/>
            <a:ext cx="457200" cy="457200"/>
            <a:chOff x="0" y="0"/>
            <a:chExt cx="609600" cy="609600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609600" cy="609600"/>
            </a:xfrm>
            <a:custGeom>
              <a:avLst/>
              <a:gdLst/>
              <a:ahLst/>
              <a:cxnLst/>
              <a:rect r="r" b="b" t="t" l="l"/>
              <a:pathLst>
                <a:path h="609600" w="609600">
                  <a:moveTo>
                    <a:pt x="304800" y="0"/>
                  </a:moveTo>
                  <a:cubicBezTo>
                    <a:pt x="473136" y="0"/>
                    <a:pt x="609600" y="136464"/>
                    <a:pt x="609600" y="304800"/>
                  </a:cubicBezTo>
                  <a:cubicBezTo>
                    <a:pt x="609600" y="473136"/>
                    <a:pt x="473136" y="609600"/>
                    <a:pt x="304800" y="609600"/>
                  </a:cubicBezTo>
                  <a:cubicBezTo>
                    <a:pt x="136464" y="609600"/>
                    <a:pt x="0" y="473136"/>
                    <a:pt x="0" y="304800"/>
                  </a:cubicBezTo>
                  <a:cubicBezTo>
                    <a:pt x="0" y="136464"/>
                    <a:pt x="136464" y="0"/>
                    <a:pt x="304800" y="0"/>
                  </a:cubicBezTo>
                  <a:close/>
                </a:path>
              </a:pathLst>
            </a:custGeom>
            <a:solidFill>
              <a:srgbClr val="18B7B1"/>
            </a:solidFill>
            <a:ln cap="sq">
              <a:noFill/>
              <a:prstDash val="solid"/>
              <a:miter/>
            </a:ln>
          </p:spPr>
        </p:sp>
        <p:sp>
          <p:nvSpPr>
            <p:cNvPr name="TextBox 49" id="49"/>
            <p:cNvSpPr txBox="true"/>
            <p:nvPr/>
          </p:nvSpPr>
          <p:spPr>
            <a:xfrm>
              <a:off x="0" y="-38100"/>
              <a:ext cx="609600" cy="6477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AutoShape 50" id="50"/>
          <p:cNvSpPr/>
          <p:nvPr/>
        </p:nvSpPr>
        <p:spPr>
          <a:xfrm>
            <a:off x="17192625" y="5086350"/>
            <a:ext cx="0" cy="1200150"/>
          </a:xfrm>
          <a:prstGeom prst="line">
            <a:avLst/>
          </a:prstGeom>
          <a:ln cap="flat" w="28575">
            <a:solidFill>
              <a:srgbClr val="18B7B1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51" id="51"/>
          <p:cNvSpPr txBox="true"/>
          <p:nvPr/>
        </p:nvSpPr>
        <p:spPr>
          <a:xfrm rot="0">
            <a:off x="838200" y="2676525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388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1943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685800" y="3067050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yapay nöron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276475" y="6343650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388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1950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124075" y="6734175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Turing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3714750" y="2676525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388D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1956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3562350" y="3067050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Dartmouth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5153025" y="6343650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1958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5000625" y="6734175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perceptron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6591300" y="2676525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7756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1966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6438900" y="3067050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ELIZA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8029575" y="6343650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F0644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70–80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7877175" y="6734175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kışlar / uzman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67850" y="2676525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1997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9315450" y="3067050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Deep Blue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0906125" y="6343650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2012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753725" y="6734175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AlexNet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344400" y="2676525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2AA876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2016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192000" y="3067050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AlphaGo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3782675" y="6343650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8B7B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2017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3630275" y="6734175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Transformer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5220950" y="2676525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7756C9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2022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5068550" y="3067050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üretken YZ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6659225" y="6343650"/>
            <a:ext cx="1066800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25"/>
              </a:lnSpc>
            </a:pPr>
            <a:r>
              <a:rPr lang="en-US" sz="1875" b="true">
                <a:solidFill>
                  <a:srgbClr val="18B7B1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2023+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6506825" y="6734175"/>
            <a:ext cx="1381125" cy="257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00"/>
              </a:lnSpc>
            </a:pPr>
            <a:r>
              <a:rPr lang="en-US" sz="1500">
                <a:solidFill>
                  <a:srgbClr val="FFFFFF"/>
                </a:solidFill>
                <a:latin typeface="Nunito Sans"/>
                <a:ea typeface="Nunito Sans"/>
                <a:cs typeface="Nunito Sans"/>
                <a:sym typeface="Nunito Sans"/>
              </a:rPr>
              <a:t>çok modlu</a:t>
            </a:r>
          </a:p>
        </p:txBody>
      </p:sp>
      <p:grpSp>
        <p:nvGrpSpPr>
          <p:cNvPr name="Group 75" id="75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76" id="76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77" id="77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13304F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78" id="78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79" id="79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FFFFFF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Hangi gelişme size en ilginç geliyor? Neden?</a:t>
              </a:r>
            </a:p>
          </p:txBody>
        </p:sp>
      </p:grp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F4F7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914400" y="552450"/>
            <a:ext cx="16192500" cy="630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743"/>
              </a:lnSpc>
            </a:pPr>
            <a:r>
              <a:rPr lang="en-US" sz="4650" b="true">
                <a:solidFill>
                  <a:srgbClr val="12233B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Değerlendirme — Bağlantıları kurabiliyor musun?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1334750" y="1524000"/>
            <a:ext cx="28575" cy="6096000"/>
            <a:chOff x="0" y="0"/>
            <a:chExt cx="38100" cy="81280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8100" cy="8128000"/>
            </a:xfrm>
            <a:custGeom>
              <a:avLst/>
              <a:gdLst/>
              <a:ahLst/>
              <a:cxnLst/>
              <a:rect r="r" b="b" t="t" l="l"/>
              <a:pathLst>
                <a:path h="8128000" w="38100">
                  <a:moveTo>
                    <a:pt x="0" y="0"/>
                  </a:moveTo>
                  <a:lnTo>
                    <a:pt x="38100" y="0"/>
                  </a:lnTo>
                  <a:lnTo>
                    <a:pt x="38100" y="8128000"/>
                  </a:lnTo>
                  <a:lnTo>
                    <a:pt x="0" y="8128000"/>
                  </a:lnTo>
                  <a:close/>
                </a:path>
              </a:pathLst>
            </a:custGeom>
            <a:solidFill>
              <a:srgbClr val="2388D9"/>
            </a:solidFill>
            <a:ln cap="sq">
              <a:noFill/>
              <a:prstDash val="solid"/>
              <a:miter/>
            </a:ln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8100" cy="8166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11668125" y="1428750"/>
            <a:ext cx="5953125" cy="6191250"/>
            <a:chOff x="0" y="0"/>
            <a:chExt cx="7937500" cy="8255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937500" cy="8255000"/>
            </a:xfrm>
            <a:custGeom>
              <a:avLst/>
              <a:gdLst/>
              <a:ahLst/>
              <a:cxnLst/>
              <a:rect r="r" b="b" t="t" l="l"/>
              <a:pathLst>
                <a:path h="8255000" w="7937500">
                  <a:moveTo>
                    <a:pt x="0" y="0"/>
                  </a:moveTo>
                  <a:lnTo>
                    <a:pt x="7937500" y="0"/>
                  </a:lnTo>
                  <a:lnTo>
                    <a:pt x="7937500" y="8255000"/>
                  </a:lnTo>
                  <a:lnTo>
                    <a:pt x="0" y="8255000"/>
                  </a:lnTo>
                  <a:close/>
                </a:path>
              </a:pathLst>
            </a:custGeom>
            <a:solidFill>
              <a:srgbClr val="E2F1EA"/>
            </a:solidFill>
            <a:ln cap="sq">
              <a:noFill/>
              <a:prstDash val="solid"/>
              <a:miter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937500" cy="82931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l">
                <a:lnSpc>
                  <a:spcPts val="167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914400" y="1666875"/>
            <a:ext cx="4953000" cy="683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  Turing’in 1950 çalışması neden önemli?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14400" y="2857500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2  Dartmouth neyi değiştirdi?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14400" y="4048125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3  Perceptron neden bir adımdı?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14400" y="5238750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4  Yapay zekâ kışları neden yaşandı?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429375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5  Deep Blue ve AlphaGo nasıl farklı?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191250" y="1666875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6  AlexNet neden dönüm noktası?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191250" y="2857500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7  Transformer dili nasıl etkiledi?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191250" y="4048125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8  2022 neden önemli?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6191250" y="5238750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9  Algoritma dışında neler gerekir?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6191250" y="6429375"/>
            <a:ext cx="4953000" cy="3409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29"/>
              </a:lnSpc>
            </a:pPr>
            <a:r>
              <a:rPr lang="en-US" sz="1950" b="true">
                <a:solidFill>
                  <a:srgbClr val="12233B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10  Duraklamalar bize ne öğretir?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2001500" y="1676400"/>
            <a:ext cx="5334000" cy="3390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 b="true">
                <a:solidFill>
                  <a:srgbClr val="2AA876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CEVAP ANAHTARI • NEDEN–SONUÇ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001500" y="2276475"/>
            <a:ext cx="5334000" cy="342661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Turing: ölçülebilir tartışma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Dartmouth: ayrı araştırma alanı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Perceptron: örnekten ağırlık ayarı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Kışlar: beklenti &gt; veri/donanım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Deep Blue: arama; AlphaGo: öğrenme + arama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AlexNet: GPU + veri + derin ağ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Transformer: bağlam ilişkileri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2022: geniş kullanıcı erişimi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Diğer etkenler: veri, donanım, insan, etik</a:t>
            </a:r>
          </a:p>
          <a:p>
            <a:pPr algn="l">
              <a:lnSpc>
                <a:spcPts val="2718"/>
              </a:lnSpc>
            </a:pPr>
            <a:r>
              <a:rPr lang="en-US" sz="1875">
                <a:solidFill>
                  <a:srgbClr val="12233B"/>
                </a:solidFill>
                <a:latin typeface="Nunito Sans"/>
                <a:ea typeface="Nunito Sans"/>
                <a:cs typeface="Nunito Sans"/>
                <a:sym typeface="Nunito Sans"/>
              </a:rPr>
              <a:t>Ders: ilerleme doğrusal değildir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914400" y="8705850"/>
            <a:ext cx="16459200" cy="1028700"/>
            <a:chOff x="0" y="0"/>
            <a:chExt cx="21945600" cy="1371600"/>
          </a:xfrm>
        </p:grpSpPr>
        <p:grpSp>
          <p:nvGrpSpPr>
            <p:cNvPr name="Group 22" id="22"/>
            <p:cNvGrpSpPr/>
            <p:nvPr/>
          </p:nvGrpSpPr>
          <p:grpSpPr>
            <a:xfrm rot="0">
              <a:off x="0" y="0"/>
              <a:ext cx="21945600" cy="1371600"/>
              <a:chOff x="0" y="0"/>
              <a:chExt cx="21945600" cy="1371600"/>
            </a:xfrm>
          </p:grpSpPr>
          <p:sp>
            <p:nvSpPr>
              <p:cNvPr name="Freeform 23" id="23"/>
              <p:cNvSpPr/>
              <p:nvPr/>
            </p:nvSpPr>
            <p:spPr>
              <a:xfrm flipH="false" flipV="false" rot="0">
                <a:off x="0" y="0"/>
                <a:ext cx="21945600" cy="1371600"/>
              </a:xfrm>
              <a:custGeom>
                <a:avLst/>
                <a:gdLst/>
                <a:ahLst/>
                <a:cxnLst/>
                <a:rect r="r" b="b" t="t" l="l"/>
                <a:pathLst>
                  <a:path h="1371600" w="21945600">
                    <a:moveTo>
                      <a:pt x="0" y="0"/>
                    </a:moveTo>
                    <a:lnTo>
                      <a:pt x="21945600" y="0"/>
                    </a:lnTo>
                    <a:lnTo>
                      <a:pt x="21945600" y="1371600"/>
                    </a:lnTo>
                    <a:lnTo>
                      <a:pt x="0" y="1371600"/>
                    </a:lnTo>
                    <a:close/>
                  </a:path>
                </a:pathLst>
              </a:custGeom>
              <a:solidFill>
                <a:srgbClr val="E3EDF1"/>
              </a:solidFill>
              <a:ln cap="sq">
                <a:noFill/>
                <a:prstDash val="solid"/>
                <a:miter/>
              </a:ln>
            </p:spPr>
          </p:sp>
          <p:sp>
            <p:nvSpPr>
              <p:cNvPr name="TextBox 24" id="24"/>
              <p:cNvSpPr txBox="true"/>
              <p:nvPr/>
            </p:nvSpPr>
            <p:spPr>
              <a:xfrm>
                <a:off x="0" y="-38100"/>
                <a:ext cx="21945600" cy="1409700"/>
              </a:xfrm>
              <a:prstGeom prst="rect">
                <a:avLst/>
              </a:prstGeom>
            </p:spPr>
            <p:txBody>
              <a:bodyPr anchor="ctr" rtlCol="false" tIns="50800" lIns="50800" bIns="50800" rIns="50800"/>
              <a:lstStyle/>
              <a:p>
                <a:pPr algn="l">
                  <a:lnSpc>
                    <a:spcPts val="1679"/>
                  </a:lnSpc>
                </a:pPr>
              </a:p>
            </p:txBody>
          </p:sp>
        </p:grpSp>
        <p:sp>
          <p:nvSpPr>
            <p:cNvPr name="TextBox 25" id="25"/>
            <p:cNvSpPr txBox="true"/>
            <p:nvPr/>
          </p:nvSpPr>
          <p:spPr>
            <a:xfrm rot="0">
              <a:off x="406400" y="330200"/>
              <a:ext cx="21132800" cy="46228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>
                <a:lnSpc>
                  <a:spcPts val="2940"/>
                </a:lnSpc>
              </a:pPr>
              <a:r>
                <a:rPr lang="en-US" sz="2100" b="true">
                  <a:solidFill>
                    <a:srgbClr val="12233B"/>
                  </a:solidFill>
                  <a:latin typeface="Nunito Sans Bold"/>
                  <a:ea typeface="Nunito Sans Bold"/>
                  <a:cs typeface="Nunito Sans Bold"/>
                  <a:sym typeface="Nunito Sans Bold"/>
                </a:rPr>
                <a:t>DÜŞÜN  •  Hangi soru yapay zekânın gelişimini en iyi özetliyor? Neden?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DAHXs13uvos</dc:identifier>
  <dcterms:modified xsi:type="dcterms:W3CDTF">2011-08-01T06:04:30Z</dcterms:modified>
  <cp:revision>1</cp:revision>
  <dc:title>Yapay Zekânın Tarihi</dc:title>
</cp:coreProperties>
</file>