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3"/>
    </p:embeddedFont>
    <p:embeddedFont>
      <p:font typeface="Nunito Sans Bold" charset="1" panose="00000000000000000000"/>
      <p:regular r:id="rId24"/>
    </p:embeddedFont>
    <p:embeddedFont>
      <p:font typeface="Nunito San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Amaç, yapay zekâyı yalnızca bir ‘makine’ değil, veriden örüntü öğrenen sistem olarak görmektir. Görselleri gösterip tahminleri alın; doğru cevabı hemen vermeyin.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Veriyi malzeme, algoritmayı tarif, modeli tarif uygulanınca oluşan sonuç gibi açıklayın. Etiketin doğru cevabı, geri bildirimin düzeltme sinyalini sağladığını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Bu akış denetimli öğrenmenin basitleştirilmiş hâlidir; her yapay zekâ aynı süreçle çalışmaz. Eğitim modelin ayarlandığı, çıkarım ise eğitilmiş modelin yeni veri için kullanıldığı aşamadır.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Modelin fotoğrafları ezberlemek yerine ortak örüntüler öğrendiğini vurgulayın. %82, modelin iki seçenek arasında kediye daha çok kanıt bulduğu anlamına gelir; doğruluk garantisi değildir.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Kural tabanlı yaklaşımın öngörülebilir ve açıklanabilir; fakat esnekliğinin sınırlı olduğunu belirtin. Makine öğrenmesi karmaşık örüntülerde güçlüdür, ancak veri kalitesine bağımlıdır.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Sınıflandırma tüm görüntüye etiket verir; nesne tespiti nesnenin yerini kutuyla bulur; bölütleme hangi piksellerin hedefe ait olduğunu belirler. Güvenlik kamerası ve tıbbi görüntü örnekleri verin.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Aynı sözcüğün farklı kişilerce farklı söylenebildiğini deneyin. Gürültü ve aksanın başarıyı etkilediğini, metinden konuşmanın ise ters yönde yazıyı yapay sese çevirdiğini açıklayın.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Film ve müzik örnekleriyle iki yöntemi ayırın. Etkileşimlerin veri olduğunu, önerinin zorunlu seçim olmadığını ve tek tip önerilerin ‘filtre balonu’ etkisi yaratabileceğini tartışın.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Dil modelinin anlamı insan gibi deneyimlemediğini; büyük metinlerdeki örüntülere göre olası token dizileri ürettiğini belirtin. Her yanıtta kaynak kontrolü ve kişisel veri güvenliği alışkanlığı kazandırın.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Üretken yapay zekânın yaratıcı görünen çıktılarının eğitim örüntülerinden yeni kombinasyonlar olduğunu açıklayın. Difüzyonu, bulanık bir görüntünün adım adım netleşmesine benzetin.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‘Daha fazla veri her zaman daha iyidir’ düşüncesini sorgulatın. Aynı fotoğrafın bin kopyası yerine farklı ışık, açı ve türlerden doğru etiketli örneklerin neden daha yararlı olduğunu sorun.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Hataların ‘bozuk makine’ dışında gerçekçi nedenleri olduğunu gösterin. Çıktıyı başka kaynakla karşılaştırma, farklı örnekle deneme, uzman görüşü alma ve insan denetimi yöntemlerini öğrencilerden üretmelerini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Olası yanıtlar: ödünç alma geçmişi, tür ve yaş düzeyi; benzer kitap/okur örüntüleri; yanlış veya eksik veri nedeniyle hatalı öneri. Ad-soyad yerine anonim kimlik, az veri toplama ve izin vurgulanmalı.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notu: Önce bireysel düşünme, sonra ikili paylaşım yaptırın. Yanıtlarda doğru kavram kullanımına, neden-sonuç kurmaya ve insan denetimi vurgusuna bakın. Ayrıntılı cevap anahtarını öğretmen dosyasında kullanın.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28600" cy="10287000"/>
            <a:chOff x="0" y="0"/>
            <a:chExt cx="3048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6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4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323975"/>
            <a:ext cx="8572500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70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</a:t>
            </a:r>
          </a:p>
          <a:p>
            <a:pPr algn="l">
              <a:lnSpc>
                <a:spcPts val="5985"/>
              </a:lnSpc>
            </a:pPr>
            <a:r>
              <a:rPr lang="en-US" sz="570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Nasıl Çalışır?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705225"/>
            <a:ext cx="8572500" cy="78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550" b="true">
                <a:solidFill>
                  <a:srgbClr val="1769D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Bilgisayar bir fotoğrafta kedi olduğunu veya bir cümlede ne söylendiğini nasıl anlayabilir?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172200"/>
            <a:ext cx="7810500" cy="6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52657E"/>
                </a:solidFill>
                <a:latin typeface="Nunito Sans"/>
                <a:ea typeface="Nunito Sans"/>
                <a:cs typeface="Nunito Sans"/>
                <a:sym typeface="Nunito Sans"/>
              </a:rPr>
              <a:t>İnsanlar anlam ve deneyimle; yapay zekâ ise çok sayıda verideki örüntüleri bularak işler.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1430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Bir sistem, yedi temel kavram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14450"/>
            <a:ext cx="104775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52657E"/>
                </a:solidFill>
                <a:latin typeface="Nunito Sans"/>
                <a:ea typeface="Nunito Sans"/>
                <a:cs typeface="Nunito Sans"/>
                <a:sym typeface="Nunito Sans"/>
              </a:rPr>
              <a:t>Kavramlar aynı şey değildir; birlikte çalışan parçalardır.</a:t>
            </a:r>
          </a:p>
        </p:txBody>
      </p:sp>
      <p:sp>
        <p:nvSpPr>
          <p:cNvPr name="AutoShape 4" id="4"/>
          <p:cNvSpPr/>
          <p:nvPr/>
        </p:nvSpPr>
        <p:spPr>
          <a:xfrm>
            <a:off x="3238500" y="3476625"/>
            <a:ext cx="5715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>
            <a:off x="6286500" y="3476625"/>
            <a:ext cx="5715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>
            <a:off x="9334500" y="3476625"/>
            <a:ext cx="5715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2382500" y="3476625"/>
            <a:ext cx="5715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>
            <a:off x="3810000" y="3476625"/>
            <a:ext cx="116205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5143500" y="4286250"/>
            <a:ext cx="2381250" cy="1809750"/>
          </a:xfrm>
          <a:prstGeom prst="line">
            <a:avLst/>
          </a:prstGeom>
          <a:ln cap="rnd" w="57150">
            <a:solidFill>
              <a:srgbClr val="1769D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V="true">
            <a:off x="11239500" y="4286250"/>
            <a:ext cx="0" cy="180975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952500" y="2857500"/>
            <a:ext cx="2286000" cy="1238250"/>
            <a:chOff x="0" y="0"/>
            <a:chExt cx="30480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76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048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VERİ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Ham örnekler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00500" y="2857500"/>
            <a:ext cx="2286000" cy="1238250"/>
            <a:chOff x="0" y="0"/>
            <a:chExt cx="3048000" cy="165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3048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ALGORİTMA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İşlem yöntemi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48500" y="2857500"/>
            <a:ext cx="2286000" cy="1238250"/>
            <a:chOff x="0" y="0"/>
            <a:chExt cx="3048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3048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EĞİTİM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Öğrenme süreci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96500" y="2857500"/>
            <a:ext cx="2286000" cy="1238250"/>
            <a:chOff x="0" y="0"/>
            <a:chExt cx="3048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76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3048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MODEL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Öğrenilmiş yapı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44500" y="2857500"/>
            <a:ext cx="2286000" cy="1238250"/>
            <a:chOff x="0" y="0"/>
            <a:chExt cx="3048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3048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ÇIKARIM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Yeni tahmin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00500" y="6191250"/>
            <a:ext cx="2286000" cy="1238250"/>
            <a:chOff x="0" y="0"/>
            <a:chExt cx="3048000" cy="165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76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3048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ETİKET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Doğru cevap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96500" y="6191250"/>
            <a:ext cx="2286000" cy="1238250"/>
            <a:chOff x="0" y="0"/>
            <a:chExt cx="3048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3048000" cy="162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GERİ BİLDİRİM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Düzeltme sinyali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Makine öğrenmesi: döngüsel bir süreç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43025"/>
            <a:ext cx="14668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C9D8EC"/>
                </a:solidFill>
                <a:latin typeface="Nunito Sans"/>
                <a:ea typeface="Nunito Sans"/>
                <a:cs typeface="Nunito Sans"/>
                <a:sym typeface="Nunito Sans"/>
              </a:rPr>
              <a:t>Kedi–köpek örneğinde fotoğraflar toplanır, etiketler kontrol edilir ve model yeni fotoğraflarla sınanır.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875" y="3143250"/>
            <a:ext cx="3333750" cy="1381125"/>
            <a:chOff x="0" y="0"/>
            <a:chExt cx="4445000" cy="1841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776186"/>
                  </a:lnTo>
                  <a:cubicBezTo>
                    <a:pt x="4445000" y="1793508"/>
                    <a:pt x="4438119" y="1810121"/>
                    <a:pt x="4425870" y="1822370"/>
                  </a:cubicBezTo>
                  <a:cubicBezTo>
                    <a:pt x="4413621" y="1834619"/>
                    <a:pt x="4397008" y="1841500"/>
                    <a:pt x="4379686" y="1841500"/>
                  </a:cubicBezTo>
                  <a:lnTo>
                    <a:pt x="65314" y="1841500"/>
                  </a:lnTo>
                  <a:cubicBezTo>
                    <a:pt x="47992" y="1841500"/>
                    <a:pt x="31379" y="1834619"/>
                    <a:pt x="19130" y="1822370"/>
                  </a:cubicBezTo>
                  <a:cubicBezTo>
                    <a:pt x="6881" y="1810121"/>
                    <a:pt x="0" y="1793508"/>
                    <a:pt x="0" y="1776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76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445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Veri toplama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286250" y="3829050"/>
            <a:ext cx="8096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5191125" y="3143250"/>
            <a:ext cx="3333750" cy="1381125"/>
            <a:chOff x="0" y="0"/>
            <a:chExt cx="4445000" cy="1841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776186"/>
                  </a:lnTo>
                  <a:cubicBezTo>
                    <a:pt x="4445000" y="1793508"/>
                    <a:pt x="4438119" y="1810121"/>
                    <a:pt x="4425870" y="1822370"/>
                  </a:cubicBezTo>
                  <a:cubicBezTo>
                    <a:pt x="4413621" y="1834619"/>
                    <a:pt x="4397008" y="1841500"/>
                    <a:pt x="4379686" y="1841500"/>
                  </a:cubicBezTo>
                  <a:lnTo>
                    <a:pt x="65314" y="1841500"/>
                  </a:lnTo>
                  <a:cubicBezTo>
                    <a:pt x="47992" y="1841500"/>
                    <a:pt x="31379" y="1834619"/>
                    <a:pt x="19130" y="1822370"/>
                  </a:cubicBezTo>
                  <a:cubicBezTo>
                    <a:pt x="6881" y="1810121"/>
                    <a:pt x="0" y="1793508"/>
                    <a:pt x="0" y="1776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4445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Temizleme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572500" y="3829050"/>
            <a:ext cx="8096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9477375" y="3143250"/>
            <a:ext cx="3333750" cy="1381125"/>
            <a:chOff x="0" y="0"/>
            <a:chExt cx="4445000" cy="184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776186"/>
                  </a:lnTo>
                  <a:cubicBezTo>
                    <a:pt x="4445000" y="1793508"/>
                    <a:pt x="4438119" y="1810121"/>
                    <a:pt x="4425870" y="1822370"/>
                  </a:cubicBezTo>
                  <a:cubicBezTo>
                    <a:pt x="4413621" y="1834619"/>
                    <a:pt x="4397008" y="1841500"/>
                    <a:pt x="4379686" y="1841500"/>
                  </a:cubicBezTo>
                  <a:lnTo>
                    <a:pt x="65314" y="1841500"/>
                  </a:lnTo>
                  <a:cubicBezTo>
                    <a:pt x="47992" y="1841500"/>
                    <a:pt x="31379" y="1834619"/>
                    <a:pt x="19130" y="1822370"/>
                  </a:cubicBezTo>
                  <a:cubicBezTo>
                    <a:pt x="6881" y="1810121"/>
                    <a:pt x="0" y="1793508"/>
                    <a:pt x="0" y="1776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4445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Eğitim / doğrulama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858750" y="3829050"/>
            <a:ext cx="8096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3763625" y="3143250"/>
            <a:ext cx="3333750" cy="1381125"/>
            <a:chOff x="0" y="0"/>
            <a:chExt cx="44450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776186"/>
                  </a:lnTo>
                  <a:cubicBezTo>
                    <a:pt x="4445000" y="1793508"/>
                    <a:pt x="4438119" y="1810121"/>
                    <a:pt x="4425870" y="1822370"/>
                  </a:cubicBezTo>
                  <a:cubicBezTo>
                    <a:pt x="4413621" y="1834619"/>
                    <a:pt x="4397008" y="1841500"/>
                    <a:pt x="4379686" y="1841500"/>
                  </a:cubicBezTo>
                  <a:lnTo>
                    <a:pt x="65314" y="1841500"/>
                  </a:lnTo>
                  <a:cubicBezTo>
                    <a:pt x="47992" y="1841500"/>
                    <a:pt x="31379" y="1834619"/>
                    <a:pt x="19130" y="1822370"/>
                  </a:cubicBezTo>
                  <a:cubicBezTo>
                    <a:pt x="6881" y="1810121"/>
                    <a:pt x="0" y="1793508"/>
                    <a:pt x="0" y="1776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76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4445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Model eğitimi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4875" y="6000750"/>
            <a:ext cx="3333750" cy="1381125"/>
            <a:chOff x="0" y="0"/>
            <a:chExt cx="4445000" cy="1841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776186"/>
                  </a:lnTo>
                  <a:cubicBezTo>
                    <a:pt x="4445000" y="1793508"/>
                    <a:pt x="4438119" y="1810121"/>
                    <a:pt x="4425870" y="1822370"/>
                  </a:cubicBezTo>
                  <a:cubicBezTo>
                    <a:pt x="4413621" y="1834619"/>
                    <a:pt x="4397008" y="1841500"/>
                    <a:pt x="4379686" y="1841500"/>
                  </a:cubicBezTo>
                  <a:lnTo>
                    <a:pt x="65314" y="1841500"/>
                  </a:lnTo>
                  <a:cubicBezTo>
                    <a:pt x="47992" y="1841500"/>
                    <a:pt x="31379" y="1834619"/>
                    <a:pt x="19130" y="1822370"/>
                  </a:cubicBezTo>
                  <a:cubicBezTo>
                    <a:pt x="6881" y="1810121"/>
                    <a:pt x="0" y="1793508"/>
                    <a:pt x="0" y="1776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445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  Değerlendirme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4286250" y="6686550"/>
            <a:ext cx="8096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5191125" y="6000750"/>
            <a:ext cx="3333750" cy="1381125"/>
            <a:chOff x="0" y="0"/>
            <a:chExt cx="4445000" cy="1841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5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776186"/>
                  </a:lnTo>
                  <a:cubicBezTo>
                    <a:pt x="4445000" y="1793508"/>
                    <a:pt x="4438119" y="1810121"/>
                    <a:pt x="4425870" y="1822370"/>
                  </a:cubicBezTo>
                  <a:cubicBezTo>
                    <a:pt x="4413621" y="1834619"/>
                    <a:pt x="4397008" y="1841500"/>
                    <a:pt x="4379686" y="1841500"/>
                  </a:cubicBezTo>
                  <a:lnTo>
                    <a:pt x="65314" y="1841500"/>
                  </a:lnTo>
                  <a:cubicBezTo>
                    <a:pt x="47992" y="1841500"/>
                    <a:pt x="31379" y="1834619"/>
                    <a:pt x="19130" y="1822370"/>
                  </a:cubicBezTo>
                  <a:cubicBezTo>
                    <a:pt x="6881" y="1810121"/>
                    <a:pt x="0" y="1793508"/>
                    <a:pt x="0" y="1776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4445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6  Yeni veride çıkarım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8572500" y="6686550"/>
            <a:ext cx="8096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9477375" y="6000750"/>
            <a:ext cx="3333750" cy="1381125"/>
            <a:chOff x="0" y="0"/>
            <a:chExt cx="4445000" cy="1841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45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776186"/>
                  </a:lnTo>
                  <a:cubicBezTo>
                    <a:pt x="4445000" y="1793508"/>
                    <a:pt x="4438119" y="1810121"/>
                    <a:pt x="4425870" y="1822370"/>
                  </a:cubicBezTo>
                  <a:cubicBezTo>
                    <a:pt x="4413621" y="1834619"/>
                    <a:pt x="4397008" y="1841500"/>
                    <a:pt x="4379686" y="1841500"/>
                  </a:cubicBezTo>
                  <a:lnTo>
                    <a:pt x="65314" y="1841500"/>
                  </a:lnTo>
                  <a:cubicBezTo>
                    <a:pt x="47992" y="1841500"/>
                    <a:pt x="31379" y="1834619"/>
                    <a:pt x="19130" y="1822370"/>
                  </a:cubicBezTo>
                  <a:cubicBezTo>
                    <a:pt x="6881" y="1810121"/>
                    <a:pt x="0" y="1793508"/>
                    <a:pt x="0" y="1776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28575"/>
              <a:ext cx="4445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7  Hata inceleme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5906750" y="4524375"/>
            <a:ext cx="0" cy="1381125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 flipV="true">
            <a:off x="1428750" y="4667250"/>
            <a:ext cx="0" cy="2571750"/>
          </a:xfrm>
          <a:prstGeom prst="line">
            <a:avLst/>
          </a:prstGeom>
          <a:ln cap="rnd" w="57150">
            <a:solidFill>
              <a:srgbClr val="F28C28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3335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tahmin eder; kesin bilmez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638425"/>
            <a:ext cx="5143500" cy="101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2233D"/>
                </a:solidFill>
                <a:latin typeface="Nunito Sans"/>
                <a:ea typeface="Nunito Sans"/>
                <a:cs typeface="Nunito Sans"/>
                <a:sym typeface="Nunito Sans"/>
              </a:rPr>
              <a:t>1  EĞİTİM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2233D"/>
                </a:solidFill>
                <a:latin typeface="Nunito Sans"/>
                <a:ea typeface="Nunito Sans"/>
                <a:cs typeface="Nunito Sans"/>
                <a:sym typeface="Nunito Sans"/>
              </a:rPr>
              <a:t>Etiketli fotoğraflardan kulak, göz ve tüy örüntülerini öğrenir.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5305425"/>
            <a:ext cx="5143500" cy="101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2233D"/>
                </a:solidFill>
                <a:latin typeface="Nunito Sans"/>
                <a:ea typeface="Nunito Sans"/>
                <a:cs typeface="Nunito Sans"/>
                <a:sym typeface="Nunito Sans"/>
              </a:rPr>
              <a:t>2  YENİ ÖRNEK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2233D"/>
                </a:solidFill>
                <a:latin typeface="Nunito Sans"/>
                <a:ea typeface="Nunito Sans"/>
                <a:cs typeface="Nunito Sans"/>
                <a:sym typeface="Nunito Sans"/>
              </a:rPr>
              <a:t>Daha önce görmediği fotoğraf modele verilir.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34250" y="2381250"/>
            <a:ext cx="4953000" cy="4953000"/>
          </a:xfrm>
          <a:custGeom>
            <a:avLst/>
            <a:gdLst/>
            <a:ahLst/>
            <a:cxnLst/>
            <a:rect r="r" b="b" t="t" l="l"/>
            <a:pathLst>
              <a:path h="4953000" w="4953000">
                <a:moveTo>
                  <a:pt x="0" y="0"/>
                </a:moveTo>
                <a:lnTo>
                  <a:pt x="4953000" y="0"/>
                </a:lnTo>
                <a:lnTo>
                  <a:pt x="4953000" y="4953000"/>
                </a:lnTo>
                <a:lnTo>
                  <a:pt x="0" y="495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2858750" y="2571750"/>
            <a:ext cx="4572000" cy="4953000"/>
            <a:chOff x="0" y="0"/>
            <a:chExt cx="6096000" cy="6604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096000" cy="6604000"/>
              <a:chOff x="0" y="0"/>
              <a:chExt cx="6096000" cy="660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096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096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35000" y="631825"/>
              <a:ext cx="4826000" cy="882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 b="true">
                  <a:solidFill>
                    <a:srgbClr val="28A56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Kedi  %82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35000" y="2346325"/>
              <a:ext cx="4826000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 b="true">
                  <a:solidFill>
                    <a:srgbClr val="F28C2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Köpek  %18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54000" y="4778375"/>
              <a:ext cx="5461000" cy="873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F28C28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⚠ Olasılıklar girdiye göre değişir; model yanılabilir.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5240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Kuralı yazmak mı, örüntüyü öğrenmek mi?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190750"/>
            <a:ext cx="6953250" cy="5715000"/>
            <a:chOff x="0" y="0"/>
            <a:chExt cx="9271000" cy="762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271000" cy="7620000"/>
              <a:chOff x="0" y="0"/>
              <a:chExt cx="9271000" cy="762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2710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F0EA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2710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269875"/>
              <a:ext cx="8255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7856D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KURAL TABANLI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62000" y="1485900"/>
              <a:ext cx="7747000" cy="295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İnsan kesin koşulu yazar.</a:t>
              </a:r>
            </a:p>
            <a:p>
              <a:pPr algn="l">
                <a:lnSpc>
                  <a:spcPts val="2936"/>
                </a:lnSpc>
              </a:pP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“Sıcaklık 30 °C’den büyükse fanı aç.”</a:t>
              </a:r>
            </a:p>
            <a:p>
              <a:pPr algn="l">
                <a:lnSpc>
                  <a:spcPts val="2936"/>
                </a:lnSpc>
              </a:pP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+ Açıklanabilir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− Karmaşık durumlarda çok kural gerekir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91750" y="2190750"/>
            <a:ext cx="6953250" cy="5715000"/>
            <a:chOff x="0" y="0"/>
            <a:chExt cx="9271000" cy="762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271000" cy="7620000"/>
              <a:chOff x="0" y="0"/>
              <a:chExt cx="9271000" cy="762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2710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E3F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2710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269875"/>
              <a:ext cx="8255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769D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MAKİNE ÖĞRENMESİ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62000" y="1485900"/>
              <a:ext cx="7747000" cy="295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Model örneklerden örüntü öğrenir.</a:t>
              </a:r>
            </a:p>
            <a:p>
              <a:pPr algn="l">
                <a:lnSpc>
                  <a:spcPts val="2936"/>
                </a:lnSpc>
              </a:pP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“Kedi ve köpek fotoğraflarını ayır.”</a:t>
              </a:r>
            </a:p>
            <a:p>
              <a:pPr algn="l">
                <a:lnSpc>
                  <a:spcPts val="2936"/>
                </a:lnSpc>
              </a:pP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+ Esnek örüntüler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− Veri ve kontrol gerektirir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48250" y="8534400"/>
            <a:ext cx="8191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28C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 yapay zekâ, makine öğrenmesi kullanmaz.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571625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Bir görüntü, modele göre sayılardan oluşur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33500"/>
            <a:ext cx="114300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BCD3ED"/>
                </a:solidFill>
                <a:latin typeface="Nunito Sans"/>
                <a:ea typeface="Nunito Sans"/>
                <a:cs typeface="Nunito Sans"/>
                <a:sym typeface="Nunito Sans"/>
              </a:rPr>
              <a:t>Kamera → pikseller → örüntü → görev çıktısı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238500"/>
            <a:ext cx="4762500" cy="3143250"/>
            <a:chOff x="0" y="0"/>
            <a:chExt cx="6350000" cy="419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4145280"/>
                  </a:lnTo>
                  <a:cubicBezTo>
                    <a:pt x="6350000" y="4170530"/>
                    <a:pt x="6329530" y="4191000"/>
                    <a:pt x="6304280" y="4191000"/>
                  </a:cubicBezTo>
                  <a:lnTo>
                    <a:pt x="45720" y="4191000"/>
                  </a:lnTo>
                  <a:cubicBezTo>
                    <a:pt x="20470" y="4191000"/>
                    <a:pt x="0" y="4170530"/>
                    <a:pt x="0" y="4145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76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350000" cy="417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SINIFLANDIRMA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Görüntünün tamamı: Kedi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5810250" y="4810125"/>
            <a:ext cx="7620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6762750" y="3238500"/>
            <a:ext cx="4762500" cy="3143250"/>
            <a:chOff x="0" y="0"/>
            <a:chExt cx="6350000" cy="419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4145280"/>
                  </a:lnTo>
                  <a:cubicBezTo>
                    <a:pt x="6350000" y="4170530"/>
                    <a:pt x="6329530" y="4191000"/>
                    <a:pt x="6304280" y="4191000"/>
                  </a:cubicBezTo>
                  <a:lnTo>
                    <a:pt x="45720" y="4191000"/>
                  </a:lnTo>
                  <a:cubicBezTo>
                    <a:pt x="20470" y="4191000"/>
                    <a:pt x="0" y="4170530"/>
                    <a:pt x="0" y="4145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6350000" cy="417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NESNE TESPİTİ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Konum + tür: Keçi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1620500" y="4810125"/>
            <a:ext cx="7620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2573000" y="3238500"/>
            <a:ext cx="4762500" cy="3143250"/>
            <a:chOff x="0" y="0"/>
            <a:chExt cx="6350000" cy="419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4145280"/>
                  </a:lnTo>
                  <a:cubicBezTo>
                    <a:pt x="6350000" y="4170530"/>
                    <a:pt x="6329530" y="4191000"/>
                    <a:pt x="6304280" y="4191000"/>
                  </a:cubicBezTo>
                  <a:lnTo>
                    <a:pt x="45720" y="4191000"/>
                  </a:lnTo>
                  <a:cubicBezTo>
                    <a:pt x="20470" y="4191000"/>
                    <a:pt x="0" y="4170530"/>
                    <a:pt x="0" y="4145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28A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350000" cy="417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BÖLÜTLEME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Her piksel: Hastalıklı alan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24250" y="7762875"/>
            <a:ext cx="11239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Aynı görüntü verisi, farklı sorular için farklı modellerle işlenebilir.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3335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Ses, dalgadan metne dönüşür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62075"/>
            <a:ext cx="1381125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52657E"/>
                </a:solidFill>
                <a:latin typeface="Nunito Sans"/>
                <a:ea typeface="Nunito Sans"/>
                <a:cs typeface="Nunito Sans"/>
                <a:sym typeface="Nunito Sans"/>
              </a:rPr>
              <a:t>Mikrofon sesi örnekler; model ses örüntülerini ve dil bağlamını birlikte değerlendirir.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14375" y="3143250"/>
            <a:ext cx="2762250" cy="1714500"/>
            <a:chOff x="0" y="0"/>
            <a:chExt cx="3683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3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2207172"/>
                  </a:lnTo>
                  <a:cubicBezTo>
                    <a:pt x="3683000" y="2228079"/>
                    <a:pt x="3674695" y="2248129"/>
                    <a:pt x="3659912" y="2262912"/>
                  </a:cubicBezTo>
                  <a:cubicBezTo>
                    <a:pt x="3645129" y="2277695"/>
                    <a:pt x="3625079" y="2286000"/>
                    <a:pt x="3604172" y="2286000"/>
                  </a:cubicBezTo>
                  <a:lnTo>
                    <a:pt x="78828" y="2286000"/>
                  </a:lnTo>
                  <a:cubicBezTo>
                    <a:pt x="57921" y="2286000"/>
                    <a:pt x="37871" y="2277695"/>
                    <a:pt x="23088" y="2262912"/>
                  </a:cubicBezTo>
                  <a:cubicBezTo>
                    <a:pt x="8305" y="2248129"/>
                    <a:pt x="0" y="2228079"/>
                    <a:pt x="0" y="2207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683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MİKROFON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 dalgası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524250" y="4000500"/>
            <a:ext cx="6191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4238625" y="3143250"/>
            <a:ext cx="2762250" cy="1714500"/>
            <a:chOff x="0" y="0"/>
            <a:chExt cx="3683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83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2207172"/>
                  </a:lnTo>
                  <a:cubicBezTo>
                    <a:pt x="3683000" y="2228079"/>
                    <a:pt x="3674695" y="2248129"/>
                    <a:pt x="3659912" y="2262912"/>
                  </a:cubicBezTo>
                  <a:cubicBezTo>
                    <a:pt x="3645129" y="2277695"/>
                    <a:pt x="3625079" y="2286000"/>
                    <a:pt x="3604172" y="2286000"/>
                  </a:cubicBezTo>
                  <a:lnTo>
                    <a:pt x="78828" y="2286000"/>
                  </a:lnTo>
                  <a:cubicBezTo>
                    <a:pt x="57921" y="2286000"/>
                    <a:pt x="37871" y="2277695"/>
                    <a:pt x="23088" y="2262912"/>
                  </a:cubicBezTo>
                  <a:cubicBezTo>
                    <a:pt x="8305" y="2248129"/>
                    <a:pt x="0" y="2228079"/>
                    <a:pt x="0" y="2207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683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SAYISAL SİNYAL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Ölçüm dizisi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048500" y="4000500"/>
            <a:ext cx="6191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7762875" y="3143250"/>
            <a:ext cx="2762250" cy="1714500"/>
            <a:chOff x="0" y="0"/>
            <a:chExt cx="36830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83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2207172"/>
                  </a:lnTo>
                  <a:cubicBezTo>
                    <a:pt x="3683000" y="2228079"/>
                    <a:pt x="3674695" y="2248129"/>
                    <a:pt x="3659912" y="2262912"/>
                  </a:cubicBezTo>
                  <a:cubicBezTo>
                    <a:pt x="3645129" y="2277695"/>
                    <a:pt x="3625079" y="2286000"/>
                    <a:pt x="3604172" y="2286000"/>
                  </a:cubicBezTo>
                  <a:lnTo>
                    <a:pt x="78828" y="2286000"/>
                  </a:lnTo>
                  <a:cubicBezTo>
                    <a:pt x="57921" y="2286000"/>
                    <a:pt x="37871" y="2277695"/>
                    <a:pt x="23088" y="2262912"/>
                  </a:cubicBezTo>
                  <a:cubicBezTo>
                    <a:pt x="8305" y="2248129"/>
                    <a:pt x="0" y="2228079"/>
                    <a:pt x="0" y="2207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683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 + DİL MODELİ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Örüntü eşleme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572750" y="4000500"/>
            <a:ext cx="6191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1287125" y="3143250"/>
            <a:ext cx="2762250" cy="1714500"/>
            <a:chOff x="0" y="0"/>
            <a:chExt cx="3683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83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2207172"/>
                  </a:lnTo>
                  <a:cubicBezTo>
                    <a:pt x="3683000" y="2228079"/>
                    <a:pt x="3674695" y="2248129"/>
                    <a:pt x="3659912" y="2262912"/>
                  </a:cubicBezTo>
                  <a:cubicBezTo>
                    <a:pt x="3645129" y="2277695"/>
                    <a:pt x="3625079" y="2286000"/>
                    <a:pt x="3604172" y="2286000"/>
                  </a:cubicBezTo>
                  <a:lnTo>
                    <a:pt x="78828" y="2286000"/>
                  </a:lnTo>
                  <a:cubicBezTo>
                    <a:pt x="57921" y="2286000"/>
                    <a:pt x="37871" y="2277695"/>
                    <a:pt x="23088" y="2262912"/>
                  </a:cubicBezTo>
                  <a:cubicBezTo>
                    <a:pt x="8305" y="2248129"/>
                    <a:pt x="0" y="2228079"/>
                    <a:pt x="0" y="2207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683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METİN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‘Bugün hava…’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4097000" y="4000500"/>
            <a:ext cx="619125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4811375" y="3143250"/>
            <a:ext cx="2762250" cy="1714500"/>
            <a:chOff x="0" y="0"/>
            <a:chExt cx="3683000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83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2207172"/>
                  </a:lnTo>
                  <a:cubicBezTo>
                    <a:pt x="3683000" y="2228079"/>
                    <a:pt x="3674695" y="2248129"/>
                    <a:pt x="3659912" y="2262912"/>
                  </a:cubicBezTo>
                  <a:cubicBezTo>
                    <a:pt x="3645129" y="2277695"/>
                    <a:pt x="3625079" y="2286000"/>
                    <a:pt x="3604172" y="2286000"/>
                  </a:cubicBezTo>
                  <a:lnTo>
                    <a:pt x="78828" y="2286000"/>
                  </a:lnTo>
                  <a:cubicBezTo>
                    <a:pt x="57921" y="2286000"/>
                    <a:pt x="37871" y="2277695"/>
                    <a:pt x="23088" y="2262912"/>
                  </a:cubicBezTo>
                  <a:cubicBezTo>
                    <a:pt x="8305" y="2248129"/>
                    <a:pt x="0" y="2228079"/>
                    <a:pt x="0" y="2207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28A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6830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SESE DÖNÜŞÜM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Yapay konuşma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00250" y="6858000"/>
            <a:ext cx="14287500" cy="1238250"/>
            <a:chOff x="0" y="0"/>
            <a:chExt cx="19050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05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FFE9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05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476500" y="7191375"/>
            <a:ext cx="1333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DF4B4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Gürültü  •  Aksan  •  Benzer sesler  →  yanlış tanıma riski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6192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Öneri sistemi: ‘Benzer olanı’ farklı yollardan bulur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571750"/>
            <a:ext cx="6953250" cy="2857500"/>
            <a:chOff x="0" y="0"/>
            <a:chExt cx="9271000" cy="381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271000" cy="3810000"/>
              <a:chOff x="0" y="0"/>
              <a:chExt cx="9271000" cy="381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271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E3F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271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469900"/>
              <a:ext cx="8255000" cy="150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İÇERİK TABANLI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Beğendiğin filme benzeyen tür, konu ve özellikleri arar.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0" y="2571750"/>
            <a:ext cx="6953250" cy="2857500"/>
            <a:chOff x="0" y="0"/>
            <a:chExt cx="9271000" cy="3810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271000" cy="3810000"/>
              <a:chOff x="0" y="0"/>
              <a:chExt cx="9271000" cy="381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271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EEE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271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8000" y="469900"/>
              <a:ext cx="8255000" cy="150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İŞBİRLİKÇİ FİLTRELEME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2233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Benzer davranan kullanıcıların beğenilerinden yararlanır.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001000" y="4953000"/>
            <a:ext cx="24765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5953125" y="6438900"/>
            <a:ext cx="6381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769D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İzleme • beğeni • arama • atlama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48250" y="8534400"/>
            <a:ext cx="8191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F28C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Sürekli benzer öneriler, çeşitliliği azaltabilir.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571625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Sohbet robotu, sıradaki parçayı tahmin eder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90650"/>
            <a:ext cx="13811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C8D9EF"/>
                </a:solidFill>
                <a:latin typeface="Nunito Sans"/>
                <a:ea typeface="Nunito Sans"/>
                <a:cs typeface="Nunito Sans"/>
                <a:sym typeface="Nunito Sans"/>
              </a:rPr>
              <a:t>Token: sözcük, hece ya da noktalama gibi küçük metin parçası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875" y="3238500"/>
            <a:ext cx="3429000" cy="1619250"/>
            <a:chOff x="0" y="0"/>
            <a:chExt cx="4572000" cy="215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7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SORU / KOMUT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381500" y="4048125"/>
            <a:ext cx="7620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5238750" y="3238500"/>
            <a:ext cx="3429000" cy="1619250"/>
            <a:chOff x="0" y="0"/>
            <a:chExt cx="4572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METİNİ TEMSİL ET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715375" y="4048125"/>
            <a:ext cx="7620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9572625" y="3238500"/>
            <a:ext cx="3429000" cy="1619250"/>
            <a:chOff x="0" y="0"/>
            <a:chExt cx="4572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9B7B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DİL ÖRÜNTÜSÜNÜ KULLAN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3049250" y="4048125"/>
            <a:ext cx="762000" cy="0"/>
          </a:xfrm>
          <a:prstGeom prst="line">
            <a:avLst/>
          </a:prstGeom>
          <a:ln cap="rnd" w="57150">
            <a:solidFill>
              <a:srgbClr val="19B7B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3906500" y="3238500"/>
            <a:ext cx="3429000" cy="1619250"/>
            <a:chOff x="0" y="0"/>
            <a:chExt cx="4572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856D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572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TOKEN TOKEN YANIT ÜRET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667000" y="6477000"/>
            <a:ext cx="12954000" cy="1809750"/>
            <a:chOff x="0" y="0"/>
            <a:chExt cx="172720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2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7272000">
                  <a:moveTo>
                    <a:pt x="0" y="0"/>
                  </a:moveTo>
                  <a:lnTo>
                    <a:pt x="17272000" y="0"/>
                  </a:lnTo>
                  <a:lnTo>
                    <a:pt x="17272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DF4B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272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238500" y="6819900"/>
            <a:ext cx="11811000" cy="846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Akıcı ≠ doğru</a:t>
            </a:r>
          </a:p>
          <a:p>
            <a:pPr algn="ctr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Bilgiyi doğrula • Kişisel veri paylaşma • Kaynak iste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571625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Üretmek = örüntülerden yeni bir bileşim kurmak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657475"/>
            <a:ext cx="4572000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1769D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METİN</a:t>
            </a:r>
          </a:p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1769D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Bağlama uygun devamı tahmin eder.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4752975"/>
            <a:ext cx="5715000" cy="51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true">
                <a:solidFill>
                  <a:srgbClr val="7856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GÖRSEL</a:t>
            </a:r>
          </a:p>
          <a:p>
            <a:pPr algn="l">
              <a:lnSpc>
                <a:spcPts val="2062"/>
              </a:lnSpc>
            </a:pPr>
            <a:r>
              <a:rPr lang="en-US" sz="1650" b="true">
                <a:solidFill>
                  <a:srgbClr val="7856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Difüzyon: gürültüden adım adım görüntü oluşturur.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7038975"/>
            <a:ext cx="5334000" cy="56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28A5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SES</a:t>
            </a:r>
          </a:p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28A5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Konuşma veya müzik örüntülerini birleştirir.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34750" y="2286000"/>
            <a:ext cx="6477000" cy="5935980"/>
            <a:chOff x="0" y="0"/>
            <a:chExt cx="8636000" cy="7914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89000" y="0"/>
              <a:ext cx="7112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7112000"/>
                  </a:lnTo>
                  <a:lnTo>
                    <a:pt x="0" y="711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7527925"/>
              <a:ext cx="8636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52657E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Örnek istem: “Ormanda robot çocuklara yardım ediyor.”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239000" y="8534400"/>
            <a:ext cx="95250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F28C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Bilinç ya da hayal gücü değil; örüntü temelli üretim.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Model, gördüğü verinin izini taşır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476500"/>
            <a:ext cx="6858000" cy="5715000"/>
            <a:chOff x="0" y="0"/>
            <a:chExt cx="9144000" cy="762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44000" cy="7620000"/>
              <a:chOff x="0" y="0"/>
              <a:chExt cx="9144000" cy="762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1440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E0F6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1440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62000" y="650875"/>
              <a:ext cx="7620000" cy="218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MODEL A</a:t>
              </a:r>
            </a:p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Çeşitli örnekler</a:t>
              </a:r>
            </a:p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Doğru ve tutarlı etiketler</a:t>
              </a:r>
            </a:p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Gerçek duruma yakın dağılım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97000" y="5984875"/>
              <a:ext cx="635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28A56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Daha dengeli başarı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0" y="2476500"/>
            <a:ext cx="6858000" cy="5715000"/>
            <a:chOff x="0" y="0"/>
            <a:chExt cx="9144000" cy="762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144000" cy="7620000"/>
              <a:chOff x="0" y="0"/>
              <a:chExt cx="9144000" cy="762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1440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620000"/>
                    </a:lnTo>
                    <a:lnTo>
                      <a:pt x="0" y="7620000"/>
                    </a:lnTo>
                    <a:close/>
                  </a:path>
                </a:pathLst>
              </a:custGeom>
              <a:solidFill>
                <a:srgbClr val="FFE6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144000" cy="765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62000" y="650875"/>
              <a:ext cx="7620000" cy="218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MODEL B</a:t>
              </a:r>
            </a:p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Az ve tek tip örnek</a:t>
              </a:r>
            </a:p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Hatalı etiketler</a:t>
              </a:r>
            </a:p>
            <a:p>
              <a:pPr algn="l">
                <a:lnSpc>
                  <a:spcPts val="3371"/>
                </a:lnSpc>
              </a:pPr>
              <a:r>
                <a:rPr lang="en-US" sz="232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Eksik gruplar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16000" y="5984875"/>
              <a:ext cx="711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DF4B4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Daha çok ve dengesiz hata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953000" y="8715375"/>
            <a:ext cx="8382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69D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Kalite, yalnızca nicelikten daha önemlidir.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neden hata yapar?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0125" y="2381250"/>
            <a:ext cx="4762500" cy="1619250"/>
            <a:chOff x="0" y="0"/>
            <a:chExt cx="6350000" cy="215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113280"/>
                  </a:lnTo>
                  <a:cubicBezTo>
                    <a:pt x="6350000" y="2138531"/>
                    <a:pt x="6329530" y="2159000"/>
                    <a:pt x="6304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6350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Yetersiz eğitim verisi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15125" y="2381250"/>
            <a:ext cx="4762500" cy="1619250"/>
            <a:chOff x="0" y="0"/>
            <a:chExt cx="6350000" cy="215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113280"/>
                  </a:lnTo>
                  <a:cubicBezTo>
                    <a:pt x="6350000" y="2138531"/>
                    <a:pt x="6329530" y="2159000"/>
                    <a:pt x="6304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6350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Eğitim ≠ gerçek yaşam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30125" y="2381250"/>
            <a:ext cx="4762500" cy="1619250"/>
            <a:chOff x="0" y="0"/>
            <a:chExt cx="6350000" cy="215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113280"/>
                  </a:lnTo>
                  <a:cubicBezTo>
                    <a:pt x="6350000" y="2138531"/>
                    <a:pt x="6329530" y="2159000"/>
                    <a:pt x="6304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6350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Gürültülü / belirsiz veri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0125" y="4762500"/>
            <a:ext cx="4762500" cy="1619250"/>
            <a:chOff x="0" y="0"/>
            <a:chExt cx="6350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113280"/>
                  </a:lnTo>
                  <a:cubicBezTo>
                    <a:pt x="6350000" y="2138531"/>
                    <a:pt x="6329530" y="2159000"/>
                    <a:pt x="6304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F4B47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350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Yanlı ya da yanlış etiket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15125" y="4762500"/>
            <a:ext cx="4762500" cy="1619250"/>
            <a:chOff x="0" y="0"/>
            <a:chExt cx="6350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113280"/>
                  </a:lnTo>
                  <a:cubicBezTo>
                    <a:pt x="6350000" y="2138531"/>
                    <a:pt x="6329530" y="2159000"/>
                    <a:pt x="6304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F4B47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6350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Model sınırlaması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30125" y="4762500"/>
            <a:ext cx="4762500" cy="1619250"/>
            <a:chOff x="0" y="0"/>
            <a:chExt cx="6350000" cy="215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113280"/>
                  </a:lnTo>
                  <a:cubicBezTo>
                    <a:pt x="6350000" y="2138531"/>
                    <a:pt x="6329530" y="2159000"/>
                    <a:pt x="6304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F4B47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6350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Akıcı ama yanlış yanıt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668000" y="8239125"/>
            <a:ext cx="6477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D3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Sonuçları nasıl kontrol ederiz?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Tasarım görevi: Akıllı kitap önerisi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62075"/>
            <a:ext cx="142875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52657E"/>
                </a:solidFill>
                <a:latin typeface="Nunito Sans"/>
                <a:ea typeface="Nunito Sans"/>
                <a:cs typeface="Nunito Sans"/>
                <a:sym typeface="Nunito Sans"/>
              </a:rPr>
              <a:t>4 kişilik gruplarda sistemin veri → örüntü → öneri zincirini tasarlayın.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571750"/>
            <a:ext cx="5143500" cy="2000250"/>
            <a:chOff x="0" y="0"/>
            <a:chExt cx="6858000" cy="2667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858000" cy="2667000"/>
              <a:chOff x="0" y="0"/>
              <a:chExt cx="6858000" cy="2667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58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3F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858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654050"/>
              <a:ext cx="6350000" cy="33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Hangi veri türleri?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81750" y="2571750"/>
            <a:ext cx="5143500" cy="2000250"/>
            <a:chOff x="0" y="0"/>
            <a:chExt cx="6858000" cy="2667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858000" cy="2667000"/>
              <a:chOff x="0" y="0"/>
              <a:chExt cx="6858000" cy="2667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858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EE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858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654050"/>
              <a:ext cx="6350000" cy="33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Hangi örüntüler?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1000" y="2571750"/>
            <a:ext cx="5143500" cy="2000250"/>
            <a:chOff x="0" y="0"/>
            <a:chExt cx="6858000" cy="2667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858000" cy="2667000"/>
              <a:chOff x="0" y="0"/>
              <a:chExt cx="6858000" cy="2667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858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3F3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858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08000" y="654050"/>
              <a:ext cx="6350000" cy="33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Öneri nasıl yapılır?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33750" y="5715000"/>
            <a:ext cx="5143500" cy="2000250"/>
            <a:chOff x="0" y="0"/>
            <a:chExt cx="6858000" cy="2667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858000" cy="2667000"/>
              <a:chOff x="0" y="0"/>
              <a:chExt cx="6858000" cy="2667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858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EE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858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654050"/>
              <a:ext cx="6350000" cy="33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Yanlış öneri nedenleri?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0" y="5715000"/>
            <a:ext cx="5334000" cy="2000250"/>
            <a:chOff x="0" y="0"/>
            <a:chExt cx="7112000" cy="2667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858000" cy="2667000"/>
              <a:chOff x="0" y="0"/>
              <a:chExt cx="6858000" cy="2667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858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E8D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858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8000" y="654050"/>
              <a:ext cx="6604000" cy="33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800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  Gizlilik nasıl korunur?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81025"/>
            <a:ext cx="1476375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2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 soruda öğrendiklerimizi bağlayalım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0125" y="1809750"/>
            <a:ext cx="7524750" cy="1476375"/>
            <a:chOff x="0" y="0"/>
            <a:chExt cx="10033000" cy="1968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1968500"/>
              <a:chOff x="0" y="0"/>
              <a:chExt cx="10033000" cy="1968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3EA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81000" y="307975"/>
              <a:ext cx="9271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Veri ile model farkı nedir?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82125" y="1809750"/>
            <a:ext cx="7524750" cy="1476375"/>
            <a:chOff x="0" y="0"/>
            <a:chExt cx="10033000" cy="1968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033000" cy="1968500"/>
              <a:chOff x="0" y="0"/>
              <a:chExt cx="10033000" cy="1968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033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3EA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033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307975"/>
              <a:ext cx="9271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Eğitim ve çıkarım nasıl farklı?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0125" y="3762375"/>
            <a:ext cx="7524750" cy="1476375"/>
            <a:chOff x="0" y="0"/>
            <a:chExt cx="10033000" cy="1968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033000" cy="1968500"/>
              <a:chOff x="0" y="0"/>
              <a:chExt cx="10033000" cy="1968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033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3EA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033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81000" y="307975"/>
              <a:ext cx="9271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Kedi–köpek tanıma hangi adımlardan geçer?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82125" y="3762375"/>
            <a:ext cx="7524750" cy="1476375"/>
            <a:chOff x="0" y="0"/>
            <a:chExt cx="10033000" cy="1968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033000" cy="1968500"/>
              <a:chOff x="0" y="0"/>
              <a:chExt cx="10033000" cy="1968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033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3EA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033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07975"/>
              <a:ext cx="9271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Ses tanıma neden bazen yanlış?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0125" y="5715000"/>
            <a:ext cx="7524750" cy="1476375"/>
            <a:chOff x="0" y="0"/>
            <a:chExt cx="10033000" cy="1968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033000" cy="1968500"/>
              <a:chOff x="0" y="0"/>
              <a:chExt cx="10033000" cy="1968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033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3EA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033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81000" y="307975"/>
              <a:ext cx="9271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  Öneri sistemi hangi verileri kullanır?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82125" y="5715000"/>
            <a:ext cx="7524750" cy="1476375"/>
            <a:chOff x="0" y="0"/>
            <a:chExt cx="10033000" cy="19685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033000" cy="1968500"/>
              <a:chOff x="0" y="0"/>
              <a:chExt cx="10033000" cy="1968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033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BDD3EA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033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81000" y="307975"/>
              <a:ext cx="9271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6  Üretken yapay zekâ neden doğrulanmalı?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0125" y="7667625"/>
            <a:ext cx="7524750" cy="1476375"/>
            <a:chOff x="0" y="0"/>
            <a:chExt cx="10033000" cy="19685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033000" cy="1968500"/>
              <a:chOff x="0" y="0"/>
              <a:chExt cx="10033000" cy="1968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033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DFF4FF"/>
              </a:solidFill>
              <a:ln w="19050" cap="sq">
                <a:solidFill>
                  <a:srgbClr val="BDD3EA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0033000" cy="200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81000" y="307975"/>
              <a:ext cx="9271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12233D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7  Model performansı nasıl artırılır?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DAHXs4wjx5U</dc:identifier>
  <dcterms:modified xsi:type="dcterms:W3CDTF">2011-08-01T06:04:30Z</dcterms:modified>
  <cp:revision>1</cp:revision>
  <dc:title>Yapay Zekâ Nasıl Çalışır?</dc:title>
</cp:coreProperties>
</file>