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Montserrat Bold" charset="1" panose="00000800000000000000"/>
      <p:regular r:id="rId29"/>
    </p:embeddedFont>
    <p:embeddedFont>
      <p:font typeface="Nunito Sans" charset="1" panose="00000000000000000000"/>
      <p:regular r:id="rId30"/>
    </p:embeddedFont>
    <p:embeddedFont>
      <p:font typeface="Nunito Sans Bold" charset="1" panose="00000000000000000000"/>
      <p:regular r:id="rId31"/>
    </p:embeddedFont>
    <p:embeddedFont>
      <p:font typeface="Montserrat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0250" y="0"/>
            <a:ext cx="8667750" cy="10287000"/>
          </a:xfrm>
          <a:custGeom>
            <a:avLst/>
            <a:gdLst/>
            <a:ahLst/>
            <a:cxnLst/>
            <a:rect r="r" b="b" t="t" l="l"/>
            <a:pathLst>
              <a:path h="10287000" w="8667750">
                <a:moveTo>
                  <a:pt x="0" y="0"/>
                </a:moveTo>
                <a:lnTo>
                  <a:pt x="8667750" y="0"/>
                </a:lnTo>
                <a:lnTo>
                  <a:pt x="8667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" r="0" b="-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2381250" cy="10287000"/>
            <a:chOff x="0" y="0"/>
            <a:chExt cx="317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B1736">
                    <a:alpha val="90000"/>
                  </a:srgbClr>
                </a:gs>
                <a:gs pos="100000">
                  <a:srgbClr val="0B1736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7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23950" y="1304925"/>
            <a:ext cx="5715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SINIF • GÖRSEL SANATLAR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181225"/>
            <a:ext cx="8858250" cy="237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4"/>
              </a:lnSpc>
            </a:pPr>
            <a:r>
              <a:rPr lang="en-US" sz="8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DİJİTAL</a:t>
            </a:r>
          </a:p>
          <a:p>
            <a:pPr algn="l">
              <a:lnSpc>
                <a:spcPts val="9204"/>
              </a:lnSpc>
            </a:pPr>
            <a:r>
              <a:rPr lang="en-US" sz="8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SANATLAR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3950" y="4838700"/>
            <a:ext cx="72390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DBEAFE"/>
                </a:solidFill>
                <a:latin typeface="Nunito Sans"/>
                <a:ea typeface="Nunito Sans"/>
                <a:cs typeface="Nunito Sans"/>
                <a:sym typeface="Nunito Sans"/>
              </a:rPr>
              <a:t>Temel Kavramlar, Görsel Sanatın Elemanları, Tasarım İlkeleri ve Renkler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Sanat fikri aynı; üretim ortamı ve araçlar değişir.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476500"/>
            <a:ext cx="7620000" cy="4762500"/>
            <a:chOff x="0" y="0"/>
            <a:chExt cx="1016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20250" y="2476500"/>
            <a:ext cx="7810500" cy="4762500"/>
            <a:chOff x="0" y="0"/>
            <a:chExt cx="10414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FFED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140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38250" y="27813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DİJİTAL SANAT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" y="3314700"/>
            <a:ext cx="6667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Bilgisayar, grafik tablet, dijital kalem, telefon ve yazılımlarla üretilir.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50" y="5219700"/>
            <a:ext cx="6667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Çizim • fotoğraf • animasyon • 3D model • video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0" y="27813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GELENEKSEL SANAT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0" y="3314700"/>
            <a:ext cx="6667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Kâğıt, tuval, boya, kalem ve kil gibi fiziksel araçlarla üretilir.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809750" y="7858125"/>
            <a:ext cx="14668500" cy="1047750"/>
            <a:chOff x="0" y="0"/>
            <a:chExt cx="19558000" cy="1397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9558000" cy="1397000"/>
              <a:chOff x="0" y="0"/>
              <a:chExt cx="19558000" cy="139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558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9558000">
                    <a:moveTo>
                      <a:pt x="0" y="0"/>
                    </a:moveTo>
                    <a:lnTo>
                      <a:pt x="19558000" y="0"/>
                    </a:lnTo>
                    <a:lnTo>
                      <a:pt x="19558000" y="1397000"/>
                    </a:lnTo>
                    <a:lnTo>
                      <a:pt x="0" y="139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9558000" cy="143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361950"/>
              <a:ext cx="18542000" cy="44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</a:pPr>
              <a:r>
                <a:rPr lang="en-US" sz="2100" b="true">
                  <a:solidFill>
                    <a:srgbClr val="F97316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DONANIM = dokunabildiğin araç  •  YAZILIM = cihazda çalışan program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Sanatın 7 Dalı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Her dalın amacı farklıdır; kullanılan araçlar ortak olabilir.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571750"/>
            <a:ext cx="3905250" cy="2190750"/>
            <a:chOff x="0" y="0"/>
            <a:chExt cx="5207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43500" y="2571750"/>
            <a:ext cx="3905250" cy="2190750"/>
            <a:chOff x="0" y="0"/>
            <a:chExt cx="5207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29750" y="2571750"/>
            <a:ext cx="3905250" cy="2190750"/>
            <a:chOff x="0" y="0"/>
            <a:chExt cx="5207000" cy="292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0" y="2571750"/>
            <a:ext cx="3905250" cy="2190750"/>
            <a:chOff x="0" y="0"/>
            <a:chExt cx="5207000" cy="292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5429250"/>
            <a:ext cx="3905250" cy="2190750"/>
            <a:chOff x="0" y="0"/>
            <a:chExt cx="5207000" cy="292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43500" y="5429250"/>
            <a:ext cx="3905250" cy="2190750"/>
            <a:chOff x="0" y="0"/>
            <a:chExt cx="5207000" cy="292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5429250"/>
            <a:ext cx="3905250" cy="2190750"/>
            <a:chOff x="0" y="0"/>
            <a:chExt cx="5207000" cy="292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07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07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23950" y="2857500"/>
            <a:ext cx="3524250" cy="864870"/>
            <a:chOff x="0" y="0"/>
            <a:chExt cx="4699000" cy="115316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2563E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Dijital resim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Dijital boyama • manzara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10200" y="2857500"/>
            <a:ext cx="3524250" cy="864870"/>
            <a:chOff x="0" y="0"/>
            <a:chExt cx="4699000" cy="115316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2563E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Dijital illüstrasyon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Fikir/hikâye • kitap kapağı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96450" y="2857500"/>
            <a:ext cx="3524250" cy="864870"/>
            <a:chOff x="0" y="0"/>
            <a:chExt cx="4699000" cy="115316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2563E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3B modelleme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Hacimli nesne • vazo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982700" y="2857500"/>
            <a:ext cx="3524250" cy="864870"/>
            <a:chOff x="0" y="0"/>
            <a:chExt cx="4699000" cy="1153160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2563E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Animasyon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Karelerle hareket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3950" y="5715000"/>
            <a:ext cx="3524250" cy="864870"/>
            <a:chOff x="0" y="0"/>
            <a:chExt cx="4699000" cy="1153160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7C3AE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Dijital heykel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Dijital biçim ve hacim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10200" y="5715000"/>
            <a:ext cx="3524250" cy="864870"/>
            <a:chOff x="0" y="0"/>
            <a:chExt cx="4699000" cy="1153160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7C3AE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Dijital fotoğrafçılık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Çekim ve sanatsal düzenleme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96450" y="5715000"/>
            <a:ext cx="3524250" cy="864870"/>
            <a:chOff x="0" y="0"/>
            <a:chExt cx="4699000" cy="115316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19050"/>
              <a:ext cx="4699000" cy="341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800" b="true">
                  <a:solidFill>
                    <a:srgbClr val="7C3AE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Video sanatı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787400"/>
              <a:ext cx="4699000" cy="365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8657D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Görüntü + ses + hareket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0096500" y="8343900"/>
            <a:ext cx="6667500" cy="22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575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RESİM ≠ İLLÜSTRASYON     •     3B MODELLEME ≠ ANİMASYON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 Araçları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Donanım fiziksel araçtır; yazılım o araçta çalışan komutlar bütünüdür.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7250" y="2619375"/>
            <a:ext cx="7239000" cy="5905500"/>
          </a:xfrm>
          <a:custGeom>
            <a:avLst/>
            <a:gdLst/>
            <a:ahLst/>
            <a:cxnLst/>
            <a:rect r="r" b="b" t="t" l="l"/>
            <a:pathLst>
              <a:path h="5905500" w="7239000">
                <a:moveTo>
                  <a:pt x="0" y="0"/>
                </a:moveTo>
                <a:lnTo>
                  <a:pt x="7239000" y="0"/>
                </a:lnTo>
                <a:lnTo>
                  <a:pt x="72390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" t="0" r="-48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9334500" y="2800350"/>
            <a:ext cx="6667500" cy="44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DONANIM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4500" y="3457575"/>
            <a:ext cx="685800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Bilgisayar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Grafik tablet + dijital kalem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Akıllı telefon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Fare ve klavye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4500" y="6315075"/>
            <a:ext cx="68580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Basınç kontrolü, çizgiyi kalınlaştırıp inceltmeyi kolaylaştırır.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0" y="7829550"/>
            <a:ext cx="68580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Grafik tablet = donanım</a:t>
            </a:r>
          </a:p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Krita ve Blender = yazılım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Yazılımlar ve Kullanım Amaçları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2000" y="1952625"/>
            <a:ext cx="16764000" cy="857250"/>
            <a:chOff x="0" y="0"/>
            <a:chExt cx="223520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5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52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" y="3000375"/>
            <a:ext cx="16764000" cy="1095375"/>
            <a:chOff x="0" y="0"/>
            <a:chExt cx="22352000" cy="146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52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52000" cy="149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4286250"/>
            <a:ext cx="16764000" cy="1095375"/>
            <a:chOff x="0" y="0"/>
            <a:chExt cx="22352000" cy="1460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52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352000" cy="149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2000" y="5572125"/>
            <a:ext cx="16764000" cy="1095375"/>
            <a:chOff x="0" y="0"/>
            <a:chExt cx="22352000" cy="1460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52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352000" cy="149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" y="6858000"/>
            <a:ext cx="16764000" cy="1095375"/>
            <a:chOff x="0" y="0"/>
            <a:chExt cx="22352000" cy="1460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52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352000" cy="149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2000" y="8143875"/>
            <a:ext cx="16764000" cy="1095375"/>
            <a:chOff x="0" y="0"/>
            <a:chExt cx="22352000" cy="1460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52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460500"/>
                  </a:lnTo>
                  <a:lnTo>
                    <a:pt x="0" y="1460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352000" cy="1498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47750" y="2209800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YAZILIM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4000" y="2209800"/>
            <a:ext cx="6191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KULLANIM ALANI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0" y="2209800"/>
            <a:ext cx="4762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ÖRNEK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750" y="3305175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Krita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34000" y="3267075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Dijital resim ve boyama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0" y="3267075"/>
            <a:ext cx="476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Dijital portre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750" y="4591050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GIMP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34000" y="455295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Fotoğraf / raster düzenleme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2000" y="4552950"/>
            <a:ext cx="476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Fotoğraf rötuşu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7750" y="5876925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Inkscape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334000" y="5838825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Vektörel çizim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0" y="5838825"/>
            <a:ext cx="476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Logo tasarımı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7750" y="7162800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Blender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34000" y="712470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3B modelleme ve animasyon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92000" y="7124700"/>
            <a:ext cx="476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Oyun karakteri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7750" y="8448675"/>
            <a:ext cx="3619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Canva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34000" y="8410575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Afiş ve sunum tasarımı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92000" y="8410575"/>
            <a:ext cx="476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Okul etkinlik afişi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Görsel Sanatın Temel Elemanları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Bir görseli kuran temel yapı taşları.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571750"/>
            <a:ext cx="5143500" cy="2476500"/>
            <a:chOff x="0" y="0"/>
            <a:chExt cx="6858000" cy="330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77000" y="2571750"/>
            <a:ext cx="5143500" cy="2476500"/>
            <a:chOff x="0" y="0"/>
            <a:chExt cx="6858000" cy="330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858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2571750"/>
            <a:ext cx="5143500" cy="2476500"/>
            <a:chOff x="0" y="0"/>
            <a:chExt cx="6858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858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7250" y="5715000"/>
            <a:ext cx="5143500" cy="2476500"/>
            <a:chOff x="0" y="0"/>
            <a:chExt cx="6858000" cy="330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858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7000" y="5715000"/>
            <a:ext cx="5143500" cy="2476500"/>
            <a:chOff x="0" y="0"/>
            <a:chExt cx="6858000" cy="330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58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858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90625" y="2809875"/>
            <a:ext cx="4476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>
                <a:solidFill>
                  <a:srgbClr val="0891B2"/>
                </a:solidFill>
                <a:latin typeface="Montserrat"/>
                <a:ea typeface="Montserrat"/>
                <a:cs typeface="Montserrat"/>
                <a:sym typeface="Montserrat"/>
              </a:rPr>
              <a:t>→ 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" y="3638550"/>
            <a:ext cx="44767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ÇİZGİ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0625" y="414337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Yön, hareket, sınır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10375" y="2809875"/>
            <a:ext cx="4476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● ● 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0375" y="3638550"/>
            <a:ext cx="44767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10375" y="414337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Duygu ve görsel etki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30125" y="2809875"/>
            <a:ext cx="4476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>
                <a:solidFill>
                  <a:srgbClr val="0891B2"/>
                </a:solidFill>
                <a:latin typeface="Montserrat"/>
                <a:ea typeface="Montserrat"/>
                <a:cs typeface="Montserrat"/>
                <a:sym typeface="Montserrat"/>
              </a:rPr>
              <a:t>□ ◉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30125" y="3638550"/>
            <a:ext cx="44767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ŞEKİL / FORM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30125" y="414337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2B kare • 3B küp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0625" y="5953125"/>
            <a:ext cx="4476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>
                <a:solidFill>
                  <a:srgbClr val="0891B2"/>
                </a:solidFill>
                <a:latin typeface="Montserrat"/>
                <a:ea typeface="Montserrat"/>
                <a:cs typeface="Montserrat"/>
                <a:sym typeface="Montserrat"/>
              </a:rPr>
              <a:t>≈ ▦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0625" y="6781800"/>
            <a:ext cx="44767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DOKU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" y="728662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Pürüzlü ya da düz yüzey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10375" y="5953125"/>
            <a:ext cx="4476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>
                <a:solidFill>
                  <a:srgbClr val="0891B2"/>
                </a:solidFill>
                <a:latin typeface="Montserrat"/>
                <a:ea typeface="Montserrat"/>
                <a:cs typeface="Montserrat"/>
                <a:sym typeface="Montserrat"/>
              </a:rPr>
              <a:t>●     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10375" y="6781800"/>
            <a:ext cx="44767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MEKÂN / BOŞLUK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10375" y="728662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Nesneler arasındaki alan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752475"/>
            <a:ext cx="13335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TASARIM İLKELERİ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647825"/>
            <a:ext cx="13335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C4B5FD"/>
                </a:solidFill>
                <a:latin typeface="Nunito Sans"/>
                <a:ea typeface="Nunito Sans"/>
                <a:cs typeface="Nunito Sans"/>
                <a:sym typeface="Nunito Sans"/>
              </a:rPr>
              <a:t>Elemanları etkili, anlaşılır ve estetik biçimde düzenleme yollarıdır.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4875" y="3333750"/>
            <a:ext cx="3857625" cy="2095500"/>
            <a:chOff x="0" y="0"/>
            <a:chExt cx="51435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91125" y="3333750"/>
            <a:ext cx="3857625" cy="2095500"/>
            <a:chOff x="0" y="0"/>
            <a:chExt cx="51435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77375" y="3333750"/>
            <a:ext cx="3857625" cy="2095500"/>
            <a:chOff x="0" y="0"/>
            <a:chExt cx="51435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63625" y="3333750"/>
            <a:ext cx="3857625" cy="2095500"/>
            <a:chOff x="0" y="0"/>
            <a:chExt cx="51435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4875" y="6000750"/>
            <a:ext cx="3857625" cy="2095500"/>
            <a:chOff x="0" y="0"/>
            <a:chExt cx="5143500" cy="279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91125" y="6000750"/>
            <a:ext cx="3857625" cy="2095500"/>
            <a:chOff x="0" y="0"/>
            <a:chExt cx="5143500" cy="279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77375" y="6000750"/>
            <a:ext cx="3857625" cy="2095500"/>
            <a:chOff x="0" y="0"/>
            <a:chExt cx="5143500" cy="279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63625" y="6000750"/>
            <a:ext cx="3857625" cy="2095500"/>
            <a:chOff x="0" y="0"/>
            <a:chExt cx="5143500" cy="279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435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1435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43000" y="3714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VURGU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4381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Dikkati yönlendirir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29250" y="3714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29250" y="4381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Ağırlıkları düzenler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15500" y="3714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RİTİM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5500" y="4381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Tekrar oluşturur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01750" y="3714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KARŞITLIK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01750" y="4381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Farkı belirginleştirir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3000" y="6381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BİRLİK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" y="7048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Bütünü uyumlu kılar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29250" y="6381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ORAN–ORANTI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29250" y="7048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Boyut ilişkisini kurar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15500" y="6381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ÇEŞİTLİLİK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15500" y="7048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Farklılık ekler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001750" y="6381750"/>
            <a:ext cx="3381375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HAREKET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001750" y="7048500"/>
            <a:ext cx="3381375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Gözü yönlendirir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Vurgu: Göz Önce Nereye Baksın?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Renk, boyut, yerleşim, boşluk ve doku farklılığı dikkati yönlendirir.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762250"/>
            <a:ext cx="10001250" cy="5715000"/>
            <a:chOff x="0" y="0"/>
            <a:chExt cx="13335000" cy="762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35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335000" cy="765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9250" y="3381375"/>
            <a:ext cx="8572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okul etkinliği • salon • 14.00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4210050"/>
            <a:ext cx="9048750" cy="223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8250" b="true">
                <a:solidFill>
                  <a:srgbClr val="16A3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KİTAP</a:t>
            </a:r>
          </a:p>
          <a:p>
            <a:pPr algn="l">
              <a:lnSpc>
                <a:spcPts val="8662"/>
              </a:lnSpc>
            </a:pPr>
            <a:r>
              <a:rPr lang="en-US" sz="8250" b="true">
                <a:solidFill>
                  <a:srgbClr val="16A3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FUARI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000" y="7124700"/>
            <a:ext cx="8572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Büyük boyut + güçlü renk + çevresinde boşluk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44250" y="3238500"/>
            <a:ext cx="5905500" cy="3333750"/>
            <a:chOff x="0" y="0"/>
            <a:chExt cx="7874000" cy="4445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874000" cy="4445000"/>
              <a:chOff x="0" y="0"/>
              <a:chExt cx="7874000" cy="444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874000" cy="4445000"/>
              </a:xfrm>
              <a:custGeom>
                <a:avLst/>
                <a:gdLst/>
                <a:ahLst/>
                <a:cxnLst/>
                <a:rect r="r" b="b" t="t" l="l"/>
                <a:pathLst>
                  <a:path h="4445000" w="7874000">
                    <a:moveTo>
                      <a:pt x="0" y="0"/>
                    </a:moveTo>
                    <a:lnTo>
                      <a:pt x="7874000" y="0"/>
                    </a:lnTo>
                    <a:lnTo>
                      <a:pt x="7874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FFED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7874000" cy="448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35000" y="742950"/>
              <a:ext cx="6604000" cy="1355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b="true">
                  <a:solidFill>
                    <a:srgbClr val="F97316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SINAV İPUCU</a:t>
              </a:r>
            </a:p>
            <a:p>
              <a:pPr algn="l">
                <a:lnSpc>
                  <a:spcPts val="2730"/>
                </a:lnSpc>
              </a:pPr>
              <a:r>
                <a:rPr lang="en-US" sz="2100" b="true">
                  <a:solidFill>
                    <a:srgbClr val="F97316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Önemli mesajın dikkat çekmesini sağlayan ilke: VURGU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Denge: Görsel Ağırlıkları Düzenlemek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19250" y="2686050"/>
            <a:ext cx="6191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SİMETRİK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95500" y="3714750"/>
            <a:ext cx="2095500" cy="2095500"/>
            <a:chOff x="0" y="0"/>
            <a:chExt cx="2794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9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9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8750" y="3714750"/>
            <a:ext cx="2095500" cy="2095500"/>
            <a:chOff x="0" y="0"/>
            <a:chExt cx="27940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9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4875" y="3333750"/>
            <a:ext cx="0" cy="2857500"/>
          </a:xfrm>
          <a:prstGeom prst="line">
            <a:avLst/>
          </a:prstGeom>
          <a:ln cap="flat" w="38100">
            <a:solidFill>
              <a:srgbClr val="CBD5E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19250" y="655320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İki taraf eşit veya benzerdir.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0" y="2686050"/>
            <a:ext cx="6191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ASİMETRİK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049250" y="3333750"/>
            <a:ext cx="2762250" cy="2762250"/>
            <a:chOff x="0" y="0"/>
            <a:chExt cx="3683000" cy="368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83000" cy="372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01250" y="3714750"/>
            <a:ext cx="1047750" cy="1047750"/>
            <a:chOff x="0" y="0"/>
            <a:chExt cx="1397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0891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39500" y="4953000"/>
            <a:ext cx="857250" cy="857250"/>
            <a:chOff x="0" y="0"/>
            <a:chExt cx="1143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43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0" y="655320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Farklı boyutlar, dengeli görsel ağırlık oluşturur.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57500" y="8315325"/>
            <a:ext cx="12573000" cy="32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2025" b="true">
                <a:solidFill>
                  <a:srgbClr val="F9731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Büyük görsel sağda + küçük görseller solda olabilir; önemli olan toplam ağırlığın dengelenmesidir.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Ritim: Düzenli Tekrar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Şekillerin belirli aralıklarla tekrarı, gözün tasarım içinde akmasını sağlar.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8750" y="3429000"/>
            <a:ext cx="1047750" cy="1047750"/>
            <a:chOff x="0" y="0"/>
            <a:chExt cx="1397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19500" y="3429000"/>
            <a:ext cx="1047750" cy="1047750"/>
            <a:chOff x="0" y="0"/>
            <a:chExt cx="1397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0891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10250" y="3429000"/>
            <a:ext cx="1047750" cy="1047750"/>
            <a:chOff x="0" y="0"/>
            <a:chExt cx="13970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001000" y="3429000"/>
            <a:ext cx="1047750" cy="1047750"/>
            <a:chOff x="0" y="0"/>
            <a:chExt cx="1397000" cy="139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0891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91750" y="3429000"/>
            <a:ext cx="1047750" cy="1047750"/>
            <a:chOff x="0" y="0"/>
            <a:chExt cx="1397000" cy="139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82500" y="3429000"/>
            <a:ext cx="1047750" cy="1047750"/>
            <a:chOff x="0" y="0"/>
            <a:chExt cx="1397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0891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573250" y="3429000"/>
            <a:ext cx="1047750" cy="1047750"/>
            <a:chOff x="0" y="0"/>
            <a:chExt cx="1397000" cy="139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1084271" y="0"/>
                    <a:pt x="1397000" y="312729"/>
                    <a:pt x="1397000" y="698500"/>
                  </a:cubicBezTo>
                  <a:cubicBezTo>
                    <a:pt x="1397000" y="1084271"/>
                    <a:pt x="1084271" y="1397000"/>
                    <a:pt x="698500" y="1397000"/>
                  </a:cubicBezTo>
                  <a:cubicBezTo>
                    <a:pt x="312729" y="1397000"/>
                    <a:pt x="0" y="1084271"/>
                    <a:pt x="0" y="698500"/>
                  </a:cubicBez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" y="5334000"/>
            <a:ext cx="857250" cy="1143000"/>
            <a:chOff x="0" y="0"/>
            <a:chExt cx="1143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19500" y="5334000"/>
            <a:ext cx="857250" cy="1143000"/>
            <a:chOff x="0" y="0"/>
            <a:chExt cx="1143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810250" y="5334000"/>
            <a:ext cx="857250" cy="1143000"/>
            <a:chOff x="0" y="0"/>
            <a:chExt cx="1143000" cy="152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01000" y="5334000"/>
            <a:ext cx="857250" cy="1143000"/>
            <a:chOff x="0" y="0"/>
            <a:chExt cx="1143000" cy="1524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191750" y="5334000"/>
            <a:ext cx="857250" cy="1143000"/>
            <a:chOff x="0" y="0"/>
            <a:chExt cx="1143000" cy="1524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82500" y="5334000"/>
            <a:ext cx="857250" cy="1143000"/>
            <a:chOff x="0" y="0"/>
            <a:chExt cx="1143000" cy="1524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573250" y="5334000"/>
            <a:ext cx="857250" cy="1143000"/>
            <a:chOff x="0" y="0"/>
            <a:chExt cx="1143000" cy="1524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4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143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095500" y="7296150"/>
            <a:ext cx="1409700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7"/>
              </a:lnSpc>
            </a:pPr>
            <a:r>
              <a:rPr lang="en-US" sz="3750" b="true">
                <a:solidFill>
                  <a:srgbClr val="16A3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DÜZENLİ ARALIK + TEKRAR = RİTİM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57500" y="8315325"/>
            <a:ext cx="12573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F97316"/>
                </a:solidFill>
                <a:latin typeface="Nunito Sans"/>
                <a:ea typeface="Nunito Sans"/>
                <a:cs typeface="Nunito Sans"/>
                <a:sym typeface="Nunito Sans"/>
              </a:rPr>
              <a:t>Rastgele dağılım ritim değildir; tekrarın düzeni okunabilmelidir.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Karşıtlık (Kontrast)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Farklılıklar, önemli olanı belirginleştirir ve okunabilirliği artırır.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476500"/>
            <a:ext cx="8096250" cy="4381500"/>
            <a:chOff x="0" y="0"/>
            <a:chExt cx="10795000" cy="584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5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5842000"/>
                  </a:lnTo>
                  <a:lnTo>
                    <a:pt x="0" y="5842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95000" cy="588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14500" y="3219450"/>
            <a:ext cx="6477000" cy="125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AÇIK ZEMİNDE</a:t>
            </a:r>
          </a:p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KOYU YAZI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8750" y="6191250"/>
            <a:ext cx="7143750" cy="171450"/>
            <a:chOff x="0" y="0"/>
            <a:chExt cx="9525000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5000" cy="228600"/>
            </a:xfrm>
            <a:custGeom>
              <a:avLst/>
              <a:gdLst/>
              <a:ahLst/>
              <a:cxnLst/>
              <a:rect r="r" b="b" t="t" l="l"/>
              <a:pathLst>
                <a:path h="2286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21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525000" cy="266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68000" y="2828925"/>
            <a:ext cx="5334000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Açık ↔ koyu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Büyük ↔ küçük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Kalın ↔ ince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Pürüzlü ↔ düz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000250" y="7524750"/>
            <a:ext cx="14287500" cy="1190625"/>
            <a:chOff x="0" y="0"/>
            <a:chExt cx="19050000" cy="1587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050000" cy="1587500"/>
              <a:chOff x="0" y="0"/>
              <a:chExt cx="19050000" cy="1587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050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19050000">
                    <a:moveTo>
                      <a:pt x="0" y="0"/>
                    </a:moveTo>
                    <a:lnTo>
                      <a:pt x="19050000" y="0"/>
                    </a:lnTo>
                    <a:lnTo>
                      <a:pt x="19050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ED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9050000" cy="162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5000" y="555625"/>
              <a:ext cx="17780000" cy="620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5"/>
                </a:lnSpc>
              </a:pPr>
              <a:r>
                <a:rPr lang="en-US" sz="3300" b="true">
                  <a:solidFill>
                    <a:srgbClr val="F9731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SINAV: Açık zemin + koyu yazı → KARŞITLIK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Diğer Tasarım İlkeleri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2381250"/>
            <a:ext cx="16383000" cy="1428750"/>
            <a:chOff x="0" y="0"/>
            <a:chExt cx="21844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4143375"/>
            <a:ext cx="16383000" cy="1428750"/>
            <a:chOff x="0" y="0"/>
            <a:chExt cx="21844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" y="5905500"/>
            <a:ext cx="16383000" cy="1428750"/>
            <a:chOff x="0" y="0"/>
            <a:chExt cx="21844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7667625"/>
            <a:ext cx="16383000" cy="1428750"/>
            <a:chOff x="0" y="0"/>
            <a:chExt cx="21844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84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33500" y="2857500"/>
            <a:ext cx="3905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BİRLİK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19750" y="276225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Parçaların uyumlu bütünlüğü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2500" y="2819400"/>
            <a:ext cx="4286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Aynı görsel dil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3500" y="4619625"/>
            <a:ext cx="3905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ORAN–ORANTI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9750" y="4524375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Nesnelerin boyut ilişkisi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2500" y="4581525"/>
            <a:ext cx="4286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İnsan–bina ölçeği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500" y="6381750"/>
            <a:ext cx="3905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ÇEŞİTLİLİK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19750" y="6286500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Farklı elemanların kullanımı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0" y="6343650"/>
            <a:ext cx="4286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Farklı şekil ve renkler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3500" y="8143875"/>
            <a:ext cx="3905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HAREKET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19750" y="8048625"/>
            <a:ext cx="6191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Gözün tasarımda yönlendirilmesi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82500" y="8105775"/>
            <a:ext cx="428625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Diyagonal akış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Tipografi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Yazının yalnızca biçimi değil; düzeni ve okunma biçimidir.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2428875"/>
            <a:ext cx="7620000" cy="5143500"/>
            <a:chOff x="0" y="0"/>
            <a:chExt cx="10160000" cy="685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28750" y="2952750"/>
            <a:ext cx="6667500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BÜYÜK</a:t>
            </a:r>
          </a:p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BAŞLIK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4000" y="5410200"/>
            <a:ext cx="63817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Küçük açıklama, başlığa göre daha sakin görünür. Düzenli hizalama okumayı kolaylaştırır.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68000" y="2733675"/>
            <a:ext cx="5334000" cy="262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Yazı tipi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Boyut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Harf aralığı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Satır aralığı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Hizalama</a:t>
            </a:r>
          </a:p>
          <a:p>
            <a:pPr algn="l">
              <a:lnSpc>
                <a:spcPts val="3510"/>
              </a:lnSpc>
            </a:pPr>
            <a:r>
              <a:rPr lang="en-US" sz="2700">
                <a:solidFill>
                  <a:srgbClr val="7C3AED"/>
                </a:solidFill>
                <a:latin typeface="Nunito Sans"/>
                <a:ea typeface="Nunito Sans"/>
                <a:cs typeface="Nunito Sans"/>
                <a:sym typeface="Nunito Sans"/>
              </a:rPr>
              <a:t>Okunabilirlik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6500" y="8315325"/>
            <a:ext cx="13335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F9731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SINAV: Yazı düzeniyle ilgilenen tasarım alanı → TİPOGRAFİ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Renkler ve Renk Grupları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90750" y="2571750"/>
            <a:ext cx="1428750" cy="1428750"/>
            <a:chOff x="0" y="0"/>
            <a:chExt cx="1905000" cy="190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DC262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72000" y="2571750"/>
            <a:ext cx="1428750" cy="1428750"/>
            <a:chOff x="0" y="0"/>
            <a:chExt cx="1905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FACC1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53250" y="2571750"/>
            <a:ext cx="1428750" cy="1428750"/>
            <a:chOff x="0" y="0"/>
            <a:chExt cx="1905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91750" y="2571750"/>
            <a:ext cx="1428750" cy="1428750"/>
            <a:chOff x="0" y="0"/>
            <a:chExt cx="1905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F973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73000" y="2571750"/>
            <a:ext cx="1428750" cy="1428750"/>
            <a:chOff x="0" y="0"/>
            <a:chExt cx="1905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16A3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954250" y="2571750"/>
            <a:ext cx="1428750" cy="1428750"/>
            <a:chOff x="0" y="0"/>
            <a:chExt cx="1905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0500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DC26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KIRMIZI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625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FACC1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750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MAVİ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0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TURUNCU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8725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16A3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YEŞİL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68500" y="4210050"/>
            <a:ext cx="200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4500" y="5314950"/>
            <a:ext cx="14859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Kırmızı + Sarı = Turuncu     •     Sarı + Mavi = Yeşil     •     Mavi + Kırmızı = Mor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8750" y="6648450"/>
            <a:ext cx="6667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F97316"/>
                </a:solidFill>
                <a:latin typeface="Nunito Sans"/>
                <a:ea typeface="Nunito Sans"/>
                <a:cs typeface="Nunito Sans"/>
                <a:sym typeface="Nunito Sans"/>
              </a:rPr>
              <a:t>SICAK: kırmızı, turuncu, sarı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F97316"/>
                </a:solidFill>
                <a:latin typeface="Nunito Sans"/>
                <a:ea typeface="Nunito Sans"/>
                <a:cs typeface="Nunito Sans"/>
                <a:sym typeface="Nunito Sans"/>
              </a:rPr>
              <a:t>Enerji • canlılık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91750" y="6648450"/>
            <a:ext cx="6667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891B2"/>
                </a:solidFill>
                <a:latin typeface="Nunito Sans"/>
                <a:ea typeface="Nunito Sans"/>
                <a:cs typeface="Nunito Sans"/>
                <a:sym typeface="Nunito Sans"/>
              </a:rPr>
              <a:t>SOĞUK: mavi, yeşil, mavi-yeşil</a:t>
            </a:r>
          </a:p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891B2"/>
                </a:solidFill>
                <a:latin typeface="Nunito Sans"/>
                <a:ea typeface="Nunito Sans"/>
                <a:cs typeface="Nunito Sans"/>
                <a:sym typeface="Nunito Sans"/>
              </a:rPr>
              <a:t>Serinlik • sakinlik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57500" y="8763000"/>
            <a:ext cx="12573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 b="true">
                <a:solidFill>
                  <a:srgbClr val="DC262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RGB: kırmızı + yeşil + mavi IŞIK sistemidir; boya karışımıyla aynı değildir.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52500" y="1333500"/>
            <a:ext cx="8572500" cy="173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8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BOYUTLU</a:t>
            </a:r>
          </a:p>
          <a:p>
            <a:pPr algn="l">
              <a:lnSpc>
                <a:spcPts val="6708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MODELLEME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3924300"/>
            <a:ext cx="7810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GENİŞLİK × YÜKSEKLİK × DERİNLİK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4743450"/>
            <a:ext cx="742950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Nesnenin hacimli biçimini bilgisayar ortamında oluşturur. Vazo, masa, bina veya oyun karakteri modellenebilir.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7134225"/>
            <a:ext cx="7143750" cy="86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C4B5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MODELLEME = biçim</a:t>
            </a:r>
          </a:p>
          <a:p>
            <a:pPr algn="l">
              <a:lnSpc>
                <a:spcPts val="3307"/>
              </a:lnSpc>
            </a:pPr>
            <a:r>
              <a:rPr lang="en-US" sz="3150" b="true">
                <a:solidFill>
                  <a:srgbClr val="C4B5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ANİMASYON = hareket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8743950"/>
            <a:ext cx="7429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FDBA7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3B vazo tasarlamak → 3 boyutlu modelleme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Animasyon: Karelerden Harekete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28750" y="3028950"/>
            <a:ext cx="85725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71750" y="3076575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Pozları kare kare çiz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648200"/>
            <a:ext cx="85725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1750" y="4695825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Kareleri sırala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6267450"/>
            <a:ext cx="85725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315075"/>
            <a:ext cx="55245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Art arda oynat → hareket izlenimi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39250" y="2381250"/>
            <a:ext cx="8096250" cy="5715000"/>
          </a:xfrm>
          <a:custGeom>
            <a:avLst/>
            <a:gdLst/>
            <a:ahLst/>
            <a:cxnLst/>
            <a:rect r="r" b="b" t="t" l="l"/>
            <a:pathLst>
              <a:path h="5715000" w="8096250">
                <a:moveTo>
                  <a:pt x="0" y="0"/>
                </a:moveTo>
                <a:lnTo>
                  <a:pt x="8096250" y="0"/>
                </a:lnTo>
                <a:lnTo>
                  <a:pt x="809625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" t="0" r="-62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3" id="13"/>
          <p:cNvSpPr txBox="true"/>
          <p:nvPr/>
        </p:nvSpPr>
        <p:spPr>
          <a:xfrm rot="0">
            <a:off x="1428750" y="8220075"/>
            <a:ext cx="15240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 b="true">
                <a:solidFill>
                  <a:srgbClr val="F9731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Animasyon yalnız çizgi film değildir; hareketli grafik ve 3B sahnelerde de kullanılır.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Vektörel Çizim ve Piksel Tabanlı Görseller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2238375"/>
            <a:ext cx="7524750" cy="5143500"/>
            <a:chOff x="0" y="0"/>
            <a:chExt cx="10033000" cy="685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33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0330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10750" y="2238375"/>
            <a:ext cx="7524750" cy="5143500"/>
            <a:chOff x="0" y="0"/>
            <a:chExt cx="10033000" cy="685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33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DE9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0330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19250" y="2676525"/>
            <a:ext cx="6191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VEKTÖR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9250" y="3409950"/>
            <a:ext cx="6191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Matematiksel çizgi, eğri ve şekillerden oluşur. Büyütülünce netliğini korur.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" y="5553075"/>
            <a:ext cx="6191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Logo • ikon • geometrik desen</a:t>
            </a:r>
          </a:p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Yazılım: Inkscape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82250" y="2676525"/>
            <a:ext cx="6191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 b="true">
                <a:solidFill>
                  <a:srgbClr val="7C3AE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PİKSEL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82250" y="3409950"/>
            <a:ext cx="6191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Küçük renk noktalarından oluşur. Çok büyütülünce kare pikseller görünür.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82250" y="5553075"/>
            <a:ext cx="619125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Fotoğraf • dijital boyama</a:t>
            </a:r>
          </a:p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6A36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Yazılım: GIMP, Krita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00500" y="8296275"/>
            <a:ext cx="102870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6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ÖLÇEKLENEBİLİR ve NET → VEKTÖREL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Mimari Tasarımda Dijital Sanat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62000" y="2381250"/>
            <a:ext cx="10001250" cy="6667500"/>
          </a:xfrm>
          <a:custGeom>
            <a:avLst/>
            <a:gdLst/>
            <a:ahLst/>
            <a:cxnLst/>
            <a:rect r="r" b="b" t="t" l="l"/>
            <a:pathLst>
              <a:path h="6667500" w="10001250">
                <a:moveTo>
                  <a:pt x="0" y="0"/>
                </a:moveTo>
                <a:lnTo>
                  <a:pt x="10001250" y="0"/>
                </a:lnTo>
                <a:lnTo>
                  <a:pt x="1000125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" t="0" r="-31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1620500" y="2838450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Tarihî yapıları dijital çizmek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20500" y="4171950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3B modelle yapıyı tasarlamak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0500" y="5505450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Renk ve dokuyu önceden görmek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20500" y="6838950"/>
            <a:ext cx="5334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7213A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Farklı açılardan incelemek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4750" y="8353425"/>
            <a:ext cx="5810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0891B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Çizim → model → malzeme → görünüş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Kavramları Karşılaştıralım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095500"/>
            <a:ext cx="8096250" cy="1285875"/>
            <a:chOff x="0" y="0"/>
            <a:chExt cx="10795000" cy="1714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3571875"/>
            <a:ext cx="8096250" cy="1285875"/>
            <a:chOff x="0" y="0"/>
            <a:chExt cx="10795000" cy="1714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250" y="5048250"/>
            <a:ext cx="8096250" cy="1285875"/>
            <a:chOff x="0" y="0"/>
            <a:chExt cx="10795000" cy="1714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6524625"/>
            <a:ext cx="8096250" cy="1285875"/>
            <a:chOff x="0" y="0"/>
            <a:chExt cx="10795000" cy="1714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7250" y="8001000"/>
            <a:ext cx="8096250" cy="1285875"/>
            <a:chOff x="0" y="0"/>
            <a:chExt cx="10795000" cy="1714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29750" y="2095500"/>
            <a:ext cx="8096250" cy="1285875"/>
            <a:chOff x="0" y="0"/>
            <a:chExt cx="10795000" cy="1714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0" y="3571875"/>
            <a:ext cx="8096250" cy="1285875"/>
            <a:chOff x="0" y="0"/>
            <a:chExt cx="10795000" cy="1714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29750" y="5048250"/>
            <a:ext cx="8096250" cy="1285875"/>
            <a:chOff x="0" y="0"/>
            <a:chExt cx="10795000" cy="1714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29750" y="6524625"/>
            <a:ext cx="8096250" cy="1285875"/>
            <a:chOff x="0" y="0"/>
            <a:chExt cx="10795000" cy="1714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9500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795000" cy="175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95375" y="2295525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resim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71875" y="2257425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Dijital ortamda resim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0" y="2276475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Manzara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5375" y="3771900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illüstrasyon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71875" y="3733800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Fikir/hikâye görselleştirme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58000" y="3752850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Kitap kapağı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5375" y="5248275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3B modelleme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71875" y="5210175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Hacimli biçim oluşturma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58000" y="5229225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Vazo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5375" y="6724650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Animasyon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571875" y="6686550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Hareket izlenimi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8000" y="6705600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Yürüyen karakter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5375" y="8201025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Tipografi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71875" y="8162925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Yazıyı görsel düzenleme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8000" y="8181975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Afiş başlığı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67875" y="2295525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Vurgu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44375" y="2257425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Dikkati yöneltme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430500" y="2276475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Büyük başlık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67875" y="3771900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Denge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44375" y="3733800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Görsel ağırlıkları düzenleme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30500" y="3752850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Dengeli afiş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67875" y="5248275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Ritim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44375" y="5210175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Düzenli tekrar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430500" y="5229225"/>
            <a:ext cx="1809750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Eşit aralıklı şekiller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67875" y="6724650"/>
            <a:ext cx="238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65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Karşıtlık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44375" y="6686550"/>
            <a:ext cx="31432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Farkla belirginlik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430500" y="6705600"/>
            <a:ext cx="1809750" cy="25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16A36A"/>
                </a:solidFill>
                <a:latin typeface="Nunito Sans"/>
                <a:ea typeface="Nunito Sans"/>
                <a:cs typeface="Nunito Sans"/>
                <a:sym typeface="Nunito Sans"/>
              </a:rPr>
              <a:t>Koyu yazı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Bir Afişi Birlikte Çözümleyelim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6300" y="1428750"/>
            <a:ext cx="1047750" cy="66675"/>
            <a:chOff x="0" y="0"/>
            <a:chExt cx="1397000" cy="88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7250" y="2190750"/>
            <a:ext cx="7239000" cy="6858000"/>
          </a:xfrm>
          <a:custGeom>
            <a:avLst/>
            <a:gdLst/>
            <a:ahLst/>
            <a:cxnLst/>
            <a:rect r="r" b="b" t="t" l="l"/>
            <a:pathLst>
              <a:path h="6858000" w="7239000">
                <a:moveTo>
                  <a:pt x="0" y="0"/>
                </a:moveTo>
                <a:lnTo>
                  <a:pt x="7239000" y="0"/>
                </a:lnTo>
                <a:lnTo>
                  <a:pt x="7239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" t="0" r="-59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239250" y="25908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F973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 VURGU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9250" y="3028950"/>
            <a:ext cx="7239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Büyük başlık dikkati çeker.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39250" y="39243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  KARŞITLIK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4362450"/>
            <a:ext cx="7239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Açık zemin + koyu yazı okunur.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52578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 RİTİM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39250" y="5695950"/>
            <a:ext cx="7239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Benzer şekiller düzenli tekrarlanır.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39250" y="65913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 DENGE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39250" y="7029450"/>
            <a:ext cx="7239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Görseller ve yazılar ağırlığı paylaşır.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9250" y="7924800"/>
            <a:ext cx="66675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b="true">
                <a:solidFill>
                  <a:srgbClr val="2563E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 TİPOGRAFİ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39250" y="8362950"/>
            <a:ext cx="7239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Boyut, hizalama ve aralık düzenlidir.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09600"/>
            <a:ext cx="13335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SINAVA HAZIRLIK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504950"/>
            <a:ext cx="13335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5EEAD4"/>
                </a:solidFill>
                <a:latin typeface="Nunito Sans"/>
                <a:ea typeface="Nunito Sans"/>
                <a:cs typeface="Nunito Sans"/>
                <a:sym typeface="Nunito Sans"/>
              </a:rPr>
              <a:t>12 kısa bilgi kartı • söyle, eşleştir, hatırla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2476500"/>
            <a:ext cx="4000500" cy="1952625"/>
            <a:chOff x="0" y="0"/>
            <a:chExt cx="5334000" cy="260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43500" y="2476500"/>
            <a:ext cx="4000500" cy="1952625"/>
            <a:chOff x="0" y="0"/>
            <a:chExt cx="5334000" cy="260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0" y="2476500"/>
            <a:ext cx="4000500" cy="1952625"/>
            <a:chOff x="0" y="0"/>
            <a:chExt cx="5334000" cy="260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06500" y="2476500"/>
            <a:ext cx="4000500" cy="1952625"/>
            <a:chOff x="0" y="0"/>
            <a:chExt cx="5334000" cy="2603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2000" y="4857750"/>
            <a:ext cx="4000500" cy="1952625"/>
            <a:chOff x="0" y="0"/>
            <a:chExt cx="5334000" cy="260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43500" y="4857750"/>
            <a:ext cx="4000500" cy="1952625"/>
            <a:chOff x="0" y="0"/>
            <a:chExt cx="5334000" cy="260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0" y="4857750"/>
            <a:ext cx="4000500" cy="1952625"/>
            <a:chOff x="0" y="0"/>
            <a:chExt cx="5334000" cy="2603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06500" y="4857750"/>
            <a:ext cx="4000500" cy="1952625"/>
            <a:chOff x="0" y="0"/>
            <a:chExt cx="5334000" cy="260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2000" y="7239000"/>
            <a:ext cx="4000500" cy="1952625"/>
            <a:chOff x="0" y="0"/>
            <a:chExt cx="5334000" cy="260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43500" y="7239000"/>
            <a:ext cx="4000500" cy="1952625"/>
            <a:chOff x="0" y="0"/>
            <a:chExt cx="5334000" cy="2603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25000" y="7239000"/>
            <a:ext cx="4000500" cy="1952625"/>
            <a:chOff x="0" y="0"/>
            <a:chExt cx="5334000" cy="2603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12E81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906500" y="7239000"/>
            <a:ext cx="4000500" cy="1952625"/>
            <a:chOff x="0" y="0"/>
            <a:chExt cx="5334000" cy="2603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34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00125" y="27813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Dijital sanat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0125" y="33528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Elektronik araçlarla üretim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81625" y="27813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Dallar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81625" y="33528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Resim • 3B • animasyon • video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63125" y="27813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Araçlar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63125" y="33528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• tablet • kalem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44625" y="27813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Elemanlar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44625" y="3352800"/>
            <a:ext cx="352425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Çizgi • renk • şekil • doku • mekân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0125" y="516255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Vurgu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00125" y="573405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Dikkati önemli olana yöneltir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81625" y="516255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Denge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81625" y="573405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Görsel ağırlıkları düzenler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63125" y="516255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Ritim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63125" y="573405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Düzenli tekrar oluşturur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144625" y="516255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Karşıtlık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144625" y="573405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Farklılıkla belirginlik sağlar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00125" y="75438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Tipografi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00125" y="81153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Yazının görsel düzenidir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81625" y="75438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3B model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81625" y="81153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Genişlik + yükseklik + derinlik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63125" y="75438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Animasyon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63125" y="81153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Karelerle hareket izlenimi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144625" y="7543800"/>
            <a:ext cx="3524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Soğuk renkler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144625" y="8115300"/>
            <a:ext cx="35242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Mavi • yeşil • mavi-yeşil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666750"/>
            <a:ext cx="14287500" cy="63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721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Öğretici Mini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352550"/>
            <a:ext cx="14668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8657D"/>
                </a:solidFill>
                <a:latin typeface="Nunito Sans"/>
                <a:ea typeface="Nunito Sans"/>
                <a:cs typeface="Nunito Sans"/>
                <a:sym typeface="Nunito Sans"/>
              </a:rPr>
              <a:t>Cevaplarını ayrı bir kâğıda yaz. Bu sayfada cevap anahtarı yok!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6300" y="2076450"/>
            <a:ext cx="1047750" cy="66675"/>
            <a:chOff x="0" y="0"/>
            <a:chExt cx="1397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7000" cy="88900"/>
            </a:xfrm>
            <a:custGeom>
              <a:avLst/>
              <a:gdLst/>
              <a:ahLst/>
              <a:cxnLst/>
              <a:rect r="r" b="b" t="t" l="l"/>
              <a:pathLst>
                <a:path h="889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333625"/>
            <a:ext cx="8096250" cy="1219200"/>
            <a:chOff x="0" y="0"/>
            <a:chExt cx="10795000" cy="162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3762375"/>
            <a:ext cx="8096250" cy="1219200"/>
            <a:chOff x="0" y="0"/>
            <a:chExt cx="10795000" cy="1625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5191125"/>
            <a:ext cx="8096250" cy="1219200"/>
            <a:chOff x="0" y="0"/>
            <a:chExt cx="10795000" cy="162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7250" y="6619875"/>
            <a:ext cx="8096250" cy="1219200"/>
            <a:chOff x="0" y="0"/>
            <a:chExt cx="10795000" cy="1625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8048625"/>
            <a:ext cx="8096250" cy="1219200"/>
            <a:chOff x="0" y="0"/>
            <a:chExt cx="10795000" cy="1625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29750" y="2333625"/>
            <a:ext cx="8096250" cy="1219200"/>
            <a:chOff x="0" y="0"/>
            <a:chExt cx="10795000" cy="1625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3762375"/>
            <a:ext cx="8096250" cy="1219200"/>
            <a:chOff x="0" y="0"/>
            <a:chExt cx="10795000" cy="1625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29750" y="5191125"/>
            <a:ext cx="8096250" cy="1219200"/>
            <a:chOff x="0" y="0"/>
            <a:chExt cx="10795000" cy="1625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29750" y="6619875"/>
            <a:ext cx="8096250" cy="1219200"/>
            <a:chOff x="0" y="0"/>
            <a:chExt cx="10795000" cy="1625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29750" y="8048625"/>
            <a:ext cx="8096250" cy="1219200"/>
            <a:chOff x="0" y="0"/>
            <a:chExt cx="10795000" cy="1625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950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795000" cy="166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85850" y="24860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1. Hacimli vazo tasarlama?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Ritim  B) 3B modelleme  C) Denge  D) Fotoğraf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5850" y="391477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2. Kare kare hareket?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Animasyon  B) Tipografi  C) Doku  D) Vurgu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85850" y="53435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3. Önemli mesajı öne çıkaran?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Birlik  B) Vurgu  C) Form  D) Renk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5850" y="677227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4. Görsel ağırlıkları düzenleyen?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Denge  B) Ritim  C) Çizgi  D) Doku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5850" y="82010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5. Düzenli tekrar?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Vurgu  B) Ritim  C) Form  D) Mekân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58350" y="24860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6. Açık zemin, koyu yazı?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Birlik  B) Oran  C) Karşıtlık  D) Hareket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58350" y="391477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7. Yazı düzeni?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Doku  B) Tipografi  C) Model  D) Video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58350" y="53435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8. Soğuk renk hangisi?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Kırmızı  B) Turuncu  C) Sarı  D) Mavi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58350" y="677227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9. 3B yazılımı hangisi?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Kalem  B) Fare  C) Blender  D) Kâğıt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58350" y="8201025"/>
            <a:ext cx="7620000" cy="49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10. Büyüyünce net kalan?</a:t>
            </a:r>
          </a:p>
          <a:p>
            <a:pPr algn="l">
              <a:lnSpc>
                <a:spcPts val="1968"/>
              </a:lnSpc>
            </a:pPr>
            <a:r>
              <a:rPr lang="en-US" sz="1575">
                <a:solidFill>
                  <a:srgbClr val="17213A"/>
                </a:solidFill>
                <a:latin typeface="Nunito Sans"/>
                <a:ea typeface="Nunito Sans"/>
                <a:cs typeface="Nunito Sans"/>
                <a:sym typeface="Nunito Sans"/>
              </a:rPr>
              <a:t>A) Vektörel  B) Piksel  C) Fotoğraf  D) Raster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300" y="561975"/>
            <a:ext cx="133350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 TEKRAR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1409700"/>
            <a:ext cx="133350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5EEAD4"/>
                </a:solidFill>
                <a:latin typeface="Nunito Sans"/>
                <a:ea typeface="Nunito Sans"/>
                <a:cs typeface="Nunito Sans"/>
                <a:sym typeface="Nunito Sans"/>
              </a:rPr>
              <a:t>Anahtar ifadeyi gör → kavramı söyle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381250"/>
            <a:ext cx="7810500" cy="1143000"/>
            <a:chOff x="0" y="0"/>
            <a:chExt cx="10414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3762375"/>
            <a:ext cx="7810500" cy="1143000"/>
            <a:chOff x="0" y="0"/>
            <a:chExt cx="10414000" cy="152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5143500"/>
            <a:ext cx="7810500" cy="1143000"/>
            <a:chOff x="0" y="0"/>
            <a:chExt cx="10414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6524625"/>
            <a:ext cx="7810500" cy="1143000"/>
            <a:chOff x="0" y="0"/>
            <a:chExt cx="1041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7905750"/>
            <a:ext cx="7810500" cy="1143000"/>
            <a:chOff x="0" y="0"/>
            <a:chExt cx="10414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0" y="2381250"/>
            <a:ext cx="7810500" cy="1143000"/>
            <a:chOff x="0" y="0"/>
            <a:chExt cx="10414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0" y="3762375"/>
            <a:ext cx="7810500" cy="1143000"/>
            <a:chOff x="0" y="0"/>
            <a:chExt cx="10414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0" y="5143500"/>
            <a:ext cx="7810500" cy="1143000"/>
            <a:chOff x="0" y="0"/>
            <a:chExt cx="104140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25000" y="6524625"/>
            <a:ext cx="7810500" cy="1143000"/>
            <a:chOff x="0" y="0"/>
            <a:chExt cx="10414000" cy="152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E3A8A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5000" y="7905750"/>
            <a:ext cx="7810500" cy="1143000"/>
            <a:chOff x="0" y="0"/>
            <a:chExt cx="10414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1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4E63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414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0625" y="272415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Dikkati yöneltme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15000" y="274320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FDBA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VURGU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0625" y="410527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Görsel ağırlık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15000" y="4124325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DENGE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0625" y="548640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Düzenli tekrar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15000" y="550545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FDBA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RİTİM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0625" y="686752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Farklılıkla belirginlik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15000" y="6886575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KARŞITLIK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625" y="824865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Yazı düzeni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15000" y="826770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FDBA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TİPOGRAFİ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63125" y="272415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3B vazo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87500" y="274320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3B MODELLEME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63125" y="410527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Kare kare hareket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87500" y="4124325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FDBA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ANİMASYON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63125" y="548640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Mavi • yeşil • mavi-yeşil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287500" y="550545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SOĞUK RENKLER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763125" y="6867525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Bilgisayar • tablet • kalem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87500" y="6886575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FDBA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DİJİTAL ARAÇ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63125" y="8248650"/>
            <a:ext cx="447675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Logo • sembol • ölçekleme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287500" y="8267700"/>
            <a:ext cx="276225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800" b="true">
                <a:solidFill>
                  <a:srgbClr val="5EEAD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VEKTÖR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572000" y="9448800"/>
            <a:ext cx="91440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b="true">
                <a:solidFill>
                  <a:srgbClr val="C4B5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GÖR • DÜŞÜN • EŞLEŞTİR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DAHZDOw_cAQ</dc:identifier>
  <dcterms:modified xsi:type="dcterms:W3CDTF">2011-08-01T06:04:30Z</dcterms:modified>
  <cp:revision>1</cp:revision>
  <dc:title>Dijital Sanatlar Dersi</dc:title>
</cp:coreProperties>
</file>