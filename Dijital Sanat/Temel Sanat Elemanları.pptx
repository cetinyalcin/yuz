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eague Spartan" charset="1" panose="00000800000000000000"/>
      <p:regular r:id="rId27"/>
    </p:embeddedFont>
    <p:embeddedFont>
      <p:font typeface="Aptos" charset="1" panose="020B0004020202020204"/>
      <p:regular r:id="rId28"/>
    </p:embeddedFont>
    <p:embeddedFont>
      <p:font typeface="Aptos Bold" charset="1" panose="020B00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Eserlerin çok sayıda unsurdan oluştuğunu fark ettirin; merak uyandırın.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Gözlemin nesnel, yorumun kişisel olduğunu örneklerle anlatın.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Terimleri net ve kısa tanımlayın; şekil–biçim gibi yakın kavramları ayırın.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Çizgilerin harekete, yöne ve duyguya etkisini beden hareketleriyle canlandırın.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Şekli nesnelerin dış hattı üzerinden; trafik levhası, yaprak ve pencere gibi örneklerle somutlaştırın.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Şekil ve biçimi gerçek nesnelerle ayırt ettirin; derinlik ve hacmi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Rengin duygu ve vurgu oluşturmasını tartışın; kültürel anlamların değişebileceğini belirtin.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Gerçek nesneler getirerek dokunma ve yalnızca görme arasındaki farkı somutlaştırın.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Değerin renk olmadığını; ışık ve gölgeyle hacim verdiğini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Büyüklük, üst üste binme ve boş alanların derinlik ile kompozisyona etkisini açıklayın.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Öğrencilerin elemanların birbirini desteklediğini aynı eser üzerinde göstermelerini sağlayın.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Karşılaştırma yaptırın; bir eserde birden çok elemanın birlikte bulunabileceğini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Öğrencileri bu sırayı kullanarak sistematik ve terimlere dayalı gözlem yapmaya teşvik edin.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Önce etiketsiz görselde aktif katılım sağlayın, ardından açıklamalı sürümle karşılaştırın.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Üç farklı görseli gruplara dağıtın; öğrencilerin gözlem dilini pekiştirin.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Değerlendirmeyi not vermekten çok kavramları pekiştirmek için kullanın.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Ayırt edici ipuçlarını öğrencilerin kendi cümleleriyle tekrar etmesini sağlayın.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Konuyu bütüncül tekrar edin; bu sayfayı öğrencilerin başvuracağı görsel rehber olarak kullanın.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1047750"/>
            <a:ext cx="952500" cy="114300"/>
            <a:chOff x="0" y="0"/>
            <a:chExt cx="12700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000" cy="152400"/>
            </a:xfrm>
            <a:custGeom>
              <a:avLst/>
              <a:gdLst/>
              <a:ahLst/>
              <a:cxnLst/>
              <a:rect r="r" b="b" t="t" l="l"/>
              <a:pathLst>
                <a:path h="1524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6783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0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52500" y="1533525"/>
            <a:ext cx="7905750" cy="15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0"/>
              </a:lnSpc>
            </a:pPr>
            <a:r>
              <a:rPr lang="en-US" sz="5775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SANAT ESERLERİNİN</a:t>
            </a:r>
          </a:p>
          <a:p>
            <a:pPr algn="l">
              <a:lnSpc>
                <a:spcPts val="5890"/>
              </a:lnSpc>
            </a:pPr>
            <a:r>
              <a:rPr lang="en-US" sz="5775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GİZLİ DİLİ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" y="4162425"/>
            <a:ext cx="7239000" cy="93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600" b="true">
                <a:solidFill>
                  <a:srgbClr val="1723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Görsel Sanat Eserlerinde</a:t>
            </a:r>
          </a:p>
          <a:p>
            <a:pPr algn="l">
              <a:lnSpc>
                <a:spcPts val="3672"/>
              </a:lnSpc>
            </a:pPr>
            <a:r>
              <a:rPr lang="en-US" sz="3600" b="true">
                <a:solidFill>
                  <a:srgbClr val="1723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Temel Sanat Elemanları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6172200"/>
            <a:ext cx="666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Bir sanat eserine dikkatle baktığımızda neler görürüz?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B8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250" y="2095500"/>
            <a:ext cx="8763000" cy="6667500"/>
          </a:xfrm>
          <a:custGeom>
            <a:avLst/>
            <a:gdLst/>
            <a:ahLst/>
            <a:cxnLst/>
            <a:rect r="r" b="b" t="t" l="l"/>
            <a:pathLst>
              <a:path h="6667500" w="8763000">
                <a:moveTo>
                  <a:pt x="0" y="0"/>
                </a:moveTo>
                <a:lnTo>
                  <a:pt x="8763000" y="0"/>
                </a:lnTo>
                <a:lnTo>
                  <a:pt x="87630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" t="0" r="-57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57250" y="66675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23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Gözleme Dayalı Sanat İncelemesi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82250" y="2305050"/>
            <a:ext cx="6572250" cy="228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Neyi ilk fark ettin?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Hangi çizgiler var?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Hangi renkler kullanılmış?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Hangi şekil ve biçimler var?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Yüzey pürüzlü mü?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Boşluk nasıl kullanılmış?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82250" y="6629400"/>
            <a:ext cx="6477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GÖZLEM  Görülebilen, nesnel özellik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82250" y="7343775"/>
            <a:ext cx="6477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YORUM  Kişisel düşünce ve anlam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Temel Sanat Elemanları Nelerdir?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2286000"/>
            <a:ext cx="3810000" cy="2857500"/>
            <a:chOff x="0" y="0"/>
            <a:chExt cx="508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8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381125" y="3476625"/>
            <a:ext cx="2762250" cy="0"/>
          </a:xfrm>
          <a:prstGeom prst="line">
            <a:avLst/>
          </a:prstGeom>
          <a:ln cap="rnd" w="9525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095875" y="2286000"/>
            <a:ext cx="3810000" cy="2857500"/>
            <a:chOff x="0" y="0"/>
            <a:chExt cx="5080000" cy="381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6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77000" y="2809875"/>
            <a:ext cx="1047750" cy="1047750"/>
            <a:chOff x="0" y="0"/>
            <a:chExt cx="1397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16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34500" y="2286000"/>
            <a:ext cx="3810000" cy="2857500"/>
            <a:chOff x="0" y="0"/>
            <a:chExt cx="50800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9858375" y="3476625"/>
            <a:ext cx="2762250" cy="0"/>
          </a:xfrm>
          <a:prstGeom prst="line">
            <a:avLst/>
          </a:prstGeom>
          <a:ln cap="rnd" w="9525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573125" y="2286000"/>
            <a:ext cx="3810000" cy="2857500"/>
            <a:chOff x="0" y="0"/>
            <a:chExt cx="5080000" cy="381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6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954250" y="2809875"/>
            <a:ext cx="1047750" cy="1047750"/>
            <a:chOff x="0" y="0"/>
            <a:chExt cx="1397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E6783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57250" y="5619750"/>
            <a:ext cx="3810000" cy="2857500"/>
            <a:chOff x="0" y="0"/>
            <a:chExt cx="5080000" cy="381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381125" y="6810375"/>
            <a:ext cx="2762250" cy="0"/>
          </a:xfrm>
          <a:prstGeom prst="line">
            <a:avLst/>
          </a:prstGeom>
          <a:ln cap="rnd" w="9525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5095875" y="5619750"/>
            <a:ext cx="3810000" cy="2857500"/>
            <a:chOff x="0" y="0"/>
            <a:chExt cx="5080000" cy="381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8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6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77000" y="6143625"/>
            <a:ext cx="1047750" cy="1047750"/>
            <a:chOff x="0" y="0"/>
            <a:chExt cx="1397000" cy="139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16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34500" y="5619750"/>
            <a:ext cx="3810000" cy="2857500"/>
            <a:chOff x="0" y="0"/>
            <a:chExt cx="5080000" cy="381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>
            <a:off x="9858375" y="6810375"/>
            <a:ext cx="2762250" cy="0"/>
          </a:xfrm>
          <a:prstGeom prst="line">
            <a:avLst/>
          </a:prstGeom>
          <a:ln cap="rnd" w="9525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123950" y="4533900"/>
            <a:ext cx="3429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ÇİZGİ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362575" y="4533900"/>
            <a:ext cx="3429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ŞEKİL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01200" y="4533900"/>
            <a:ext cx="3429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BİÇİM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39825" y="4533900"/>
            <a:ext cx="3429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RENK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3950" y="7867650"/>
            <a:ext cx="3429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DOKU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362575" y="7867650"/>
            <a:ext cx="3429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DEĞER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01200" y="7867650"/>
            <a:ext cx="34290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MEKÂN &amp; BOŞLUK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Çizgi: Hareketin ve Yönün İzi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2190750"/>
            <a:ext cx="3714750" cy="2190750"/>
            <a:chOff x="0" y="0"/>
            <a:chExt cx="4953000" cy="292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476375" y="3095625"/>
            <a:ext cx="2667000" cy="0"/>
          </a:xfrm>
          <a:prstGeom prst="line">
            <a:avLst/>
          </a:prstGeom>
          <a:ln cap="rnd" w="7620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143500" y="2190750"/>
            <a:ext cx="3714750" cy="2190750"/>
            <a:chOff x="0" y="0"/>
            <a:chExt cx="4953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7000875" y="2619375"/>
            <a:ext cx="0" cy="1000125"/>
          </a:xfrm>
          <a:prstGeom prst="line">
            <a:avLst/>
          </a:prstGeom>
          <a:ln cap="flat" w="7620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334500" y="2190750"/>
            <a:ext cx="3714750" cy="2190750"/>
            <a:chOff x="0" y="0"/>
            <a:chExt cx="495300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9858375" y="2619375"/>
            <a:ext cx="2667000" cy="1000125"/>
          </a:xfrm>
          <a:prstGeom prst="line">
            <a:avLst/>
          </a:prstGeom>
          <a:ln cap="rnd" w="7620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525500" y="2190750"/>
            <a:ext cx="3714750" cy="2190750"/>
            <a:chOff x="0" y="0"/>
            <a:chExt cx="4953000" cy="292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049375" y="3095625"/>
            <a:ext cx="2667000" cy="0"/>
          </a:xfrm>
          <a:prstGeom prst="line">
            <a:avLst/>
          </a:prstGeom>
          <a:ln cap="rnd" w="7620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52500" y="5238750"/>
            <a:ext cx="3714750" cy="2190750"/>
            <a:chOff x="0" y="0"/>
            <a:chExt cx="4953000" cy="292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76375" y="6143625"/>
            <a:ext cx="2667000" cy="0"/>
          </a:xfrm>
          <a:prstGeom prst="line">
            <a:avLst/>
          </a:prstGeom>
          <a:ln cap="rnd" w="76200">
            <a:solidFill>
              <a:srgbClr val="176B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5143500" y="5238750"/>
            <a:ext cx="3714750" cy="2190750"/>
            <a:chOff x="0" y="0"/>
            <a:chExt cx="4953000" cy="292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5667375" y="6143625"/>
            <a:ext cx="2667000" cy="0"/>
          </a:xfrm>
          <a:prstGeom prst="line">
            <a:avLst/>
          </a:prstGeom>
          <a:ln cap="rnd" w="76200">
            <a:solidFill>
              <a:srgbClr val="E67832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334500" y="5238750"/>
            <a:ext cx="3714750" cy="2190750"/>
            <a:chOff x="0" y="0"/>
            <a:chExt cx="4953000" cy="292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9858375" y="6143625"/>
            <a:ext cx="2667000" cy="0"/>
          </a:xfrm>
          <a:prstGeom prst="line">
            <a:avLst/>
          </a:prstGeom>
          <a:ln cap="rnd" w="171450">
            <a:solidFill>
              <a:srgbClr val="E6783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3525500" y="5238750"/>
            <a:ext cx="3714750" cy="2190750"/>
            <a:chOff x="0" y="0"/>
            <a:chExt cx="4953000" cy="292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95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4049375" y="6143625"/>
            <a:ext cx="2667000" cy="0"/>
          </a:xfrm>
          <a:prstGeom prst="line">
            <a:avLst/>
          </a:prstGeom>
          <a:ln cap="rnd" w="28575">
            <a:solidFill>
              <a:srgbClr val="E678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190625" y="3876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Yatay — sakin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81625" y="3876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Dikey — güçlü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72625" y="3876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Çapraz — hareketli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63625" y="3876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Eğri — akıcı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625" y="6924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Dalgalı — ritmik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381625" y="6924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Kesik — aralıklı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72625" y="6924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Kalın — baskın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63625" y="6924675"/>
            <a:ext cx="3238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İnce — narin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Şekil: İki Boyutlu Görsel Alan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6250" y="2143125"/>
            <a:ext cx="9048750" cy="6381750"/>
          </a:xfrm>
          <a:custGeom>
            <a:avLst/>
            <a:gdLst/>
            <a:ahLst/>
            <a:cxnLst/>
            <a:rect r="r" b="b" t="t" l="l"/>
            <a:pathLst>
              <a:path h="6381750" w="9048750">
                <a:moveTo>
                  <a:pt x="0" y="0"/>
                </a:moveTo>
                <a:lnTo>
                  <a:pt x="9048750" y="0"/>
                </a:lnTo>
                <a:lnTo>
                  <a:pt x="9048750" y="6381750"/>
                </a:lnTo>
                <a:lnTo>
                  <a:pt x="0" y="638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" t="0" r="-18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47750" y="2724150"/>
            <a:ext cx="5334000" cy="43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 b="true">
                <a:solidFill>
                  <a:srgbClr val="168F9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GEOMETRİK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3305175"/>
            <a:ext cx="5524500" cy="76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Daire, kare, üçgen, dikdörtgen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Düzenli ve ölçülebilir.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5581650"/>
            <a:ext cx="5334000" cy="43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 b="true">
                <a:solidFill>
                  <a:srgbClr val="3B8C6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ORGANİK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6162675"/>
            <a:ext cx="5524500" cy="76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Yaprak, bulut, su lekesi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Doğadaki serbest dış hatlar.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Biçim: Üç Boyutlu Görünüş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39000" y="2000250"/>
            <a:ext cx="9906000" cy="6572250"/>
          </a:xfrm>
          <a:custGeom>
            <a:avLst/>
            <a:gdLst/>
            <a:ahLst/>
            <a:cxnLst/>
            <a:rect r="r" b="b" t="t" l="l"/>
            <a:pathLst>
              <a:path h="6572250" w="9906000">
                <a:moveTo>
                  <a:pt x="0" y="0"/>
                </a:moveTo>
                <a:lnTo>
                  <a:pt x="9906000" y="0"/>
                </a:lnTo>
                <a:lnTo>
                  <a:pt x="99060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" t="0" r="-72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47750" y="2924175"/>
            <a:ext cx="447675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168F9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ŞEKİL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3590925"/>
            <a:ext cx="4953000" cy="76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Genişlik + yükseklik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İki boyutlu, düz alan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5686425"/>
            <a:ext cx="447675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3B8C6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BİÇİM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6353175"/>
            <a:ext cx="5238750" cy="76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Genişlik + yükseklik + derinlik</a:t>
            </a:r>
          </a:p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Küre • küp • koni • silindir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Renk: Görselin Enerjisi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2500" y="1809750"/>
            <a:ext cx="7620000" cy="7239000"/>
          </a:xfrm>
          <a:custGeom>
            <a:avLst/>
            <a:gdLst/>
            <a:ahLst/>
            <a:cxnLst/>
            <a:rect r="r" b="b" t="t" l="l"/>
            <a:pathLst>
              <a:path h="7239000" w="7620000">
                <a:moveTo>
                  <a:pt x="0" y="0"/>
                </a:moveTo>
                <a:lnTo>
                  <a:pt x="7620000" y="0"/>
                </a:lnTo>
                <a:lnTo>
                  <a:pt x="7620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620250" y="2305050"/>
            <a:ext cx="619125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232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ANA RENKLER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20250" y="2733675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Kırmızı • Sarı • Mavi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20250" y="3924300"/>
            <a:ext cx="619125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232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ARA RENKLER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20250" y="4352925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Turuncu • Yeşil • Mor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20250" y="5543550"/>
            <a:ext cx="619125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232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RENK İLİŞKİLERİ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20250" y="5972175"/>
            <a:ext cx="6191250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Sıcak ↔ Soğuk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Açık ↔ Koyu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Uyum ↔ Karşıtlık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0250" y="8077200"/>
            <a:ext cx="666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E67832"/>
                </a:solidFill>
                <a:latin typeface="Aptos"/>
                <a:ea typeface="Aptos"/>
                <a:cs typeface="Aptos"/>
                <a:sym typeface="Aptos"/>
              </a:rPr>
              <a:t>Duygusal anlam kültüre göre değişebilir.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783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Doku: Yüzeyi Nasıl Algılıyoruz?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7250" y="2000250"/>
            <a:ext cx="10001250" cy="6953250"/>
          </a:xfrm>
          <a:custGeom>
            <a:avLst/>
            <a:gdLst/>
            <a:ahLst/>
            <a:cxnLst/>
            <a:rect r="r" b="b" t="t" l="l"/>
            <a:pathLst>
              <a:path h="6953250" w="10001250">
                <a:moveTo>
                  <a:pt x="0" y="0"/>
                </a:moveTo>
                <a:lnTo>
                  <a:pt x="10001250" y="0"/>
                </a:lnTo>
                <a:lnTo>
                  <a:pt x="10001250" y="6953250"/>
                </a:lnTo>
                <a:lnTo>
                  <a:pt x="0" y="6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" t="0" r="-17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1811000" y="2819400"/>
            <a:ext cx="4762500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3150" b="true">
                <a:solidFill>
                  <a:srgbClr val="3B8C6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GERÇEK DOKU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1000" y="3362325"/>
            <a:ext cx="4857750" cy="6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Dokunarak hissedilir.</a:t>
            </a:r>
          </a:p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Taş • kabuk • kumaş • cam • metal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1000" y="5676900"/>
            <a:ext cx="4762500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3150" b="true">
                <a:solidFill>
                  <a:srgbClr val="E678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GÖRSEL DOKU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1000" y="6219825"/>
            <a:ext cx="4857750" cy="6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Çizgi ve renkle yüzey hissi verir; yalnızca gözle algılanır.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783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Değer: Açıklık ve Koyuluk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7750" y="2857500"/>
            <a:ext cx="1000125" cy="1047750"/>
            <a:chOff x="0" y="0"/>
            <a:chExt cx="13335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335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47875" y="2857500"/>
            <a:ext cx="1000125" cy="1047750"/>
            <a:chOff x="0" y="0"/>
            <a:chExt cx="1333500" cy="139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3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DDDDD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335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48000" y="2857500"/>
            <a:ext cx="1000125" cy="1047750"/>
            <a:chOff x="0" y="0"/>
            <a:chExt cx="1333500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AAAAA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335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48125" y="2857500"/>
            <a:ext cx="1000125" cy="1047750"/>
            <a:chOff x="0" y="0"/>
            <a:chExt cx="13335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3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777777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335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48250" y="2857500"/>
            <a:ext cx="1000125" cy="1047750"/>
            <a:chOff x="0" y="0"/>
            <a:chExt cx="13335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3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44444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335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48375" y="2857500"/>
            <a:ext cx="1000125" cy="1047750"/>
            <a:chOff x="0" y="0"/>
            <a:chExt cx="13335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33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11111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335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096250" y="2190750"/>
            <a:ext cx="8572500" cy="6191250"/>
          </a:xfrm>
          <a:custGeom>
            <a:avLst/>
            <a:gdLst/>
            <a:ahLst/>
            <a:cxnLst/>
            <a:rect r="r" b="b" t="t" l="l"/>
            <a:pathLst>
              <a:path h="6191250" w="8572500">
                <a:moveTo>
                  <a:pt x="0" y="0"/>
                </a:moveTo>
                <a:lnTo>
                  <a:pt x="8572500" y="0"/>
                </a:lnTo>
                <a:lnTo>
                  <a:pt x="85725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5" id="25"/>
          <p:cNvSpPr txBox="true"/>
          <p:nvPr/>
        </p:nvSpPr>
        <p:spPr>
          <a:xfrm rot="0">
            <a:off x="1047750" y="4210050"/>
            <a:ext cx="1714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AÇIK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86125" y="4210050"/>
            <a:ext cx="1714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ORTA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34000" y="4210050"/>
            <a:ext cx="171450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KOYU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7750" y="5400675"/>
            <a:ext cx="5429250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E67832"/>
                </a:solidFill>
                <a:latin typeface="Aptos"/>
                <a:ea typeface="Aptos"/>
                <a:cs typeface="Aptos"/>
                <a:sym typeface="Aptos"/>
              </a:rPr>
              <a:t>Değer renk değildir.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E67832"/>
                </a:solidFill>
                <a:latin typeface="Aptos"/>
                <a:ea typeface="Aptos"/>
                <a:cs typeface="Aptos"/>
                <a:sym typeface="Aptos"/>
              </a:rPr>
              <a:t>Işığın oluşturduğu açıklık ve koyuluktur; biçime hacim verir.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57225"/>
            <a:ext cx="11430000" cy="53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3975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Mekân ve Boşluk: Nesneler Arasındaki İlişki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7250" y="1905000"/>
            <a:ext cx="11239500" cy="7048500"/>
          </a:xfrm>
          <a:custGeom>
            <a:avLst/>
            <a:gdLst/>
            <a:ahLst/>
            <a:cxnLst/>
            <a:rect r="r" b="b" t="t" l="l"/>
            <a:pathLst>
              <a:path h="7048500" w="11239500">
                <a:moveTo>
                  <a:pt x="0" y="0"/>
                </a:moveTo>
                <a:lnTo>
                  <a:pt x="11239500" y="0"/>
                </a:lnTo>
                <a:lnTo>
                  <a:pt x="11239500" y="7048500"/>
                </a:lnTo>
                <a:lnTo>
                  <a:pt x="0" y="7048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" t="0" r="-69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2763500" y="2524125"/>
            <a:ext cx="409575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625" b="true">
                <a:solidFill>
                  <a:srgbClr val="3B8C6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ÖN PLAN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3500" y="3857625"/>
            <a:ext cx="409575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625" b="true">
                <a:solidFill>
                  <a:srgbClr val="168F9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ORTA PLAN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3500" y="5191125"/>
            <a:ext cx="409575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625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ARKA PLAN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3500" y="6591300"/>
            <a:ext cx="4095750" cy="55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025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POZİTİF ALAN</a:t>
            </a:r>
          </a:p>
          <a:p>
            <a:pPr algn="l">
              <a:lnSpc>
                <a:spcPts val="2227"/>
              </a:lnSpc>
            </a:pPr>
            <a:r>
              <a:rPr lang="en-US" sz="2025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Nesnenin kapladığı 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3500" y="7829550"/>
            <a:ext cx="4095750" cy="55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02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NEGATİF ALAN</a:t>
            </a:r>
          </a:p>
          <a:p>
            <a:pPr algn="l">
              <a:lnSpc>
                <a:spcPts val="2227"/>
              </a:lnSpc>
            </a:pPr>
            <a:r>
              <a:rPr lang="en-US" sz="202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Nesneler arasındaki boşluk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57225"/>
            <a:ext cx="11430000" cy="51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1"/>
              </a:lnSpc>
            </a:pPr>
            <a:r>
              <a:rPr lang="en-US" sz="3825" b="true">
                <a:solidFill>
                  <a:srgbClr val="176B9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Temel Sanat Elemanları Birlikte Nasıl Çalışır?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7250" y="1809750"/>
            <a:ext cx="10477500" cy="7334250"/>
          </a:xfrm>
          <a:custGeom>
            <a:avLst/>
            <a:gdLst/>
            <a:ahLst/>
            <a:cxnLst/>
            <a:rect r="r" b="b" t="t" l="l"/>
            <a:pathLst>
              <a:path h="7334250" w="10477500">
                <a:moveTo>
                  <a:pt x="0" y="0"/>
                </a:moveTo>
                <a:lnTo>
                  <a:pt x="10477500" y="0"/>
                </a:lnTo>
                <a:lnTo>
                  <a:pt x="10477500" y="7334250"/>
                </a:lnTo>
                <a:lnTo>
                  <a:pt x="0" y="7334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2192000" y="2105025"/>
            <a:ext cx="4762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Çizgi → yön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0" y="3038475"/>
            <a:ext cx="4762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Şekil → alan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0" y="3971925"/>
            <a:ext cx="4762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Biçim → hacim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0" y="4905375"/>
            <a:ext cx="4762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Renk → enerji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0" y="5838825"/>
            <a:ext cx="4762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Doku → yüzey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0" y="6772275"/>
            <a:ext cx="4762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Değer → ışık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0" y="7705725"/>
            <a:ext cx="4762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Mekân → derinlik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0" y="8648700"/>
            <a:ext cx="504825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E67832"/>
                </a:solidFill>
                <a:latin typeface="Aptos"/>
                <a:ea typeface="Aptos"/>
                <a:cs typeface="Aptos"/>
                <a:sym typeface="Aptos"/>
              </a:rPr>
              <a:t>Elemanlar birbirini destekler; eser bir bütün olur.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68F9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Aynı Konu, Farklı Sanat Elemanları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7250" y="2286000"/>
            <a:ext cx="5143500" cy="5334000"/>
          </a:xfrm>
          <a:custGeom>
            <a:avLst/>
            <a:gdLst/>
            <a:ahLst/>
            <a:cxnLst/>
            <a:rect r="r" b="b" t="t" l="l"/>
            <a:pathLst>
              <a:path h="5334000" w="5143500">
                <a:moveTo>
                  <a:pt x="0" y="0"/>
                </a:moveTo>
                <a:lnTo>
                  <a:pt x="5143500" y="0"/>
                </a:lnTo>
                <a:lnTo>
                  <a:pt x="51435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" r="0" b="-2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619875" y="2286000"/>
            <a:ext cx="5143500" cy="5334000"/>
          </a:xfrm>
          <a:custGeom>
            <a:avLst/>
            <a:gdLst/>
            <a:ahLst/>
            <a:cxnLst/>
            <a:rect r="r" b="b" t="t" l="l"/>
            <a:pathLst>
              <a:path h="5334000" w="5143500">
                <a:moveTo>
                  <a:pt x="0" y="0"/>
                </a:moveTo>
                <a:lnTo>
                  <a:pt x="5143500" y="0"/>
                </a:lnTo>
                <a:lnTo>
                  <a:pt x="51435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" r="0" b="-2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82500" y="2286000"/>
            <a:ext cx="5143500" cy="5334000"/>
          </a:xfrm>
          <a:custGeom>
            <a:avLst/>
            <a:gdLst/>
            <a:ahLst/>
            <a:cxnLst/>
            <a:rect r="r" b="b" t="t" l="l"/>
            <a:pathLst>
              <a:path h="5334000" w="5143500">
                <a:moveTo>
                  <a:pt x="0" y="0"/>
                </a:moveTo>
                <a:lnTo>
                  <a:pt x="5143500" y="0"/>
                </a:lnTo>
                <a:lnTo>
                  <a:pt x="51435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" r="0" b="-27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857250" y="7962900"/>
            <a:ext cx="5143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ŞEHİR / geometrik şekil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19875" y="7962900"/>
            <a:ext cx="5143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DOĞA / eğri çizgi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82500" y="7962900"/>
            <a:ext cx="5143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NESNE / değer + doku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4500" y="9077325"/>
            <a:ext cx="14859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2025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Her görselde hangi eleman öne çıkıyor? Başka hangi elemanları da bulabilirsin?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7252A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Sanat Eserinde Gözlem Yapma Rehberi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2190750"/>
            <a:ext cx="838200" cy="838200"/>
            <a:chOff x="0" y="0"/>
            <a:chExt cx="1117600" cy="1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7" y="0"/>
                    <a:pt x="1117600" y="250183"/>
                    <a:pt x="1117600" y="558800"/>
                  </a:cubicBezTo>
                  <a:cubicBezTo>
                    <a:pt x="1117600" y="867417"/>
                    <a:pt x="867417" y="1117600"/>
                    <a:pt x="558800" y="1117600"/>
                  </a:cubicBezTo>
                  <a:cubicBezTo>
                    <a:pt x="250183" y="1117600"/>
                    <a:pt x="0" y="867417"/>
                    <a:pt x="0" y="558800"/>
                  </a:cubicBez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176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91125" y="2190750"/>
            <a:ext cx="838200" cy="838200"/>
            <a:chOff x="0" y="0"/>
            <a:chExt cx="1117600" cy="111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7" y="0"/>
                    <a:pt x="1117600" y="250183"/>
                    <a:pt x="1117600" y="558800"/>
                  </a:cubicBezTo>
                  <a:cubicBezTo>
                    <a:pt x="1117600" y="867417"/>
                    <a:pt x="867417" y="1117600"/>
                    <a:pt x="558800" y="1117600"/>
                  </a:cubicBezTo>
                  <a:cubicBezTo>
                    <a:pt x="250183" y="1117600"/>
                    <a:pt x="0" y="867417"/>
                    <a:pt x="0" y="558800"/>
                  </a:cubicBez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176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9750" y="2190750"/>
            <a:ext cx="838200" cy="838200"/>
            <a:chOff x="0" y="0"/>
            <a:chExt cx="1117600" cy="111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7" y="0"/>
                    <a:pt x="1117600" y="250183"/>
                    <a:pt x="1117600" y="558800"/>
                  </a:cubicBezTo>
                  <a:cubicBezTo>
                    <a:pt x="1117600" y="867417"/>
                    <a:pt x="867417" y="1117600"/>
                    <a:pt x="558800" y="1117600"/>
                  </a:cubicBezTo>
                  <a:cubicBezTo>
                    <a:pt x="250183" y="1117600"/>
                    <a:pt x="0" y="867417"/>
                    <a:pt x="0" y="558800"/>
                  </a:cubicBez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176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68375" y="2190750"/>
            <a:ext cx="838200" cy="838200"/>
            <a:chOff x="0" y="0"/>
            <a:chExt cx="1117600" cy="111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7" y="0"/>
                    <a:pt x="1117600" y="250183"/>
                    <a:pt x="1117600" y="558800"/>
                  </a:cubicBezTo>
                  <a:cubicBezTo>
                    <a:pt x="1117600" y="867417"/>
                    <a:pt x="867417" y="1117600"/>
                    <a:pt x="558800" y="1117600"/>
                  </a:cubicBezTo>
                  <a:cubicBezTo>
                    <a:pt x="250183" y="1117600"/>
                    <a:pt x="0" y="867417"/>
                    <a:pt x="0" y="558800"/>
                  </a:cubicBez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1176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5334000"/>
            <a:ext cx="838200" cy="838200"/>
            <a:chOff x="0" y="0"/>
            <a:chExt cx="1117600" cy="1117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7" y="0"/>
                    <a:pt x="1117600" y="250183"/>
                    <a:pt x="1117600" y="558800"/>
                  </a:cubicBezTo>
                  <a:cubicBezTo>
                    <a:pt x="1117600" y="867417"/>
                    <a:pt x="867417" y="1117600"/>
                    <a:pt x="558800" y="1117600"/>
                  </a:cubicBezTo>
                  <a:cubicBezTo>
                    <a:pt x="250183" y="1117600"/>
                    <a:pt x="0" y="867417"/>
                    <a:pt x="0" y="558800"/>
                  </a:cubicBez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1176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91125" y="5334000"/>
            <a:ext cx="838200" cy="838200"/>
            <a:chOff x="0" y="0"/>
            <a:chExt cx="1117600" cy="111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7" y="0"/>
                    <a:pt x="1117600" y="250183"/>
                    <a:pt x="1117600" y="558800"/>
                  </a:cubicBezTo>
                  <a:cubicBezTo>
                    <a:pt x="1117600" y="867417"/>
                    <a:pt x="867417" y="1117600"/>
                    <a:pt x="558800" y="1117600"/>
                  </a:cubicBezTo>
                  <a:cubicBezTo>
                    <a:pt x="250183" y="1117600"/>
                    <a:pt x="0" y="867417"/>
                    <a:pt x="0" y="558800"/>
                  </a:cubicBez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1176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0" y="5334000"/>
            <a:ext cx="838200" cy="838200"/>
            <a:chOff x="0" y="0"/>
            <a:chExt cx="1117600" cy="111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7" y="0"/>
                    <a:pt x="1117600" y="250183"/>
                    <a:pt x="1117600" y="558800"/>
                  </a:cubicBezTo>
                  <a:cubicBezTo>
                    <a:pt x="1117600" y="867417"/>
                    <a:pt x="867417" y="1117600"/>
                    <a:pt x="558800" y="1117600"/>
                  </a:cubicBezTo>
                  <a:cubicBezTo>
                    <a:pt x="250183" y="1117600"/>
                    <a:pt x="0" y="867417"/>
                    <a:pt x="0" y="558800"/>
                  </a:cubicBez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1176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500" y="3333750"/>
            <a:ext cx="16287750" cy="3480435"/>
            <a:chOff x="0" y="0"/>
            <a:chExt cx="21717000" cy="464058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16954500" y="2667000"/>
              <a:ext cx="1117600" cy="1117600"/>
              <a:chOff x="0" y="0"/>
              <a:chExt cx="1117600" cy="1117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176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7252A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1117600" cy="1174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69"/>
                  </a:lnSpc>
                </a:pPr>
                <a:r>
                  <a:rPr lang="en-US" sz="2550" b="true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8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38100"/>
              <a:ext cx="47625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Genel görünümü incele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651500" y="38100"/>
              <a:ext cx="47625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Çizgileri belirle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1303000" y="38100"/>
              <a:ext cx="47625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Şekil ve biçimleri bul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6954500" y="38100"/>
              <a:ext cx="47625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Renkleri gözlemle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4229100"/>
              <a:ext cx="47625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Dokuyu incele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651500" y="4229100"/>
              <a:ext cx="47625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Açık–koyu alanları bul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1303000" y="4229100"/>
              <a:ext cx="4762500" cy="36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5"/>
                </a:lnSpc>
              </a:pPr>
              <a:r>
                <a:rPr lang="en-US" sz="2025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Mekân ve boşluğu incele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6954500" y="4229100"/>
              <a:ext cx="47625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true">
                  <a:solidFill>
                    <a:srgbClr val="17232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Uygun terimlerle açıkla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57225"/>
            <a:ext cx="11430000" cy="60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4425" b="true">
                <a:solidFill>
                  <a:srgbClr val="7252A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Görsel Üzerinde Sanat Elemanlarını Bul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7250" y="2190750"/>
            <a:ext cx="7429500" cy="5715000"/>
          </a:xfrm>
          <a:custGeom>
            <a:avLst/>
            <a:gdLst/>
            <a:ahLst/>
            <a:cxnLst/>
            <a:rect r="r" b="b" t="t" l="l"/>
            <a:pathLst>
              <a:path h="5715000" w="7429500">
                <a:moveTo>
                  <a:pt x="0" y="0"/>
                </a:moveTo>
                <a:lnTo>
                  <a:pt x="7429500" y="0"/>
                </a:lnTo>
                <a:lnTo>
                  <a:pt x="74295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" t="0" r="-31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001250" y="2190750"/>
            <a:ext cx="7429500" cy="5715000"/>
          </a:xfrm>
          <a:custGeom>
            <a:avLst/>
            <a:gdLst/>
            <a:ahLst/>
            <a:cxnLst/>
            <a:rect r="r" b="b" t="t" l="l"/>
            <a:pathLst>
              <a:path h="5715000" w="7429500">
                <a:moveTo>
                  <a:pt x="0" y="0"/>
                </a:moveTo>
                <a:lnTo>
                  <a:pt x="7429500" y="0"/>
                </a:lnTo>
                <a:lnTo>
                  <a:pt x="74295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" t="0" r="-3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857250" y="8201025"/>
            <a:ext cx="7429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100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ÖNCE: KENDİN BUL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1250" y="8201025"/>
            <a:ext cx="742950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100" b="true">
                <a:solidFill>
                  <a:srgbClr val="7252A3"/>
                </a:solidFill>
                <a:latin typeface="Aptos Bold"/>
                <a:ea typeface="Aptos Bold"/>
                <a:cs typeface="Aptos Bold"/>
                <a:sym typeface="Aptos Bold"/>
              </a:rPr>
              <a:t>SONRA: KARŞILAŞTIR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53750" y="3724275"/>
            <a:ext cx="55245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100" b="true">
                <a:solidFill>
                  <a:srgbClr val="7252A3"/>
                </a:solidFill>
                <a:latin typeface="Aptos Bold"/>
                <a:ea typeface="Aptos Bold"/>
                <a:cs typeface="Aptos Bold"/>
                <a:sym typeface="Aptos Bold"/>
              </a:rPr>
              <a:t>ÇİZGİ  •  ŞEKİL  •  BİÇİM  •  RENK</a:t>
            </a:r>
          </a:p>
          <a:p>
            <a:pPr algn="ctr">
              <a:lnSpc>
                <a:spcPts val="2310"/>
              </a:lnSpc>
            </a:pPr>
            <a:r>
              <a:rPr lang="en-US" sz="2100" b="true">
                <a:solidFill>
                  <a:srgbClr val="7252A3"/>
                </a:solidFill>
                <a:latin typeface="Aptos Bold"/>
                <a:ea typeface="Aptos Bold"/>
                <a:cs typeface="Aptos Bold"/>
                <a:sym typeface="Aptos Bold"/>
              </a:rPr>
              <a:t>DOKU  •  DEĞER  •  MEKÂN / BOŞLUK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252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7252A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Sınıf İçi Gözlem Etkinliği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2000250"/>
            <a:ext cx="3429000" cy="2857500"/>
            <a:chOff x="0" y="0"/>
            <a:chExt cx="4572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72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3000" y="2000250"/>
            <a:ext cx="3429000" cy="2857500"/>
            <a:chOff x="0" y="0"/>
            <a:chExt cx="4572000" cy="381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3B8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72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53500" y="2000250"/>
            <a:ext cx="3429000" cy="2857500"/>
            <a:chOff x="0" y="0"/>
            <a:chExt cx="4572000" cy="381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67832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72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239750" y="1981200"/>
            <a:ext cx="4095750" cy="232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7252A3"/>
                </a:solidFill>
                <a:latin typeface="Aptos"/>
                <a:ea typeface="Aptos"/>
                <a:cs typeface="Aptos"/>
                <a:sym typeface="Aptos"/>
              </a:rPr>
              <a:t>1  En az iki çizgi türü bul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7252A3"/>
                </a:solidFill>
                <a:latin typeface="Aptos"/>
                <a:ea typeface="Aptos"/>
                <a:cs typeface="Aptos"/>
                <a:sym typeface="Aptos"/>
              </a:rPr>
              <a:t>2  Geometrik / organik şekli belirt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7252A3"/>
                </a:solidFill>
                <a:latin typeface="Aptos"/>
                <a:ea typeface="Aptos"/>
                <a:cs typeface="Aptos"/>
                <a:sym typeface="Aptos"/>
              </a:rPr>
              <a:t>3  Üç boyutlu biçimi göster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7252A3"/>
                </a:solidFill>
                <a:latin typeface="Aptos"/>
                <a:ea typeface="Aptos"/>
                <a:cs typeface="Aptos"/>
                <a:sym typeface="Aptos"/>
              </a:rPr>
              <a:t>4  Ana renkleri tespit et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7252A3"/>
                </a:solidFill>
                <a:latin typeface="Aptos"/>
                <a:ea typeface="Aptos"/>
                <a:cs typeface="Aptos"/>
                <a:sym typeface="Aptos"/>
              </a:rPr>
              <a:t>5  Dokulu alanları göster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7252A3"/>
                </a:solidFill>
                <a:latin typeface="Aptos"/>
                <a:ea typeface="Aptos"/>
                <a:cs typeface="Aptos"/>
                <a:sym typeface="Aptos"/>
              </a:rPr>
              <a:t>6  En açık / en koyu bölgeyi bul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7252A3"/>
                </a:solidFill>
                <a:latin typeface="Aptos"/>
                <a:ea typeface="Aptos"/>
                <a:cs typeface="Aptos"/>
                <a:sym typeface="Aptos"/>
              </a:rPr>
              <a:t>7  Ön plan / arka planı ayır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8750" y="6219825"/>
            <a:ext cx="11049000" cy="35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1"/>
              </a:lnSpc>
            </a:pPr>
            <a:r>
              <a:rPr lang="en-US" sz="2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KİŞİLİK GRUPLAR  •  8 DAKİKA  •  1 SÖZCÜ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4000" y="7486650"/>
            <a:ext cx="10668000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3150" b="true">
                <a:solidFill>
                  <a:srgbClr val="1723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Gözlemini bir sanat terimi kullanarak açıkla.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783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E678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Ölçme ve Değerlendirme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2000250"/>
            <a:ext cx="10668000" cy="1047750"/>
            <a:chOff x="0" y="0"/>
            <a:chExt cx="14224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3381375"/>
            <a:ext cx="10668000" cy="1047750"/>
            <a:chOff x="0" y="0"/>
            <a:chExt cx="14224000" cy="139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" y="4762500"/>
            <a:ext cx="10668000" cy="1047750"/>
            <a:chOff x="0" y="0"/>
            <a:chExt cx="14224000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6143625"/>
            <a:ext cx="10668000" cy="1047750"/>
            <a:chOff x="0" y="0"/>
            <a:chExt cx="142240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7524750"/>
            <a:ext cx="10668000" cy="1047750"/>
            <a:chOff x="0" y="0"/>
            <a:chExt cx="14224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85875" y="2247900"/>
            <a:ext cx="9810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1   Şekil mi, biçim mi?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875" y="3629025"/>
            <a:ext cx="9810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2   Gerçek mi, görsel doku mu?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875" y="5010150"/>
            <a:ext cx="9810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3   Ana / ara renkleri seç.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5875" y="6391275"/>
            <a:ext cx="9810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4   En açık ve koyu alan nerede?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5875" y="7772400"/>
            <a:ext cx="9810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5   Eserde 3 temel elemanı adlandır.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73000" y="2171700"/>
            <a:ext cx="4667250" cy="121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E67832"/>
                </a:solidFill>
                <a:latin typeface="Aptos"/>
                <a:ea typeface="Aptos"/>
                <a:cs typeface="Aptos"/>
                <a:sym typeface="Aptos"/>
              </a:rPr>
              <a:t>KISA CEVAP ANAHTARI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E67832"/>
                </a:solidFill>
                <a:latin typeface="Aptos"/>
                <a:ea typeface="Aptos"/>
                <a:cs typeface="Aptos"/>
                <a:sym typeface="Aptos"/>
              </a:rPr>
              <a:t>1 İki / üç boyut  2 Dokunma / görme  3 Kırmızı-sarı-mavi / turuncu-yeşil-mor  4 Işığa göre  5 Uygun üç terim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783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" y="666750"/>
            <a:ext cx="11430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E678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Kavramları Birbirinden Ayıralım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2095500"/>
            <a:ext cx="5143500" cy="2857500"/>
            <a:chOff x="0" y="0"/>
            <a:chExt cx="6858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8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6783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858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72250" y="2095500"/>
            <a:ext cx="5143500" cy="2857500"/>
            <a:chOff x="0" y="0"/>
            <a:chExt cx="6858000" cy="381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8F9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58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87250" y="2095500"/>
            <a:ext cx="5143500" cy="2857500"/>
            <a:chOff x="0" y="0"/>
            <a:chExt cx="6858000" cy="381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58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6783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58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14750" y="5905500"/>
            <a:ext cx="5143500" cy="2857500"/>
            <a:chOff x="0" y="0"/>
            <a:chExt cx="6858000" cy="381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8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8F9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58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9750" y="5905500"/>
            <a:ext cx="5143500" cy="2857500"/>
            <a:chOff x="0" y="0"/>
            <a:chExt cx="6858000" cy="381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6783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858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5375" y="254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ŞEKİL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71875" y="254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BİÇİM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375" y="345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2 boyut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71875" y="345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3 boyut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10375" y="254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GERÇEK DOKU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6875" y="254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GÖRSEL DOKU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10375" y="345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Dokunulur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6875" y="345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Görülür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25375" y="254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RENK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001875" y="254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DEĞER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25375" y="345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Ton / tür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001875" y="345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Açık / koyu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52875" y="635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NESNE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29375" y="635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BOŞLUK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952875" y="726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Pozitif alan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29375" y="726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Negatif alan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67875" y="635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E67832"/>
                </a:solidFill>
                <a:latin typeface="Aptos Bold"/>
                <a:ea typeface="Aptos Bold"/>
                <a:cs typeface="Aptos Bold"/>
                <a:sym typeface="Aptos Bold"/>
              </a:rPr>
              <a:t>GÖZLEM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44375" y="6353175"/>
            <a:ext cx="219075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875" b="true">
                <a:solidFill>
                  <a:srgbClr val="168F91"/>
                </a:solidFill>
                <a:latin typeface="Aptos Bold"/>
                <a:ea typeface="Aptos Bold"/>
                <a:cs typeface="Aptos Bold"/>
                <a:sym typeface="Aptos Bold"/>
              </a:rPr>
              <a:t>YORUM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67875" y="726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Nesnel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44375" y="7267575"/>
            <a:ext cx="2190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Kişisel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62750" y="3429000"/>
            <a:ext cx="4762500" cy="2857500"/>
            <a:chOff x="0" y="0"/>
            <a:chExt cx="635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50800" y="0"/>
                  </a:moveTo>
                  <a:lnTo>
                    <a:pt x="6299200" y="0"/>
                  </a:lnTo>
                  <a:cubicBezTo>
                    <a:pt x="6327256" y="0"/>
                    <a:pt x="6350000" y="22744"/>
                    <a:pt x="6350000" y="50800"/>
                  </a:cubicBezTo>
                  <a:lnTo>
                    <a:pt x="6350000" y="3759200"/>
                  </a:lnTo>
                  <a:cubicBezTo>
                    <a:pt x="6350000" y="3787256"/>
                    <a:pt x="6327256" y="3810000"/>
                    <a:pt x="6299200" y="3810000"/>
                  </a:cubicBezTo>
                  <a:lnTo>
                    <a:pt x="50800" y="3810000"/>
                  </a:lnTo>
                  <a:cubicBezTo>
                    <a:pt x="22744" y="3810000"/>
                    <a:pt x="0" y="3787256"/>
                    <a:pt x="0" y="375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76B9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6350000" cy="380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8"/>
                </a:lnSpc>
              </a:pPr>
              <a:r>
                <a:rPr lang="en-US" sz="2625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GÖRSEL SANAT ESERLERİNDE</a:t>
              </a:r>
            </a:p>
            <a:p>
              <a:pPr algn="ctr">
                <a:lnSpc>
                  <a:spcPts val="3018"/>
                </a:lnSpc>
              </a:pPr>
              <a:r>
                <a:rPr lang="en-US" sz="2625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TEMEL SANAT ELEMANLARI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1428750"/>
            <a:ext cx="4000500" cy="1809750"/>
            <a:chOff x="0" y="0"/>
            <a:chExt cx="5334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3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72250" y="857250"/>
            <a:ext cx="4000500" cy="1809750"/>
            <a:chOff x="0" y="0"/>
            <a:chExt cx="5334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6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3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77750" y="1428750"/>
            <a:ext cx="4000500" cy="1809750"/>
            <a:chOff x="0" y="0"/>
            <a:chExt cx="5334000" cy="241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3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44500" y="6858000"/>
            <a:ext cx="4000500" cy="1809750"/>
            <a:chOff x="0" y="0"/>
            <a:chExt cx="5334000" cy="241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3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6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33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53250" y="7810500"/>
            <a:ext cx="4000500" cy="1809750"/>
            <a:chOff x="0" y="0"/>
            <a:chExt cx="53340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3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000" y="6858000"/>
            <a:ext cx="4000500" cy="1809750"/>
            <a:chOff x="0" y="0"/>
            <a:chExt cx="5334000" cy="241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6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33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43000" y="4095750"/>
            <a:ext cx="4000500" cy="1809750"/>
            <a:chOff x="0" y="0"/>
            <a:chExt cx="5334000" cy="241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3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2EDF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33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81125" y="1790700"/>
            <a:ext cx="3524250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7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ÇİZGİ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1125" y="2362200"/>
            <a:ext cx="3524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Yönü izle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10375" y="1219200"/>
            <a:ext cx="3524250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ŞEKİL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10375" y="1790700"/>
            <a:ext cx="3524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Dış hattı bul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15875" y="1790700"/>
            <a:ext cx="3524250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7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BİÇİM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5875" y="2362200"/>
            <a:ext cx="3524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Hacmi ara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82625" y="7219950"/>
            <a:ext cx="3524250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RENK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82625" y="7791450"/>
            <a:ext cx="3524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Enerjiyi gör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91375" y="8172450"/>
            <a:ext cx="3524250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7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DOKU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91375" y="8743950"/>
            <a:ext cx="3524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Yüzeyi hisset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1125" y="7219950"/>
            <a:ext cx="3524250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75" b="true">
                <a:solidFill>
                  <a:srgbClr val="3B8C62"/>
                </a:solidFill>
                <a:latin typeface="Aptos Bold"/>
                <a:ea typeface="Aptos Bold"/>
                <a:cs typeface="Aptos Bold"/>
                <a:sym typeface="Aptos Bold"/>
              </a:rPr>
              <a:t>DEĞER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1125" y="7791450"/>
            <a:ext cx="3524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Işığı karşılaştır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1125" y="4457700"/>
            <a:ext cx="3524250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75" b="true">
                <a:solidFill>
                  <a:srgbClr val="176B9B"/>
                </a:solidFill>
                <a:latin typeface="Aptos Bold"/>
                <a:ea typeface="Aptos Bold"/>
                <a:cs typeface="Aptos Bold"/>
                <a:sym typeface="Aptos Bold"/>
              </a:rPr>
              <a:t>MEKÂN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1125" y="5029200"/>
            <a:ext cx="3524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17232D"/>
                </a:solidFill>
                <a:latin typeface="Aptos"/>
                <a:ea typeface="Aptos"/>
                <a:cs typeface="Aptos"/>
                <a:sym typeface="Aptos"/>
              </a:rPr>
              <a:t>Boşluğa da bak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DAHYq7saqB0</dc:identifier>
  <dcterms:modified xsi:type="dcterms:W3CDTF">2011-08-01T06:04:30Z</dcterms:modified>
  <cp:revision>1</cp:revision>
  <dc:title>Temel Sanat Elemanları</dc:title>
</cp:coreProperties>
</file>