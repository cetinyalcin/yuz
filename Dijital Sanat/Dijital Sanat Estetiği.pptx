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Roboto Bold" charset="1" panose="02000000000000000000"/>
      <p:regular r:id="rId16"/>
    </p:embeddedFont>
    <p:embeddedFont>
      <p:font typeface="Roboto" charset="1" panose="02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4.png" Type="http://schemas.openxmlformats.org/officeDocument/2006/relationships/image"/><Relationship Id="rId20" Target="../media/image32.png" Type="http://schemas.openxmlformats.org/officeDocument/2006/relationships/image"/><Relationship Id="rId21" Target="../media/image33.png" Type="http://schemas.openxmlformats.org/officeDocument/2006/relationships/image"/><Relationship Id="rId22" Target="../media/image34.png" Type="http://schemas.openxmlformats.org/officeDocument/2006/relationships/image"/><Relationship Id="rId23" Target="../media/image35.png" Type="http://schemas.openxmlformats.org/officeDocument/2006/relationships/image"/><Relationship Id="rId24" Target="../media/image36.png" Type="http://schemas.openxmlformats.org/officeDocument/2006/relationships/image"/><Relationship Id="rId25" Target="../media/image37.png" Type="http://schemas.openxmlformats.org/officeDocument/2006/relationships/image"/><Relationship Id="rId26" Target="../media/image38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png" Type="http://schemas.openxmlformats.org/officeDocument/2006/relationships/image"/><Relationship Id="rId12" Target="../media/image49.png" Type="http://schemas.openxmlformats.org/officeDocument/2006/relationships/image"/><Relationship Id="rId13" Target="../media/image50.png" Type="http://schemas.openxmlformats.org/officeDocument/2006/relationships/image"/><Relationship Id="rId14" Target="../media/image51.png" Type="http://schemas.openxmlformats.org/officeDocument/2006/relationships/image"/><Relationship Id="rId15" Target="../media/image52.png" Type="http://schemas.openxmlformats.org/officeDocument/2006/relationships/image"/><Relationship Id="rId16" Target="../media/image53.png" Type="http://schemas.openxmlformats.org/officeDocument/2006/relationships/image"/><Relationship Id="rId17" Target="../media/image54.png" Type="http://schemas.openxmlformats.org/officeDocument/2006/relationships/image"/><Relationship Id="rId18" Target="../media/image55.png" Type="http://schemas.openxmlformats.org/officeDocument/2006/relationships/image"/><Relationship Id="rId19" Target="../media/image56.png" Type="http://schemas.openxmlformats.org/officeDocument/2006/relationships/image"/><Relationship Id="rId2" Target="../media/image39.png" Type="http://schemas.openxmlformats.org/officeDocument/2006/relationships/image"/><Relationship Id="rId20" Target="../media/image57.png" Type="http://schemas.openxmlformats.org/officeDocument/2006/relationships/image"/><Relationship Id="rId21" Target="../media/image58.png" Type="http://schemas.openxmlformats.org/officeDocument/2006/relationships/image"/><Relationship Id="rId22" Target="../media/image59.png" Type="http://schemas.openxmlformats.org/officeDocument/2006/relationships/image"/><Relationship Id="rId23" Target="../media/image60.png" Type="http://schemas.openxmlformats.org/officeDocument/2006/relationships/image"/><Relationship Id="rId3" Target="../media/image40.png" Type="http://schemas.openxmlformats.org/officeDocument/2006/relationships/image"/><Relationship Id="rId4" Target="../media/image41.png" Type="http://schemas.openxmlformats.org/officeDocument/2006/relationships/image"/><Relationship Id="rId5" Target="../media/image42.png" Type="http://schemas.openxmlformats.org/officeDocument/2006/relationships/image"/><Relationship Id="rId6" Target="../media/image43.png" Type="http://schemas.openxmlformats.org/officeDocument/2006/relationships/image"/><Relationship Id="rId7" Target="../media/image44.png" Type="http://schemas.openxmlformats.org/officeDocument/2006/relationships/image"/><Relationship Id="rId8" Target="../media/image45.png" Type="http://schemas.openxmlformats.org/officeDocument/2006/relationships/image"/><Relationship Id="rId9" Target="../media/image4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1.png" Type="http://schemas.openxmlformats.org/officeDocument/2006/relationships/image"/><Relationship Id="rId3" Target="../media/image62.png" Type="http://schemas.openxmlformats.org/officeDocument/2006/relationships/image"/><Relationship Id="rId4" Target="../media/image63.png" Type="http://schemas.openxmlformats.org/officeDocument/2006/relationships/image"/><Relationship Id="rId5" Target="../media/image64.png" Type="http://schemas.openxmlformats.org/officeDocument/2006/relationships/image"/><Relationship Id="rId6" Target="../media/image6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6.png" Type="http://schemas.openxmlformats.org/officeDocument/2006/relationships/image"/><Relationship Id="rId3" Target="../media/image67.png" Type="http://schemas.openxmlformats.org/officeDocument/2006/relationships/image"/><Relationship Id="rId4" Target="../media/image68.png" Type="http://schemas.openxmlformats.org/officeDocument/2006/relationships/image"/><Relationship Id="rId5" Target="../media/image69.png" Type="http://schemas.openxmlformats.org/officeDocument/2006/relationships/image"/><Relationship Id="rId6" Target="../media/image70.png" Type="http://schemas.openxmlformats.org/officeDocument/2006/relationships/image"/><Relationship Id="rId7" Target="../media/image71.png" Type="http://schemas.openxmlformats.org/officeDocument/2006/relationships/image"/><Relationship Id="rId8" Target="../media/image7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2" Target="../media/image73.png" Type="http://schemas.openxmlformats.org/officeDocument/2006/relationships/image"/><Relationship Id="rId3" Target="../media/image74.png" Type="http://schemas.openxmlformats.org/officeDocument/2006/relationships/image"/><Relationship Id="rId4" Target="../media/image75.png" Type="http://schemas.openxmlformats.org/officeDocument/2006/relationships/image"/><Relationship Id="rId5" Target="../media/image76.png" Type="http://schemas.openxmlformats.org/officeDocument/2006/relationships/image"/><Relationship Id="rId6" Target="../media/image77.png" Type="http://schemas.openxmlformats.org/officeDocument/2006/relationships/image"/><Relationship Id="rId7" Target="../media/image78.png" Type="http://schemas.openxmlformats.org/officeDocument/2006/relationships/image"/><Relationship Id="rId8" Target="../media/image79.png" Type="http://schemas.openxmlformats.org/officeDocument/2006/relationships/image"/><Relationship Id="rId9" Target="../media/image8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png" Type="http://schemas.openxmlformats.org/officeDocument/2006/relationships/image"/><Relationship Id="rId11" Target="../media/image91.png" Type="http://schemas.openxmlformats.org/officeDocument/2006/relationships/image"/><Relationship Id="rId2" Target="../media/image82.png" Type="http://schemas.openxmlformats.org/officeDocument/2006/relationships/image"/><Relationship Id="rId3" Target="../media/image83.png" Type="http://schemas.openxmlformats.org/officeDocument/2006/relationships/image"/><Relationship Id="rId4" Target="../media/image84.png" Type="http://schemas.openxmlformats.org/officeDocument/2006/relationships/image"/><Relationship Id="rId5" Target="../media/image85.png" Type="http://schemas.openxmlformats.org/officeDocument/2006/relationships/image"/><Relationship Id="rId6" Target="../media/image86.png" Type="http://schemas.openxmlformats.org/officeDocument/2006/relationships/image"/><Relationship Id="rId7" Target="../media/image87.png" Type="http://schemas.openxmlformats.org/officeDocument/2006/relationships/image"/><Relationship Id="rId8" Target="../media/image88.png" Type="http://schemas.openxmlformats.org/officeDocument/2006/relationships/image"/><Relationship Id="rId9" Target="../media/image8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0.png" Type="http://schemas.openxmlformats.org/officeDocument/2006/relationships/image"/><Relationship Id="rId11" Target="../media/image101.png" Type="http://schemas.openxmlformats.org/officeDocument/2006/relationships/image"/><Relationship Id="rId12" Target="../media/image102.png" Type="http://schemas.openxmlformats.org/officeDocument/2006/relationships/image"/><Relationship Id="rId2" Target="../media/image92.png" Type="http://schemas.openxmlformats.org/officeDocument/2006/relationships/image"/><Relationship Id="rId3" Target="../media/image93.png" Type="http://schemas.openxmlformats.org/officeDocument/2006/relationships/image"/><Relationship Id="rId4" Target="../media/image94.png" Type="http://schemas.openxmlformats.org/officeDocument/2006/relationships/image"/><Relationship Id="rId5" Target="../media/image95.png" Type="http://schemas.openxmlformats.org/officeDocument/2006/relationships/image"/><Relationship Id="rId6" Target="../media/image96.png" Type="http://schemas.openxmlformats.org/officeDocument/2006/relationships/image"/><Relationship Id="rId7" Target="../media/image97.png" Type="http://schemas.openxmlformats.org/officeDocument/2006/relationships/image"/><Relationship Id="rId8" Target="../media/image98.png" Type="http://schemas.openxmlformats.org/officeDocument/2006/relationships/image"/><Relationship Id="rId9" Target="../media/image9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3.png" Type="http://schemas.openxmlformats.org/officeDocument/2006/relationships/image"/><Relationship Id="rId3" Target="../media/image104.png" Type="http://schemas.openxmlformats.org/officeDocument/2006/relationships/image"/><Relationship Id="rId4" Target="../media/image105.png" Type="http://schemas.openxmlformats.org/officeDocument/2006/relationships/image"/><Relationship Id="rId5" Target="../media/image106.png" Type="http://schemas.openxmlformats.org/officeDocument/2006/relationships/image"/><Relationship Id="rId6" Target="../media/image10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570574" y="0"/>
            <a:ext cx="7634584" cy="4296271"/>
          </a:xfrm>
          <a:custGeom>
            <a:avLst/>
            <a:gdLst/>
            <a:ahLst/>
            <a:cxnLst/>
            <a:rect r="r" b="b" t="t" l="l"/>
            <a:pathLst>
              <a:path h="4296271" w="7634584">
                <a:moveTo>
                  <a:pt x="0" y="0"/>
                </a:moveTo>
                <a:lnTo>
                  <a:pt x="7634584" y="0"/>
                </a:lnTo>
                <a:lnTo>
                  <a:pt x="7634584" y="4296271"/>
                </a:lnTo>
                <a:lnTo>
                  <a:pt x="0" y="42962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50220" y="2995365"/>
            <a:ext cx="6322048" cy="7291635"/>
          </a:xfrm>
          <a:custGeom>
            <a:avLst/>
            <a:gdLst/>
            <a:ahLst/>
            <a:cxnLst/>
            <a:rect r="r" b="b" t="t" l="l"/>
            <a:pathLst>
              <a:path h="7291635" w="6322048">
                <a:moveTo>
                  <a:pt x="0" y="0"/>
                </a:moveTo>
                <a:lnTo>
                  <a:pt x="6322048" y="0"/>
                </a:lnTo>
                <a:lnTo>
                  <a:pt x="6322048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278488" y="1924030"/>
            <a:ext cx="5009512" cy="5367606"/>
          </a:xfrm>
          <a:custGeom>
            <a:avLst/>
            <a:gdLst/>
            <a:ahLst/>
            <a:cxnLst/>
            <a:rect r="r" b="b" t="t" l="l"/>
            <a:pathLst>
              <a:path h="5367606" w="5009512">
                <a:moveTo>
                  <a:pt x="0" y="0"/>
                </a:moveTo>
                <a:lnTo>
                  <a:pt x="5009512" y="0"/>
                </a:lnTo>
                <a:lnTo>
                  <a:pt x="5009512" y="5367605"/>
                </a:lnTo>
                <a:lnTo>
                  <a:pt x="0" y="53676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528440" y="6428009"/>
            <a:ext cx="6759560" cy="3858991"/>
          </a:xfrm>
          <a:custGeom>
            <a:avLst/>
            <a:gdLst/>
            <a:ahLst/>
            <a:cxnLst/>
            <a:rect r="r" b="b" t="t" l="l"/>
            <a:pathLst>
              <a:path h="3858991" w="6759560">
                <a:moveTo>
                  <a:pt x="0" y="0"/>
                </a:moveTo>
                <a:lnTo>
                  <a:pt x="6759560" y="0"/>
                </a:lnTo>
                <a:lnTo>
                  <a:pt x="675956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43159" y="1189440"/>
            <a:ext cx="7298980" cy="1253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357"/>
              </a:lnSpc>
            </a:pPr>
            <a:r>
              <a:rPr lang="en-US" sz="9357" spc="-18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Dijital Sanatta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66715" y="2390024"/>
            <a:ext cx="4943381" cy="1582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10"/>
              </a:lnSpc>
            </a:pPr>
            <a:r>
              <a:rPr lang="en-US" sz="11910" spc="-238" b="true">
                <a:solidFill>
                  <a:srgbClr val="1DB0AD"/>
                </a:solidFill>
                <a:latin typeface="Roboto Bold"/>
                <a:ea typeface="Roboto Bold"/>
                <a:cs typeface="Roboto Bold"/>
                <a:sym typeface="Roboto Bold"/>
              </a:rPr>
              <a:t>Estetik: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7027" y="3875886"/>
            <a:ext cx="4912107" cy="11134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380"/>
              </a:lnSpc>
            </a:pPr>
            <a:r>
              <a:rPr lang="en-US" sz="8380" spc="-167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Bir Görseli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36147" y="4986287"/>
            <a:ext cx="8000126" cy="96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64"/>
              </a:lnSpc>
            </a:pPr>
            <a:r>
              <a:rPr lang="en-US" sz="7264" spc="-145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Güzel Yapan Nedir?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6428009"/>
            <a:ext cx="1968804" cy="218640"/>
          </a:xfrm>
          <a:custGeom>
            <a:avLst/>
            <a:gdLst/>
            <a:ahLst/>
            <a:cxnLst/>
            <a:rect r="r" b="b" t="t" l="l"/>
            <a:pathLst>
              <a:path h="218640" w="1968804">
                <a:moveTo>
                  <a:pt x="0" y="0"/>
                </a:moveTo>
                <a:lnTo>
                  <a:pt x="1968804" y="0"/>
                </a:lnTo>
                <a:lnTo>
                  <a:pt x="1968804" y="218639"/>
                </a:lnTo>
                <a:lnTo>
                  <a:pt x="0" y="2186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67267" y="6966377"/>
            <a:ext cx="7567006" cy="1080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616" b="true">
                <a:solidFill>
                  <a:srgbClr val="F0A742"/>
                </a:solidFill>
                <a:latin typeface="Roboto Bold"/>
                <a:ea typeface="Roboto Bold"/>
                <a:cs typeface="Roboto Bold"/>
                <a:sym typeface="Roboto Bold"/>
              </a:rPr>
              <a:t>Aynı konuyu anlatan iki görselden</a:t>
            </a:r>
          </a:p>
          <a:p>
            <a:pPr algn="l">
              <a:lnSpc>
                <a:spcPts val="4340"/>
              </a:lnSpc>
            </a:pPr>
            <a:r>
              <a:rPr lang="en-US" sz="3616" b="true">
                <a:solidFill>
                  <a:srgbClr val="F0A742"/>
                </a:solidFill>
                <a:latin typeface="Roboto Bold"/>
                <a:ea typeface="Roboto Bold"/>
                <a:cs typeface="Roboto Bold"/>
                <a:sym typeface="Roboto Bold"/>
              </a:rPr>
              <a:t>biri neden bize daha etkileyici gelir?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67951" y="8298519"/>
            <a:ext cx="7498638" cy="841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Estetik öğeleri fark etmek, sanatın dilini anlamamıza</a:t>
            </a:r>
          </a:p>
          <a:p>
            <a:pPr algn="l">
              <a:lnSpc>
                <a:spcPts val="3483"/>
              </a:lnSpc>
            </a:pPr>
            <a:r>
              <a:rPr lang="en-US" sz="248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 kendi bakışımızı geliştirmemize yardımcı olur.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51818" y="0"/>
            <a:ext cx="8936182" cy="10287000"/>
          </a:xfrm>
          <a:custGeom>
            <a:avLst/>
            <a:gdLst/>
            <a:ahLst/>
            <a:cxnLst/>
            <a:rect r="r" b="b" t="t" l="l"/>
            <a:pathLst>
              <a:path h="10287000" w="8936182">
                <a:moveTo>
                  <a:pt x="0" y="0"/>
                </a:moveTo>
                <a:lnTo>
                  <a:pt x="8936182" y="0"/>
                </a:lnTo>
                <a:lnTo>
                  <a:pt x="893618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4675" y="956724"/>
            <a:ext cx="8541900" cy="2506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04"/>
              </a:lnSpc>
            </a:pPr>
            <a:r>
              <a:rPr lang="en-US" sz="9078" spc="-181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Dijital Sanat </a:t>
            </a:r>
          </a:p>
          <a:p>
            <a:pPr algn="l">
              <a:lnSpc>
                <a:spcPts val="9804"/>
              </a:lnSpc>
            </a:pPr>
            <a:r>
              <a:rPr lang="en-US" sz="9078" spc="-181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ve Estetik Nedir?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4066699"/>
            <a:ext cx="1968804" cy="1727254"/>
          </a:xfrm>
          <a:custGeom>
            <a:avLst/>
            <a:gdLst/>
            <a:ahLst/>
            <a:cxnLst/>
            <a:rect r="r" b="b" t="t" l="l"/>
            <a:pathLst>
              <a:path h="1727254" w="1968804">
                <a:moveTo>
                  <a:pt x="0" y="0"/>
                </a:moveTo>
                <a:lnTo>
                  <a:pt x="1968804" y="0"/>
                </a:lnTo>
                <a:lnTo>
                  <a:pt x="196880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82842" y="4285339"/>
            <a:ext cx="1104718" cy="1289974"/>
          </a:xfrm>
          <a:custGeom>
            <a:avLst/>
            <a:gdLst/>
            <a:ahLst/>
            <a:cxnLst/>
            <a:rect r="r" b="b" t="t" l="l"/>
            <a:pathLst>
              <a:path h="1289974" w="1104718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997602" y="3979083"/>
            <a:ext cx="2956199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true">
                <a:solidFill>
                  <a:srgbClr val="7F6FCD"/>
                </a:solidFill>
                <a:latin typeface="Roboto Bold"/>
                <a:ea typeface="Roboto Bold"/>
                <a:cs typeface="Roboto Bold"/>
                <a:sym typeface="Roboto Bold"/>
              </a:rPr>
              <a:t>DIJITAL SANAT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75065" y="4600902"/>
            <a:ext cx="5209947" cy="94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Bilgisayar, tablet ve dijital araçlarla oluşturulan sanat eserleridir.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45330" y="5990729"/>
            <a:ext cx="1968804" cy="1945894"/>
          </a:xfrm>
          <a:custGeom>
            <a:avLst/>
            <a:gdLst/>
            <a:ahLst/>
            <a:cxnLst/>
            <a:rect r="r" b="b" t="t" l="l"/>
            <a:pathLst>
              <a:path h="1945894" w="196880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82842" y="6428009"/>
            <a:ext cx="1104718" cy="1289974"/>
          </a:xfrm>
          <a:custGeom>
            <a:avLst/>
            <a:gdLst/>
            <a:ahLst/>
            <a:cxnLst/>
            <a:rect r="r" b="b" t="t" l="l"/>
            <a:pathLst>
              <a:path h="1289974" w="1104718">
                <a:moveTo>
                  <a:pt x="0" y="0"/>
                </a:moveTo>
                <a:lnTo>
                  <a:pt x="1104718" y="0"/>
                </a:lnTo>
                <a:lnTo>
                  <a:pt x="1104718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011045" y="6117723"/>
            <a:ext cx="1611886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true">
                <a:solidFill>
                  <a:srgbClr val="3FC6C6"/>
                </a:solidFill>
                <a:latin typeface="Roboto Bold"/>
                <a:ea typeface="Roboto Bold"/>
                <a:cs typeface="Roboto Bold"/>
                <a:sym typeface="Roboto Bold"/>
              </a:rPr>
              <a:t>ESTETIK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72365" y="6739541"/>
            <a:ext cx="5479933" cy="94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5"/>
              </a:lnSpc>
            </a:pPr>
            <a:r>
              <a:rPr lang="en-US" sz="262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Bir eserin görünüşü, uyumu, etkisi ve izleyicide oluşturduğu duygudur.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5330" y="8133399"/>
            <a:ext cx="8498670" cy="1519546"/>
          </a:xfrm>
          <a:custGeom>
            <a:avLst/>
            <a:gdLst/>
            <a:ahLst/>
            <a:cxnLst/>
            <a:rect r="r" b="b" t="t" l="l"/>
            <a:pathLst>
              <a:path h="1519546" w="8498670">
                <a:moveTo>
                  <a:pt x="0" y="0"/>
                </a:moveTo>
                <a:lnTo>
                  <a:pt x="8498670" y="0"/>
                </a:lnTo>
                <a:lnTo>
                  <a:pt x="8498670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39490" y="8361788"/>
            <a:ext cx="5886186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 b="true">
                <a:solidFill>
                  <a:srgbClr val="151825"/>
                </a:solidFill>
                <a:latin typeface="Roboto Bold"/>
                <a:ea typeface="Roboto Bold"/>
                <a:cs typeface="Roboto Bold"/>
                <a:sym typeface="Roboto Bold"/>
              </a:rPr>
              <a:t>Estetik sadece güzellik değildir.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6834" y="8928369"/>
            <a:ext cx="7151743" cy="535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6"/>
              </a:lnSpc>
            </a:pPr>
            <a:r>
              <a:rPr lang="en-US" sz="2970">
                <a:solidFill>
                  <a:srgbClr val="151825"/>
                </a:solidFill>
                <a:latin typeface="Roboto"/>
                <a:ea typeface="Roboto"/>
                <a:cs typeface="Roboto"/>
                <a:sym typeface="Roboto"/>
              </a:rPr>
              <a:t>Farklı eserler, farklı duygular uyandırabilir.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9925" y="547277"/>
            <a:ext cx="8337921" cy="914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5"/>
              </a:lnSpc>
            </a:pPr>
            <a:r>
              <a:rPr lang="en-US" sz="6785" spc="-135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Estetik Öğeler Haritası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382" y="1462125"/>
            <a:ext cx="7592311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Dijital sanat eserlerinin güzelliğini oluşturan temel öğeler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2142670"/>
            <a:ext cx="2843828" cy="3858991"/>
          </a:xfrm>
          <a:custGeom>
            <a:avLst/>
            <a:gdLst/>
            <a:ahLst/>
            <a:cxnLst/>
            <a:rect r="r" b="b" t="t" l="l"/>
            <a:pathLst>
              <a:path h="3858991" w="2843828">
                <a:moveTo>
                  <a:pt x="0" y="0"/>
                </a:moveTo>
                <a:lnTo>
                  <a:pt x="2843828" y="0"/>
                </a:lnTo>
                <a:lnTo>
                  <a:pt x="2843828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15546" y="2448517"/>
            <a:ext cx="775891" cy="33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b="true" sz="2443" spc="-48">
                <a:solidFill>
                  <a:srgbClr val="7762C8"/>
                </a:solidFill>
                <a:latin typeface="Roboto Bold"/>
                <a:ea typeface="Roboto Bold"/>
                <a:cs typeface="Roboto Bold"/>
                <a:sym typeface="Roboto Bold"/>
              </a:rPr>
              <a:t>RENK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4956" y="2896169"/>
            <a:ext cx="1834843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Duyguları etkileyen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tonlar ve renk kullanımıdır.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4066699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259464" y="2142670"/>
            <a:ext cx="3062584" cy="3858991"/>
          </a:xfrm>
          <a:custGeom>
            <a:avLst/>
            <a:gdLst/>
            <a:ahLst/>
            <a:cxnLst/>
            <a:rect r="r" b="b" t="t" l="l"/>
            <a:pathLst>
              <a:path h="3858991" w="3062584">
                <a:moveTo>
                  <a:pt x="0" y="0"/>
                </a:moveTo>
                <a:lnTo>
                  <a:pt x="3062584" y="0"/>
                </a:lnTo>
                <a:lnTo>
                  <a:pt x="3062584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08777" y="2466898"/>
            <a:ext cx="774642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40C2B5"/>
                </a:solidFill>
                <a:latin typeface="Roboto Bold"/>
                <a:ea typeface="Roboto Bold"/>
                <a:cs typeface="Roboto Bold"/>
                <a:sym typeface="Roboto Bold"/>
              </a:rPr>
              <a:t>ÇİZGİ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93337" y="2896169"/>
            <a:ext cx="2318684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Gözün yönünü belirleyen ince ya da kalın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hatlardır.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3478220" y="4066699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092354" y="2142670"/>
            <a:ext cx="3051646" cy="3858991"/>
          </a:xfrm>
          <a:custGeom>
            <a:avLst/>
            <a:gdLst/>
            <a:ahLst/>
            <a:cxnLst/>
            <a:rect r="r" b="b" t="t" l="l"/>
            <a:pathLst>
              <a:path h="3858991" w="3051646">
                <a:moveTo>
                  <a:pt x="0" y="0"/>
                </a:moveTo>
                <a:lnTo>
                  <a:pt x="3051646" y="0"/>
                </a:lnTo>
                <a:lnTo>
                  <a:pt x="3051646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74819" y="2466898"/>
            <a:ext cx="813419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E68F2F"/>
                </a:solidFill>
                <a:latin typeface="Roboto Bold"/>
                <a:ea typeface="Roboto Bold"/>
                <a:cs typeface="Roboto Bold"/>
                <a:sym typeface="Roboto Bold"/>
              </a:rPr>
              <a:t>ŞEKİL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463378" y="2896169"/>
            <a:ext cx="1957533" cy="602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Belirli sınırları olan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iki boyutlu alanlardır.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311110" y="4066699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144000" y="2142670"/>
            <a:ext cx="2832890" cy="3858991"/>
          </a:xfrm>
          <a:custGeom>
            <a:avLst/>
            <a:gdLst/>
            <a:ahLst/>
            <a:cxnLst/>
            <a:rect r="r" b="b" t="t" l="l"/>
            <a:pathLst>
              <a:path h="3858991" w="2832890">
                <a:moveTo>
                  <a:pt x="0" y="0"/>
                </a:moveTo>
                <a:lnTo>
                  <a:pt x="2832890" y="0"/>
                </a:lnTo>
                <a:lnTo>
                  <a:pt x="283289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67682" y="2466898"/>
            <a:ext cx="848995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D63062"/>
                </a:solidFill>
                <a:latin typeface="Roboto Bold"/>
                <a:ea typeface="Roboto Bold"/>
                <a:cs typeface="Roboto Bold"/>
                <a:sym typeface="Roboto Bold"/>
              </a:rPr>
              <a:t>BİÇİM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358449" y="2896169"/>
            <a:ext cx="1772326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Hacim ve derinlik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kazanın üç boyutlu şekillerdir.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144000" y="4066699"/>
            <a:ext cx="2614134" cy="1727254"/>
          </a:xfrm>
          <a:custGeom>
            <a:avLst/>
            <a:gdLst/>
            <a:ahLst/>
            <a:cxnLst/>
            <a:rect r="r" b="b" t="t" l="l"/>
            <a:pathLst>
              <a:path h="1727254" w="2614134">
                <a:moveTo>
                  <a:pt x="0" y="0"/>
                </a:moveTo>
                <a:lnTo>
                  <a:pt x="2614134" y="0"/>
                </a:lnTo>
                <a:lnTo>
                  <a:pt x="261413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965952" y="2142670"/>
            <a:ext cx="2843828" cy="3858991"/>
          </a:xfrm>
          <a:custGeom>
            <a:avLst/>
            <a:gdLst/>
            <a:ahLst/>
            <a:cxnLst/>
            <a:rect r="r" b="b" t="t" l="l"/>
            <a:pathLst>
              <a:path h="3858991" w="2843828">
                <a:moveTo>
                  <a:pt x="0" y="0"/>
                </a:moveTo>
                <a:lnTo>
                  <a:pt x="2843828" y="0"/>
                </a:lnTo>
                <a:lnTo>
                  <a:pt x="2843828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2261329" y="2448517"/>
            <a:ext cx="806130" cy="33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b="true" sz="2443" spc="-48">
                <a:solidFill>
                  <a:srgbClr val="40C2B5"/>
                </a:solidFill>
                <a:latin typeface="Roboto Bold"/>
                <a:ea typeface="Roboto Bold"/>
                <a:cs typeface="Roboto Bold"/>
                <a:sym typeface="Roboto Bold"/>
              </a:rPr>
              <a:t>DOKU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249661" y="2896170"/>
            <a:ext cx="1973008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Yüzeyin pürüzlü, düz, yumuşak gibi hissini oluşturur.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2184708" y="4066699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4798842" y="2142670"/>
            <a:ext cx="3062584" cy="3858991"/>
          </a:xfrm>
          <a:custGeom>
            <a:avLst/>
            <a:gdLst/>
            <a:ahLst/>
            <a:cxnLst/>
            <a:rect r="r" b="b" t="t" l="l"/>
            <a:pathLst>
              <a:path h="3858991" w="3062584">
                <a:moveTo>
                  <a:pt x="0" y="0"/>
                </a:moveTo>
                <a:lnTo>
                  <a:pt x="3062584" y="0"/>
                </a:lnTo>
                <a:lnTo>
                  <a:pt x="3062584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5146071" y="2466898"/>
            <a:ext cx="1653876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E68F2F"/>
                </a:solidFill>
                <a:latin typeface="Roboto Bold"/>
                <a:ea typeface="Roboto Bold"/>
                <a:cs typeface="Roboto Bold"/>
                <a:sym typeface="Roboto Bold"/>
              </a:rPr>
              <a:t>IŞIK-GÖLGE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140137" y="2896170"/>
            <a:ext cx="2247197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Işığın yönü ve şiddetiyle derinlik ve gerçekçilik sağlar.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5017598" y="4066699"/>
            <a:ext cx="2625072" cy="1727254"/>
          </a:xfrm>
          <a:custGeom>
            <a:avLst/>
            <a:gdLst/>
            <a:ahLst/>
            <a:cxnLst/>
            <a:rect r="r" b="b" t="t" l="l"/>
            <a:pathLst>
              <a:path h="1727254" w="2625072">
                <a:moveTo>
                  <a:pt x="0" y="0"/>
                </a:moveTo>
                <a:lnTo>
                  <a:pt x="2625072" y="0"/>
                </a:lnTo>
                <a:lnTo>
                  <a:pt x="2625072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426574" y="5990729"/>
            <a:ext cx="2843828" cy="3869923"/>
          </a:xfrm>
          <a:custGeom>
            <a:avLst/>
            <a:gdLst/>
            <a:ahLst/>
            <a:cxnLst/>
            <a:rect r="r" b="b" t="t" l="l"/>
            <a:pathLst>
              <a:path h="3869923" w="2843828">
                <a:moveTo>
                  <a:pt x="0" y="0"/>
                </a:moveTo>
                <a:lnTo>
                  <a:pt x="2843828" y="0"/>
                </a:lnTo>
                <a:lnTo>
                  <a:pt x="284382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711693" y="6367656"/>
            <a:ext cx="1161168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D63062"/>
                </a:solidFill>
                <a:latin typeface="Roboto Bold"/>
                <a:ea typeface="Roboto Bold"/>
                <a:cs typeface="Roboto Bold"/>
                <a:sym typeface="Roboto Bold"/>
              </a:rPr>
              <a:t>BOŞLUK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01314" y="6796927"/>
            <a:ext cx="2199082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Nefes alanı oluşturarak odak noktayı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giçlendirir.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645330" y="7925691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3259464" y="5990729"/>
            <a:ext cx="3062584" cy="3869923"/>
          </a:xfrm>
          <a:custGeom>
            <a:avLst/>
            <a:gdLst/>
            <a:ahLst/>
            <a:cxnLst/>
            <a:rect r="r" b="b" t="t" l="l"/>
            <a:pathLst>
              <a:path h="3869923" w="3062584">
                <a:moveTo>
                  <a:pt x="0" y="0"/>
                </a:moveTo>
                <a:lnTo>
                  <a:pt x="3062584" y="0"/>
                </a:lnTo>
                <a:lnTo>
                  <a:pt x="306258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3595317" y="6796927"/>
            <a:ext cx="2120664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Ögelerin görsel olarak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eşit ağırlıkta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dağılmasıdır.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3478220" y="7925691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092354" y="5990729"/>
            <a:ext cx="3051646" cy="3869923"/>
          </a:xfrm>
          <a:custGeom>
            <a:avLst/>
            <a:gdLst/>
            <a:ahLst/>
            <a:cxnLst/>
            <a:rect r="r" b="b" t="t" l="l"/>
            <a:pathLst>
              <a:path h="3869923" w="3051646">
                <a:moveTo>
                  <a:pt x="0" y="0"/>
                </a:moveTo>
                <a:lnTo>
                  <a:pt x="3051646" y="0"/>
                </a:lnTo>
                <a:lnTo>
                  <a:pt x="305164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37" id="37"/>
          <p:cNvSpPr txBox="true"/>
          <p:nvPr/>
        </p:nvSpPr>
        <p:spPr>
          <a:xfrm rot="0">
            <a:off x="6466976" y="6367656"/>
            <a:ext cx="1597674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40C2B5"/>
                </a:solidFill>
                <a:latin typeface="Roboto Bold"/>
                <a:ea typeface="Roboto Bold"/>
                <a:cs typeface="Roboto Bold"/>
                <a:sym typeface="Roboto Bold"/>
              </a:rPr>
              <a:t>KONTRAST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464381" y="6796927"/>
            <a:ext cx="1857247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Farklılık oluşturarak dikkat çekmeyi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sağlar.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6311110" y="7925691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40" id="40"/>
          <p:cNvSpPr/>
          <p:nvPr/>
        </p:nvSpPr>
        <p:spPr>
          <a:xfrm flipH="false" flipV="false" rot="0">
            <a:off x="9144000" y="5990729"/>
            <a:ext cx="2832890" cy="3869923"/>
          </a:xfrm>
          <a:custGeom>
            <a:avLst/>
            <a:gdLst/>
            <a:ahLst/>
            <a:cxnLst/>
            <a:rect r="r" b="b" t="t" l="l"/>
            <a:pathLst>
              <a:path h="3869923" w="2832890">
                <a:moveTo>
                  <a:pt x="0" y="0"/>
                </a:moveTo>
                <a:lnTo>
                  <a:pt x="2832890" y="0"/>
                </a:lnTo>
                <a:lnTo>
                  <a:pt x="2832890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9355444" y="6367656"/>
            <a:ext cx="2072776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E68F2F"/>
                </a:solidFill>
                <a:latin typeface="Roboto Bold"/>
                <a:ea typeface="Roboto Bold"/>
                <a:cs typeface="Roboto Bold"/>
                <a:sym typeface="Roboto Bold"/>
              </a:rPr>
              <a:t>ORAN-ORANTI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354984" y="6796927"/>
            <a:ext cx="2118742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Büyüklüklerin birbiriyle uyumlu ilişki içinde olmasıdır.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9144000" y="7925691"/>
            <a:ext cx="2614134" cy="1934962"/>
          </a:xfrm>
          <a:custGeom>
            <a:avLst/>
            <a:gdLst/>
            <a:ahLst/>
            <a:cxnLst/>
            <a:rect r="r" b="b" t="t" l="l"/>
            <a:pathLst>
              <a:path h="1934962" w="2614134">
                <a:moveTo>
                  <a:pt x="0" y="0"/>
                </a:moveTo>
                <a:lnTo>
                  <a:pt x="2614134" y="0"/>
                </a:lnTo>
                <a:lnTo>
                  <a:pt x="2614134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1965952" y="5990729"/>
            <a:ext cx="2843828" cy="3869923"/>
          </a:xfrm>
          <a:custGeom>
            <a:avLst/>
            <a:gdLst/>
            <a:ahLst/>
            <a:cxnLst/>
            <a:rect r="r" b="b" t="t" l="l"/>
            <a:pathLst>
              <a:path h="3869923" w="2843828">
                <a:moveTo>
                  <a:pt x="0" y="0"/>
                </a:moveTo>
                <a:lnTo>
                  <a:pt x="2843828" y="0"/>
                </a:lnTo>
                <a:lnTo>
                  <a:pt x="284382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2247656" y="6367656"/>
            <a:ext cx="2173455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7762C8"/>
                </a:solidFill>
                <a:latin typeface="Roboto Bold"/>
                <a:ea typeface="Roboto Bold"/>
                <a:cs typeface="Roboto Bold"/>
                <a:sym typeface="Roboto Bold"/>
              </a:rPr>
              <a:t>KOMPOZISYON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2245364" y="6796927"/>
            <a:ext cx="2402645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Ögelerin bir araya gelerek anlamlı bir bütün oluşturmasıdır.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184708" y="7925691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14798842" y="5990729"/>
            <a:ext cx="3062584" cy="3869923"/>
          </a:xfrm>
          <a:custGeom>
            <a:avLst/>
            <a:gdLst/>
            <a:ahLst/>
            <a:cxnLst/>
            <a:rect r="r" b="b" t="t" l="l"/>
            <a:pathLst>
              <a:path h="3869923" w="3062584">
                <a:moveTo>
                  <a:pt x="0" y="0"/>
                </a:moveTo>
                <a:lnTo>
                  <a:pt x="3062584" y="0"/>
                </a:lnTo>
                <a:lnTo>
                  <a:pt x="3062584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5146990" y="6367656"/>
            <a:ext cx="1561917" cy="319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96"/>
              </a:lnSpc>
            </a:pPr>
            <a:r>
              <a:rPr lang="en-US" b="true" sz="2496" spc="-49">
                <a:solidFill>
                  <a:srgbClr val="40C2B5"/>
                </a:solidFill>
                <a:latin typeface="Roboto Bold"/>
                <a:ea typeface="Roboto Bold"/>
                <a:cs typeface="Roboto Bold"/>
                <a:sym typeface="Roboto Bold"/>
              </a:rPr>
              <a:t>TİPOGRAFİ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5144231" y="6796927"/>
            <a:ext cx="1837829" cy="9059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Yazı karakterleriyle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anlam ve duygu </a:t>
            </a:r>
          </a:p>
          <a:p>
            <a:pPr algn="l">
              <a:lnSpc>
                <a:spcPts val="2425"/>
              </a:lnSpc>
            </a:pPr>
            <a:r>
              <a:rPr lang="en-US" sz="1617" spc="-15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aktarmaktır.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15017598" y="7925691"/>
            <a:ext cx="2625072" cy="1934962"/>
          </a:xfrm>
          <a:custGeom>
            <a:avLst/>
            <a:gdLst/>
            <a:ahLst/>
            <a:cxnLst/>
            <a:rect r="r" b="b" t="t" l="l"/>
            <a:pathLst>
              <a:path h="1934962" w="2625072">
                <a:moveTo>
                  <a:pt x="0" y="0"/>
                </a:moveTo>
                <a:lnTo>
                  <a:pt x="2625072" y="0"/>
                </a:lnTo>
                <a:lnTo>
                  <a:pt x="2625072" y="1934961"/>
                </a:lnTo>
                <a:lnTo>
                  <a:pt x="0" y="1934961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 l="0" t="0" r="0" b="0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3606893" y="6349275"/>
            <a:ext cx="963015" cy="33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b="true" sz="2443" spc="-48">
                <a:solidFill>
                  <a:srgbClr val="3B7DDC"/>
                </a:solidFill>
                <a:latin typeface="Roboto Bold"/>
                <a:ea typeface="Roboto Bold"/>
                <a:cs typeface="Roboto Bold"/>
                <a:sym typeface="Roboto Bold"/>
              </a:rPr>
              <a:t>DENGE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87845" y="914366"/>
            <a:ext cx="5509230" cy="197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2"/>
              </a:lnSpc>
            </a:pPr>
            <a:r>
              <a:rPr lang="en-US" sz="7682" spc="-1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Renk ve</a:t>
            </a:r>
          </a:p>
          <a:p>
            <a:pPr algn="l">
              <a:lnSpc>
                <a:spcPts val="7682"/>
              </a:lnSpc>
            </a:pPr>
            <a:r>
              <a:rPr lang="en-US" sz="7682" spc="-153" b="true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Renk Uyumu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3195" y="2948770"/>
            <a:ext cx="5653119" cy="154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9"/>
              </a:lnSpc>
            </a:pPr>
            <a:r>
              <a:rPr lang="en-US" sz="2759" spc="-55">
                <a:solidFill>
                  <a:srgbClr val="D6D6D6"/>
                </a:solidFill>
                <a:latin typeface="Roboto"/>
                <a:ea typeface="Roboto"/>
                <a:cs typeface="Roboto"/>
                <a:sym typeface="Roboto"/>
              </a:rPr>
              <a:t>Renkler, dijital sanat eserlerinin görünüşünü ve hissettirdiği duyguyu güçlendirir.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956440" y="634055"/>
            <a:ext cx="3718852" cy="3662216"/>
          </a:xfrm>
          <a:custGeom>
            <a:avLst/>
            <a:gdLst/>
            <a:ahLst/>
            <a:cxnLst/>
            <a:rect r="r" b="b" t="t" l="l"/>
            <a:pathLst>
              <a:path h="3662216" w="3718852">
                <a:moveTo>
                  <a:pt x="0" y="0"/>
                </a:moveTo>
                <a:lnTo>
                  <a:pt x="3718852" y="0"/>
                </a:lnTo>
                <a:lnTo>
                  <a:pt x="3718852" y="3662216"/>
                </a:lnTo>
                <a:lnTo>
                  <a:pt x="0" y="36622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017712" y="829570"/>
            <a:ext cx="1938152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spc="-46">
                <a:solidFill>
                  <a:srgbClr val="E8A937"/>
                </a:solidFill>
                <a:latin typeface="Roboto Bold"/>
                <a:ea typeface="Roboto Bold"/>
                <a:cs typeface="Roboto Bold"/>
                <a:sym typeface="Roboto Bold"/>
              </a:rPr>
              <a:t>ANA RENKLER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883110" y="1279043"/>
            <a:ext cx="875024" cy="1082267"/>
          </a:xfrm>
          <a:custGeom>
            <a:avLst/>
            <a:gdLst/>
            <a:ahLst/>
            <a:cxnLst/>
            <a:rect r="r" b="b" t="t" l="l"/>
            <a:pathLst>
              <a:path h="1082267" w="875024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747196" y="1279043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622220" y="1279043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1017893" y="2501323"/>
            <a:ext cx="1920066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spc="-46">
                <a:solidFill>
                  <a:srgbClr val="3CA2AD"/>
                </a:solidFill>
                <a:latin typeface="Roboto Bold"/>
                <a:ea typeface="Roboto Bold"/>
                <a:cs typeface="Roboto Bold"/>
                <a:sym typeface="Roboto Bold"/>
              </a:rPr>
              <a:t>ARA RENKLER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883110" y="2995365"/>
            <a:ext cx="875024" cy="863627"/>
          </a:xfrm>
          <a:custGeom>
            <a:avLst/>
            <a:gdLst/>
            <a:ahLst/>
            <a:cxnLst/>
            <a:rect r="r" b="b" t="t" l="l"/>
            <a:pathLst>
              <a:path h="863627" w="875024">
                <a:moveTo>
                  <a:pt x="0" y="0"/>
                </a:moveTo>
                <a:lnTo>
                  <a:pt x="875024" y="0"/>
                </a:lnTo>
                <a:lnTo>
                  <a:pt x="875024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747196" y="2995365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22220" y="2995365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923818" y="852695"/>
            <a:ext cx="229694" cy="3006296"/>
          </a:xfrm>
          <a:custGeom>
            <a:avLst/>
            <a:gdLst/>
            <a:ahLst/>
            <a:cxnLst/>
            <a:rect r="r" b="b" t="t" l="l"/>
            <a:pathLst>
              <a:path h="3006296" w="229694">
                <a:moveTo>
                  <a:pt x="0" y="0"/>
                </a:moveTo>
                <a:lnTo>
                  <a:pt x="229694" y="0"/>
                </a:lnTo>
                <a:lnTo>
                  <a:pt x="22969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685423" y="829570"/>
            <a:ext cx="2177269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spc="-46">
                <a:solidFill>
                  <a:srgbClr val="E88B31"/>
                </a:solidFill>
                <a:latin typeface="Roboto Bold"/>
                <a:ea typeface="Roboto Bold"/>
                <a:cs typeface="Roboto Bold"/>
                <a:sym typeface="Roboto Bold"/>
              </a:rPr>
              <a:t>SICAK RENKLER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4580086" y="1279043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455110" y="1279043"/>
            <a:ext cx="1093780" cy="1082267"/>
          </a:xfrm>
          <a:custGeom>
            <a:avLst/>
            <a:gdLst/>
            <a:ahLst/>
            <a:cxnLst/>
            <a:rect r="r" b="b" t="t" l="l"/>
            <a:pathLst>
              <a:path h="1082267" w="1093780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319196" y="1279043"/>
            <a:ext cx="1104718" cy="1082267"/>
          </a:xfrm>
          <a:custGeom>
            <a:avLst/>
            <a:gdLst/>
            <a:ahLst/>
            <a:cxnLst/>
            <a:rect r="r" b="b" t="t" l="l"/>
            <a:pathLst>
              <a:path h="1082267" w="1104718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684068" y="2501323"/>
            <a:ext cx="2312729" cy="416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b="true" sz="2311" spc="-46">
                <a:solidFill>
                  <a:srgbClr val="3CA2AD"/>
                </a:solidFill>
                <a:latin typeface="Roboto Bold"/>
                <a:ea typeface="Roboto Bold"/>
                <a:cs typeface="Roboto Bold"/>
                <a:sym typeface="Roboto Bold"/>
              </a:rPr>
              <a:t>SOĞUK RENKLER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580086" y="2995365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455110" y="2995365"/>
            <a:ext cx="1093780" cy="863627"/>
          </a:xfrm>
          <a:custGeom>
            <a:avLst/>
            <a:gdLst/>
            <a:ahLst/>
            <a:cxnLst/>
            <a:rect r="r" b="b" t="t" l="l"/>
            <a:pathLst>
              <a:path h="863627" w="1093780">
                <a:moveTo>
                  <a:pt x="0" y="0"/>
                </a:moveTo>
                <a:lnTo>
                  <a:pt x="1093780" y="0"/>
                </a:lnTo>
                <a:lnTo>
                  <a:pt x="1093780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6319196" y="2995365"/>
            <a:ext cx="1104718" cy="863627"/>
          </a:xfrm>
          <a:custGeom>
            <a:avLst/>
            <a:gdLst/>
            <a:ahLst/>
            <a:cxnLst/>
            <a:rect r="r" b="b" t="t" l="l"/>
            <a:pathLst>
              <a:path h="863627" w="1104718">
                <a:moveTo>
                  <a:pt x="0" y="0"/>
                </a:moveTo>
                <a:lnTo>
                  <a:pt x="1104718" y="0"/>
                </a:lnTo>
                <a:lnTo>
                  <a:pt x="110471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426574" y="4919394"/>
            <a:ext cx="5676718" cy="1300906"/>
          </a:xfrm>
          <a:custGeom>
            <a:avLst/>
            <a:gdLst/>
            <a:ahLst/>
            <a:cxnLst/>
            <a:rect r="r" b="b" t="t" l="l"/>
            <a:pathLst>
              <a:path h="1300906" w="5676718">
                <a:moveTo>
                  <a:pt x="0" y="0"/>
                </a:moveTo>
                <a:lnTo>
                  <a:pt x="5676718" y="0"/>
                </a:lnTo>
                <a:lnTo>
                  <a:pt x="5676718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790912" y="5173018"/>
            <a:ext cx="3954896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707" spc="-54">
                <a:solidFill>
                  <a:srgbClr val="F6F6F6"/>
                </a:solidFill>
                <a:latin typeface="Roboto Bold"/>
                <a:ea typeface="Roboto Bold"/>
                <a:cs typeface="Roboto Bold"/>
                <a:sym typeface="Roboto Bold"/>
              </a:rPr>
              <a:t>UYUM: BENZER RENKLER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0369" y="5653419"/>
            <a:ext cx="5009175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D6D6D6"/>
                </a:solidFill>
                <a:latin typeface="Roboto"/>
                <a:ea typeface="Roboto"/>
                <a:cs typeface="Roboto"/>
                <a:sym typeface="Roboto"/>
              </a:rPr>
              <a:t>Renkler birbirine yakındır, huzurlu bir etki yaratır.</a:t>
            </a: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26574" y="5990729"/>
            <a:ext cx="5676718" cy="3869923"/>
          </a:xfrm>
          <a:custGeom>
            <a:avLst/>
            <a:gdLst/>
            <a:ahLst/>
            <a:cxnLst/>
            <a:rect r="r" b="b" t="t" l="l"/>
            <a:pathLst>
              <a:path h="3869923" w="5676718">
                <a:moveTo>
                  <a:pt x="0" y="0"/>
                </a:moveTo>
                <a:lnTo>
                  <a:pt x="5676718" y="0"/>
                </a:lnTo>
                <a:lnTo>
                  <a:pt x="567671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5873598" y="4919394"/>
            <a:ext cx="5457962" cy="1300906"/>
          </a:xfrm>
          <a:custGeom>
            <a:avLst/>
            <a:gdLst/>
            <a:ahLst/>
            <a:cxnLst/>
            <a:rect r="r" b="b" t="t" l="l"/>
            <a:pathLst>
              <a:path h="1300906" w="5457962">
                <a:moveTo>
                  <a:pt x="0" y="0"/>
                </a:moveTo>
                <a:lnTo>
                  <a:pt x="5457962" y="0"/>
                </a:lnTo>
                <a:lnTo>
                  <a:pt x="5457962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308790" y="5173018"/>
            <a:ext cx="4021805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707" spc="-54">
                <a:solidFill>
                  <a:srgbClr val="101929"/>
                </a:solidFill>
                <a:latin typeface="Roboto Bold"/>
                <a:ea typeface="Roboto Bold"/>
                <a:cs typeface="Roboto Bold"/>
                <a:sym typeface="Roboto Bold"/>
              </a:rPr>
              <a:t>KONTRAST: ZIT RENKLER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302949" y="5653419"/>
            <a:ext cx="4605888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101929"/>
                </a:solidFill>
                <a:latin typeface="Roboto"/>
                <a:ea typeface="Roboto"/>
                <a:cs typeface="Roboto"/>
                <a:sym typeface="Roboto"/>
              </a:rPr>
              <a:t>Renkler birbirine karşıtlık kurar, dikkat çeker.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5873598" y="5990729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1101866" y="4919394"/>
            <a:ext cx="6759560" cy="1300906"/>
          </a:xfrm>
          <a:custGeom>
            <a:avLst/>
            <a:gdLst/>
            <a:ahLst/>
            <a:cxnLst/>
            <a:rect r="r" b="b" t="t" l="l"/>
            <a:pathLst>
              <a:path h="1300906" w="6759560">
                <a:moveTo>
                  <a:pt x="0" y="0"/>
                </a:moveTo>
                <a:lnTo>
                  <a:pt x="6759560" y="0"/>
                </a:lnTo>
                <a:lnTo>
                  <a:pt x="675956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546928" y="5173018"/>
            <a:ext cx="5273652" cy="482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</a:pPr>
            <a:r>
              <a:rPr lang="en-US" b="true" sz="2707" spc="-54">
                <a:solidFill>
                  <a:srgbClr val="101929"/>
                </a:solidFill>
                <a:latin typeface="Roboto Bold"/>
                <a:ea typeface="Roboto Bold"/>
                <a:cs typeface="Roboto Bold"/>
                <a:sym typeface="Roboto Bold"/>
              </a:rPr>
              <a:t>AYNI GÖRSEL, FARKLI DUYGULAR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62405" y="5653419"/>
            <a:ext cx="3725900" cy="325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4"/>
              </a:lnSpc>
            </a:pPr>
            <a:r>
              <a:rPr lang="en-US" sz="1863" spc="-37">
                <a:solidFill>
                  <a:srgbClr val="101929"/>
                </a:solidFill>
                <a:latin typeface="Roboto"/>
                <a:ea typeface="Roboto"/>
                <a:cs typeface="Roboto"/>
                <a:sym typeface="Roboto"/>
              </a:rPr>
              <a:t>Renk paleti değişince his de değişir.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11101866" y="5990729"/>
            <a:ext cx="3489158" cy="3869923"/>
          </a:xfrm>
          <a:custGeom>
            <a:avLst/>
            <a:gdLst/>
            <a:ahLst/>
            <a:cxnLst/>
            <a:rect r="r" b="b" t="t" l="l"/>
            <a:pathLst>
              <a:path h="3869923" w="3489158">
                <a:moveTo>
                  <a:pt x="0" y="0"/>
                </a:moveTo>
                <a:lnTo>
                  <a:pt x="3489158" y="0"/>
                </a:lnTo>
                <a:lnTo>
                  <a:pt x="3489158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4361330" y="5990729"/>
            <a:ext cx="3500096" cy="3869923"/>
          </a:xfrm>
          <a:custGeom>
            <a:avLst/>
            <a:gdLst/>
            <a:ahLst/>
            <a:cxnLst/>
            <a:rect r="r" b="b" t="t" l="l"/>
            <a:pathLst>
              <a:path h="3869923" w="3500096">
                <a:moveTo>
                  <a:pt x="0" y="0"/>
                </a:moveTo>
                <a:lnTo>
                  <a:pt x="3500096" y="0"/>
                </a:lnTo>
                <a:lnTo>
                  <a:pt x="350009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9903" y="598130"/>
            <a:ext cx="11982313" cy="10802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1"/>
              </a:lnSpc>
            </a:pPr>
            <a:r>
              <a:rPr lang="en-US" sz="8101" spc="-162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Çizgi, Şekil, Biçim ve Doku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5831" y="1689836"/>
            <a:ext cx="9068420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sz="316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Dijital sanatta temel ögeler, eserin etkisini belirler.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2569017"/>
            <a:ext cx="3281340" cy="2361309"/>
          </a:xfrm>
          <a:custGeom>
            <a:avLst/>
            <a:gdLst/>
            <a:ahLst/>
            <a:cxnLst/>
            <a:rect r="r" b="b" t="t" l="l"/>
            <a:pathLst>
              <a:path h="2361309" w="3281340">
                <a:moveTo>
                  <a:pt x="0" y="0"/>
                </a:moveTo>
                <a:lnTo>
                  <a:pt x="3281340" y="0"/>
                </a:lnTo>
                <a:lnTo>
                  <a:pt x="3281340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202739" y="2683851"/>
            <a:ext cx="2993264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168" spc="-63">
                <a:solidFill>
                  <a:srgbClr val="6F60B2"/>
                </a:solidFill>
                <a:latin typeface="Roboto Bold"/>
                <a:ea typeface="Roboto Bold"/>
                <a:cs typeface="Roboto Bold"/>
                <a:sym typeface="Roboto Bold"/>
              </a:rPr>
              <a:t>ÇIZGI ÇEŞITLERI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89272" y="3329447"/>
            <a:ext cx="4340015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Düz, eğri, yatay, dikey ve çapraz çizgiler; yön, hareket, denge ve dinamizm hissi oluşturur.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138034"/>
            <a:ext cx="3281340" cy="2372241"/>
          </a:xfrm>
          <a:custGeom>
            <a:avLst/>
            <a:gdLst/>
            <a:ahLst/>
            <a:cxnLst/>
            <a:rect r="r" b="b" t="t" l="l"/>
            <a:pathLst>
              <a:path h="2372241" w="3281340">
                <a:moveTo>
                  <a:pt x="0" y="0"/>
                </a:moveTo>
                <a:lnTo>
                  <a:pt x="3281340" y="0"/>
                </a:lnTo>
                <a:lnTo>
                  <a:pt x="3281340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204465" y="5274316"/>
            <a:ext cx="2820666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168" spc="-63">
                <a:solidFill>
                  <a:srgbClr val="3DBDB6"/>
                </a:solidFill>
                <a:latin typeface="Roboto Bold"/>
                <a:ea typeface="Roboto Bold"/>
                <a:cs typeface="Roboto Bold"/>
                <a:sym typeface="Roboto Bold"/>
              </a:rPr>
              <a:t>ŞEKIL VE BIÇIM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179251" y="5919911"/>
            <a:ext cx="5342091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İki boyutlu şekiller düz yüzeyde yer alır. Üç boyutlu biçimler derinlik ve hacim hissi yaratır.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45330" y="7707051"/>
            <a:ext cx="3281340" cy="2153601"/>
          </a:xfrm>
          <a:custGeom>
            <a:avLst/>
            <a:gdLst/>
            <a:ahLst/>
            <a:cxnLst/>
            <a:rect r="r" b="b" t="t" l="l"/>
            <a:pathLst>
              <a:path h="2153601" w="3281340">
                <a:moveTo>
                  <a:pt x="0" y="0"/>
                </a:moveTo>
                <a:lnTo>
                  <a:pt x="3281340" y="0"/>
                </a:lnTo>
                <a:lnTo>
                  <a:pt x="328134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00182" y="7759355"/>
            <a:ext cx="3248942" cy="573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2"/>
              </a:lnSpc>
            </a:pPr>
            <a:r>
              <a:rPr lang="en-US" b="true" sz="3168" spc="-63">
                <a:solidFill>
                  <a:srgbClr val="E89430"/>
                </a:solidFill>
                <a:latin typeface="Roboto Bold"/>
                <a:ea typeface="Roboto Bold"/>
                <a:cs typeface="Roboto Bold"/>
                <a:sym typeface="Roboto Bold"/>
              </a:rPr>
              <a:t>DOKU ÖRNEKLERI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82821" y="8404950"/>
            <a:ext cx="4985127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Dijital yüzeylerde taş, ahşap, kumaş </a:t>
            </a:r>
          </a:p>
          <a:p>
            <a:pPr algn="l">
              <a:lnSpc>
                <a:spcPts val="3730"/>
              </a:lnSpc>
            </a:pPr>
            <a:r>
              <a:rPr lang="en-US" sz="2487" spc="-49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ve metal dokuları gerçekçilik ve zenginlik kazandırır.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0226842" y="1497682"/>
            <a:ext cx="7853340" cy="8789318"/>
          </a:xfrm>
          <a:custGeom>
            <a:avLst/>
            <a:gdLst/>
            <a:ahLst/>
            <a:cxnLst/>
            <a:rect r="r" b="b" t="t" l="l"/>
            <a:pathLst>
              <a:path h="8789318" w="7853340">
                <a:moveTo>
                  <a:pt x="0" y="0"/>
                </a:moveTo>
                <a:lnTo>
                  <a:pt x="7853340" y="0"/>
                </a:lnTo>
                <a:lnTo>
                  <a:pt x="7853340" y="8789318"/>
                </a:lnTo>
                <a:lnTo>
                  <a:pt x="0" y="878931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25035" y="1338922"/>
            <a:ext cx="5184737" cy="2440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03"/>
              </a:lnSpc>
            </a:pPr>
            <a:r>
              <a:rPr lang="en-US" sz="8798" spc="-176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Işık, Gölge ve Derinlik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6262" y="4183000"/>
            <a:ext cx="5062105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28" b="true">
                <a:solidFill>
                  <a:srgbClr val="48BDBB"/>
                </a:solidFill>
                <a:latin typeface="Roboto Bold"/>
                <a:ea typeface="Roboto Bold"/>
                <a:cs typeface="Roboto Bold"/>
                <a:sym typeface="Roboto Bold"/>
              </a:rPr>
              <a:t>Işık ve gölge, </a:t>
            </a: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nesnelere hacim </a:t>
            </a:r>
          </a:p>
          <a:p>
            <a:pPr algn="l">
              <a:lnSpc>
                <a:spcPts val="4054"/>
              </a:lnSpc>
            </a:pP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 form kazandırır.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22729" y="5508354"/>
            <a:ext cx="5415378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28" b="true">
                <a:solidFill>
                  <a:srgbClr val="8875CC"/>
                </a:solidFill>
                <a:latin typeface="Roboto Bold"/>
                <a:ea typeface="Roboto Bold"/>
                <a:cs typeface="Roboto Bold"/>
                <a:sym typeface="Roboto Bold"/>
              </a:rPr>
              <a:t>Açık ve koyu değerler, </a:t>
            </a: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derinlik ve atmosfer hissi oluşturur.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21697" y="6863830"/>
            <a:ext cx="5518576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28" b="true">
                <a:solidFill>
                  <a:srgbClr val="E1A130"/>
                </a:solidFill>
                <a:latin typeface="Roboto Bold"/>
                <a:ea typeface="Roboto Bold"/>
                <a:cs typeface="Roboto Bold"/>
                <a:sym typeface="Roboto Bold"/>
              </a:rPr>
              <a:t>Aynı nesne, </a:t>
            </a: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farklı ışık kullanımıyla farklı etkiler yaratır.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28256" y="8219305"/>
            <a:ext cx="4862709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Dijital sanat eserlerinde </a:t>
            </a:r>
          </a:p>
          <a:p>
            <a:pPr algn="l">
              <a:lnSpc>
                <a:spcPts val="4054"/>
              </a:lnSpc>
            </a:pPr>
            <a:r>
              <a:rPr lang="en-US" sz="2896" spc="-2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ışık-gölge efektleri </a:t>
            </a:r>
            <a:r>
              <a:rPr lang="en-US" sz="2896" spc="-28" b="true">
                <a:solidFill>
                  <a:srgbClr val="48BDBB"/>
                </a:solidFill>
                <a:latin typeface="Roboto Bold"/>
                <a:ea typeface="Roboto Bold"/>
                <a:cs typeface="Roboto Bold"/>
                <a:sym typeface="Roboto Bold"/>
              </a:rPr>
              <a:t>vurgulanır.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495918" y="2375165"/>
            <a:ext cx="3214011" cy="12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69"/>
              </a:lnSpc>
            </a:pPr>
            <a:r>
              <a:rPr lang="en-US" b="true" sz="2179" spc="-21">
                <a:solidFill>
                  <a:srgbClr val="48BDBB"/>
                </a:solidFill>
                <a:latin typeface="Roboto Bold"/>
                <a:ea typeface="Roboto Bold"/>
                <a:cs typeface="Roboto Bold"/>
                <a:sym typeface="Roboto Bold"/>
              </a:rPr>
              <a:t>ÖNDEN IŞIK</a:t>
            </a:r>
          </a:p>
          <a:p>
            <a:pPr algn="ctr">
              <a:lnSpc>
                <a:spcPts val="3269"/>
              </a:lnSpc>
            </a:pPr>
            <a:r>
              <a:rPr lang="en-US" sz="2179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Detaylar belirgin, </a:t>
            </a:r>
          </a:p>
          <a:p>
            <a:pPr algn="ctr">
              <a:lnSpc>
                <a:spcPts val="3269"/>
              </a:lnSpc>
            </a:pPr>
            <a:r>
              <a:rPr lang="en-US" sz="2179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gölgeler kısa ve yumuşak.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925244" y="3848060"/>
            <a:ext cx="218756" cy="1082267"/>
          </a:xfrm>
          <a:custGeom>
            <a:avLst/>
            <a:gdLst/>
            <a:ahLst/>
            <a:cxnLst/>
            <a:rect r="r" b="b" t="t" l="l"/>
            <a:pathLst>
              <a:path h="1082267" w="218756">
                <a:moveTo>
                  <a:pt x="0" y="0"/>
                </a:moveTo>
                <a:lnTo>
                  <a:pt x="218756" y="0"/>
                </a:lnTo>
                <a:lnTo>
                  <a:pt x="21875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612708" y="4711687"/>
            <a:ext cx="3062584" cy="3224936"/>
          </a:xfrm>
          <a:custGeom>
            <a:avLst/>
            <a:gdLst/>
            <a:ahLst/>
            <a:cxnLst/>
            <a:rect r="r" b="b" t="t" l="l"/>
            <a:pathLst>
              <a:path h="3224936" w="3062584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214476" y="2365553"/>
            <a:ext cx="2716869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b="true" sz="2487" spc="-24">
                <a:solidFill>
                  <a:srgbClr val="8875CC"/>
                </a:solidFill>
                <a:latin typeface="Roboto Bold"/>
                <a:ea typeface="Roboto Bold"/>
                <a:cs typeface="Roboto Bold"/>
                <a:sym typeface="Roboto Bold"/>
              </a:rPr>
              <a:t>YANDAN IŞIK</a:t>
            </a:r>
          </a:p>
          <a:p>
            <a:pPr algn="ctr">
              <a:lnSpc>
                <a:spcPts val="3730"/>
              </a:lnSpc>
            </a:pPr>
            <a:r>
              <a:rPr lang="en-US" sz="2487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Hacim belirginleşir, gölgeler uzar.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2403464" y="3848060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883110" y="4711687"/>
            <a:ext cx="3051646" cy="3224936"/>
          </a:xfrm>
          <a:custGeom>
            <a:avLst/>
            <a:gdLst/>
            <a:ahLst/>
            <a:cxnLst/>
            <a:rect r="r" b="b" t="t" l="l"/>
            <a:pathLst>
              <a:path h="3224936" w="3051646">
                <a:moveTo>
                  <a:pt x="0" y="0"/>
                </a:moveTo>
                <a:lnTo>
                  <a:pt x="3051646" y="0"/>
                </a:lnTo>
                <a:lnTo>
                  <a:pt x="3051646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4523249" y="2365553"/>
            <a:ext cx="2639069" cy="137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30"/>
              </a:lnSpc>
            </a:pPr>
            <a:r>
              <a:rPr lang="en-US" b="true" sz="2487" spc="-24">
                <a:solidFill>
                  <a:srgbClr val="E1A130"/>
                </a:solidFill>
                <a:latin typeface="Roboto Bold"/>
                <a:ea typeface="Roboto Bold"/>
                <a:cs typeface="Roboto Bold"/>
                <a:sym typeface="Roboto Bold"/>
              </a:rPr>
              <a:t>ARKADAN IŞIK</a:t>
            </a:r>
          </a:p>
          <a:p>
            <a:pPr algn="ctr">
              <a:lnSpc>
                <a:spcPts val="3730"/>
              </a:lnSpc>
            </a:pPr>
            <a:r>
              <a:rPr lang="en-US" sz="2487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Kontur ve rim ışığı </a:t>
            </a:r>
          </a:p>
          <a:p>
            <a:pPr algn="ctr">
              <a:lnSpc>
                <a:spcPts val="3730"/>
              </a:lnSpc>
            </a:pPr>
            <a:r>
              <a:rPr lang="en-US" sz="2487" spc="-2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öne çıkar.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673866" y="3848060"/>
            <a:ext cx="229694" cy="1082267"/>
          </a:xfrm>
          <a:custGeom>
            <a:avLst/>
            <a:gdLst/>
            <a:ahLst/>
            <a:cxnLst/>
            <a:rect r="r" b="b" t="t" l="l"/>
            <a:pathLst>
              <a:path h="1082267" w="229694">
                <a:moveTo>
                  <a:pt x="0" y="0"/>
                </a:moveTo>
                <a:lnTo>
                  <a:pt x="229694" y="0"/>
                </a:lnTo>
                <a:lnTo>
                  <a:pt x="22969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361330" y="4711687"/>
            <a:ext cx="3062584" cy="3224936"/>
          </a:xfrm>
          <a:custGeom>
            <a:avLst/>
            <a:gdLst/>
            <a:ahLst/>
            <a:cxnLst/>
            <a:rect r="r" b="b" t="t" l="l"/>
            <a:pathLst>
              <a:path h="3224936" w="3062584">
                <a:moveTo>
                  <a:pt x="0" y="0"/>
                </a:moveTo>
                <a:lnTo>
                  <a:pt x="3062584" y="0"/>
                </a:lnTo>
                <a:lnTo>
                  <a:pt x="3062584" y="3224936"/>
                </a:lnTo>
                <a:lnTo>
                  <a:pt x="0" y="322493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20116" y="651361"/>
            <a:ext cx="7639927" cy="2257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67"/>
              </a:lnSpc>
            </a:pPr>
            <a:r>
              <a:rPr lang="en-US" sz="8938" spc="-178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Denge, Simetri </a:t>
            </a:r>
          </a:p>
          <a:p>
            <a:pPr algn="l">
              <a:lnSpc>
                <a:spcPts val="8667"/>
              </a:lnSpc>
            </a:pPr>
            <a:r>
              <a:rPr lang="en-US" sz="8938" spc="-178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ve Asimetri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15284" y="2873297"/>
            <a:ext cx="8123170" cy="550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48"/>
              </a:lnSpc>
            </a:pPr>
            <a:r>
              <a:rPr lang="en-US" sz="3032" spc="-29">
                <a:solidFill>
                  <a:srgbClr val="FFFFFF">
                    <a:alpha val="89804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Görsel ağırlığı dengeleyen kompozisyon ilkeleri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45330" y="3640352"/>
            <a:ext cx="5457962" cy="1082267"/>
          </a:xfrm>
          <a:custGeom>
            <a:avLst/>
            <a:gdLst/>
            <a:ahLst/>
            <a:cxnLst/>
            <a:rect r="r" b="b" t="t" l="l"/>
            <a:pathLst>
              <a:path h="1082267" w="5457962">
                <a:moveTo>
                  <a:pt x="0" y="0"/>
                </a:moveTo>
                <a:lnTo>
                  <a:pt x="5457962" y="0"/>
                </a:lnTo>
                <a:lnTo>
                  <a:pt x="5457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483984" y="3897602"/>
            <a:ext cx="1649466" cy="50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SIMETRIK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45330" y="4493047"/>
            <a:ext cx="5457962" cy="3869923"/>
          </a:xfrm>
          <a:custGeom>
            <a:avLst/>
            <a:gdLst/>
            <a:ahLst/>
            <a:cxnLst/>
            <a:rect r="r" b="b" t="t" l="l"/>
            <a:pathLst>
              <a:path h="3869923" w="5457962">
                <a:moveTo>
                  <a:pt x="0" y="0"/>
                </a:moveTo>
                <a:lnTo>
                  <a:pt x="5457962" y="0"/>
                </a:lnTo>
                <a:lnTo>
                  <a:pt x="5457962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285728" y="8640332"/>
            <a:ext cx="4045978" cy="77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Aynı ögeler iki yana eşit dağıtılır. </a:t>
            </a:r>
          </a:p>
          <a:p>
            <a:pPr algn="ctr">
              <a:lnSpc>
                <a:spcPts val="3164"/>
              </a:lnSpc>
            </a:pPr>
            <a:r>
              <a:rPr lang="en-US" sz="210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Düzen ve denge hissi verir.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6311110" y="3640352"/>
            <a:ext cx="5884536" cy="1082267"/>
          </a:xfrm>
          <a:custGeom>
            <a:avLst/>
            <a:gdLst/>
            <a:ahLst/>
            <a:cxnLst/>
            <a:rect r="r" b="b" t="t" l="l"/>
            <a:pathLst>
              <a:path h="1082267" w="5884536">
                <a:moveTo>
                  <a:pt x="0" y="0"/>
                </a:moveTo>
                <a:lnTo>
                  <a:pt x="5884536" y="0"/>
                </a:lnTo>
                <a:lnTo>
                  <a:pt x="5884536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228231" y="3897602"/>
            <a:ext cx="1894582" cy="507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</a:pPr>
            <a:r>
              <a:rPr lang="en-US" b="true" sz="275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ASIMETRIK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6311110" y="4493047"/>
            <a:ext cx="5884536" cy="3869923"/>
          </a:xfrm>
          <a:custGeom>
            <a:avLst/>
            <a:gdLst/>
            <a:ahLst/>
            <a:cxnLst/>
            <a:rect r="r" b="b" t="t" l="l"/>
            <a:pathLst>
              <a:path h="3869923" w="5884536">
                <a:moveTo>
                  <a:pt x="0" y="0"/>
                </a:moveTo>
                <a:lnTo>
                  <a:pt x="5884536" y="0"/>
                </a:lnTo>
                <a:lnTo>
                  <a:pt x="5884536" y="3869923"/>
                </a:lnTo>
                <a:lnTo>
                  <a:pt x="0" y="38699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7274435" y="8640332"/>
            <a:ext cx="3644654" cy="771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4"/>
              </a:lnSpc>
            </a:pPr>
            <a:r>
              <a:rPr lang="en-US" sz="210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Farklı ögelerle denge kurulur. </a:t>
            </a:r>
          </a:p>
          <a:p>
            <a:pPr algn="ctr">
              <a:lnSpc>
                <a:spcPts val="3164"/>
              </a:lnSpc>
            </a:pPr>
            <a:r>
              <a:rPr lang="en-US" sz="2109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Hareket ve ilgi yaratır.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2622220" y="634055"/>
            <a:ext cx="5239206" cy="5586245"/>
          </a:xfrm>
          <a:custGeom>
            <a:avLst/>
            <a:gdLst/>
            <a:ahLst/>
            <a:cxnLst/>
            <a:rect r="r" b="b" t="t" l="l"/>
            <a:pathLst>
              <a:path h="5586245" w="5239206">
                <a:moveTo>
                  <a:pt x="0" y="0"/>
                </a:moveTo>
                <a:lnTo>
                  <a:pt x="5239206" y="0"/>
                </a:lnTo>
                <a:lnTo>
                  <a:pt x="5239206" y="5586246"/>
                </a:lnTo>
                <a:lnTo>
                  <a:pt x="0" y="558624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3041724" y="1367740"/>
            <a:ext cx="3133889" cy="115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8"/>
              </a:lnSpc>
            </a:pPr>
            <a:r>
              <a:rPr lang="en-US" sz="4031" spc="-80" b="true">
                <a:solidFill>
                  <a:srgbClr val="F0B252"/>
                </a:solidFill>
                <a:latin typeface="Roboto Bold"/>
                <a:ea typeface="Roboto Bold"/>
                <a:cs typeface="Roboto Bold"/>
                <a:sym typeface="Roboto Bold"/>
              </a:rPr>
              <a:t>Dengeyi nasıl </a:t>
            </a:r>
          </a:p>
          <a:p>
            <a:pPr algn="l">
              <a:lnSpc>
                <a:spcPts val="4638"/>
              </a:lnSpc>
            </a:pPr>
            <a:r>
              <a:rPr lang="en-US" sz="4031" spc="-80" b="true">
                <a:solidFill>
                  <a:srgbClr val="F0B252"/>
                </a:solidFill>
                <a:latin typeface="Roboto Bold"/>
                <a:ea typeface="Roboto Bold"/>
                <a:cs typeface="Roboto Bold"/>
                <a:sym typeface="Roboto Bold"/>
              </a:rPr>
              <a:t>kurarız?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2840976" y="2569017"/>
            <a:ext cx="4582938" cy="218640"/>
          </a:xfrm>
          <a:custGeom>
            <a:avLst/>
            <a:gdLst/>
            <a:ahLst/>
            <a:cxnLst/>
            <a:rect r="r" b="b" t="t" l="l"/>
            <a:pathLst>
              <a:path h="218640" w="4582938">
                <a:moveTo>
                  <a:pt x="0" y="0"/>
                </a:moveTo>
                <a:lnTo>
                  <a:pt x="4582938" y="0"/>
                </a:lnTo>
                <a:lnTo>
                  <a:pt x="4582938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3034087" y="2998331"/>
            <a:ext cx="3897523" cy="1273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22" b="true">
                <a:solidFill>
                  <a:srgbClr val="3DB8B7"/>
                </a:solidFill>
                <a:latin typeface="Roboto Bold"/>
                <a:ea typeface="Roboto Bold"/>
                <a:cs typeface="Roboto Bold"/>
                <a:sym typeface="Roboto Bold"/>
              </a:rPr>
              <a:t>Renk, boyut, konum </a:t>
            </a:r>
            <a:r>
              <a:rPr lang="en-US" sz="2311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 </a:t>
            </a:r>
            <a:r>
              <a:rPr lang="en-US" sz="2311" spc="-22" b="true">
                <a:solidFill>
                  <a:srgbClr val="3DB8B7"/>
                </a:solidFill>
                <a:latin typeface="Roboto Bold"/>
                <a:ea typeface="Roboto Bold"/>
                <a:cs typeface="Roboto Bold"/>
                <a:sym typeface="Roboto Bold"/>
              </a:rPr>
              <a:t>biçim</a:t>
            </a:r>
            <a:r>
              <a:rPr lang="en-US" sz="2311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</a:p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gibi ögeleri kullanarak </a:t>
            </a:r>
          </a:p>
          <a:p>
            <a:pPr algn="l">
              <a:lnSpc>
                <a:spcPts val="3467"/>
              </a:lnSpc>
            </a:pPr>
            <a:r>
              <a:rPr lang="en-US" sz="2311" spc="-2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görsel ağırlığı dengeleriz.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034424" y="4655023"/>
            <a:ext cx="3863868" cy="8449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67"/>
              </a:lnSpc>
            </a:pPr>
            <a:r>
              <a:rPr lang="en-US" sz="2311" spc="-22" b="true">
                <a:solidFill>
                  <a:srgbClr val="F0B252"/>
                </a:solidFill>
                <a:latin typeface="Roboto Bold"/>
                <a:ea typeface="Roboto Bold"/>
                <a:cs typeface="Roboto Bold"/>
                <a:sym typeface="Roboto Bold"/>
              </a:rPr>
              <a:t>Asimetri düzensizlik değil, farklılıklarla uyum kurmaktır.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2622220" y="6209369"/>
            <a:ext cx="5239206" cy="3443576"/>
          </a:xfrm>
          <a:custGeom>
            <a:avLst/>
            <a:gdLst/>
            <a:ahLst/>
            <a:cxnLst/>
            <a:rect r="r" b="b" t="t" l="l"/>
            <a:pathLst>
              <a:path h="3443576" w="5239206">
                <a:moveTo>
                  <a:pt x="0" y="0"/>
                </a:moveTo>
                <a:lnTo>
                  <a:pt x="5239206" y="0"/>
                </a:lnTo>
                <a:lnTo>
                  <a:pt x="5239206" y="3443576"/>
                </a:lnTo>
                <a:lnTo>
                  <a:pt x="0" y="344357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3050980" y="6697037"/>
            <a:ext cx="2208240" cy="394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9"/>
              </a:lnSpc>
            </a:pPr>
            <a:r>
              <a:rPr lang="en-US" b="true" sz="2179" spc="-21">
                <a:solidFill>
                  <a:srgbClr val="7062D1"/>
                </a:solidFill>
                <a:latin typeface="Roboto Bold"/>
                <a:ea typeface="Roboto Bold"/>
                <a:cs typeface="Roboto Bold"/>
                <a:sym typeface="Roboto Bold"/>
              </a:rPr>
              <a:t>YORUMLAYALIM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2840976" y="7280704"/>
            <a:ext cx="4582938" cy="229572"/>
          </a:xfrm>
          <a:custGeom>
            <a:avLst/>
            <a:gdLst/>
            <a:ahLst/>
            <a:cxnLst/>
            <a:rect r="r" b="b" t="t" l="l"/>
            <a:pathLst>
              <a:path h="229572" w="4582938">
                <a:moveTo>
                  <a:pt x="0" y="0"/>
                </a:moveTo>
                <a:lnTo>
                  <a:pt x="4582938" y="0"/>
                </a:lnTo>
                <a:lnTo>
                  <a:pt x="4582938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3028044" y="7497763"/>
            <a:ext cx="4501887" cy="168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28"/>
              </a:lnSpc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Hangi görsel daha sakin duruyor? </a:t>
            </a:r>
          </a:p>
          <a:p>
            <a:pPr algn="l">
              <a:lnSpc>
                <a:spcPts val="3428"/>
              </a:lnSpc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Hangi görselde hareket hissi daha fazla? </a:t>
            </a:r>
          </a:p>
          <a:p>
            <a:pPr algn="l">
              <a:lnSpc>
                <a:spcPts val="3428"/>
              </a:lnSpc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Asimetrik örnekte dengeyi sağlayan </a:t>
            </a:r>
          </a:p>
          <a:p>
            <a:pPr algn="l">
              <a:lnSpc>
                <a:spcPts val="3428"/>
              </a:lnSpc>
            </a:pPr>
            <a:r>
              <a:rPr lang="en-US" sz="1863">
                <a:solidFill>
                  <a:srgbClr val="FFFFFF">
                    <a:alpha val="80000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öğeler neler?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45663" y="1112939"/>
            <a:ext cx="8479767" cy="2477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54"/>
              </a:lnSpc>
            </a:pPr>
            <a:r>
              <a:rPr lang="en-US" sz="8938" spc="-266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Kontrast, Oran ve Görsel Hiyerarşi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4066699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7"/>
                </a:lnTo>
                <a:lnTo>
                  <a:pt x="0" y="130090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182646" y="4504150"/>
            <a:ext cx="2286170" cy="4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b="true" sz="3478" spc="-33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KONTRAST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915732" y="3848060"/>
            <a:ext cx="229694" cy="1519546"/>
          </a:xfrm>
          <a:custGeom>
            <a:avLst/>
            <a:gdLst/>
            <a:ahLst/>
            <a:cxnLst/>
            <a:rect r="r" b="b" t="t" l="l"/>
            <a:pathLst>
              <a:path h="1519546" w="229694">
                <a:moveTo>
                  <a:pt x="0" y="0"/>
                </a:moveTo>
                <a:lnTo>
                  <a:pt x="229694" y="0"/>
                </a:lnTo>
                <a:lnTo>
                  <a:pt x="229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354666" y="3970658"/>
            <a:ext cx="3873984" cy="1393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Büyük-küçük, açık-koyu, kalın-ince, sıcak-soğuk farklılıkları dikkat çeker.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5564382"/>
            <a:ext cx="3281340" cy="1508614"/>
          </a:xfrm>
          <a:custGeom>
            <a:avLst/>
            <a:gdLst/>
            <a:ahLst/>
            <a:cxnLst/>
            <a:rect r="r" b="b" t="t" l="l"/>
            <a:pathLst>
              <a:path h="1508614" w="3281340">
                <a:moveTo>
                  <a:pt x="0" y="0"/>
                </a:moveTo>
                <a:lnTo>
                  <a:pt x="3281340" y="0"/>
                </a:lnTo>
                <a:lnTo>
                  <a:pt x="328134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186815" y="5920379"/>
            <a:ext cx="1869234" cy="9525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b="true" sz="3478" spc="-33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ORAN VE ORANTI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915732" y="5564382"/>
            <a:ext cx="229694" cy="1508614"/>
          </a:xfrm>
          <a:custGeom>
            <a:avLst/>
            <a:gdLst/>
            <a:ahLst/>
            <a:cxnLst/>
            <a:rect r="r" b="b" t="t" l="l"/>
            <a:pathLst>
              <a:path h="1508614" w="229694">
                <a:moveTo>
                  <a:pt x="0" y="0"/>
                </a:moveTo>
                <a:lnTo>
                  <a:pt x="229694" y="0"/>
                </a:lnTo>
                <a:lnTo>
                  <a:pt x="229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347361" y="5868324"/>
            <a:ext cx="4604571" cy="9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Uygun oranlar görsel uyumu ve dengeyi güçlendirir.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330" y="7062064"/>
            <a:ext cx="3281340" cy="1727254"/>
          </a:xfrm>
          <a:custGeom>
            <a:avLst/>
            <a:gdLst/>
            <a:ahLst/>
            <a:cxnLst/>
            <a:rect r="r" b="b" t="t" l="l"/>
            <a:pathLst>
              <a:path h="1727254" w="3281340">
                <a:moveTo>
                  <a:pt x="0" y="0"/>
                </a:moveTo>
                <a:lnTo>
                  <a:pt x="3281340" y="0"/>
                </a:lnTo>
                <a:lnTo>
                  <a:pt x="3281340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83811" y="7501629"/>
            <a:ext cx="2169677" cy="915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5"/>
              </a:lnSpc>
            </a:pPr>
            <a:r>
              <a:rPr lang="en-US" b="true" sz="3366" spc="-32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GÖRSEL HIYERARŞI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3915732" y="7062064"/>
            <a:ext cx="229694" cy="1727254"/>
          </a:xfrm>
          <a:custGeom>
            <a:avLst/>
            <a:gdLst/>
            <a:ahLst/>
            <a:cxnLst/>
            <a:rect r="r" b="b" t="t" l="l"/>
            <a:pathLst>
              <a:path h="1727254" w="229694">
                <a:moveTo>
                  <a:pt x="0" y="0"/>
                </a:moveTo>
                <a:lnTo>
                  <a:pt x="229694" y="0"/>
                </a:lnTo>
                <a:lnTo>
                  <a:pt x="229694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346978" y="7434651"/>
            <a:ext cx="4642828" cy="9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Önem sırasına göre düzen, gözü doğru yöne yönlendirir.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45330" y="8778386"/>
            <a:ext cx="3281340" cy="1300906"/>
          </a:xfrm>
          <a:custGeom>
            <a:avLst/>
            <a:gdLst/>
            <a:ahLst/>
            <a:cxnLst/>
            <a:rect r="r" b="b" t="t" l="l"/>
            <a:pathLst>
              <a:path h="1300906" w="3281340">
                <a:moveTo>
                  <a:pt x="0" y="0"/>
                </a:moveTo>
                <a:lnTo>
                  <a:pt x="3281340" y="0"/>
                </a:lnTo>
                <a:lnTo>
                  <a:pt x="3281340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191284" y="9157950"/>
            <a:ext cx="1422365" cy="488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56"/>
              </a:lnSpc>
            </a:pPr>
            <a:r>
              <a:rPr lang="en-US" b="true" sz="3478" spc="-33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ÖRNEK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3915732" y="8778386"/>
            <a:ext cx="229694" cy="1300906"/>
          </a:xfrm>
          <a:custGeom>
            <a:avLst/>
            <a:gdLst/>
            <a:ahLst/>
            <a:cxnLst/>
            <a:rect r="r" b="b" t="t" l="l"/>
            <a:pathLst>
              <a:path h="1300906" w="229694">
                <a:moveTo>
                  <a:pt x="0" y="0"/>
                </a:moveTo>
                <a:lnTo>
                  <a:pt x="229694" y="0"/>
                </a:lnTo>
                <a:lnTo>
                  <a:pt x="229694" y="1300906"/>
                </a:lnTo>
                <a:lnTo>
                  <a:pt x="0" y="130090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342572" y="8910614"/>
            <a:ext cx="5083435" cy="929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896" spc="-28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Dijital sanat eserleri bu ilkelerin etkili kullanımını gösterir.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0008086" y="1279043"/>
            <a:ext cx="7853340" cy="8581610"/>
          </a:xfrm>
          <a:custGeom>
            <a:avLst/>
            <a:gdLst/>
            <a:ahLst/>
            <a:cxnLst/>
            <a:rect r="r" b="b" t="t" l="l"/>
            <a:pathLst>
              <a:path h="8581610" w="7853340">
                <a:moveTo>
                  <a:pt x="0" y="0"/>
                </a:moveTo>
                <a:lnTo>
                  <a:pt x="7853340" y="0"/>
                </a:lnTo>
                <a:lnTo>
                  <a:pt x="7853340" y="8581609"/>
                </a:lnTo>
                <a:lnTo>
                  <a:pt x="0" y="858160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5766" y="512018"/>
            <a:ext cx="12038200" cy="195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80"/>
              </a:lnSpc>
            </a:pPr>
            <a:r>
              <a:rPr lang="en-US" sz="6985" spc="-208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Estetik Öğelerle</a:t>
            </a:r>
          </a:p>
          <a:p>
            <a:pPr algn="l">
              <a:lnSpc>
                <a:spcPts val="7680"/>
              </a:lnSpc>
            </a:pPr>
            <a:r>
              <a:rPr lang="en-US" sz="6985" spc="-208" b="true">
                <a:solidFill>
                  <a:srgbClr val="FFFFFF">
                    <a:alpha val="94902"/>
                  </a:srgbClr>
                </a:solidFill>
                <a:latin typeface="Roboto Bold"/>
                <a:ea typeface="Roboto Bold"/>
                <a:cs typeface="Roboto Bold"/>
                <a:sym typeface="Roboto Bold"/>
              </a:rPr>
              <a:t>Örnek Dijital Sanat İncelemeleri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25733" y="2484202"/>
            <a:ext cx="9041570" cy="579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6"/>
              </a:lnSpc>
            </a:pPr>
            <a:r>
              <a:rPr lang="en-US" sz="2838" spc="-84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Farklı dijital eserleri inceleyelim, estetik ögeleri belirleyelim.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426574" y="3421712"/>
            <a:ext cx="667206" cy="655919"/>
          </a:xfrm>
          <a:custGeom>
            <a:avLst/>
            <a:gdLst/>
            <a:ahLst/>
            <a:cxnLst/>
            <a:rect r="r" b="b" t="t" l="l"/>
            <a:pathLst>
              <a:path h="655919" w="667206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9727" y="3460948"/>
            <a:ext cx="375047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2188" spc="-6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426574" y="4066699"/>
            <a:ext cx="4145426" cy="2798589"/>
          </a:xfrm>
          <a:custGeom>
            <a:avLst/>
            <a:gdLst/>
            <a:ahLst/>
            <a:cxnLst/>
            <a:rect r="r" b="b" t="t" l="l"/>
            <a:pathLst>
              <a:path h="2798589" w="4145426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8770" y="6800675"/>
            <a:ext cx="3737840" cy="263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Renk: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Mor, pembe ve mavi tonlar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Çizgi: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Dikey yapılar, ışık izleri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Doku: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Parlak, yansıtıcı yüzeyler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Işık–Gölge: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Neon ışıklar, sert kontrast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Denge: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Asimetrik, hareket hissi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Kontrast: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Yüksek, canlı vurgular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4572000" y="342171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822031" y="3460948"/>
            <a:ext cx="375047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2188" spc="-6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572000" y="4066699"/>
            <a:ext cx="4145426" cy="2798589"/>
          </a:xfrm>
          <a:custGeom>
            <a:avLst/>
            <a:gdLst/>
            <a:ahLst/>
            <a:cxnLst/>
            <a:rect r="r" b="b" t="t" l="l"/>
            <a:pathLst>
              <a:path h="2798589" w="4145426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05101" y="6800675"/>
            <a:ext cx="3656267" cy="263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Renk: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Turkuz ve lacivert tonlar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Çizgi: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Akışkan, kıvrımlı çizgiler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Doku: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Yumuşak, pürüzsüz katmanlar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Işık–Gölge: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Yumuşak geçişler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Denge: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Dengeli, huzur verici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Kontrast: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Orta, uyumlu tonlar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706488" y="3421712"/>
            <a:ext cx="656268" cy="655919"/>
          </a:xfrm>
          <a:custGeom>
            <a:avLst/>
            <a:gdLst/>
            <a:ahLst/>
            <a:cxnLst/>
            <a:rect r="r" b="b" t="t" l="l"/>
            <a:pathLst>
              <a:path h="655919" w="656268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974336" y="3460948"/>
            <a:ext cx="375047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20"/>
              </a:lnSpc>
            </a:pPr>
            <a:r>
              <a:rPr lang="en-US" b="true" sz="2188" spc="-6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8706488" y="4066699"/>
            <a:ext cx="4145426" cy="2798589"/>
          </a:xfrm>
          <a:custGeom>
            <a:avLst/>
            <a:gdLst/>
            <a:ahLst/>
            <a:cxnLst/>
            <a:rect r="r" b="b" t="t" l="l"/>
            <a:pathLst>
              <a:path h="2798589" w="4145426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855625" y="6815735"/>
            <a:ext cx="3834363" cy="2639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Renk: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Turuncu ve mavi zıtlığı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Çizgi: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Dairesel, spiral hareket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Doku: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Bulutumsu, yıldızlı yapı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Işık–Gölge: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Parlak merkez, derin gölge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Denge: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Merkezde odak, radyal denge</a:t>
            </a:r>
          </a:p>
          <a:p>
            <a:pPr algn="l">
              <a:lnSpc>
                <a:spcPts val="3568"/>
              </a:lnSpc>
            </a:pPr>
            <a:r>
              <a:rPr lang="en-US" sz="1784" spc="-53" b="true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Kontrast:</a:t>
            </a:r>
            <a:r>
              <a:rPr lang="en-US" sz="1784" spc="-5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 Yüksek, güçlü vurgu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13278488" y="2569017"/>
            <a:ext cx="4582938" cy="7083928"/>
          </a:xfrm>
          <a:custGeom>
            <a:avLst/>
            <a:gdLst/>
            <a:ahLst/>
            <a:cxnLst/>
            <a:rect r="r" b="b" t="t" l="l"/>
            <a:pathLst>
              <a:path h="7083928" w="4582938">
                <a:moveTo>
                  <a:pt x="0" y="0"/>
                </a:moveTo>
                <a:lnTo>
                  <a:pt x="4582938" y="0"/>
                </a:lnTo>
                <a:lnTo>
                  <a:pt x="4582938" y="7083928"/>
                </a:lnTo>
                <a:lnTo>
                  <a:pt x="0" y="708392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3634094" y="2989105"/>
            <a:ext cx="2832780" cy="779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8"/>
              </a:lnSpc>
            </a:pPr>
            <a:r>
              <a:rPr lang="en-US" b="true" sz="3939" spc="-117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SIRA SENDE!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497244" y="3848060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3625763" y="4176047"/>
            <a:ext cx="3665841" cy="2180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0"/>
              </a:lnSpc>
            </a:pPr>
            <a:r>
              <a:rPr lang="en-US" sz="2623" spc="-7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Bu eserlerde hangi estetik öğeler öne çıkıyor?</a:t>
            </a:r>
          </a:p>
          <a:p>
            <a:pPr algn="l">
              <a:lnSpc>
                <a:spcPts val="4460"/>
              </a:lnSpc>
            </a:pPr>
            <a:r>
              <a:rPr lang="en-US" sz="2623" spc="-78">
                <a:solidFill>
                  <a:srgbClr val="FFFFFF">
                    <a:alpha val="84706"/>
                  </a:srgbClr>
                </a:solidFill>
                <a:latin typeface="Roboto"/>
                <a:ea typeface="Roboto"/>
                <a:cs typeface="Roboto"/>
                <a:sym typeface="Roboto"/>
              </a:rPr>
              <a:t>Seni en çok etkileyen eser hangisi, neden?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3497244" y="6854356"/>
            <a:ext cx="4145426" cy="2798589"/>
          </a:xfrm>
          <a:custGeom>
            <a:avLst/>
            <a:gdLst/>
            <a:ahLst/>
            <a:cxnLst/>
            <a:rect r="r" b="b" t="t" l="l"/>
            <a:pathLst>
              <a:path h="2798589" w="4145426">
                <a:moveTo>
                  <a:pt x="0" y="0"/>
                </a:moveTo>
                <a:lnTo>
                  <a:pt x="4145426" y="0"/>
                </a:lnTo>
                <a:lnTo>
                  <a:pt x="4145426" y="2798589"/>
                </a:lnTo>
                <a:lnTo>
                  <a:pt x="0" y="2798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3497244" y="7707051"/>
            <a:ext cx="4145426" cy="229572"/>
          </a:xfrm>
          <a:custGeom>
            <a:avLst/>
            <a:gdLst/>
            <a:ahLst/>
            <a:cxnLst/>
            <a:rect r="r" b="b" t="t" l="l"/>
            <a:pathLst>
              <a:path h="229572" w="4145426">
                <a:moveTo>
                  <a:pt x="0" y="0"/>
                </a:moveTo>
                <a:lnTo>
                  <a:pt x="4145426" y="0"/>
                </a:lnTo>
                <a:lnTo>
                  <a:pt x="414542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3662422" y="7135793"/>
            <a:ext cx="399157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2188" spc="-65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KISA BİR YORUM YAZ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483328" y="3460948"/>
            <a:ext cx="3991570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2188" spc="-65">
                <a:solidFill>
                  <a:srgbClr val="F4A33F"/>
                </a:solidFill>
                <a:latin typeface="Roboto Bold"/>
                <a:ea typeface="Roboto Bold"/>
                <a:cs typeface="Roboto Bold"/>
                <a:sym typeface="Roboto Bold"/>
              </a:rPr>
              <a:t>KOZMİK GÖZ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8719" y="3460948"/>
            <a:ext cx="3161109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2188" spc="-65">
                <a:solidFill>
                  <a:srgbClr val="8671DB"/>
                </a:solidFill>
                <a:latin typeface="Roboto Bold"/>
                <a:ea typeface="Roboto Bold"/>
                <a:cs typeface="Roboto Bold"/>
                <a:sym typeface="Roboto Bold"/>
              </a:rPr>
              <a:t>NEON GECE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31023" y="3460948"/>
            <a:ext cx="3161109" cy="439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b="true" sz="2188" spc="-65">
                <a:solidFill>
                  <a:srgbClr val="3BBBAE"/>
                </a:solidFill>
                <a:latin typeface="Roboto Bold"/>
                <a:ea typeface="Roboto Bold"/>
                <a:cs typeface="Roboto Bold"/>
                <a:sym typeface="Roboto Bold"/>
              </a:rPr>
              <a:t>DALGALAR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36515" y="789245"/>
            <a:ext cx="8678989" cy="2236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17"/>
              </a:lnSpc>
            </a:pPr>
            <a:r>
              <a:rPr lang="en-US" sz="8461" spc="-252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Estetik Öğeleri</a:t>
            </a:r>
          </a:p>
          <a:p>
            <a:pPr algn="l">
              <a:lnSpc>
                <a:spcPts val="8717"/>
              </a:lnSpc>
            </a:pPr>
            <a:r>
              <a:rPr lang="en-US" sz="8461" spc="-252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Fark Et ve </a:t>
            </a:r>
            <a:r>
              <a:rPr lang="en-US" sz="8461" spc="-252" b="true">
                <a:solidFill>
                  <a:srgbClr val="F6A93C"/>
                </a:solidFill>
                <a:latin typeface="Roboto Bold"/>
                <a:ea typeface="Roboto Bold"/>
                <a:cs typeface="Roboto Bold"/>
                <a:sym typeface="Roboto Bold"/>
              </a:rPr>
              <a:t>Yorumla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45330" y="3214004"/>
            <a:ext cx="8498670" cy="1508614"/>
          </a:xfrm>
          <a:custGeom>
            <a:avLst/>
            <a:gdLst/>
            <a:ahLst/>
            <a:cxnLst/>
            <a:rect r="r" b="b" t="t" l="l"/>
            <a:pathLst>
              <a:path h="1508614" w="8498670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58676" y="3414897"/>
            <a:ext cx="6646426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Bir dijital sanat eserine bak.</a:t>
            </a:r>
          </a:p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İçinde hangi estetik öğeleri görüyorsun?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45330" y="4711687"/>
            <a:ext cx="8498670" cy="2153601"/>
          </a:xfrm>
          <a:custGeom>
            <a:avLst/>
            <a:gdLst/>
            <a:ahLst/>
            <a:cxnLst/>
            <a:rect r="r" b="b" t="t" l="l"/>
            <a:pathLst>
              <a:path h="2153601" w="8498670">
                <a:moveTo>
                  <a:pt x="0" y="0"/>
                </a:moveTo>
                <a:lnTo>
                  <a:pt x="8498670" y="0"/>
                </a:lnTo>
                <a:lnTo>
                  <a:pt x="8498670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72724" y="5041468"/>
            <a:ext cx="5241622" cy="1492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Bu öğeler esere nasıl bir duygu</a:t>
            </a:r>
          </a:p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F8F8F8"/>
                </a:solidFill>
                <a:latin typeface="Roboto Bold"/>
                <a:ea typeface="Roboto Bold"/>
                <a:cs typeface="Roboto Bold"/>
                <a:sym typeface="Roboto Bold"/>
              </a:rPr>
              <a:t>ve etki katıyor?</a:t>
            </a:r>
          </a:p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Kendi sözlerinle açıkla.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645330" y="6854356"/>
            <a:ext cx="8498670" cy="1508614"/>
          </a:xfrm>
          <a:custGeom>
            <a:avLst/>
            <a:gdLst/>
            <a:ahLst/>
            <a:cxnLst/>
            <a:rect r="r" b="b" t="t" l="l"/>
            <a:pathLst>
              <a:path h="1508614" w="8498670">
                <a:moveTo>
                  <a:pt x="0" y="0"/>
                </a:moveTo>
                <a:lnTo>
                  <a:pt x="8498670" y="0"/>
                </a:lnTo>
                <a:lnTo>
                  <a:pt x="8498670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70579" y="7089742"/>
            <a:ext cx="5456130" cy="992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4"/>
              </a:lnSpc>
            </a:pPr>
            <a:r>
              <a:rPr lang="en-US" sz="2896" b="true">
                <a:solidFill>
                  <a:srgbClr val="151F28"/>
                </a:solidFill>
                <a:latin typeface="Roboto Bold"/>
                <a:ea typeface="Roboto Bold"/>
                <a:cs typeface="Roboto Bold"/>
                <a:sym typeface="Roboto Bold"/>
              </a:rPr>
              <a:t>Paylaş, dinle ve ilham al.</a:t>
            </a:r>
          </a:p>
          <a:p>
            <a:pPr algn="l">
              <a:lnSpc>
                <a:spcPts val="4054"/>
              </a:lnSpc>
            </a:pPr>
            <a:r>
              <a:rPr lang="en-US" sz="2896">
                <a:solidFill>
                  <a:srgbClr val="151F28"/>
                </a:solidFill>
                <a:latin typeface="Roboto"/>
                <a:ea typeface="Roboto"/>
                <a:cs typeface="Roboto"/>
                <a:sym typeface="Roboto"/>
              </a:rPr>
              <a:t>Soruların varsa şimdi konuşalım.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5864" y="8675319"/>
            <a:ext cx="7101868" cy="589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9"/>
              </a:lnSpc>
            </a:pPr>
            <a:r>
              <a:rPr lang="en-US" sz="4308" b="true">
                <a:solidFill>
                  <a:srgbClr val="30B0AC"/>
                </a:solidFill>
                <a:latin typeface="Roboto Bold"/>
                <a:ea typeface="Roboto Bold"/>
                <a:cs typeface="Roboto Bold"/>
                <a:sym typeface="Roboto Bold"/>
              </a:rPr>
              <a:t>Katıldığınız için teşekkürler!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9737" y="9363739"/>
            <a:ext cx="8714622" cy="3593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8"/>
              </a:lnSpc>
            </a:pPr>
            <a:r>
              <a:rPr lang="en-US" sz="2707">
                <a:solidFill>
                  <a:srgbClr val="F8F8F8"/>
                </a:solidFill>
                <a:latin typeface="Roboto"/>
                <a:ea typeface="Roboto"/>
                <a:cs typeface="Roboto"/>
                <a:sym typeface="Roboto"/>
              </a:rPr>
              <a:t>Sizlerin yorumları bu sanat yolculuğunu zenginleştiriyor.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570574" y="1924030"/>
            <a:ext cx="8509608" cy="7291635"/>
          </a:xfrm>
          <a:custGeom>
            <a:avLst/>
            <a:gdLst/>
            <a:ahLst/>
            <a:cxnLst/>
            <a:rect r="r" b="b" t="t" l="l"/>
            <a:pathLst>
              <a:path h="7291635" w="8509608">
                <a:moveTo>
                  <a:pt x="0" y="0"/>
                </a:moveTo>
                <a:lnTo>
                  <a:pt x="8509608" y="0"/>
                </a:lnTo>
                <a:lnTo>
                  <a:pt x="8509608" y="7291635"/>
                </a:lnTo>
                <a:lnTo>
                  <a:pt x="0" y="729163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DAHXstAxwjU</dc:identifier>
  <dcterms:modified xsi:type="dcterms:W3CDTF">2011-08-01T06:04:30Z</dcterms:modified>
  <cp:revision>1</cp:revision>
  <dc:title>Dijital Sanat Estetiği</dc:title>
</cp:coreProperties>
</file>