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2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Nunito Sans Bold" charset="1" panose="00000000000000000000"/>
      <p:regular r:id="rId25"/>
    </p:embeddedFont>
    <p:embeddedFont>
      <p:font typeface="Montserrat Bold" charset="1" panose="00000800000000000000"/>
      <p:regular r:id="rId26"/>
    </p:embeddedFont>
    <p:embeddedFont>
      <p:font typeface="Nunito Sans" charset="1" panose="00000000000000000000"/>
      <p:regular r:id="rId27"/>
    </p:embeddedFont>
    <p:embeddedFont>
      <p:font typeface="Nunito Sans Italics" charset="1" panose="00000000000000000000"/>
      <p:regular r:id="rId3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notesMasters/notesMaster1.xml" Type="http://schemas.openxmlformats.org/officeDocument/2006/relationships/notesMaster"/><Relationship Id="rId23" Target="theme/theme2.xml" Type="http://schemas.openxmlformats.org/officeDocument/2006/relationships/theme"/><Relationship Id="rId24" Target="notesSlides/notesSlide1.xml" Type="http://schemas.openxmlformats.org/officeDocument/2006/relationships/notes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notesSlides/notesSlide2.xml" Type="http://schemas.openxmlformats.org/officeDocument/2006/relationships/notesSlide"/><Relationship Id="rId29" Target="notesSlides/notesSlide3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4.xml" Type="http://schemas.openxmlformats.org/officeDocument/2006/relationships/notesSlide"/><Relationship Id="rId31" Target="notesSlides/notesSlide5.xml" Type="http://schemas.openxmlformats.org/officeDocument/2006/relationships/notesSlide"/><Relationship Id="rId32" Target="notesSlides/notesSlide6.xml" Type="http://schemas.openxmlformats.org/officeDocument/2006/relationships/notesSlide"/><Relationship Id="rId33" Target="notesSlides/notesSlide7.xml" Type="http://schemas.openxmlformats.org/officeDocument/2006/relationships/notesSlide"/><Relationship Id="rId34" Target="notesSlides/notesSlide8.xml" Type="http://schemas.openxmlformats.org/officeDocument/2006/relationships/notesSlide"/><Relationship Id="rId35" Target="notesSlides/notesSlide9.xml" Type="http://schemas.openxmlformats.org/officeDocument/2006/relationships/notesSlide"/><Relationship Id="rId36" Target="fonts/font36.fntdata" Type="http://schemas.openxmlformats.org/officeDocument/2006/relationships/font"/><Relationship Id="rId37" Target="notesSlides/notesSlide10.xml" Type="http://schemas.openxmlformats.org/officeDocument/2006/relationships/notesSlide"/><Relationship Id="rId38" Target="notesSlides/notesSlide11.xml" Type="http://schemas.openxmlformats.org/officeDocument/2006/relationships/notesSlide"/><Relationship Id="rId39" Target="notesSlides/notesSlide12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13.xml" Type="http://schemas.openxmlformats.org/officeDocument/2006/relationships/notesSlide"/><Relationship Id="rId41" Target="notesSlides/notesSlide14.xml" Type="http://schemas.openxmlformats.org/officeDocument/2006/relationships/notesSlide"/><Relationship Id="rId42" Target="notesSlides/notesSlide15.xml" Type="http://schemas.openxmlformats.org/officeDocument/2006/relationships/notesSlide"/><Relationship Id="rId43" Target="notesSlides/notesSlide16.xml" Type="http://schemas.openxmlformats.org/officeDocument/2006/relationships/notesSlid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Bugün dijital sanat yaparken kullandığımız araçları öğreneceğiz; hem donanımları hem yazılımları, ne işe yaradıklarını ve nerede kullandığımızı göreceğiz.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Sanat yaparken önce fikir geliştirir, sonra uygun araçları seçer, üretim aşamasına geçeriz. Her aşamada farklı teknolojiler kullanılır.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Donanım, elimizle tutabildiğimiz cihazlardır, yazılım ise bu cihazları yönetip işlerimizi kolaylaştıran programlardır.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Bu cihazlar dijital sanat yaparken kullandığımız araçlardır. Örneğin grafik tablet çizim için, mikrofon ses kaydı için kullanılır.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Çizim yazılımları, sanatçının hayal gücünü bilgisayarda gerçeğe dönüştürür. Katmanlar ve fırçalarla farklı efektler yaratırız.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Fotoğraf düzenleme programları ile fotoğraflarımızı daha güzel ve etkileyici hale getirebiliriz.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Animasyon, hareketli görüntü yaratmaktır. Video düzenleme ise görüntü ve sesi birleştirir, keser, ekler.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3B modeller dijital ortamda şekillenir; bunlar yazıcıyla gerçek objeye dönüşebilir. VR/AR ise sanat deneyimimizi geliştirir.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Dijital sanat sadece görüntü değil, sesle de desteklenebilir. Böylece daha etkileyici eserler yaratılır.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Bu sınıflandırma araçların ne işe yaradığına göre yapılır. Bazı cihazlar birden fazla işlevde olabilir.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Her sanat türü farklı araçlar gerektirir. Örneğin animasyon için hem bilgisayar hem animasyon yazılımı gerekir.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Birden fazla doğru araç olabilir. Önemli olan ihtiyaca en uygun olanı seçmektir.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Dosya türleri farklıdır, doğru dosya seçimi çalışmanın kalitesini ve paylaşımını etkiler.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Şimdi öğrendiğimiz bilgileri kullanarak araçları doğru gruplara yerleştireceğiz.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Bu sorularla konuyu ne kadar anladığınızı ölçeceğiz.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Bugün öğrendiklerimizin kısa özeti burada. Dijital sanat teknolojilerini artık kolayca sınıflandırabilirsiniz.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4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334500" y="0"/>
            <a:ext cx="8953500" cy="10287000"/>
          </a:xfrm>
          <a:custGeom>
            <a:avLst/>
            <a:gdLst/>
            <a:ahLst/>
            <a:cxnLst/>
            <a:rect r="r" b="b" t="t" l="l"/>
            <a:pathLst>
              <a:path h="10287000" w="8953500">
                <a:moveTo>
                  <a:pt x="0" y="0"/>
                </a:moveTo>
                <a:lnTo>
                  <a:pt x="8953500" y="0"/>
                </a:lnTo>
                <a:lnTo>
                  <a:pt x="89535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1" r="0" b="-21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8572500" y="0"/>
            <a:ext cx="3333750" cy="10287000"/>
            <a:chOff x="0" y="0"/>
            <a:chExt cx="4445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45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4445000">
                  <a:moveTo>
                    <a:pt x="0" y="0"/>
                  </a:moveTo>
                  <a:lnTo>
                    <a:pt x="4445000" y="0"/>
                  </a:lnTo>
                  <a:lnTo>
                    <a:pt x="4445000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true">
              <a:gsLst>
                <a:gs pos="0">
                  <a:srgbClr val="071B2B">
                    <a:alpha val="100000"/>
                  </a:srgbClr>
                </a:gs>
                <a:gs pos="100000">
                  <a:srgbClr val="071B2B">
                    <a:alpha val="0"/>
                  </a:srgbClr>
                </a:gs>
              </a:gsLst>
              <a:lin ang="162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45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876300" y="1114425"/>
            <a:ext cx="666750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144" b="true">
                <a:solidFill>
                  <a:srgbClr val="21C7B7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6. SINIF • BİLİŞİM + SANAT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76300" y="2143125"/>
            <a:ext cx="7810500" cy="1607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0"/>
              </a:lnSpc>
            </a:pPr>
            <a:r>
              <a:rPr lang="en-US" sz="60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Dijital Sanatın</a:t>
            </a:r>
          </a:p>
          <a:p>
            <a:pPr algn="l">
              <a:lnSpc>
                <a:spcPts val="6240"/>
              </a:lnSpc>
            </a:pPr>
            <a:r>
              <a:rPr lang="en-US" sz="60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Araçları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76300" y="4857750"/>
            <a:ext cx="695325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50" b="true">
                <a:solidFill>
                  <a:srgbClr val="F28C28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Hangi teknoloji, hangi amaç?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76300" y="5886450"/>
            <a:ext cx="6667500" cy="616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95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Donanımdan yazılıma, fikirden paylaşıma uzanan yaratıcı yolculuk.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6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76300" y="723900"/>
            <a:ext cx="14287500" cy="599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98"/>
              </a:lnSpc>
            </a:pPr>
            <a:r>
              <a:rPr lang="en-US" sz="4350" b="true">
                <a:solidFill>
                  <a:srgbClr val="102A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Dijital sanat nasıl üretilir?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76300" y="1362075"/>
            <a:ext cx="9525000" cy="311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950">
                <a:solidFill>
                  <a:srgbClr val="102A3A"/>
                </a:solidFill>
                <a:latin typeface="Nunito Sans"/>
                <a:ea typeface="Nunito Sans"/>
                <a:cs typeface="Nunito Sans"/>
                <a:sym typeface="Nunito Sans"/>
              </a:rPr>
              <a:t>Her durakta farklı bir teknoloji bize yardım eder.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666750" y="3714750"/>
            <a:ext cx="2333625" cy="1809750"/>
            <a:chOff x="0" y="0"/>
            <a:chExt cx="3111500" cy="2413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1115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3111500">
                  <a:moveTo>
                    <a:pt x="124408" y="0"/>
                  </a:moveTo>
                  <a:lnTo>
                    <a:pt x="2987092" y="0"/>
                  </a:lnTo>
                  <a:cubicBezTo>
                    <a:pt x="3055800" y="0"/>
                    <a:pt x="3111500" y="55699"/>
                    <a:pt x="3111500" y="124408"/>
                  </a:cubicBezTo>
                  <a:lnTo>
                    <a:pt x="3111500" y="2288592"/>
                  </a:lnTo>
                  <a:cubicBezTo>
                    <a:pt x="3111500" y="2357300"/>
                    <a:pt x="3055800" y="2413000"/>
                    <a:pt x="2987092" y="2413000"/>
                  </a:cubicBezTo>
                  <a:lnTo>
                    <a:pt x="124408" y="2413000"/>
                  </a:lnTo>
                  <a:cubicBezTo>
                    <a:pt x="55699" y="2413000"/>
                    <a:pt x="0" y="2357300"/>
                    <a:pt x="0" y="2288592"/>
                  </a:cubicBezTo>
                  <a:lnTo>
                    <a:pt x="0" y="124408"/>
                  </a:lnTo>
                  <a:cubicBezTo>
                    <a:pt x="0" y="55699"/>
                    <a:pt x="55699" y="0"/>
                    <a:pt x="124408" y="0"/>
                  </a:cubicBezTo>
                  <a:close/>
                </a:path>
              </a:pathLst>
            </a:custGeom>
            <a:solidFill>
              <a:srgbClr val="168AAD"/>
            </a:solidFill>
            <a:ln cap="rnd">
              <a:noFill/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28575"/>
              <a:ext cx="3111500" cy="2384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Fikir</a:t>
              </a:r>
            </a:p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Tablet</a:t>
              </a:r>
            </a:p>
          </p:txBody>
        </p:sp>
      </p:grpSp>
      <p:sp>
        <p:nvSpPr>
          <p:cNvPr name="AutoShape 7" id="7"/>
          <p:cNvSpPr/>
          <p:nvPr/>
        </p:nvSpPr>
        <p:spPr>
          <a:xfrm>
            <a:off x="3048000" y="4619625"/>
            <a:ext cx="428625" cy="0"/>
          </a:xfrm>
          <a:prstGeom prst="line">
            <a:avLst/>
          </a:prstGeom>
          <a:ln cap="rnd" w="76200">
            <a:solidFill>
              <a:srgbClr val="F28C2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3571875" y="3714750"/>
            <a:ext cx="2333625" cy="1809750"/>
            <a:chOff x="0" y="0"/>
            <a:chExt cx="3111500" cy="2413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1115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3111500">
                  <a:moveTo>
                    <a:pt x="124408" y="0"/>
                  </a:moveTo>
                  <a:lnTo>
                    <a:pt x="2987092" y="0"/>
                  </a:lnTo>
                  <a:cubicBezTo>
                    <a:pt x="3055800" y="0"/>
                    <a:pt x="3111500" y="55699"/>
                    <a:pt x="3111500" y="124408"/>
                  </a:cubicBezTo>
                  <a:lnTo>
                    <a:pt x="3111500" y="2288592"/>
                  </a:lnTo>
                  <a:cubicBezTo>
                    <a:pt x="3111500" y="2357300"/>
                    <a:pt x="3055800" y="2413000"/>
                    <a:pt x="2987092" y="2413000"/>
                  </a:cubicBezTo>
                  <a:lnTo>
                    <a:pt x="124408" y="2413000"/>
                  </a:lnTo>
                  <a:cubicBezTo>
                    <a:pt x="55699" y="2413000"/>
                    <a:pt x="0" y="2357300"/>
                    <a:pt x="0" y="2288592"/>
                  </a:cubicBezTo>
                  <a:lnTo>
                    <a:pt x="0" y="124408"/>
                  </a:lnTo>
                  <a:cubicBezTo>
                    <a:pt x="0" y="55699"/>
                    <a:pt x="55699" y="0"/>
                    <a:pt x="124408" y="0"/>
                  </a:cubicBezTo>
                  <a:close/>
                </a:path>
              </a:pathLst>
            </a:custGeom>
            <a:solidFill>
              <a:srgbClr val="21C7B7"/>
            </a:solidFill>
            <a:ln cap="rnd">
              <a:noFill/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28575"/>
              <a:ext cx="3111500" cy="2384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Araç seçimi</a:t>
              </a:r>
            </a:p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Kalem</a:t>
              </a:r>
            </a:p>
          </p:txBody>
        </p:sp>
      </p:grpSp>
      <p:sp>
        <p:nvSpPr>
          <p:cNvPr name="AutoShape 11" id="11"/>
          <p:cNvSpPr/>
          <p:nvPr/>
        </p:nvSpPr>
        <p:spPr>
          <a:xfrm>
            <a:off x="5953125" y="4619625"/>
            <a:ext cx="428625" cy="0"/>
          </a:xfrm>
          <a:prstGeom prst="line">
            <a:avLst/>
          </a:prstGeom>
          <a:ln cap="rnd" w="76200">
            <a:solidFill>
              <a:srgbClr val="F28C2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6477000" y="3714750"/>
            <a:ext cx="2333625" cy="1809750"/>
            <a:chOff x="0" y="0"/>
            <a:chExt cx="3111500" cy="2413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1115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3111500">
                  <a:moveTo>
                    <a:pt x="124408" y="0"/>
                  </a:moveTo>
                  <a:lnTo>
                    <a:pt x="2987092" y="0"/>
                  </a:lnTo>
                  <a:cubicBezTo>
                    <a:pt x="3055800" y="0"/>
                    <a:pt x="3111500" y="55699"/>
                    <a:pt x="3111500" y="124408"/>
                  </a:cubicBezTo>
                  <a:lnTo>
                    <a:pt x="3111500" y="2288592"/>
                  </a:lnTo>
                  <a:cubicBezTo>
                    <a:pt x="3111500" y="2357300"/>
                    <a:pt x="3055800" y="2413000"/>
                    <a:pt x="2987092" y="2413000"/>
                  </a:cubicBezTo>
                  <a:lnTo>
                    <a:pt x="124408" y="2413000"/>
                  </a:lnTo>
                  <a:cubicBezTo>
                    <a:pt x="55699" y="2413000"/>
                    <a:pt x="0" y="2357300"/>
                    <a:pt x="0" y="2288592"/>
                  </a:cubicBezTo>
                  <a:lnTo>
                    <a:pt x="0" y="124408"/>
                  </a:lnTo>
                  <a:cubicBezTo>
                    <a:pt x="0" y="55699"/>
                    <a:pt x="55699" y="0"/>
                    <a:pt x="124408" y="0"/>
                  </a:cubicBezTo>
                  <a:close/>
                </a:path>
              </a:pathLst>
            </a:custGeom>
            <a:solidFill>
              <a:srgbClr val="7B4BD4"/>
            </a:solidFill>
            <a:ln cap="rnd">
              <a:noFill/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28575"/>
              <a:ext cx="3111500" cy="2384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Üretim</a:t>
              </a:r>
            </a:p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Grafik tablet</a:t>
              </a:r>
            </a:p>
          </p:txBody>
        </p:sp>
      </p:grpSp>
      <p:sp>
        <p:nvSpPr>
          <p:cNvPr name="AutoShape 15" id="15"/>
          <p:cNvSpPr/>
          <p:nvPr/>
        </p:nvSpPr>
        <p:spPr>
          <a:xfrm>
            <a:off x="8858250" y="4619625"/>
            <a:ext cx="428625" cy="0"/>
          </a:xfrm>
          <a:prstGeom prst="line">
            <a:avLst/>
          </a:prstGeom>
          <a:ln cap="rnd" w="76200">
            <a:solidFill>
              <a:srgbClr val="F28C2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9382125" y="3714750"/>
            <a:ext cx="2333625" cy="1809750"/>
            <a:chOff x="0" y="0"/>
            <a:chExt cx="3111500" cy="2413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1115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3111500">
                  <a:moveTo>
                    <a:pt x="124408" y="0"/>
                  </a:moveTo>
                  <a:lnTo>
                    <a:pt x="2987092" y="0"/>
                  </a:lnTo>
                  <a:cubicBezTo>
                    <a:pt x="3055800" y="0"/>
                    <a:pt x="3111500" y="55699"/>
                    <a:pt x="3111500" y="124408"/>
                  </a:cubicBezTo>
                  <a:lnTo>
                    <a:pt x="3111500" y="2288592"/>
                  </a:lnTo>
                  <a:cubicBezTo>
                    <a:pt x="3111500" y="2357300"/>
                    <a:pt x="3055800" y="2413000"/>
                    <a:pt x="2987092" y="2413000"/>
                  </a:cubicBezTo>
                  <a:lnTo>
                    <a:pt x="124408" y="2413000"/>
                  </a:lnTo>
                  <a:cubicBezTo>
                    <a:pt x="55699" y="2413000"/>
                    <a:pt x="0" y="2357300"/>
                    <a:pt x="0" y="2288592"/>
                  </a:cubicBezTo>
                  <a:lnTo>
                    <a:pt x="0" y="124408"/>
                  </a:lnTo>
                  <a:cubicBezTo>
                    <a:pt x="0" y="55699"/>
                    <a:pt x="55699" y="0"/>
                    <a:pt x="124408" y="0"/>
                  </a:cubicBezTo>
                  <a:close/>
                </a:path>
              </a:pathLst>
            </a:custGeom>
            <a:solidFill>
              <a:srgbClr val="7B4BD4"/>
            </a:solidFill>
            <a:ln cap="rnd">
              <a:noFill/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28575"/>
              <a:ext cx="3111500" cy="2384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Düzenleme</a:t>
              </a:r>
            </a:p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Yazılım</a:t>
              </a:r>
            </a:p>
          </p:txBody>
        </p:sp>
      </p:grpSp>
      <p:sp>
        <p:nvSpPr>
          <p:cNvPr name="AutoShape 19" id="19"/>
          <p:cNvSpPr/>
          <p:nvPr/>
        </p:nvSpPr>
        <p:spPr>
          <a:xfrm>
            <a:off x="11763375" y="4619625"/>
            <a:ext cx="428625" cy="0"/>
          </a:xfrm>
          <a:prstGeom prst="line">
            <a:avLst/>
          </a:prstGeom>
          <a:ln cap="rnd" w="76200">
            <a:solidFill>
              <a:srgbClr val="F28C2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12287250" y="3714750"/>
            <a:ext cx="2333625" cy="1809750"/>
            <a:chOff x="0" y="0"/>
            <a:chExt cx="3111500" cy="2413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1115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3111500">
                  <a:moveTo>
                    <a:pt x="124408" y="0"/>
                  </a:moveTo>
                  <a:lnTo>
                    <a:pt x="2987092" y="0"/>
                  </a:lnTo>
                  <a:cubicBezTo>
                    <a:pt x="3055800" y="0"/>
                    <a:pt x="3111500" y="55699"/>
                    <a:pt x="3111500" y="124408"/>
                  </a:cubicBezTo>
                  <a:lnTo>
                    <a:pt x="3111500" y="2288592"/>
                  </a:lnTo>
                  <a:cubicBezTo>
                    <a:pt x="3111500" y="2357300"/>
                    <a:pt x="3055800" y="2413000"/>
                    <a:pt x="2987092" y="2413000"/>
                  </a:cubicBezTo>
                  <a:lnTo>
                    <a:pt x="124408" y="2413000"/>
                  </a:lnTo>
                  <a:cubicBezTo>
                    <a:pt x="55699" y="2413000"/>
                    <a:pt x="0" y="2357300"/>
                    <a:pt x="0" y="2288592"/>
                  </a:cubicBezTo>
                  <a:lnTo>
                    <a:pt x="0" y="124408"/>
                  </a:lnTo>
                  <a:cubicBezTo>
                    <a:pt x="0" y="55699"/>
                    <a:pt x="55699" y="0"/>
                    <a:pt x="124408" y="0"/>
                  </a:cubicBezTo>
                  <a:close/>
                </a:path>
              </a:pathLst>
            </a:custGeom>
            <a:solidFill>
              <a:srgbClr val="36A66A"/>
            </a:solidFill>
            <a:ln cap="rnd">
              <a:noFill/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28575"/>
              <a:ext cx="3111500" cy="2384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Kaydetme</a:t>
              </a:r>
            </a:p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Bilgisayar</a:t>
              </a:r>
            </a:p>
          </p:txBody>
        </p:sp>
      </p:grpSp>
      <p:sp>
        <p:nvSpPr>
          <p:cNvPr name="AutoShape 23" id="23"/>
          <p:cNvSpPr/>
          <p:nvPr/>
        </p:nvSpPr>
        <p:spPr>
          <a:xfrm>
            <a:off x="14668500" y="4619625"/>
            <a:ext cx="428625" cy="0"/>
          </a:xfrm>
          <a:prstGeom prst="line">
            <a:avLst/>
          </a:prstGeom>
          <a:ln cap="rnd" w="76200">
            <a:solidFill>
              <a:srgbClr val="F28C2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4" id="24"/>
          <p:cNvGrpSpPr/>
          <p:nvPr/>
        </p:nvGrpSpPr>
        <p:grpSpPr>
          <a:xfrm rot="0">
            <a:off x="15192375" y="3714750"/>
            <a:ext cx="2333625" cy="1809750"/>
            <a:chOff x="0" y="0"/>
            <a:chExt cx="3111500" cy="2413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1115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3111500">
                  <a:moveTo>
                    <a:pt x="124408" y="0"/>
                  </a:moveTo>
                  <a:lnTo>
                    <a:pt x="2987092" y="0"/>
                  </a:lnTo>
                  <a:cubicBezTo>
                    <a:pt x="3055800" y="0"/>
                    <a:pt x="3111500" y="55699"/>
                    <a:pt x="3111500" y="124408"/>
                  </a:cubicBezTo>
                  <a:lnTo>
                    <a:pt x="3111500" y="2288592"/>
                  </a:lnTo>
                  <a:cubicBezTo>
                    <a:pt x="3111500" y="2357300"/>
                    <a:pt x="3055800" y="2413000"/>
                    <a:pt x="2987092" y="2413000"/>
                  </a:cubicBezTo>
                  <a:lnTo>
                    <a:pt x="124408" y="2413000"/>
                  </a:lnTo>
                  <a:cubicBezTo>
                    <a:pt x="55699" y="2413000"/>
                    <a:pt x="0" y="2357300"/>
                    <a:pt x="0" y="2288592"/>
                  </a:cubicBezTo>
                  <a:lnTo>
                    <a:pt x="0" y="124408"/>
                  </a:lnTo>
                  <a:cubicBezTo>
                    <a:pt x="0" y="55699"/>
                    <a:pt x="55699" y="0"/>
                    <a:pt x="124408" y="0"/>
                  </a:cubicBezTo>
                  <a:close/>
                </a:path>
              </a:pathLst>
            </a:custGeom>
            <a:solidFill>
              <a:srgbClr val="36A66A"/>
            </a:solidFill>
            <a:ln cap="rnd">
              <a:noFill/>
              <a:prstDash val="solid"/>
              <a:round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28575"/>
              <a:ext cx="3111500" cy="2384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Paylaşma / Çıktı</a:t>
              </a:r>
            </a:p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Yazıcı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5334000" y="6572250"/>
            <a:ext cx="7620000" cy="952500"/>
            <a:chOff x="0" y="0"/>
            <a:chExt cx="10160000" cy="1270000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10160000" cy="1270000"/>
              <a:chOff x="0" y="0"/>
              <a:chExt cx="10160000" cy="12700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10160000" cy="1270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0" w="10160000">
                    <a:moveTo>
                      <a:pt x="0" y="0"/>
                    </a:moveTo>
                    <a:lnTo>
                      <a:pt x="10160000" y="0"/>
                    </a:lnTo>
                    <a:lnTo>
                      <a:pt x="10160000" y="1270000"/>
                    </a:lnTo>
                    <a:lnTo>
                      <a:pt x="0" y="1270000"/>
                    </a:lnTo>
                    <a:close/>
                  </a:path>
                </a:pathLst>
              </a:custGeom>
              <a:solidFill>
                <a:srgbClr val="102A3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10160000" cy="130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1" id="31"/>
            <p:cNvSpPr txBox="true"/>
            <p:nvPr/>
          </p:nvSpPr>
          <p:spPr>
            <a:xfrm rot="0">
              <a:off x="381000" y="333375"/>
              <a:ext cx="9398000" cy="5149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54"/>
                </a:lnSpc>
              </a:pPr>
              <a:r>
                <a:rPr lang="en-US" sz="2325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İPUCU  •  Önce amaç, sonra araç!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6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76300" y="723900"/>
            <a:ext cx="13811250" cy="599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98"/>
              </a:lnSpc>
            </a:pPr>
            <a:r>
              <a:rPr lang="en-US" sz="4350" b="true">
                <a:solidFill>
                  <a:srgbClr val="102A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Donanım mı, yazılım mı?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857250" y="2095500"/>
            <a:ext cx="7524750" cy="4000500"/>
            <a:chOff x="0" y="0"/>
            <a:chExt cx="10033000" cy="5334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033000" cy="5334000"/>
            </a:xfrm>
            <a:custGeom>
              <a:avLst/>
              <a:gdLst/>
              <a:ahLst/>
              <a:cxnLst/>
              <a:rect r="r" b="b" t="t" l="l"/>
              <a:pathLst>
                <a:path h="5334000" w="10033000">
                  <a:moveTo>
                    <a:pt x="0" y="0"/>
                  </a:moveTo>
                  <a:lnTo>
                    <a:pt x="10033000" y="0"/>
                  </a:lnTo>
                  <a:lnTo>
                    <a:pt x="10033000" y="5334000"/>
                  </a:lnTo>
                  <a:lnTo>
                    <a:pt x="0" y="5334000"/>
                  </a:lnTo>
                  <a:close/>
                </a:path>
              </a:pathLst>
            </a:custGeom>
            <a:solidFill>
              <a:srgbClr val="168AAD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0033000" cy="537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906000" y="2095500"/>
            <a:ext cx="7524750" cy="4000500"/>
            <a:chOff x="0" y="0"/>
            <a:chExt cx="10033000" cy="5334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033000" cy="5334000"/>
            </a:xfrm>
            <a:custGeom>
              <a:avLst/>
              <a:gdLst/>
              <a:ahLst/>
              <a:cxnLst/>
              <a:rect r="r" b="b" t="t" l="l"/>
              <a:pathLst>
                <a:path h="5334000" w="10033000">
                  <a:moveTo>
                    <a:pt x="0" y="0"/>
                  </a:moveTo>
                  <a:lnTo>
                    <a:pt x="10033000" y="0"/>
                  </a:lnTo>
                  <a:lnTo>
                    <a:pt x="10033000" y="5334000"/>
                  </a:lnTo>
                  <a:lnTo>
                    <a:pt x="0" y="5334000"/>
                  </a:lnTo>
                  <a:close/>
                </a:path>
              </a:pathLst>
            </a:custGeom>
            <a:solidFill>
              <a:srgbClr val="7B4BD4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0033000" cy="537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333500" y="2333625"/>
            <a:ext cx="6191250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90"/>
              </a:lnSpc>
            </a:pPr>
            <a:r>
              <a:rPr lang="en-US" sz="28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DONANIM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66875" y="3409950"/>
            <a:ext cx="5524500" cy="616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7"/>
              </a:lnSpc>
            </a:pPr>
            <a:r>
              <a:rPr lang="en-US" sz="195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Dokunabiliriz.</a:t>
            </a:r>
          </a:p>
          <a:p>
            <a:pPr algn="ctr">
              <a:lnSpc>
                <a:spcPts val="2437"/>
              </a:lnSpc>
            </a:pPr>
            <a:r>
              <a:rPr lang="en-US" sz="195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Bilgisayar • grafik tablet • kamera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763250" y="2333625"/>
            <a:ext cx="6191250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90"/>
              </a:lnSpc>
            </a:pPr>
            <a:r>
              <a:rPr lang="en-US" sz="28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YAZILIM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096625" y="3409950"/>
            <a:ext cx="5524500" cy="616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7"/>
              </a:lnSpc>
            </a:pPr>
            <a:r>
              <a:rPr lang="en-US" sz="195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Komut verir ve işi kolaylaştırır.</a:t>
            </a:r>
          </a:p>
          <a:p>
            <a:pPr algn="ctr">
              <a:lnSpc>
                <a:spcPts val="2437"/>
              </a:lnSpc>
            </a:pPr>
            <a:r>
              <a:rPr lang="en-US" sz="195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Çizim • animasyon • fotoğraf programı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000375" y="7477125"/>
            <a:ext cx="1228725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9"/>
              </a:lnSpc>
            </a:pPr>
            <a:r>
              <a:rPr lang="en-US" sz="2550" b="true">
                <a:solidFill>
                  <a:srgbClr val="102A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Bilgisayar  +  çizim yazılımı  =  dijital illüstrasyon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76300" y="676275"/>
            <a:ext cx="14287500" cy="599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98"/>
              </a:lnSpc>
            </a:pPr>
            <a:r>
              <a:rPr lang="en-US" sz="4350" b="true">
                <a:solidFill>
                  <a:srgbClr val="102A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Dijital sanat donanımları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952500" y="2190750"/>
            <a:ext cx="7239000" cy="6858000"/>
          </a:xfrm>
          <a:custGeom>
            <a:avLst/>
            <a:gdLst/>
            <a:ahLst/>
            <a:cxnLst/>
            <a:rect r="r" b="b" t="t" l="l"/>
            <a:pathLst>
              <a:path h="6858000" w="7239000">
                <a:moveTo>
                  <a:pt x="0" y="0"/>
                </a:moveTo>
                <a:lnTo>
                  <a:pt x="7239000" y="0"/>
                </a:lnTo>
                <a:lnTo>
                  <a:pt x="7239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9" t="0" r="-59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4" id="4"/>
          <p:cNvGrpSpPr/>
          <p:nvPr/>
        </p:nvGrpSpPr>
        <p:grpSpPr>
          <a:xfrm rot="0">
            <a:off x="8858250" y="2190750"/>
            <a:ext cx="3714750" cy="1714500"/>
            <a:chOff x="0" y="0"/>
            <a:chExt cx="4953000" cy="2286000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4953000" cy="2286000"/>
              <a:chOff x="0" y="0"/>
              <a:chExt cx="4953000" cy="22860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4953000" cy="2286000"/>
              </a:xfrm>
              <a:custGeom>
                <a:avLst/>
                <a:gdLst/>
                <a:ahLst/>
                <a:cxnLst/>
                <a:rect r="r" b="b" t="t" l="l"/>
                <a:pathLst>
                  <a:path h="2286000" w="4953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2286000"/>
                    </a:lnTo>
                    <a:lnTo>
                      <a:pt x="0" y="2286000"/>
                    </a:lnTo>
                    <a:close/>
                  </a:path>
                </a:pathLst>
              </a:custGeom>
              <a:solidFill>
                <a:srgbClr val="E5F5E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4953000" cy="2324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355600" y="365125"/>
              <a:ext cx="4191000" cy="7077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24"/>
                </a:lnSpc>
              </a:pPr>
              <a:r>
                <a:rPr lang="en-US" sz="1800" b="true">
                  <a:solidFill>
                    <a:srgbClr val="102A3A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Bilgisayar</a:t>
              </a:r>
            </a:p>
            <a:p>
              <a:pPr algn="l">
                <a:lnSpc>
                  <a:spcPts val="2124"/>
                </a:lnSpc>
              </a:pPr>
              <a:r>
                <a:rPr lang="en-US" sz="1800" b="true">
                  <a:solidFill>
                    <a:srgbClr val="102A3A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İşlemleri yürütür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954000" y="2190750"/>
            <a:ext cx="3714750" cy="1714500"/>
            <a:chOff x="0" y="0"/>
            <a:chExt cx="4953000" cy="2286000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4953000" cy="2286000"/>
              <a:chOff x="0" y="0"/>
              <a:chExt cx="4953000" cy="22860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4953000" cy="2286000"/>
              </a:xfrm>
              <a:custGeom>
                <a:avLst/>
                <a:gdLst/>
                <a:ahLst/>
                <a:cxnLst/>
                <a:rect r="r" b="b" t="t" l="l"/>
                <a:pathLst>
                  <a:path h="2286000" w="4953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2286000"/>
                    </a:lnTo>
                    <a:lnTo>
                      <a:pt x="0" y="2286000"/>
                    </a:lnTo>
                    <a:close/>
                  </a:path>
                </a:pathLst>
              </a:custGeom>
              <a:solidFill>
                <a:srgbClr val="E7F4F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4953000" cy="2324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355600" y="365125"/>
              <a:ext cx="4191000" cy="7077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24"/>
                </a:lnSpc>
              </a:pPr>
              <a:r>
                <a:rPr lang="en-US" sz="1800" b="true">
                  <a:solidFill>
                    <a:srgbClr val="102A3A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Tablet + kalem</a:t>
              </a:r>
            </a:p>
            <a:p>
              <a:pPr algn="l">
                <a:lnSpc>
                  <a:spcPts val="2124"/>
                </a:lnSpc>
              </a:pPr>
              <a:r>
                <a:rPr lang="en-US" sz="1800" b="true">
                  <a:solidFill>
                    <a:srgbClr val="102A3A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Doğrudan çizdirir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858250" y="4429125"/>
            <a:ext cx="3714750" cy="1714500"/>
            <a:chOff x="0" y="0"/>
            <a:chExt cx="4953000" cy="2286000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4953000" cy="2286000"/>
              <a:chOff x="0" y="0"/>
              <a:chExt cx="4953000" cy="22860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953000" cy="2286000"/>
              </a:xfrm>
              <a:custGeom>
                <a:avLst/>
                <a:gdLst/>
                <a:ahLst/>
                <a:cxnLst/>
                <a:rect r="r" b="b" t="t" l="l"/>
                <a:pathLst>
                  <a:path h="2286000" w="4953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2286000"/>
                    </a:lnTo>
                    <a:lnTo>
                      <a:pt x="0" y="2286000"/>
                    </a:lnTo>
                    <a:close/>
                  </a:path>
                </a:pathLst>
              </a:custGeom>
              <a:solidFill>
                <a:srgbClr val="E5F5E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4953000" cy="2324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355600" y="365125"/>
              <a:ext cx="4191000" cy="7077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24"/>
                </a:lnSpc>
              </a:pPr>
              <a:r>
                <a:rPr lang="en-US" sz="1800" b="true">
                  <a:solidFill>
                    <a:srgbClr val="102A3A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Kamera</a:t>
              </a:r>
            </a:p>
            <a:p>
              <a:pPr algn="l">
                <a:lnSpc>
                  <a:spcPts val="2124"/>
                </a:lnSpc>
              </a:pPr>
              <a:r>
                <a:rPr lang="en-US" sz="1800" b="true">
                  <a:solidFill>
                    <a:srgbClr val="102A3A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Görüntü kaydeder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954000" y="4429125"/>
            <a:ext cx="3714750" cy="1714500"/>
            <a:chOff x="0" y="0"/>
            <a:chExt cx="4953000" cy="2286000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4953000" cy="2286000"/>
              <a:chOff x="0" y="0"/>
              <a:chExt cx="4953000" cy="22860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4953000" cy="2286000"/>
              </a:xfrm>
              <a:custGeom>
                <a:avLst/>
                <a:gdLst/>
                <a:ahLst/>
                <a:cxnLst/>
                <a:rect r="r" b="b" t="t" l="l"/>
                <a:pathLst>
                  <a:path h="2286000" w="4953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2286000"/>
                    </a:lnTo>
                    <a:lnTo>
                      <a:pt x="0" y="2286000"/>
                    </a:lnTo>
                    <a:close/>
                  </a:path>
                </a:pathLst>
              </a:custGeom>
              <a:solidFill>
                <a:srgbClr val="E7F4F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38100"/>
                <a:ext cx="4953000" cy="2324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355600" y="365125"/>
              <a:ext cx="4191000" cy="7077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24"/>
                </a:lnSpc>
              </a:pPr>
              <a:r>
                <a:rPr lang="en-US" sz="1800" b="true">
                  <a:solidFill>
                    <a:srgbClr val="102A3A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Tarayıcı + mikrofon</a:t>
              </a:r>
            </a:p>
            <a:p>
              <a:pPr algn="l">
                <a:lnSpc>
                  <a:spcPts val="2124"/>
                </a:lnSpc>
              </a:pPr>
              <a:r>
                <a:rPr lang="en-US" sz="1800" b="true">
                  <a:solidFill>
                    <a:srgbClr val="102A3A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Görsel ve ses aktarır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8858250" y="6667500"/>
            <a:ext cx="3714750" cy="1714500"/>
            <a:chOff x="0" y="0"/>
            <a:chExt cx="4953000" cy="2286000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4953000" cy="2286000"/>
              <a:chOff x="0" y="0"/>
              <a:chExt cx="4953000" cy="22860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4953000" cy="2286000"/>
              </a:xfrm>
              <a:custGeom>
                <a:avLst/>
                <a:gdLst/>
                <a:ahLst/>
                <a:cxnLst/>
                <a:rect r="r" b="b" t="t" l="l"/>
                <a:pathLst>
                  <a:path h="2286000" w="4953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2286000"/>
                    </a:lnTo>
                    <a:lnTo>
                      <a:pt x="0" y="2286000"/>
                    </a:lnTo>
                    <a:close/>
                  </a:path>
                </a:pathLst>
              </a:custGeom>
              <a:solidFill>
                <a:srgbClr val="E5F5E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4953000" cy="2324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355600" y="365125"/>
              <a:ext cx="4191000" cy="7077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24"/>
                </a:lnSpc>
              </a:pPr>
              <a:r>
                <a:rPr lang="en-US" sz="1800" b="true">
                  <a:solidFill>
                    <a:srgbClr val="102A3A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Monitör + yazıcı</a:t>
              </a:r>
            </a:p>
            <a:p>
              <a:pPr algn="l">
                <a:lnSpc>
                  <a:spcPts val="2124"/>
                </a:lnSpc>
              </a:pPr>
              <a:r>
                <a:rPr lang="en-US" sz="1800" b="true">
                  <a:solidFill>
                    <a:srgbClr val="102A3A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Gösterir ve basar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2954000" y="6667500"/>
            <a:ext cx="3714750" cy="1714500"/>
            <a:chOff x="0" y="0"/>
            <a:chExt cx="4953000" cy="2286000"/>
          </a:xfrm>
        </p:grpSpPr>
        <p:grpSp>
          <p:nvGrpSpPr>
            <p:cNvPr name="Group 30" id="30"/>
            <p:cNvGrpSpPr/>
            <p:nvPr/>
          </p:nvGrpSpPr>
          <p:grpSpPr>
            <a:xfrm rot="0">
              <a:off x="0" y="0"/>
              <a:ext cx="4953000" cy="2286000"/>
              <a:chOff x="0" y="0"/>
              <a:chExt cx="4953000" cy="228600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4953000" cy="2286000"/>
              </a:xfrm>
              <a:custGeom>
                <a:avLst/>
                <a:gdLst/>
                <a:ahLst/>
                <a:cxnLst/>
                <a:rect r="r" b="b" t="t" l="l"/>
                <a:pathLst>
                  <a:path h="2286000" w="4953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2286000"/>
                    </a:lnTo>
                    <a:lnTo>
                      <a:pt x="0" y="2286000"/>
                    </a:lnTo>
                    <a:close/>
                  </a:path>
                </a:pathLst>
              </a:custGeom>
              <a:solidFill>
                <a:srgbClr val="E7F4F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38100"/>
                <a:ext cx="4953000" cy="2324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3" id="33"/>
            <p:cNvSpPr txBox="true"/>
            <p:nvPr/>
          </p:nvSpPr>
          <p:spPr>
            <a:xfrm rot="0">
              <a:off x="355600" y="365125"/>
              <a:ext cx="4191000" cy="7077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24"/>
                </a:lnSpc>
              </a:pPr>
              <a:r>
                <a:rPr lang="en-US" sz="1800" b="true">
                  <a:solidFill>
                    <a:srgbClr val="102A3A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VR / AR</a:t>
              </a:r>
            </a:p>
            <a:p>
              <a:pPr algn="l">
                <a:lnSpc>
                  <a:spcPts val="2124"/>
                </a:lnSpc>
              </a:pPr>
              <a:r>
                <a:rPr lang="en-US" sz="1800" b="true">
                  <a:solidFill>
                    <a:srgbClr val="102A3A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Sanatın içine taşır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096250" y="1809750"/>
            <a:ext cx="9334500" cy="7334250"/>
          </a:xfrm>
          <a:custGeom>
            <a:avLst/>
            <a:gdLst/>
            <a:ahLst/>
            <a:cxnLst/>
            <a:rect r="r" b="b" t="t" l="l"/>
            <a:pathLst>
              <a:path h="7334250" w="9334500">
                <a:moveTo>
                  <a:pt x="0" y="0"/>
                </a:moveTo>
                <a:lnTo>
                  <a:pt x="9334500" y="0"/>
                </a:lnTo>
                <a:lnTo>
                  <a:pt x="9334500" y="7334250"/>
                </a:lnTo>
                <a:lnTo>
                  <a:pt x="0" y="73342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5" t="0" r="-45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876300" y="904875"/>
            <a:ext cx="6572250" cy="1159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6"/>
              </a:lnSpc>
            </a:pPr>
            <a:r>
              <a:rPr lang="en-US" sz="4200" b="true">
                <a:solidFill>
                  <a:srgbClr val="102A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Çizim yazılımı:</a:t>
            </a:r>
          </a:p>
          <a:p>
            <a:pPr algn="l">
              <a:lnSpc>
                <a:spcPts val="4536"/>
              </a:lnSpc>
            </a:pPr>
            <a:r>
              <a:rPr lang="en-US" sz="4200" b="true">
                <a:solidFill>
                  <a:srgbClr val="102A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hayal gücünün atölyesi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76300" y="3914775"/>
            <a:ext cx="2381250" cy="239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7"/>
              </a:lnSpc>
            </a:pPr>
            <a:r>
              <a:rPr lang="en-US" sz="1650" b="true">
                <a:solidFill>
                  <a:srgbClr val="7B4BD4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KATMAN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76300" y="4267200"/>
            <a:ext cx="5715000" cy="311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950">
                <a:solidFill>
                  <a:srgbClr val="102A3A"/>
                </a:solidFill>
                <a:latin typeface="Nunito Sans"/>
                <a:ea typeface="Nunito Sans"/>
                <a:cs typeface="Nunito Sans"/>
                <a:sym typeface="Nunito Sans"/>
              </a:rPr>
              <a:t>Parçaları ayrı ayrı düzenle.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76300" y="5438775"/>
            <a:ext cx="2381250" cy="239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7"/>
              </a:lnSpc>
            </a:pPr>
            <a:r>
              <a:rPr lang="en-US" sz="1650" b="true">
                <a:solidFill>
                  <a:srgbClr val="7B4BD4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FIRÇA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76300" y="5791200"/>
            <a:ext cx="5715000" cy="311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950">
                <a:solidFill>
                  <a:srgbClr val="102A3A"/>
                </a:solidFill>
                <a:latin typeface="Nunito Sans"/>
                <a:ea typeface="Nunito Sans"/>
                <a:cs typeface="Nunito Sans"/>
                <a:sym typeface="Nunito Sans"/>
              </a:rPr>
              <a:t>Doku ve iz seç.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76300" y="6962775"/>
            <a:ext cx="2857500" cy="239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7"/>
              </a:lnSpc>
            </a:pPr>
            <a:r>
              <a:rPr lang="en-US" sz="1650" b="true">
                <a:solidFill>
                  <a:srgbClr val="7B4BD4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RENK PALETİ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76300" y="7315200"/>
            <a:ext cx="5715000" cy="311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950">
                <a:solidFill>
                  <a:srgbClr val="102A3A"/>
                </a:solidFill>
                <a:latin typeface="Nunito Sans"/>
                <a:ea typeface="Nunito Sans"/>
                <a:cs typeface="Nunito Sans"/>
                <a:sym typeface="Nunito Sans"/>
              </a:rPr>
              <a:t>Duyguyu renkle anlat.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76300" y="8924925"/>
            <a:ext cx="1571625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102A3A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Krita • Inkscape  |  Araç yazılım, seçimi yapan sanatçıdır.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76300" y="676275"/>
            <a:ext cx="14287500" cy="599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98"/>
              </a:lnSpc>
            </a:pPr>
            <a:r>
              <a:rPr lang="en-US" sz="4350" b="true">
                <a:solidFill>
                  <a:srgbClr val="102A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Fotoğraf düzenleme: farkı gör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952500" y="2476500"/>
            <a:ext cx="7524750" cy="5715000"/>
          </a:xfrm>
          <a:custGeom>
            <a:avLst/>
            <a:gdLst/>
            <a:ahLst/>
            <a:cxnLst/>
            <a:rect r="r" b="b" t="t" l="l"/>
            <a:pathLst>
              <a:path h="5715000" w="7524750">
                <a:moveTo>
                  <a:pt x="0" y="0"/>
                </a:moveTo>
                <a:lnTo>
                  <a:pt x="7524750" y="0"/>
                </a:lnTo>
                <a:lnTo>
                  <a:pt x="7524750" y="5715000"/>
                </a:lnTo>
                <a:lnTo>
                  <a:pt x="0" y="5715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9" t="0" r="-49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9810750" y="2476500"/>
            <a:ext cx="7524750" cy="5715000"/>
          </a:xfrm>
          <a:custGeom>
            <a:avLst/>
            <a:gdLst/>
            <a:ahLst/>
            <a:cxnLst/>
            <a:rect r="r" b="b" t="t" l="l"/>
            <a:pathLst>
              <a:path h="5715000" w="7524750">
                <a:moveTo>
                  <a:pt x="0" y="0"/>
                </a:moveTo>
                <a:lnTo>
                  <a:pt x="7524750" y="0"/>
                </a:lnTo>
                <a:lnTo>
                  <a:pt x="7524750" y="5715000"/>
                </a:lnTo>
                <a:lnTo>
                  <a:pt x="0" y="5715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9" t="0" r="-49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5" id="5"/>
          <p:cNvSpPr txBox="true"/>
          <p:nvPr/>
        </p:nvSpPr>
        <p:spPr>
          <a:xfrm rot="0">
            <a:off x="952500" y="1914525"/>
            <a:ext cx="7524750" cy="239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7"/>
              </a:lnSpc>
            </a:pPr>
            <a:r>
              <a:rPr lang="en-US" sz="1650" b="true">
                <a:solidFill>
                  <a:srgbClr val="168AAD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ORİJİNAL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810750" y="1914525"/>
            <a:ext cx="7524750" cy="239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7"/>
              </a:lnSpc>
            </a:pPr>
            <a:r>
              <a:rPr lang="en-US" sz="1650" b="true">
                <a:solidFill>
                  <a:srgbClr val="36A66A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DÜZENLENMİŞ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143250" y="8629650"/>
            <a:ext cx="12001500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35"/>
              </a:lnSpc>
            </a:pPr>
            <a:r>
              <a:rPr lang="en-US" sz="2025" b="true">
                <a:solidFill>
                  <a:srgbClr val="102A3A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Kırpma  •  Renk  •  Parlaklık  •  Kontrast  •  Rötuş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286750" y="0"/>
            <a:ext cx="10001250" cy="10287000"/>
          </a:xfrm>
          <a:custGeom>
            <a:avLst/>
            <a:gdLst/>
            <a:ahLst/>
            <a:cxnLst/>
            <a:rect r="r" b="b" t="t" l="l"/>
            <a:pathLst>
              <a:path h="10287000" w="10001250">
                <a:moveTo>
                  <a:pt x="0" y="0"/>
                </a:moveTo>
                <a:lnTo>
                  <a:pt x="10001250" y="0"/>
                </a:lnTo>
                <a:lnTo>
                  <a:pt x="1000125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4" t="0" r="-14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7810500" y="0"/>
            <a:ext cx="2095500" cy="10287000"/>
            <a:chOff x="0" y="0"/>
            <a:chExt cx="279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794000">
                  <a:moveTo>
                    <a:pt x="0" y="0"/>
                  </a:moveTo>
                  <a:lnTo>
                    <a:pt x="2794000" y="0"/>
                  </a:lnTo>
                  <a:lnTo>
                    <a:pt x="2794000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true">
              <a:gsLst>
                <a:gs pos="0">
                  <a:srgbClr val="071B2B">
                    <a:alpha val="100000"/>
                  </a:srgbClr>
                </a:gs>
                <a:gs pos="100000">
                  <a:srgbClr val="071B2B">
                    <a:alpha val="0"/>
                  </a:srgbClr>
                </a:gs>
              </a:gsLst>
              <a:lin ang="162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876300" y="1238250"/>
            <a:ext cx="6667500" cy="1607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0"/>
              </a:lnSpc>
            </a:pPr>
            <a:r>
              <a:rPr lang="en-US" sz="60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Animasyon</a:t>
            </a:r>
          </a:p>
          <a:p>
            <a:pPr algn="l">
              <a:lnSpc>
                <a:spcPts val="6240"/>
              </a:lnSpc>
            </a:pPr>
            <a:r>
              <a:rPr lang="en-US" sz="60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+ video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76300" y="4010025"/>
            <a:ext cx="2667000" cy="239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7"/>
              </a:lnSpc>
            </a:pPr>
            <a:r>
              <a:rPr lang="en-US" sz="1650" b="true">
                <a:solidFill>
                  <a:srgbClr val="21C7B7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Kare kare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76300" y="4410075"/>
            <a:ext cx="5905500" cy="311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95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Her karede küçük değişiklik.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76300" y="5581650"/>
            <a:ext cx="2857500" cy="239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7"/>
              </a:lnSpc>
            </a:pPr>
            <a:r>
              <a:rPr lang="en-US" sz="1650" b="true">
                <a:solidFill>
                  <a:srgbClr val="7B4BD4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3B animasyon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76300" y="5981700"/>
            <a:ext cx="6191250" cy="311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95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Modeli dijital ortamda hareket ettir.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76300" y="7153275"/>
            <a:ext cx="3143250" cy="239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7"/>
              </a:lnSpc>
            </a:pPr>
            <a:r>
              <a:rPr lang="en-US" sz="1650" b="true">
                <a:solidFill>
                  <a:srgbClr val="36A66A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Video düzenleme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76300" y="7553325"/>
            <a:ext cx="6191250" cy="311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95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Görüntü + ses + geçişleri birleştir.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76300" y="676275"/>
            <a:ext cx="14763750" cy="599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98"/>
              </a:lnSpc>
            </a:pPr>
            <a:r>
              <a:rPr lang="en-US" sz="4350" b="true">
                <a:solidFill>
                  <a:srgbClr val="102A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3B modelleme ve sanal sanat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952500" y="1762125"/>
            <a:ext cx="8858250" cy="7429500"/>
          </a:xfrm>
          <a:custGeom>
            <a:avLst/>
            <a:gdLst/>
            <a:ahLst/>
            <a:cxnLst/>
            <a:rect r="r" b="b" t="t" l="l"/>
            <a:pathLst>
              <a:path h="7429500" w="8858250">
                <a:moveTo>
                  <a:pt x="0" y="0"/>
                </a:moveTo>
                <a:lnTo>
                  <a:pt x="8858250" y="0"/>
                </a:lnTo>
                <a:lnTo>
                  <a:pt x="8858250" y="7429500"/>
                </a:lnTo>
                <a:lnTo>
                  <a:pt x="0" y="74295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" r="0" b="-2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10572750" y="2486025"/>
            <a:ext cx="2286000" cy="239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7"/>
              </a:lnSpc>
            </a:pPr>
            <a:r>
              <a:rPr lang="en-US" sz="1650" b="true">
                <a:solidFill>
                  <a:srgbClr val="7B4BD4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MODEL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572750" y="2838450"/>
            <a:ext cx="5905500" cy="311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950">
                <a:solidFill>
                  <a:srgbClr val="102A3A"/>
                </a:solidFill>
                <a:latin typeface="Nunito Sans"/>
                <a:ea typeface="Nunito Sans"/>
                <a:cs typeface="Nunito Sans"/>
                <a:sym typeface="Nunito Sans"/>
              </a:rPr>
              <a:t>Nesnenin dijital şekli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572750" y="4010025"/>
            <a:ext cx="2286000" cy="239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7"/>
              </a:lnSpc>
            </a:pPr>
            <a:r>
              <a:rPr lang="en-US" sz="1650" b="true">
                <a:solidFill>
                  <a:srgbClr val="7B4BD4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DOKU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572750" y="4362450"/>
            <a:ext cx="5905500" cy="311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950">
                <a:solidFill>
                  <a:srgbClr val="102A3A"/>
                </a:solidFill>
                <a:latin typeface="Nunito Sans"/>
                <a:ea typeface="Nunito Sans"/>
                <a:cs typeface="Nunito Sans"/>
                <a:sym typeface="Nunito Sans"/>
              </a:rPr>
              <a:t>Yüzeyin görünümü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572750" y="5534025"/>
            <a:ext cx="2857500" cy="239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7"/>
              </a:lnSpc>
            </a:pPr>
            <a:r>
              <a:rPr lang="en-US" sz="1650" b="true">
                <a:solidFill>
                  <a:srgbClr val="7B4BD4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IŞIK + RENDER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572750" y="5886450"/>
            <a:ext cx="5905500" cy="311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950">
                <a:solidFill>
                  <a:srgbClr val="102A3A"/>
                </a:solidFill>
                <a:latin typeface="Nunito Sans"/>
                <a:ea typeface="Nunito Sans"/>
                <a:cs typeface="Nunito Sans"/>
                <a:sym typeface="Nunito Sans"/>
              </a:rPr>
              <a:t>Son görüntüyü oluşturur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572750" y="7058025"/>
            <a:ext cx="2286000" cy="239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7"/>
              </a:lnSpc>
            </a:pPr>
            <a:r>
              <a:rPr lang="en-US" sz="1650" b="true">
                <a:solidFill>
                  <a:srgbClr val="36A66A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VR / AR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572750" y="7410450"/>
            <a:ext cx="5905500" cy="311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950">
                <a:solidFill>
                  <a:srgbClr val="102A3A"/>
                </a:solidFill>
                <a:latin typeface="Nunito Sans"/>
                <a:ea typeface="Nunito Sans"/>
                <a:cs typeface="Nunito Sans"/>
                <a:sym typeface="Nunito Sans"/>
              </a:rPr>
              <a:t>Eseri deneyimin içine taşır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286750" y="0"/>
            <a:ext cx="10001250" cy="10287000"/>
          </a:xfrm>
          <a:custGeom>
            <a:avLst/>
            <a:gdLst/>
            <a:ahLst/>
            <a:cxnLst/>
            <a:rect r="r" b="b" t="t" l="l"/>
            <a:pathLst>
              <a:path h="10287000" w="10001250">
                <a:moveTo>
                  <a:pt x="0" y="0"/>
                </a:moveTo>
                <a:lnTo>
                  <a:pt x="10001250" y="0"/>
                </a:lnTo>
                <a:lnTo>
                  <a:pt x="1000125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4" t="0" r="-14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876300" y="1238250"/>
            <a:ext cx="6667500" cy="1607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0"/>
              </a:lnSpc>
            </a:pPr>
            <a:r>
              <a:rPr lang="en-US" sz="60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Dijital sanat</a:t>
            </a:r>
          </a:p>
          <a:p>
            <a:pPr algn="l">
              <a:lnSpc>
                <a:spcPts val="6240"/>
              </a:lnSpc>
            </a:pPr>
            <a:r>
              <a:rPr lang="en-US" sz="60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sesle canlanır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28750" y="4067175"/>
            <a:ext cx="4953000" cy="2797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7"/>
              </a:lnSpc>
            </a:pPr>
            <a:r>
              <a:rPr lang="en-US" sz="2475" b="true">
                <a:solidFill>
                  <a:srgbClr val="FFFFFF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Mikrofon</a:t>
            </a:r>
          </a:p>
          <a:p>
            <a:pPr algn="ctr">
              <a:lnSpc>
                <a:spcPts val="3217"/>
              </a:lnSpc>
            </a:pPr>
            <a:r>
              <a:rPr lang="en-US" sz="2475" b="true">
                <a:solidFill>
                  <a:srgbClr val="FFFFFF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↓</a:t>
            </a:r>
          </a:p>
          <a:p>
            <a:pPr algn="ctr">
              <a:lnSpc>
                <a:spcPts val="3217"/>
              </a:lnSpc>
            </a:pPr>
            <a:r>
              <a:rPr lang="en-US" sz="2475" b="true">
                <a:solidFill>
                  <a:srgbClr val="FFFFFF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Kayıt</a:t>
            </a:r>
          </a:p>
          <a:p>
            <a:pPr algn="ctr">
              <a:lnSpc>
                <a:spcPts val="3217"/>
              </a:lnSpc>
            </a:pPr>
            <a:r>
              <a:rPr lang="en-US" sz="2475" b="true">
                <a:solidFill>
                  <a:srgbClr val="FFFFFF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↓</a:t>
            </a:r>
          </a:p>
          <a:p>
            <a:pPr algn="ctr">
              <a:lnSpc>
                <a:spcPts val="3217"/>
              </a:lnSpc>
            </a:pPr>
            <a:r>
              <a:rPr lang="en-US" sz="2475" b="true">
                <a:solidFill>
                  <a:srgbClr val="FFFFFF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Düzenleme</a:t>
            </a:r>
          </a:p>
          <a:p>
            <a:pPr algn="ctr">
              <a:lnSpc>
                <a:spcPts val="3217"/>
              </a:lnSpc>
            </a:pPr>
            <a:r>
              <a:rPr lang="en-US" sz="2475" b="true">
                <a:solidFill>
                  <a:srgbClr val="FFFFFF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↓</a:t>
            </a:r>
          </a:p>
          <a:p>
            <a:pPr algn="ctr">
              <a:lnSpc>
                <a:spcPts val="3217"/>
              </a:lnSpc>
            </a:pPr>
            <a:r>
              <a:rPr lang="en-US" sz="2475" b="true">
                <a:solidFill>
                  <a:srgbClr val="FFFFFF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Görüntüyle birleştirme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76300" y="8524875"/>
            <a:ext cx="666750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 i="true">
                <a:solidFill>
                  <a:srgbClr val="21C7B7"/>
                </a:solidFill>
                <a:latin typeface="Nunito Sans Italics"/>
                <a:ea typeface="Nunito Sans Italics"/>
                <a:cs typeface="Nunito Sans Italics"/>
                <a:sym typeface="Nunito Sans Italics"/>
              </a:rPr>
              <a:t>Ses, izleyicinin ne hissettiğini değiştirir.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6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76300" y="628650"/>
            <a:ext cx="15716250" cy="599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98"/>
              </a:lnSpc>
            </a:pPr>
            <a:r>
              <a:rPr lang="en-US" sz="4350" b="true">
                <a:solidFill>
                  <a:srgbClr val="102A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Araçları amacına göre sınıflandıralım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52500" y="1952625"/>
            <a:ext cx="15430500" cy="914400"/>
            <a:chOff x="0" y="0"/>
            <a:chExt cx="20574000" cy="12192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6350000" cy="1219200"/>
              <a:chOff x="0" y="0"/>
              <a:chExt cx="6350000" cy="12192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6350000" cy="1219200"/>
              </a:xfrm>
              <a:custGeom>
                <a:avLst/>
                <a:gdLst/>
                <a:ahLst/>
                <a:cxnLst/>
                <a:rect r="r" b="b" t="t" l="l"/>
                <a:pathLst>
                  <a:path h="1219200" w="6350000">
                    <a:moveTo>
                      <a:pt x="0" y="0"/>
                    </a:moveTo>
                    <a:lnTo>
                      <a:pt x="6350000" y="0"/>
                    </a:lnTo>
                    <a:lnTo>
                      <a:pt x="6350000" y="1219200"/>
                    </a:lnTo>
                    <a:lnTo>
                      <a:pt x="0" y="1219200"/>
                    </a:lnTo>
                    <a:close/>
                  </a:path>
                </a:pathLst>
              </a:custGeom>
              <a:solidFill>
                <a:srgbClr val="168AA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6350000" cy="1257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508000" y="390525"/>
              <a:ext cx="6477000" cy="3219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97"/>
                </a:lnSpc>
              </a:pPr>
              <a:r>
                <a:rPr lang="en-US" sz="1650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GİRDİ + KAYIT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7620000" y="361950"/>
              <a:ext cx="12954000" cy="4089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7"/>
                </a:lnSpc>
              </a:pPr>
              <a:r>
                <a:rPr lang="en-US" sz="1950">
                  <a:solidFill>
                    <a:srgbClr val="102A3A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Kamera • mikrofon • tarayıcı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52500" y="3400425"/>
            <a:ext cx="15430500" cy="914400"/>
            <a:chOff x="0" y="0"/>
            <a:chExt cx="20574000" cy="1219200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6350000" cy="1219200"/>
              <a:chOff x="0" y="0"/>
              <a:chExt cx="6350000" cy="12192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6350000" cy="1219200"/>
              </a:xfrm>
              <a:custGeom>
                <a:avLst/>
                <a:gdLst/>
                <a:ahLst/>
                <a:cxnLst/>
                <a:rect r="r" b="b" t="t" l="l"/>
                <a:pathLst>
                  <a:path h="1219200" w="6350000">
                    <a:moveTo>
                      <a:pt x="0" y="0"/>
                    </a:moveTo>
                    <a:lnTo>
                      <a:pt x="6350000" y="0"/>
                    </a:lnTo>
                    <a:lnTo>
                      <a:pt x="6350000" y="1219200"/>
                    </a:lnTo>
                    <a:lnTo>
                      <a:pt x="0" y="1219200"/>
                    </a:lnTo>
                    <a:close/>
                  </a:path>
                </a:pathLst>
              </a:custGeom>
              <a:solidFill>
                <a:srgbClr val="7B4BD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6350000" cy="1257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508000" y="390525"/>
              <a:ext cx="6477000" cy="3219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97"/>
                </a:lnSpc>
              </a:pPr>
              <a:r>
                <a:rPr lang="en-US" sz="1650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ÜRETİM + ETKİLEŞİM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7620000" y="361950"/>
              <a:ext cx="12954000" cy="4089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7"/>
                </a:lnSpc>
              </a:pPr>
              <a:r>
                <a:rPr lang="en-US" sz="1950">
                  <a:solidFill>
                    <a:srgbClr val="102A3A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Bilgisayar • tablet • dijital kalem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52500" y="4848225"/>
            <a:ext cx="15430500" cy="914400"/>
            <a:chOff x="0" y="0"/>
            <a:chExt cx="20574000" cy="1219200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6350000" cy="1219200"/>
              <a:chOff x="0" y="0"/>
              <a:chExt cx="6350000" cy="12192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6350000" cy="1219200"/>
              </a:xfrm>
              <a:custGeom>
                <a:avLst/>
                <a:gdLst/>
                <a:ahLst/>
                <a:cxnLst/>
                <a:rect r="r" b="b" t="t" l="l"/>
                <a:pathLst>
                  <a:path h="1219200" w="6350000">
                    <a:moveTo>
                      <a:pt x="0" y="0"/>
                    </a:moveTo>
                    <a:lnTo>
                      <a:pt x="6350000" y="0"/>
                    </a:lnTo>
                    <a:lnTo>
                      <a:pt x="6350000" y="1219200"/>
                    </a:lnTo>
                    <a:lnTo>
                      <a:pt x="0" y="1219200"/>
                    </a:lnTo>
                    <a:close/>
                  </a:path>
                </a:pathLst>
              </a:custGeom>
              <a:solidFill>
                <a:srgbClr val="7B4BD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6350000" cy="1257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508000" y="390525"/>
              <a:ext cx="6477000" cy="3219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97"/>
                </a:lnSpc>
              </a:pPr>
              <a:r>
                <a:rPr lang="en-US" sz="1650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DÜZENLEME + MODELLEME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7620000" y="361950"/>
              <a:ext cx="12954000" cy="4089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7"/>
                </a:lnSpc>
              </a:pPr>
              <a:r>
                <a:rPr lang="en-US" sz="1950">
                  <a:solidFill>
                    <a:srgbClr val="102A3A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Çizim • fotoğraf • animasyon • ses • 3B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52500" y="6296025"/>
            <a:ext cx="15430500" cy="914400"/>
            <a:chOff x="0" y="0"/>
            <a:chExt cx="20574000" cy="1219200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6350000" cy="1219200"/>
              <a:chOff x="0" y="0"/>
              <a:chExt cx="6350000" cy="12192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6350000" cy="1219200"/>
              </a:xfrm>
              <a:custGeom>
                <a:avLst/>
                <a:gdLst/>
                <a:ahLst/>
                <a:cxnLst/>
                <a:rect r="r" b="b" t="t" l="l"/>
                <a:pathLst>
                  <a:path h="1219200" w="6350000">
                    <a:moveTo>
                      <a:pt x="0" y="0"/>
                    </a:moveTo>
                    <a:lnTo>
                      <a:pt x="6350000" y="0"/>
                    </a:lnTo>
                    <a:lnTo>
                      <a:pt x="6350000" y="1219200"/>
                    </a:lnTo>
                    <a:lnTo>
                      <a:pt x="0" y="1219200"/>
                    </a:lnTo>
                    <a:close/>
                  </a:path>
                </a:pathLst>
              </a:custGeom>
              <a:solidFill>
                <a:srgbClr val="36A66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6350000" cy="1257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508000" y="390525"/>
              <a:ext cx="6477000" cy="3219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97"/>
                </a:lnSpc>
              </a:pPr>
              <a:r>
                <a:rPr lang="en-US" sz="1650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GÖRÜNTÜLEME + ÇIKTI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7620000" y="361950"/>
              <a:ext cx="12954000" cy="4089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7"/>
                </a:lnSpc>
              </a:pPr>
              <a:r>
                <a:rPr lang="en-US" sz="1950">
                  <a:solidFill>
                    <a:srgbClr val="102A3A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Monitör • projektör • yazıcı • 3B yazıcı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52500" y="7743825"/>
            <a:ext cx="15430500" cy="914400"/>
            <a:chOff x="0" y="0"/>
            <a:chExt cx="20574000" cy="1219200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6350000" cy="1219200"/>
              <a:chOff x="0" y="0"/>
              <a:chExt cx="6350000" cy="12192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6350000" cy="1219200"/>
              </a:xfrm>
              <a:custGeom>
                <a:avLst/>
                <a:gdLst/>
                <a:ahLst/>
                <a:cxnLst/>
                <a:rect r="r" b="b" t="t" l="l"/>
                <a:pathLst>
                  <a:path h="1219200" w="6350000">
                    <a:moveTo>
                      <a:pt x="0" y="0"/>
                    </a:moveTo>
                    <a:lnTo>
                      <a:pt x="6350000" y="0"/>
                    </a:lnTo>
                    <a:lnTo>
                      <a:pt x="6350000" y="1219200"/>
                    </a:lnTo>
                    <a:lnTo>
                      <a:pt x="0" y="1219200"/>
                    </a:lnTo>
                    <a:close/>
                  </a:path>
                </a:pathLst>
              </a:custGeom>
              <a:solidFill>
                <a:srgbClr val="36A66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6350000" cy="1257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1" id="31"/>
            <p:cNvSpPr txBox="true"/>
            <p:nvPr/>
          </p:nvSpPr>
          <p:spPr>
            <a:xfrm rot="0">
              <a:off x="508000" y="390525"/>
              <a:ext cx="6477000" cy="3219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97"/>
                </a:lnSpc>
              </a:pPr>
              <a:r>
                <a:rPr lang="en-US" sz="1650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PAYLAŞIM + İŞ BİRLİĞİ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7620000" y="361950"/>
              <a:ext cx="12954000" cy="4089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7"/>
                </a:lnSpc>
              </a:pPr>
              <a:r>
                <a:rPr lang="en-US" sz="1950">
                  <a:solidFill>
                    <a:srgbClr val="102A3A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Bulut depolama • çevrim içi platform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6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76300" y="628650"/>
            <a:ext cx="14287500" cy="599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98"/>
              </a:lnSpc>
            </a:pPr>
            <a:r>
              <a:rPr lang="en-US" sz="4350" b="true">
                <a:solidFill>
                  <a:srgbClr val="102A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Sanat türü + doğru araç ikilisi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572250" y="1819275"/>
            <a:ext cx="4476750" cy="239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7"/>
              </a:lnSpc>
            </a:pPr>
            <a:r>
              <a:rPr lang="en-US" sz="1650" b="true">
                <a:solidFill>
                  <a:srgbClr val="168AAD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DONANIM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811000" y="1819275"/>
            <a:ext cx="4476750" cy="239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7"/>
              </a:lnSpc>
            </a:pPr>
            <a:r>
              <a:rPr lang="en-US" sz="1650" b="true">
                <a:solidFill>
                  <a:srgbClr val="7B4BD4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YAZILIM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857250" y="2333625"/>
            <a:ext cx="16573500" cy="876300"/>
            <a:chOff x="0" y="0"/>
            <a:chExt cx="22098000" cy="1168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098000" cy="1168400"/>
            </a:xfrm>
            <a:custGeom>
              <a:avLst/>
              <a:gdLst/>
              <a:ahLst/>
              <a:cxnLst/>
              <a:rect r="r" b="b" t="t" l="l"/>
              <a:pathLst>
                <a:path h="116840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1168400"/>
                  </a:lnTo>
                  <a:lnTo>
                    <a:pt x="0" y="1168400"/>
                  </a:lnTo>
                  <a:close/>
                </a:path>
              </a:pathLst>
            </a:custGeom>
            <a:solidFill>
              <a:srgbClr val="E7F4F8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2098000" cy="1206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238250" y="2581275"/>
            <a:ext cx="4095750" cy="239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7"/>
              </a:lnSpc>
            </a:pPr>
            <a:r>
              <a:rPr lang="en-US" sz="1650" b="true">
                <a:solidFill>
                  <a:srgbClr val="102A3A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Dijital illüstrasyon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667500" y="2581275"/>
            <a:ext cx="4286250" cy="203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1"/>
              </a:lnSpc>
            </a:pPr>
            <a:r>
              <a:rPr lang="en-US" sz="1425">
                <a:solidFill>
                  <a:srgbClr val="102A3A"/>
                </a:solidFill>
                <a:latin typeface="Nunito Sans"/>
                <a:ea typeface="Nunito Sans"/>
                <a:cs typeface="Nunito Sans"/>
                <a:sym typeface="Nunito Sans"/>
              </a:rPr>
              <a:t>Grafik tablet + kalem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001500" y="2581275"/>
            <a:ext cx="4286250" cy="203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1"/>
              </a:lnSpc>
            </a:pPr>
            <a:r>
              <a:rPr lang="en-US" sz="1425">
                <a:solidFill>
                  <a:srgbClr val="102A3A"/>
                </a:solidFill>
                <a:latin typeface="Nunito Sans"/>
                <a:ea typeface="Nunito Sans"/>
                <a:cs typeface="Nunito Sans"/>
                <a:sym typeface="Nunito Sans"/>
              </a:rPr>
              <a:t>Çizim / vektör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857250" y="3476625"/>
            <a:ext cx="16573500" cy="876300"/>
            <a:chOff x="0" y="0"/>
            <a:chExt cx="22098000" cy="1168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098000" cy="1168400"/>
            </a:xfrm>
            <a:custGeom>
              <a:avLst/>
              <a:gdLst/>
              <a:ahLst/>
              <a:cxnLst/>
              <a:rect r="r" b="b" t="t" l="l"/>
              <a:pathLst>
                <a:path h="116840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1168400"/>
                  </a:lnTo>
                  <a:lnTo>
                    <a:pt x="0" y="11684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2098000" cy="1206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238250" y="3724275"/>
            <a:ext cx="4095750" cy="239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7"/>
              </a:lnSpc>
            </a:pPr>
            <a:r>
              <a:rPr lang="en-US" sz="1650" b="true">
                <a:solidFill>
                  <a:srgbClr val="102A3A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Fotoğraf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667500" y="3724275"/>
            <a:ext cx="4286250" cy="203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1"/>
              </a:lnSpc>
            </a:pPr>
            <a:r>
              <a:rPr lang="en-US" sz="1425">
                <a:solidFill>
                  <a:srgbClr val="102A3A"/>
                </a:solidFill>
                <a:latin typeface="Nunito Sans"/>
                <a:ea typeface="Nunito Sans"/>
                <a:cs typeface="Nunito Sans"/>
                <a:sym typeface="Nunito Sans"/>
              </a:rPr>
              <a:t>Kamera + bilgisayar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001500" y="3724275"/>
            <a:ext cx="4286250" cy="203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1"/>
              </a:lnSpc>
            </a:pPr>
            <a:r>
              <a:rPr lang="en-US" sz="1425">
                <a:solidFill>
                  <a:srgbClr val="102A3A"/>
                </a:solidFill>
                <a:latin typeface="Nunito Sans"/>
                <a:ea typeface="Nunito Sans"/>
                <a:cs typeface="Nunito Sans"/>
                <a:sym typeface="Nunito Sans"/>
              </a:rPr>
              <a:t>Fotoğraf düzenleme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857250" y="4619625"/>
            <a:ext cx="16573500" cy="876300"/>
            <a:chOff x="0" y="0"/>
            <a:chExt cx="22098000" cy="1168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098000" cy="1168400"/>
            </a:xfrm>
            <a:custGeom>
              <a:avLst/>
              <a:gdLst/>
              <a:ahLst/>
              <a:cxnLst/>
              <a:rect r="r" b="b" t="t" l="l"/>
              <a:pathLst>
                <a:path h="116840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1168400"/>
                  </a:lnTo>
                  <a:lnTo>
                    <a:pt x="0" y="1168400"/>
                  </a:lnTo>
                  <a:close/>
                </a:path>
              </a:pathLst>
            </a:custGeom>
            <a:solidFill>
              <a:srgbClr val="E7F4F8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2098000" cy="1206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238250" y="4867275"/>
            <a:ext cx="4095750" cy="239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7"/>
              </a:lnSpc>
            </a:pPr>
            <a:r>
              <a:rPr lang="en-US" sz="1650" b="true">
                <a:solidFill>
                  <a:srgbClr val="102A3A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Animasyon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667500" y="4867275"/>
            <a:ext cx="4286250" cy="203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1"/>
              </a:lnSpc>
            </a:pPr>
            <a:r>
              <a:rPr lang="en-US" sz="1425">
                <a:solidFill>
                  <a:srgbClr val="102A3A"/>
                </a:solidFill>
                <a:latin typeface="Nunito Sans"/>
                <a:ea typeface="Nunito Sans"/>
                <a:cs typeface="Nunito Sans"/>
                <a:sym typeface="Nunito Sans"/>
              </a:rPr>
              <a:t>Bilgisayar + tablet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001500" y="4867275"/>
            <a:ext cx="4286250" cy="203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1"/>
              </a:lnSpc>
            </a:pPr>
            <a:r>
              <a:rPr lang="en-US" sz="1425">
                <a:solidFill>
                  <a:srgbClr val="102A3A"/>
                </a:solidFill>
                <a:latin typeface="Nunito Sans"/>
                <a:ea typeface="Nunito Sans"/>
                <a:cs typeface="Nunito Sans"/>
                <a:sym typeface="Nunito Sans"/>
              </a:rPr>
              <a:t>Animasyon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857250" y="5762625"/>
            <a:ext cx="16573500" cy="876300"/>
            <a:chOff x="0" y="0"/>
            <a:chExt cx="22098000" cy="11684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2098000" cy="1168400"/>
            </a:xfrm>
            <a:custGeom>
              <a:avLst/>
              <a:gdLst/>
              <a:ahLst/>
              <a:cxnLst/>
              <a:rect r="r" b="b" t="t" l="l"/>
              <a:pathLst>
                <a:path h="116840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1168400"/>
                  </a:lnTo>
                  <a:lnTo>
                    <a:pt x="0" y="11684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22098000" cy="1206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238250" y="6010275"/>
            <a:ext cx="4095750" cy="239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7"/>
              </a:lnSpc>
            </a:pPr>
            <a:r>
              <a:rPr lang="en-US" sz="1650" b="true">
                <a:solidFill>
                  <a:srgbClr val="102A3A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Video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667500" y="6010275"/>
            <a:ext cx="4286250" cy="203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1"/>
              </a:lnSpc>
            </a:pPr>
            <a:r>
              <a:rPr lang="en-US" sz="1425">
                <a:solidFill>
                  <a:srgbClr val="102A3A"/>
                </a:solidFill>
                <a:latin typeface="Nunito Sans"/>
                <a:ea typeface="Nunito Sans"/>
                <a:cs typeface="Nunito Sans"/>
                <a:sym typeface="Nunito Sans"/>
              </a:rPr>
              <a:t>Kamera + mikrofon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001500" y="6010275"/>
            <a:ext cx="4286250" cy="203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1"/>
              </a:lnSpc>
            </a:pPr>
            <a:r>
              <a:rPr lang="en-US" sz="1425">
                <a:solidFill>
                  <a:srgbClr val="102A3A"/>
                </a:solidFill>
                <a:latin typeface="Nunito Sans"/>
                <a:ea typeface="Nunito Sans"/>
                <a:cs typeface="Nunito Sans"/>
                <a:sym typeface="Nunito Sans"/>
              </a:rPr>
              <a:t>Video düzenleme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857250" y="6905625"/>
            <a:ext cx="16573500" cy="876300"/>
            <a:chOff x="0" y="0"/>
            <a:chExt cx="22098000" cy="1168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2098000" cy="1168400"/>
            </a:xfrm>
            <a:custGeom>
              <a:avLst/>
              <a:gdLst/>
              <a:ahLst/>
              <a:cxnLst/>
              <a:rect r="r" b="b" t="t" l="l"/>
              <a:pathLst>
                <a:path h="116840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1168400"/>
                  </a:lnTo>
                  <a:lnTo>
                    <a:pt x="0" y="1168400"/>
                  </a:lnTo>
                  <a:close/>
                </a:path>
              </a:pathLst>
            </a:custGeom>
            <a:solidFill>
              <a:srgbClr val="E7F4F8"/>
            </a:solidFill>
            <a:ln cap="sq">
              <a:noFill/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22098000" cy="1206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1238250" y="7153275"/>
            <a:ext cx="4095750" cy="239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7"/>
              </a:lnSpc>
            </a:pPr>
            <a:r>
              <a:rPr lang="en-US" sz="1650" b="true">
                <a:solidFill>
                  <a:srgbClr val="102A3A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Dijital heykel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667500" y="7153275"/>
            <a:ext cx="4286250" cy="203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1"/>
              </a:lnSpc>
            </a:pPr>
            <a:r>
              <a:rPr lang="en-US" sz="1425">
                <a:solidFill>
                  <a:srgbClr val="102A3A"/>
                </a:solidFill>
                <a:latin typeface="Nunito Sans"/>
                <a:ea typeface="Nunito Sans"/>
                <a:cs typeface="Nunito Sans"/>
                <a:sym typeface="Nunito Sans"/>
              </a:rPr>
              <a:t>Bilgisayar + 3B yazıcı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001500" y="7153275"/>
            <a:ext cx="4286250" cy="203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1"/>
              </a:lnSpc>
            </a:pPr>
            <a:r>
              <a:rPr lang="en-US" sz="1425">
                <a:solidFill>
                  <a:srgbClr val="102A3A"/>
                </a:solidFill>
                <a:latin typeface="Nunito Sans"/>
                <a:ea typeface="Nunito Sans"/>
                <a:cs typeface="Nunito Sans"/>
                <a:sym typeface="Nunito Sans"/>
              </a:rPr>
              <a:t>3B modelleme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857250" y="8048625"/>
            <a:ext cx="16573500" cy="876300"/>
            <a:chOff x="0" y="0"/>
            <a:chExt cx="22098000" cy="11684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2098000" cy="1168400"/>
            </a:xfrm>
            <a:custGeom>
              <a:avLst/>
              <a:gdLst/>
              <a:ahLst/>
              <a:cxnLst/>
              <a:rect r="r" b="b" t="t" l="l"/>
              <a:pathLst>
                <a:path h="116840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1168400"/>
                  </a:lnTo>
                  <a:lnTo>
                    <a:pt x="0" y="11684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22098000" cy="1206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1238250" y="8296275"/>
            <a:ext cx="4095750" cy="239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7"/>
              </a:lnSpc>
            </a:pPr>
            <a:r>
              <a:rPr lang="en-US" sz="1650" b="true">
                <a:solidFill>
                  <a:srgbClr val="102A3A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Dijital ses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6667500" y="8296275"/>
            <a:ext cx="4286250" cy="203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1"/>
              </a:lnSpc>
            </a:pPr>
            <a:r>
              <a:rPr lang="en-US" sz="1425">
                <a:solidFill>
                  <a:srgbClr val="102A3A"/>
                </a:solidFill>
                <a:latin typeface="Nunito Sans"/>
                <a:ea typeface="Nunito Sans"/>
                <a:cs typeface="Nunito Sans"/>
                <a:sym typeface="Nunito Sans"/>
              </a:rPr>
              <a:t>Mikrofon + kulaklık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001500" y="8296275"/>
            <a:ext cx="4286250" cy="203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1"/>
              </a:lnSpc>
            </a:pPr>
            <a:r>
              <a:rPr lang="en-US" sz="1425">
                <a:solidFill>
                  <a:srgbClr val="102A3A"/>
                </a:solidFill>
                <a:latin typeface="Nunito Sans"/>
                <a:ea typeface="Nunito Sans"/>
                <a:cs typeface="Nunito Sans"/>
                <a:sym typeface="Nunito Sans"/>
              </a:rPr>
              <a:t>Ses düzenleme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6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76300" y="628650"/>
            <a:ext cx="14287500" cy="599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98"/>
              </a:lnSpc>
            </a:pPr>
            <a:r>
              <a:rPr lang="en-US" sz="4350" b="true">
                <a:solidFill>
                  <a:srgbClr val="102A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Göreve göre doğru aracı seç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857250" y="2095500"/>
            <a:ext cx="5143500" cy="2476500"/>
            <a:chOff x="0" y="0"/>
            <a:chExt cx="6858000" cy="33020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6858000" cy="3302000"/>
              <a:chOff x="0" y="0"/>
              <a:chExt cx="6858000" cy="33020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6858000" cy="3302000"/>
              </a:xfrm>
              <a:custGeom>
                <a:avLst/>
                <a:gdLst/>
                <a:ahLst/>
                <a:cxnLst/>
                <a:rect r="r" b="b" t="t" l="l"/>
                <a:pathLst>
                  <a:path h="3302000" w="6858000">
                    <a:moveTo>
                      <a:pt x="0" y="0"/>
                    </a:moveTo>
                    <a:lnTo>
                      <a:pt x="6858000" y="0"/>
                    </a:lnTo>
                    <a:lnTo>
                      <a:pt x="6858000" y="3302000"/>
                    </a:lnTo>
                    <a:lnTo>
                      <a:pt x="0" y="3302000"/>
                    </a:lnTo>
                    <a:close/>
                  </a:path>
                </a:pathLst>
              </a:custGeom>
              <a:solidFill>
                <a:srgbClr val="E7F4F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6858000" cy="3340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482600" y="615950"/>
              <a:ext cx="6350000" cy="8153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37"/>
                </a:lnSpc>
              </a:pPr>
              <a:r>
                <a:rPr lang="en-US" sz="1950" b="true">
                  <a:solidFill>
                    <a:srgbClr val="102A3A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El çizimini aktar</a:t>
              </a:r>
            </a:p>
            <a:p>
              <a:pPr algn="ctr">
                <a:lnSpc>
                  <a:spcPts val="2437"/>
                </a:lnSpc>
              </a:pPr>
              <a:r>
                <a:rPr lang="en-US" sz="1950" b="true">
                  <a:solidFill>
                    <a:srgbClr val="102A3A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Tarayıcı + çizim yazılımı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572250" y="2095500"/>
            <a:ext cx="5143500" cy="2476500"/>
            <a:chOff x="0" y="0"/>
            <a:chExt cx="6858000" cy="3302000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6858000" cy="3302000"/>
              <a:chOff x="0" y="0"/>
              <a:chExt cx="6858000" cy="33020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858000" cy="3302000"/>
              </a:xfrm>
              <a:custGeom>
                <a:avLst/>
                <a:gdLst/>
                <a:ahLst/>
                <a:cxnLst/>
                <a:rect r="r" b="b" t="t" l="l"/>
                <a:pathLst>
                  <a:path h="3302000" w="6858000">
                    <a:moveTo>
                      <a:pt x="0" y="0"/>
                    </a:moveTo>
                    <a:lnTo>
                      <a:pt x="6858000" y="0"/>
                    </a:lnTo>
                    <a:lnTo>
                      <a:pt x="6858000" y="3302000"/>
                    </a:lnTo>
                    <a:lnTo>
                      <a:pt x="0" y="3302000"/>
                    </a:lnTo>
                    <a:close/>
                  </a:path>
                </a:pathLst>
              </a:custGeom>
              <a:solidFill>
                <a:srgbClr val="E7F4F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6858000" cy="3340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482600" y="615950"/>
              <a:ext cx="6350000" cy="8153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37"/>
                </a:lnSpc>
              </a:pPr>
              <a:r>
                <a:rPr lang="en-US" sz="1950" b="true">
                  <a:solidFill>
                    <a:srgbClr val="102A3A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Karakteri hareketlendir</a:t>
              </a:r>
            </a:p>
            <a:p>
              <a:pPr algn="ctr">
                <a:lnSpc>
                  <a:spcPts val="2437"/>
                </a:lnSpc>
              </a:pPr>
              <a:r>
                <a:rPr lang="en-US" sz="1950" b="true">
                  <a:solidFill>
                    <a:srgbClr val="102A3A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Tablet + animasyon yazılımı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287250" y="2095500"/>
            <a:ext cx="5143500" cy="2476500"/>
            <a:chOff x="0" y="0"/>
            <a:chExt cx="6858000" cy="3302000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6858000" cy="3302000"/>
              <a:chOff x="0" y="0"/>
              <a:chExt cx="6858000" cy="33020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6858000" cy="3302000"/>
              </a:xfrm>
              <a:custGeom>
                <a:avLst/>
                <a:gdLst/>
                <a:ahLst/>
                <a:cxnLst/>
                <a:rect r="r" b="b" t="t" l="l"/>
                <a:pathLst>
                  <a:path h="3302000" w="6858000">
                    <a:moveTo>
                      <a:pt x="0" y="0"/>
                    </a:moveTo>
                    <a:lnTo>
                      <a:pt x="6858000" y="0"/>
                    </a:lnTo>
                    <a:lnTo>
                      <a:pt x="6858000" y="3302000"/>
                    </a:lnTo>
                    <a:lnTo>
                      <a:pt x="0" y="3302000"/>
                    </a:lnTo>
                    <a:close/>
                  </a:path>
                </a:pathLst>
              </a:custGeom>
              <a:solidFill>
                <a:srgbClr val="E7F4F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6858000" cy="3340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482600" y="615950"/>
              <a:ext cx="6350000" cy="8153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37"/>
                </a:lnSpc>
              </a:pPr>
              <a:r>
                <a:rPr lang="en-US" sz="1950" b="true">
                  <a:solidFill>
                    <a:srgbClr val="102A3A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Fotoğrafın rengini düzelt</a:t>
              </a:r>
            </a:p>
            <a:p>
              <a:pPr algn="ctr">
                <a:lnSpc>
                  <a:spcPts val="2437"/>
                </a:lnSpc>
              </a:pPr>
              <a:r>
                <a:rPr lang="en-US" sz="1950" b="true">
                  <a:solidFill>
                    <a:srgbClr val="102A3A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Bilgisayar + fotoğraf yazılımı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57250" y="5429250"/>
            <a:ext cx="5143500" cy="2476500"/>
            <a:chOff x="0" y="0"/>
            <a:chExt cx="6858000" cy="3302000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6858000" cy="3302000"/>
              <a:chOff x="0" y="0"/>
              <a:chExt cx="6858000" cy="33020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6858000" cy="3302000"/>
              </a:xfrm>
              <a:custGeom>
                <a:avLst/>
                <a:gdLst/>
                <a:ahLst/>
                <a:cxnLst/>
                <a:rect r="r" b="b" t="t" l="l"/>
                <a:pathLst>
                  <a:path h="3302000" w="6858000">
                    <a:moveTo>
                      <a:pt x="0" y="0"/>
                    </a:moveTo>
                    <a:lnTo>
                      <a:pt x="6858000" y="0"/>
                    </a:lnTo>
                    <a:lnTo>
                      <a:pt x="6858000" y="3302000"/>
                    </a:lnTo>
                    <a:lnTo>
                      <a:pt x="0" y="3302000"/>
                    </a:lnTo>
                    <a:close/>
                  </a:path>
                </a:pathLst>
              </a:custGeom>
              <a:solidFill>
                <a:srgbClr val="E5F5E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6858000" cy="3340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482600" y="615950"/>
              <a:ext cx="6350000" cy="8153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37"/>
                </a:lnSpc>
              </a:pPr>
              <a:r>
                <a:rPr lang="en-US" sz="1950" b="true">
                  <a:solidFill>
                    <a:srgbClr val="102A3A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3B nesne oluştur</a:t>
              </a:r>
            </a:p>
            <a:p>
              <a:pPr algn="ctr">
                <a:lnSpc>
                  <a:spcPts val="2437"/>
                </a:lnSpc>
              </a:pPr>
              <a:r>
                <a:rPr lang="en-US" sz="1950" b="true">
                  <a:solidFill>
                    <a:srgbClr val="102A3A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Bilgisayar + modelleme yazılımı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572250" y="5429250"/>
            <a:ext cx="5143500" cy="2476500"/>
            <a:chOff x="0" y="0"/>
            <a:chExt cx="6858000" cy="3302000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0"/>
              <a:ext cx="6858000" cy="3302000"/>
              <a:chOff x="0" y="0"/>
              <a:chExt cx="6858000" cy="33020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6858000" cy="3302000"/>
              </a:xfrm>
              <a:custGeom>
                <a:avLst/>
                <a:gdLst/>
                <a:ahLst/>
                <a:cxnLst/>
                <a:rect r="r" b="b" t="t" l="l"/>
                <a:pathLst>
                  <a:path h="3302000" w="6858000">
                    <a:moveTo>
                      <a:pt x="0" y="0"/>
                    </a:moveTo>
                    <a:lnTo>
                      <a:pt x="6858000" y="0"/>
                    </a:lnTo>
                    <a:lnTo>
                      <a:pt x="6858000" y="3302000"/>
                    </a:lnTo>
                    <a:lnTo>
                      <a:pt x="0" y="3302000"/>
                    </a:lnTo>
                    <a:close/>
                  </a:path>
                </a:pathLst>
              </a:custGeom>
              <a:solidFill>
                <a:srgbClr val="E5F5E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38100"/>
                <a:ext cx="6858000" cy="3340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7" id="27"/>
            <p:cNvSpPr txBox="true"/>
            <p:nvPr/>
          </p:nvSpPr>
          <p:spPr>
            <a:xfrm rot="0">
              <a:off x="482600" y="615950"/>
              <a:ext cx="6350000" cy="8153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37"/>
                </a:lnSpc>
              </a:pPr>
              <a:r>
                <a:rPr lang="en-US" sz="1950" b="true">
                  <a:solidFill>
                    <a:srgbClr val="102A3A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Büyük boy bas</a:t>
              </a:r>
            </a:p>
            <a:p>
              <a:pPr algn="ctr">
                <a:lnSpc>
                  <a:spcPts val="2437"/>
                </a:lnSpc>
              </a:pPr>
              <a:r>
                <a:rPr lang="en-US" sz="1950" b="true">
                  <a:solidFill>
                    <a:srgbClr val="102A3A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Bilgisayar + geniş yazıcı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2287250" y="5429250"/>
            <a:ext cx="5143500" cy="2476500"/>
            <a:chOff x="0" y="0"/>
            <a:chExt cx="6858000" cy="3302000"/>
          </a:xfrm>
        </p:grpSpPr>
        <p:grpSp>
          <p:nvGrpSpPr>
            <p:cNvPr name="Group 29" id="29"/>
            <p:cNvGrpSpPr/>
            <p:nvPr/>
          </p:nvGrpSpPr>
          <p:grpSpPr>
            <a:xfrm rot="0">
              <a:off x="0" y="0"/>
              <a:ext cx="6858000" cy="3302000"/>
              <a:chOff x="0" y="0"/>
              <a:chExt cx="6858000" cy="33020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6858000" cy="3302000"/>
              </a:xfrm>
              <a:custGeom>
                <a:avLst/>
                <a:gdLst/>
                <a:ahLst/>
                <a:cxnLst/>
                <a:rect r="r" b="b" t="t" l="l"/>
                <a:pathLst>
                  <a:path h="3302000" w="6858000">
                    <a:moveTo>
                      <a:pt x="0" y="0"/>
                    </a:moveTo>
                    <a:lnTo>
                      <a:pt x="6858000" y="0"/>
                    </a:lnTo>
                    <a:lnTo>
                      <a:pt x="6858000" y="3302000"/>
                    </a:lnTo>
                    <a:lnTo>
                      <a:pt x="0" y="3302000"/>
                    </a:lnTo>
                    <a:close/>
                  </a:path>
                </a:pathLst>
              </a:custGeom>
              <a:solidFill>
                <a:srgbClr val="E5F5E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38100"/>
                <a:ext cx="6858000" cy="3340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2" id="32"/>
            <p:cNvSpPr txBox="true"/>
            <p:nvPr/>
          </p:nvSpPr>
          <p:spPr>
            <a:xfrm rot="0">
              <a:off x="482600" y="615950"/>
              <a:ext cx="6350000" cy="8153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37"/>
                </a:lnSpc>
              </a:pPr>
              <a:r>
                <a:rPr lang="en-US" sz="1950" b="true">
                  <a:solidFill>
                    <a:srgbClr val="102A3A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Eserine ses ekle</a:t>
              </a:r>
            </a:p>
            <a:p>
              <a:pPr algn="ctr">
                <a:lnSpc>
                  <a:spcPts val="2437"/>
                </a:lnSpc>
              </a:pPr>
              <a:r>
                <a:rPr lang="en-US" sz="1950" b="true">
                  <a:solidFill>
                    <a:srgbClr val="102A3A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Mikrofon + ses yazılımı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07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76300" y="733425"/>
            <a:ext cx="15716250" cy="593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4"/>
              </a:lnSpc>
            </a:pPr>
            <a:r>
              <a:rPr lang="en-US" sz="43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Dosya türü, eserin yolculuğunu belirler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00125" y="2571750"/>
            <a:ext cx="4857750" cy="2381250"/>
            <a:chOff x="0" y="0"/>
            <a:chExt cx="6477000" cy="31750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6477000" cy="3175000"/>
              <a:chOff x="0" y="0"/>
              <a:chExt cx="6477000" cy="31750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6477000" cy="3175000"/>
              </a:xfrm>
              <a:custGeom>
                <a:avLst/>
                <a:gdLst/>
                <a:ahLst/>
                <a:cxnLst/>
                <a:rect r="r" b="b" t="t" l="l"/>
                <a:pathLst>
                  <a:path h="3175000" w="6477000">
                    <a:moveTo>
                      <a:pt x="0" y="0"/>
                    </a:moveTo>
                    <a:lnTo>
                      <a:pt x="6477000" y="0"/>
                    </a:lnTo>
                    <a:lnTo>
                      <a:pt x="6477000" y="3175000"/>
                    </a:lnTo>
                    <a:lnTo>
                      <a:pt x="0" y="3175000"/>
                    </a:lnTo>
                    <a:close/>
                  </a:path>
                </a:pathLst>
              </a:custGeom>
              <a:solidFill>
                <a:srgbClr val="12364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6477000" cy="321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444500" y="415925"/>
              <a:ext cx="2286000" cy="795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040"/>
                </a:lnSpc>
              </a:pPr>
              <a:r>
                <a:rPr lang="en-US" sz="3600" b="true">
                  <a:solidFill>
                    <a:srgbClr val="168AA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PNG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444500" y="1568450"/>
              <a:ext cx="5715000" cy="4089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7"/>
                </a:lnSpc>
              </a:pPr>
              <a:r>
                <a:rPr lang="en-US" sz="1950">
                  <a:solidFill>
                    <a:srgbClr val="FFFFFF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Şeffaf arka plan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715125" y="2571750"/>
            <a:ext cx="4857750" cy="2381250"/>
            <a:chOff x="0" y="0"/>
            <a:chExt cx="6477000" cy="3175000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6477000" cy="3175000"/>
              <a:chOff x="0" y="0"/>
              <a:chExt cx="6477000" cy="31750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6477000" cy="3175000"/>
              </a:xfrm>
              <a:custGeom>
                <a:avLst/>
                <a:gdLst/>
                <a:ahLst/>
                <a:cxnLst/>
                <a:rect r="r" b="b" t="t" l="l"/>
                <a:pathLst>
                  <a:path h="3175000" w="6477000">
                    <a:moveTo>
                      <a:pt x="0" y="0"/>
                    </a:moveTo>
                    <a:lnTo>
                      <a:pt x="6477000" y="0"/>
                    </a:lnTo>
                    <a:lnTo>
                      <a:pt x="6477000" y="3175000"/>
                    </a:lnTo>
                    <a:lnTo>
                      <a:pt x="0" y="3175000"/>
                    </a:lnTo>
                    <a:close/>
                  </a:path>
                </a:pathLst>
              </a:custGeom>
              <a:solidFill>
                <a:srgbClr val="12364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6477000" cy="321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444500" y="415925"/>
              <a:ext cx="2286000" cy="795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040"/>
                </a:lnSpc>
              </a:pPr>
              <a:r>
                <a:rPr lang="en-US" sz="3600" b="true">
                  <a:solidFill>
                    <a:srgbClr val="168AA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JPEG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444500" y="1568450"/>
              <a:ext cx="5715000" cy="4089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7"/>
                </a:lnSpc>
              </a:pPr>
              <a:r>
                <a:rPr lang="en-US" sz="1950">
                  <a:solidFill>
                    <a:srgbClr val="FFFFFF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Fotoğraf, küçük boyut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430125" y="2571750"/>
            <a:ext cx="4857750" cy="2381250"/>
            <a:chOff x="0" y="0"/>
            <a:chExt cx="6477000" cy="3175000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6477000" cy="3175000"/>
              <a:chOff x="0" y="0"/>
              <a:chExt cx="6477000" cy="31750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6477000" cy="3175000"/>
              </a:xfrm>
              <a:custGeom>
                <a:avLst/>
                <a:gdLst/>
                <a:ahLst/>
                <a:cxnLst/>
                <a:rect r="r" b="b" t="t" l="l"/>
                <a:pathLst>
                  <a:path h="3175000" w="6477000">
                    <a:moveTo>
                      <a:pt x="0" y="0"/>
                    </a:moveTo>
                    <a:lnTo>
                      <a:pt x="6477000" y="0"/>
                    </a:lnTo>
                    <a:lnTo>
                      <a:pt x="6477000" y="3175000"/>
                    </a:lnTo>
                    <a:lnTo>
                      <a:pt x="0" y="3175000"/>
                    </a:lnTo>
                    <a:close/>
                  </a:path>
                </a:pathLst>
              </a:custGeom>
              <a:solidFill>
                <a:srgbClr val="12364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6477000" cy="321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444500" y="415925"/>
              <a:ext cx="2286000" cy="795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040"/>
                </a:lnSpc>
              </a:pPr>
              <a:r>
                <a:rPr lang="en-US" sz="3600" b="true">
                  <a:solidFill>
                    <a:srgbClr val="7B4BD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SVG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444500" y="1568450"/>
              <a:ext cx="5715000" cy="4089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7"/>
                </a:lnSpc>
              </a:pPr>
              <a:r>
                <a:rPr lang="en-US" sz="1950">
                  <a:solidFill>
                    <a:srgbClr val="FFFFFF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Büyüyen vektör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00125" y="5715000"/>
            <a:ext cx="4857750" cy="2381250"/>
            <a:chOff x="0" y="0"/>
            <a:chExt cx="6477000" cy="3175000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6477000" cy="3175000"/>
              <a:chOff x="0" y="0"/>
              <a:chExt cx="6477000" cy="31750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6477000" cy="3175000"/>
              </a:xfrm>
              <a:custGeom>
                <a:avLst/>
                <a:gdLst/>
                <a:ahLst/>
                <a:cxnLst/>
                <a:rect r="r" b="b" t="t" l="l"/>
                <a:pathLst>
                  <a:path h="3175000" w="6477000">
                    <a:moveTo>
                      <a:pt x="0" y="0"/>
                    </a:moveTo>
                    <a:lnTo>
                      <a:pt x="6477000" y="0"/>
                    </a:lnTo>
                    <a:lnTo>
                      <a:pt x="6477000" y="3175000"/>
                    </a:lnTo>
                    <a:lnTo>
                      <a:pt x="0" y="3175000"/>
                    </a:lnTo>
                    <a:close/>
                  </a:path>
                </a:pathLst>
              </a:custGeom>
              <a:solidFill>
                <a:srgbClr val="12364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6477000" cy="321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444500" y="415925"/>
              <a:ext cx="2286000" cy="795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040"/>
                </a:lnSpc>
              </a:pPr>
              <a:r>
                <a:rPr lang="en-US" sz="3600" b="true">
                  <a:solidFill>
                    <a:srgbClr val="7B4BD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GIF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444500" y="1568450"/>
              <a:ext cx="5715000" cy="4089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7"/>
                </a:lnSpc>
              </a:pPr>
              <a:r>
                <a:rPr lang="en-US" sz="1950">
                  <a:solidFill>
                    <a:srgbClr val="FFFFFF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Kısa hareket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6715125" y="5715000"/>
            <a:ext cx="4857750" cy="2381250"/>
            <a:chOff x="0" y="0"/>
            <a:chExt cx="6477000" cy="3175000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6477000" cy="3175000"/>
              <a:chOff x="0" y="0"/>
              <a:chExt cx="6477000" cy="31750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6477000" cy="3175000"/>
              </a:xfrm>
              <a:custGeom>
                <a:avLst/>
                <a:gdLst/>
                <a:ahLst/>
                <a:cxnLst/>
                <a:rect r="r" b="b" t="t" l="l"/>
                <a:pathLst>
                  <a:path h="3175000" w="6477000">
                    <a:moveTo>
                      <a:pt x="0" y="0"/>
                    </a:moveTo>
                    <a:lnTo>
                      <a:pt x="6477000" y="0"/>
                    </a:lnTo>
                    <a:lnTo>
                      <a:pt x="6477000" y="3175000"/>
                    </a:lnTo>
                    <a:lnTo>
                      <a:pt x="0" y="3175000"/>
                    </a:lnTo>
                    <a:close/>
                  </a:path>
                </a:pathLst>
              </a:custGeom>
              <a:solidFill>
                <a:srgbClr val="12364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6477000" cy="321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1" id="31"/>
            <p:cNvSpPr txBox="true"/>
            <p:nvPr/>
          </p:nvSpPr>
          <p:spPr>
            <a:xfrm rot="0">
              <a:off x="444500" y="415925"/>
              <a:ext cx="2286000" cy="795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040"/>
                </a:lnSpc>
              </a:pPr>
              <a:r>
                <a:rPr lang="en-US" sz="3600" b="true">
                  <a:solidFill>
                    <a:srgbClr val="36A66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MP4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444500" y="1568450"/>
              <a:ext cx="5715000" cy="4089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7"/>
                </a:lnSpc>
              </a:pPr>
              <a:r>
                <a:rPr lang="en-US" sz="1950">
                  <a:solidFill>
                    <a:srgbClr val="FFFFFF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Video + ses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2430125" y="5715000"/>
            <a:ext cx="4857750" cy="2381250"/>
            <a:chOff x="0" y="0"/>
            <a:chExt cx="6477000" cy="3175000"/>
          </a:xfrm>
        </p:grpSpPr>
        <p:grpSp>
          <p:nvGrpSpPr>
            <p:cNvPr name="Group 34" id="34"/>
            <p:cNvGrpSpPr/>
            <p:nvPr/>
          </p:nvGrpSpPr>
          <p:grpSpPr>
            <a:xfrm rot="0">
              <a:off x="0" y="0"/>
              <a:ext cx="6477000" cy="3175000"/>
              <a:chOff x="0" y="0"/>
              <a:chExt cx="6477000" cy="317500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6477000" cy="3175000"/>
              </a:xfrm>
              <a:custGeom>
                <a:avLst/>
                <a:gdLst/>
                <a:ahLst/>
                <a:cxnLst/>
                <a:rect r="r" b="b" t="t" l="l"/>
                <a:pathLst>
                  <a:path h="3175000" w="6477000">
                    <a:moveTo>
                      <a:pt x="0" y="0"/>
                    </a:moveTo>
                    <a:lnTo>
                      <a:pt x="6477000" y="0"/>
                    </a:lnTo>
                    <a:lnTo>
                      <a:pt x="6477000" y="3175000"/>
                    </a:lnTo>
                    <a:lnTo>
                      <a:pt x="0" y="3175000"/>
                    </a:lnTo>
                    <a:close/>
                  </a:path>
                </a:pathLst>
              </a:custGeom>
              <a:solidFill>
                <a:srgbClr val="12364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38100"/>
                <a:ext cx="6477000" cy="321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7" id="37"/>
            <p:cNvSpPr txBox="true"/>
            <p:nvPr/>
          </p:nvSpPr>
          <p:spPr>
            <a:xfrm rot="0">
              <a:off x="444500" y="415925"/>
              <a:ext cx="2286000" cy="795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040"/>
                </a:lnSpc>
              </a:pPr>
              <a:r>
                <a:rPr lang="en-US" sz="3600" b="true">
                  <a:solidFill>
                    <a:srgbClr val="F28C28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STL</a:t>
              </a:r>
            </a:p>
          </p:txBody>
        </p:sp>
        <p:sp>
          <p:nvSpPr>
            <p:cNvPr name="TextBox 38" id="38"/>
            <p:cNvSpPr txBox="true"/>
            <p:nvPr/>
          </p:nvSpPr>
          <p:spPr>
            <a:xfrm rot="0">
              <a:off x="444500" y="1568450"/>
              <a:ext cx="5715000" cy="4089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7"/>
                </a:lnSpc>
              </a:pPr>
              <a:r>
                <a:rPr lang="en-US" sz="1950">
                  <a:solidFill>
                    <a:srgbClr val="FFFFFF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3B yazıcı modeli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F6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76300" y="628650"/>
            <a:ext cx="11430000" cy="599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98"/>
              </a:lnSpc>
            </a:pPr>
            <a:r>
              <a:rPr lang="en-US" sz="4350" b="true">
                <a:solidFill>
                  <a:srgbClr val="102A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Sınıflandırma görevi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76300" y="1314450"/>
            <a:ext cx="15240000" cy="311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950">
                <a:solidFill>
                  <a:srgbClr val="102A3A"/>
                </a:solidFill>
                <a:latin typeface="Nunito Sans"/>
                <a:ea typeface="Nunito Sans"/>
                <a:cs typeface="Nunito Sans"/>
                <a:sym typeface="Nunito Sans"/>
              </a:rPr>
              <a:t>Kartları iki kez yerleştir: ① Donanım / Yazılım  ② Kullanım amacı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52500" y="2667000"/>
            <a:ext cx="3714750" cy="1190625"/>
            <a:chOff x="0" y="0"/>
            <a:chExt cx="4953000" cy="15875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953000" cy="1587500"/>
            </a:xfrm>
            <a:custGeom>
              <a:avLst/>
              <a:gdLst/>
              <a:ahLst/>
              <a:cxnLst/>
              <a:rect r="r" b="b" t="t" l="l"/>
              <a:pathLst>
                <a:path h="1587500" w="4953000">
                  <a:moveTo>
                    <a:pt x="78154" y="0"/>
                  </a:moveTo>
                  <a:lnTo>
                    <a:pt x="4874846" y="0"/>
                  </a:lnTo>
                  <a:cubicBezTo>
                    <a:pt x="4895574" y="0"/>
                    <a:pt x="4915453" y="8234"/>
                    <a:pt x="4930109" y="22891"/>
                  </a:cubicBezTo>
                  <a:cubicBezTo>
                    <a:pt x="4944766" y="37547"/>
                    <a:pt x="4953000" y="57426"/>
                    <a:pt x="4953000" y="78154"/>
                  </a:cubicBezTo>
                  <a:lnTo>
                    <a:pt x="4953000" y="1509346"/>
                  </a:lnTo>
                  <a:cubicBezTo>
                    <a:pt x="4953000" y="1530074"/>
                    <a:pt x="4944766" y="1549953"/>
                    <a:pt x="4930109" y="1564609"/>
                  </a:cubicBezTo>
                  <a:cubicBezTo>
                    <a:pt x="4915453" y="1579266"/>
                    <a:pt x="4895574" y="1587500"/>
                    <a:pt x="4874846" y="1587500"/>
                  </a:cubicBezTo>
                  <a:lnTo>
                    <a:pt x="78154" y="1587500"/>
                  </a:lnTo>
                  <a:cubicBezTo>
                    <a:pt x="57426" y="1587500"/>
                    <a:pt x="37547" y="1579266"/>
                    <a:pt x="22891" y="1564609"/>
                  </a:cubicBezTo>
                  <a:cubicBezTo>
                    <a:pt x="8234" y="1549953"/>
                    <a:pt x="0" y="1530074"/>
                    <a:pt x="0" y="1509346"/>
                  </a:cubicBezTo>
                  <a:lnTo>
                    <a:pt x="0" y="78154"/>
                  </a:lnTo>
                  <a:cubicBezTo>
                    <a:pt x="0" y="57426"/>
                    <a:pt x="8234" y="37547"/>
                    <a:pt x="22891" y="22891"/>
                  </a:cubicBezTo>
                  <a:cubicBezTo>
                    <a:pt x="37547" y="8234"/>
                    <a:pt x="57426" y="0"/>
                    <a:pt x="78154" y="0"/>
                  </a:cubicBezTo>
                  <a:close/>
                </a:path>
              </a:pathLst>
            </a:custGeom>
            <a:solidFill>
              <a:srgbClr val="168AAD"/>
            </a:solidFill>
            <a:ln cap="rnd">
              <a:noFill/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19050"/>
              <a:ext cx="4953000" cy="1568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50"/>
                </a:lnSpc>
              </a:pPr>
              <a:r>
                <a:rPr lang="en-US" sz="1500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KAMERA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191125" y="2667000"/>
            <a:ext cx="3714750" cy="1190625"/>
            <a:chOff x="0" y="0"/>
            <a:chExt cx="4953000" cy="15875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953000" cy="1587500"/>
            </a:xfrm>
            <a:custGeom>
              <a:avLst/>
              <a:gdLst/>
              <a:ahLst/>
              <a:cxnLst/>
              <a:rect r="r" b="b" t="t" l="l"/>
              <a:pathLst>
                <a:path h="1587500" w="4953000">
                  <a:moveTo>
                    <a:pt x="78154" y="0"/>
                  </a:moveTo>
                  <a:lnTo>
                    <a:pt x="4874846" y="0"/>
                  </a:lnTo>
                  <a:cubicBezTo>
                    <a:pt x="4895574" y="0"/>
                    <a:pt x="4915453" y="8234"/>
                    <a:pt x="4930109" y="22891"/>
                  </a:cubicBezTo>
                  <a:cubicBezTo>
                    <a:pt x="4944766" y="37547"/>
                    <a:pt x="4953000" y="57426"/>
                    <a:pt x="4953000" y="78154"/>
                  </a:cubicBezTo>
                  <a:lnTo>
                    <a:pt x="4953000" y="1509346"/>
                  </a:lnTo>
                  <a:cubicBezTo>
                    <a:pt x="4953000" y="1530074"/>
                    <a:pt x="4944766" y="1549953"/>
                    <a:pt x="4930109" y="1564609"/>
                  </a:cubicBezTo>
                  <a:cubicBezTo>
                    <a:pt x="4915453" y="1579266"/>
                    <a:pt x="4895574" y="1587500"/>
                    <a:pt x="4874846" y="1587500"/>
                  </a:cubicBezTo>
                  <a:lnTo>
                    <a:pt x="78154" y="1587500"/>
                  </a:lnTo>
                  <a:cubicBezTo>
                    <a:pt x="57426" y="1587500"/>
                    <a:pt x="37547" y="1579266"/>
                    <a:pt x="22891" y="1564609"/>
                  </a:cubicBezTo>
                  <a:cubicBezTo>
                    <a:pt x="8234" y="1549953"/>
                    <a:pt x="0" y="1530074"/>
                    <a:pt x="0" y="1509346"/>
                  </a:cubicBezTo>
                  <a:lnTo>
                    <a:pt x="0" y="78154"/>
                  </a:lnTo>
                  <a:cubicBezTo>
                    <a:pt x="0" y="57426"/>
                    <a:pt x="8234" y="37547"/>
                    <a:pt x="22891" y="22891"/>
                  </a:cubicBezTo>
                  <a:cubicBezTo>
                    <a:pt x="37547" y="8234"/>
                    <a:pt x="57426" y="0"/>
                    <a:pt x="78154" y="0"/>
                  </a:cubicBezTo>
                  <a:close/>
                </a:path>
              </a:pathLst>
            </a:custGeom>
            <a:solidFill>
              <a:srgbClr val="7B4BD4"/>
            </a:solidFill>
            <a:ln cap="rnd">
              <a:noFill/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19050"/>
              <a:ext cx="4953000" cy="1568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50"/>
                </a:lnSpc>
              </a:pPr>
              <a:r>
                <a:rPr lang="en-US" sz="1500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ÇİZİM PROGRAMI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429750" y="2667000"/>
            <a:ext cx="3714750" cy="1190625"/>
            <a:chOff x="0" y="0"/>
            <a:chExt cx="4953000" cy="15875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953000" cy="1587500"/>
            </a:xfrm>
            <a:custGeom>
              <a:avLst/>
              <a:gdLst/>
              <a:ahLst/>
              <a:cxnLst/>
              <a:rect r="r" b="b" t="t" l="l"/>
              <a:pathLst>
                <a:path h="1587500" w="4953000">
                  <a:moveTo>
                    <a:pt x="78154" y="0"/>
                  </a:moveTo>
                  <a:lnTo>
                    <a:pt x="4874846" y="0"/>
                  </a:lnTo>
                  <a:cubicBezTo>
                    <a:pt x="4895574" y="0"/>
                    <a:pt x="4915453" y="8234"/>
                    <a:pt x="4930109" y="22891"/>
                  </a:cubicBezTo>
                  <a:cubicBezTo>
                    <a:pt x="4944766" y="37547"/>
                    <a:pt x="4953000" y="57426"/>
                    <a:pt x="4953000" y="78154"/>
                  </a:cubicBezTo>
                  <a:lnTo>
                    <a:pt x="4953000" y="1509346"/>
                  </a:lnTo>
                  <a:cubicBezTo>
                    <a:pt x="4953000" y="1530074"/>
                    <a:pt x="4944766" y="1549953"/>
                    <a:pt x="4930109" y="1564609"/>
                  </a:cubicBezTo>
                  <a:cubicBezTo>
                    <a:pt x="4915453" y="1579266"/>
                    <a:pt x="4895574" y="1587500"/>
                    <a:pt x="4874846" y="1587500"/>
                  </a:cubicBezTo>
                  <a:lnTo>
                    <a:pt x="78154" y="1587500"/>
                  </a:lnTo>
                  <a:cubicBezTo>
                    <a:pt x="57426" y="1587500"/>
                    <a:pt x="37547" y="1579266"/>
                    <a:pt x="22891" y="1564609"/>
                  </a:cubicBezTo>
                  <a:cubicBezTo>
                    <a:pt x="8234" y="1549953"/>
                    <a:pt x="0" y="1530074"/>
                    <a:pt x="0" y="1509346"/>
                  </a:cubicBezTo>
                  <a:lnTo>
                    <a:pt x="0" y="78154"/>
                  </a:lnTo>
                  <a:cubicBezTo>
                    <a:pt x="0" y="57426"/>
                    <a:pt x="8234" y="37547"/>
                    <a:pt x="22891" y="22891"/>
                  </a:cubicBezTo>
                  <a:cubicBezTo>
                    <a:pt x="37547" y="8234"/>
                    <a:pt x="57426" y="0"/>
                    <a:pt x="78154" y="0"/>
                  </a:cubicBezTo>
                  <a:close/>
                </a:path>
              </a:pathLst>
            </a:custGeom>
            <a:solidFill>
              <a:srgbClr val="168AAD"/>
            </a:solidFill>
            <a:ln cap="rnd">
              <a:noFill/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19050"/>
              <a:ext cx="4953000" cy="1568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50"/>
                </a:lnSpc>
              </a:pPr>
              <a:r>
                <a:rPr lang="en-US" sz="1500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MİKROFON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3668375" y="2667000"/>
            <a:ext cx="3714750" cy="1190625"/>
            <a:chOff x="0" y="0"/>
            <a:chExt cx="4953000" cy="15875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953000" cy="1587500"/>
            </a:xfrm>
            <a:custGeom>
              <a:avLst/>
              <a:gdLst/>
              <a:ahLst/>
              <a:cxnLst/>
              <a:rect r="r" b="b" t="t" l="l"/>
              <a:pathLst>
                <a:path h="1587500" w="4953000">
                  <a:moveTo>
                    <a:pt x="78154" y="0"/>
                  </a:moveTo>
                  <a:lnTo>
                    <a:pt x="4874846" y="0"/>
                  </a:lnTo>
                  <a:cubicBezTo>
                    <a:pt x="4895574" y="0"/>
                    <a:pt x="4915453" y="8234"/>
                    <a:pt x="4930109" y="22891"/>
                  </a:cubicBezTo>
                  <a:cubicBezTo>
                    <a:pt x="4944766" y="37547"/>
                    <a:pt x="4953000" y="57426"/>
                    <a:pt x="4953000" y="78154"/>
                  </a:cubicBezTo>
                  <a:lnTo>
                    <a:pt x="4953000" y="1509346"/>
                  </a:lnTo>
                  <a:cubicBezTo>
                    <a:pt x="4953000" y="1530074"/>
                    <a:pt x="4944766" y="1549953"/>
                    <a:pt x="4930109" y="1564609"/>
                  </a:cubicBezTo>
                  <a:cubicBezTo>
                    <a:pt x="4915453" y="1579266"/>
                    <a:pt x="4895574" y="1587500"/>
                    <a:pt x="4874846" y="1587500"/>
                  </a:cubicBezTo>
                  <a:lnTo>
                    <a:pt x="78154" y="1587500"/>
                  </a:lnTo>
                  <a:cubicBezTo>
                    <a:pt x="57426" y="1587500"/>
                    <a:pt x="37547" y="1579266"/>
                    <a:pt x="22891" y="1564609"/>
                  </a:cubicBezTo>
                  <a:cubicBezTo>
                    <a:pt x="8234" y="1549953"/>
                    <a:pt x="0" y="1530074"/>
                    <a:pt x="0" y="1509346"/>
                  </a:cubicBezTo>
                  <a:lnTo>
                    <a:pt x="0" y="78154"/>
                  </a:lnTo>
                  <a:cubicBezTo>
                    <a:pt x="0" y="57426"/>
                    <a:pt x="8234" y="37547"/>
                    <a:pt x="22891" y="22891"/>
                  </a:cubicBezTo>
                  <a:cubicBezTo>
                    <a:pt x="37547" y="8234"/>
                    <a:pt x="57426" y="0"/>
                    <a:pt x="78154" y="0"/>
                  </a:cubicBezTo>
                  <a:close/>
                </a:path>
              </a:pathLst>
            </a:custGeom>
            <a:solidFill>
              <a:srgbClr val="7B4BD4"/>
            </a:solidFill>
            <a:ln cap="rnd">
              <a:noFill/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19050"/>
              <a:ext cx="4953000" cy="1568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50"/>
                </a:lnSpc>
              </a:pPr>
              <a:r>
                <a:rPr lang="en-US" sz="1500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3B YAZICI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52500" y="4381500"/>
            <a:ext cx="3714750" cy="1190625"/>
            <a:chOff x="0" y="0"/>
            <a:chExt cx="4953000" cy="15875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953000" cy="1587500"/>
            </a:xfrm>
            <a:custGeom>
              <a:avLst/>
              <a:gdLst/>
              <a:ahLst/>
              <a:cxnLst/>
              <a:rect r="r" b="b" t="t" l="l"/>
              <a:pathLst>
                <a:path h="1587500" w="4953000">
                  <a:moveTo>
                    <a:pt x="78154" y="0"/>
                  </a:moveTo>
                  <a:lnTo>
                    <a:pt x="4874846" y="0"/>
                  </a:lnTo>
                  <a:cubicBezTo>
                    <a:pt x="4895574" y="0"/>
                    <a:pt x="4915453" y="8234"/>
                    <a:pt x="4930109" y="22891"/>
                  </a:cubicBezTo>
                  <a:cubicBezTo>
                    <a:pt x="4944766" y="37547"/>
                    <a:pt x="4953000" y="57426"/>
                    <a:pt x="4953000" y="78154"/>
                  </a:cubicBezTo>
                  <a:lnTo>
                    <a:pt x="4953000" y="1509346"/>
                  </a:lnTo>
                  <a:cubicBezTo>
                    <a:pt x="4953000" y="1530074"/>
                    <a:pt x="4944766" y="1549953"/>
                    <a:pt x="4930109" y="1564609"/>
                  </a:cubicBezTo>
                  <a:cubicBezTo>
                    <a:pt x="4915453" y="1579266"/>
                    <a:pt x="4895574" y="1587500"/>
                    <a:pt x="4874846" y="1587500"/>
                  </a:cubicBezTo>
                  <a:lnTo>
                    <a:pt x="78154" y="1587500"/>
                  </a:lnTo>
                  <a:cubicBezTo>
                    <a:pt x="57426" y="1587500"/>
                    <a:pt x="37547" y="1579266"/>
                    <a:pt x="22891" y="1564609"/>
                  </a:cubicBezTo>
                  <a:cubicBezTo>
                    <a:pt x="8234" y="1549953"/>
                    <a:pt x="0" y="1530074"/>
                    <a:pt x="0" y="1509346"/>
                  </a:cubicBezTo>
                  <a:lnTo>
                    <a:pt x="0" y="78154"/>
                  </a:lnTo>
                  <a:cubicBezTo>
                    <a:pt x="0" y="57426"/>
                    <a:pt x="8234" y="37547"/>
                    <a:pt x="22891" y="22891"/>
                  </a:cubicBezTo>
                  <a:cubicBezTo>
                    <a:pt x="37547" y="8234"/>
                    <a:pt x="57426" y="0"/>
                    <a:pt x="78154" y="0"/>
                  </a:cubicBezTo>
                  <a:close/>
                </a:path>
              </a:pathLst>
            </a:custGeom>
            <a:solidFill>
              <a:srgbClr val="168AAD"/>
            </a:solidFill>
            <a:ln cap="rnd">
              <a:noFill/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19050"/>
              <a:ext cx="4953000" cy="1568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50"/>
                </a:lnSpc>
              </a:pPr>
              <a:r>
                <a:rPr lang="en-US" sz="1500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ANİMASYON YAZILIMI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5191125" y="4381500"/>
            <a:ext cx="3714750" cy="1190625"/>
            <a:chOff x="0" y="0"/>
            <a:chExt cx="4953000" cy="15875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953000" cy="1587500"/>
            </a:xfrm>
            <a:custGeom>
              <a:avLst/>
              <a:gdLst/>
              <a:ahLst/>
              <a:cxnLst/>
              <a:rect r="r" b="b" t="t" l="l"/>
              <a:pathLst>
                <a:path h="1587500" w="4953000">
                  <a:moveTo>
                    <a:pt x="78154" y="0"/>
                  </a:moveTo>
                  <a:lnTo>
                    <a:pt x="4874846" y="0"/>
                  </a:lnTo>
                  <a:cubicBezTo>
                    <a:pt x="4895574" y="0"/>
                    <a:pt x="4915453" y="8234"/>
                    <a:pt x="4930109" y="22891"/>
                  </a:cubicBezTo>
                  <a:cubicBezTo>
                    <a:pt x="4944766" y="37547"/>
                    <a:pt x="4953000" y="57426"/>
                    <a:pt x="4953000" y="78154"/>
                  </a:cubicBezTo>
                  <a:lnTo>
                    <a:pt x="4953000" y="1509346"/>
                  </a:lnTo>
                  <a:cubicBezTo>
                    <a:pt x="4953000" y="1530074"/>
                    <a:pt x="4944766" y="1549953"/>
                    <a:pt x="4930109" y="1564609"/>
                  </a:cubicBezTo>
                  <a:cubicBezTo>
                    <a:pt x="4915453" y="1579266"/>
                    <a:pt x="4895574" y="1587500"/>
                    <a:pt x="4874846" y="1587500"/>
                  </a:cubicBezTo>
                  <a:lnTo>
                    <a:pt x="78154" y="1587500"/>
                  </a:lnTo>
                  <a:cubicBezTo>
                    <a:pt x="57426" y="1587500"/>
                    <a:pt x="37547" y="1579266"/>
                    <a:pt x="22891" y="1564609"/>
                  </a:cubicBezTo>
                  <a:cubicBezTo>
                    <a:pt x="8234" y="1549953"/>
                    <a:pt x="0" y="1530074"/>
                    <a:pt x="0" y="1509346"/>
                  </a:cubicBezTo>
                  <a:lnTo>
                    <a:pt x="0" y="78154"/>
                  </a:lnTo>
                  <a:cubicBezTo>
                    <a:pt x="0" y="57426"/>
                    <a:pt x="8234" y="37547"/>
                    <a:pt x="22891" y="22891"/>
                  </a:cubicBezTo>
                  <a:cubicBezTo>
                    <a:pt x="37547" y="8234"/>
                    <a:pt x="57426" y="0"/>
                    <a:pt x="78154" y="0"/>
                  </a:cubicBezTo>
                  <a:close/>
                </a:path>
              </a:pathLst>
            </a:custGeom>
            <a:solidFill>
              <a:srgbClr val="7B4BD4"/>
            </a:solidFill>
            <a:ln cap="rnd">
              <a:noFill/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19050"/>
              <a:ext cx="4953000" cy="1568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50"/>
                </a:lnSpc>
              </a:pPr>
              <a:r>
                <a:rPr lang="en-US" sz="1500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GRAFİK TABLET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429750" y="4381500"/>
            <a:ext cx="3714750" cy="1190625"/>
            <a:chOff x="0" y="0"/>
            <a:chExt cx="4953000" cy="15875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953000" cy="1587500"/>
            </a:xfrm>
            <a:custGeom>
              <a:avLst/>
              <a:gdLst/>
              <a:ahLst/>
              <a:cxnLst/>
              <a:rect r="r" b="b" t="t" l="l"/>
              <a:pathLst>
                <a:path h="1587500" w="4953000">
                  <a:moveTo>
                    <a:pt x="78154" y="0"/>
                  </a:moveTo>
                  <a:lnTo>
                    <a:pt x="4874846" y="0"/>
                  </a:lnTo>
                  <a:cubicBezTo>
                    <a:pt x="4895574" y="0"/>
                    <a:pt x="4915453" y="8234"/>
                    <a:pt x="4930109" y="22891"/>
                  </a:cubicBezTo>
                  <a:cubicBezTo>
                    <a:pt x="4944766" y="37547"/>
                    <a:pt x="4953000" y="57426"/>
                    <a:pt x="4953000" y="78154"/>
                  </a:cubicBezTo>
                  <a:lnTo>
                    <a:pt x="4953000" y="1509346"/>
                  </a:lnTo>
                  <a:cubicBezTo>
                    <a:pt x="4953000" y="1530074"/>
                    <a:pt x="4944766" y="1549953"/>
                    <a:pt x="4930109" y="1564609"/>
                  </a:cubicBezTo>
                  <a:cubicBezTo>
                    <a:pt x="4915453" y="1579266"/>
                    <a:pt x="4895574" y="1587500"/>
                    <a:pt x="4874846" y="1587500"/>
                  </a:cubicBezTo>
                  <a:lnTo>
                    <a:pt x="78154" y="1587500"/>
                  </a:lnTo>
                  <a:cubicBezTo>
                    <a:pt x="57426" y="1587500"/>
                    <a:pt x="37547" y="1579266"/>
                    <a:pt x="22891" y="1564609"/>
                  </a:cubicBezTo>
                  <a:cubicBezTo>
                    <a:pt x="8234" y="1549953"/>
                    <a:pt x="0" y="1530074"/>
                    <a:pt x="0" y="1509346"/>
                  </a:cubicBezTo>
                  <a:lnTo>
                    <a:pt x="0" y="78154"/>
                  </a:lnTo>
                  <a:cubicBezTo>
                    <a:pt x="0" y="57426"/>
                    <a:pt x="8234" y="37547"/>
                    <a:pt x="22891" y="22891"/>
                  </a:cubicBezTo>
                  <a:cubicBezTo>
                    <a:pt x="37547" y="8234"/>
                    <a:pt x="57426" y="0"/>
                    <a:pt x="78154" y="0"/>
                  </a:cubicBezTo>
                  <a:close/>
                </a:path>
              </a:pathLst>
            </a:custGeom>
            <a:solidFill>
              <a:srgbClr val="168AAD"/>
            </a:solidFill>
            <a:ln cap="rnd">
              <a:noFill/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19050"/>
              <a:ext cx="4953000" cy="1568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50"/>
                </a:lnSpc>
              </a:pPr>
              <a:r>
                <a:rPr lang="en-US" sz="1500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BULUT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3668375" y="4381500"/>
            <a:ext cx="3714750" cy="1190625"/>
            <a:chOff x="0" y="0"/>
            <a:chExt cx="4953000" cy="15875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953000" cy="1587500"/>
            </a:xfrm>
            <a:custGeom>
              <a:avLst/>
              <a:gdLst/>
              <a:ahLst/>
              <a:cxnLst/>
              <a:rect r="r" b="b" t="t" l="l"/>
              <a:pathLst>
                <a:path h="1587500" w="4953000">
                  <a:moveTo>
                    <a:pt x="78154" y="0"/>
                  </a:moveTo>
                  <a:lnTo>
                    <a:pt x="4874846" y="0"/>
                  </a:lnTo>
                  <a:cubicBezTo>
                    <a:pt x="4895574" y="0"/>
                    <a:pt x="4915453" y="8234"/>
                    <a:pt x="4930109" y="22891"/>
                  </a:cubicBezTo>
                  <a:cubicBezTo>
                    <a:pt x="4944766" y="37547"/>
                    <a:pt x="4953000" y="57426"/>
                    <a:pt x="4953000" y="78154"/>
                  </a:cubicBezTo>
                  <a:lnTo>
                    <a:pt x="4953000" y="1509346"/>
                  </a:lnTo>
                  <a:cubicBezTo>
                    <a:pt x="4953000" y="1530074"/>
                    <a:pt x="4944766" y="1549953"/>
                    <a:pt x="4930109" y="1564609"/>
                  </a:cubicBezTo>
                  <a:cubicBezTo>
                    <a:pt x="4915453" y="1579266"/>
                    <a:pt x="4895574" y="1587500"/>
                    <a:pt x="4874846" y="1587500"/>
                  </a:cubicBezTo>
                  <a:lnTo>
                    <a:pt x="78154" y="1587500"/>
                  </a:lnTo>
                  <a:cubicBezTo>
                    <a:pt x="57426" y="1587500"/>
                    <a:pt x="37547" y="1579266"/>
                    <a:pt x="22891" y="1564609"/>
                  </a:cubicBezTo>
                  <a:cubicBezTo>
                    <a:pt x="8234" y="1549953"/>
                    <a:pt x="0" y="1530074"/>
                    <a:pt x="0" y="1509346"/>
                  </a:cubicBezTo>
                  <a:lnTo>
                    <a:pt x="0" y="78154"/>
                  </a:lnTo>
                  <a:cubicBezTo>
                    <a:pt x="0" y="57426"/>
                    <a:pt x="8234" y="37547"/>
                    <a:pt x="22891" y="22891"/>
                  </a:cubicBezTo>
                  <a:cubicBezTo>
                    <a:pt x="37547" y="8234"/>
                    <a:pt x="57426" y="0"/>
                    <a:pt x="78154" y="0"/>
                  </a:cubicBezTo>
                  <a:close/>
                </a:path>
              </a:pathLst>
            </a:custGeom>
            <a:solidFill>
              <a:srgbClr val="7B4BD4"/>
            </a:solidFill>
            <a:ln cap="rnd">
              <a:noFill/>
              <a:prstDash val="solid"/>
              <a:round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19050"/>
              <a:ext cx="4953000" cy="1568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50"/>
                </a:lnSpc>
              </a:pPr>
              <a:r>
                <a:rPr lang="en-US" sz="1500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TARAYICI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2476500" y="6905625"/>
            <a:ext cx="13335000" cy="1095375"/>
            <a:chOff x="0" y="0"/>
            <a:chExt cx="17780000" cy="1460500"/>
          </a:xfrm>
        </p:grpSpPr>
        <p:grpSp>
          <p:nvGrpSpPr>
            <p:cNvPr name="Group 29" id="29"/>
            <p:cNvGrpSpPr/>
            <p:nvPr/>
          </p:nvGrpSpPr>
          <p:grpSpPr>
            <a:xfrm rot="0">
              <a:off x="0" y="0"/>
              <a:ext cx="17780000" cy="1460500"/>
              <a:chOff x="0" y="0"/>
              <a:chExt cx="17780000" cy="14605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17780000" cy="1460500"/>
              </a:xfrm>
              <a:custGeom>
                <a:avLst/>
                <a:gdLst/>
                <a:ahLst/>
                <a:cxnLst/>
                <a:rect r="r" b="b" t="t" l="l"/>
                <a:pathLst>
                  <a:path h="1460500" w="17780000">
                    <a:moveTo>
                      <a:pt x="0" y="0"/>
                    </a:moveTo>
                    <a:lnTo>
                      <a:pt x="17780000" y="0"/>
                    </a:lnTo>
                    <a:lnTo>
                      <a:pt x="17780000" y="1460500"/>
                    </a:lnTo>
                    <a:lnTo>
                      <a:pt x="0" y="1460500"/>
                    </a:lnTo>
                    <a:close/>
                  </a:path>
                </a:pathLst>
              </a:custGeom>
              <a:solidFill>
                <a:srgbClr val="F28C2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38100"/>
                <a:ext cx="17780000" cy="1498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2" id="32"/>
            <p:cNvSpPr txBox="true"/>
            <p:nvPr/>
          </p:nvSpPr>
          <p:spPr>
            <a:xfrm rot="0">
              <a:off x="508000" y="406400"/>
              <a:ext cx="16764000" cy="5156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59"/>
                </a:lnSpc>
              </a:pPr>
              <a:r>
                <a:rPr lang="en-US" sz="24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TARTIŞ: Bir araç birden fazla grupta olabilir mi? Neden?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F6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76300" y="628650"/>
            <a:ext cx="12382500" cy="599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98"/>
              </a:lnSpc>
            </a:pPr>
            <a:r>
              <a:rPr lang="en-US" sz="4350" b="true">
                <a:solidFill>
                  <a:srgbClr val="102A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5 soruda kendini dene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04875" y="1762125"/>
            <a:ext cx="15954375" cy="904875"/>
            <a:chOff x="0" y="0"/>
            <a:chExt cx="21272500" cy="12065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127000"/>
              <a:ext cx="787400" cy="787400"/>
              <a:chOff x="0" y="0"/>
              <a:chExt cx="787400" cy="7874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787400" cy="787400"/>
              </a:xfrm>
              <a:custGeom>
                <a:avLst/>
                <a:gdLst/>
                <a:ahLst/>
                <a:cxnLst/>
                <a:rect r="r" b="b" t="t" l="l"/>
                <a:pathLst>
                  <a:path h="787400" w="787400">
                    <a:moveTo>
                      <a:pt x="393700" y="0"/>
                    </a:moveTo>
                    <a:cubicBezTo>
                      <a:pt x="611134" y="0"/>
                      <a:pt x="787400" y="176266"/>
                      <a:pt x="787400" y="393700"/>
                    </a:cubicBezTo>
                    <a:cubicBezTo>
                      <a:pt x="787400" y="611134"/>
                      <a:pt x="611134" y="787400"/>
                      <a:pt x="393700" y="787400"/>
                    </a:cubicBezTo>
                    <a:cubicBezTo>
                      <a:pt x="176266" y="787400"/>
                      <a:pt x="0" y="611134"/>
                      <a:pt x="0" y="393700"/>
                    </a:cubicBezTo>
                    <a:cubicBezTo>
                      <a:pt x="0" y="176266"/>
                      <a:pt x="176266" y="0"/>
                      <a:pt x="393700" y="0"/>
                    </a:cubicBezTo>
                    <a:close/>
                  </a:path>
                </a:pathLst>
              </a:custGeom>
              <a:solidFill>
                <a:srgbClr val="21C7B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787400" cy="825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571500" y="0"/>
              <a:ext cx="20701000" cy="1206500"/>
              <a:chOff x="0" y="0"/>
              <a:chExt cx="20701000" cy="12065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20701000" cy="1206500"/>
              </a:xfrm>
              <a:custGeom>
                <a:avLst/>
                <a:gdLst/>
                <a:ahLst/>
                <a:cxnLst/>
                <a:rect r="r" b="b" t="t" l="l"/>
                <a:pathLst>
                  <a:path h="1206500" w="20701000">
                    <a:moveTo>
                      <a:pt x="0" y="0"/>
                    </a:moveTo>
                    <a:lnTo>
                      <a:pt x="20701000" y="0"/>
                    </a:lnTo>
                    <a:lnTo>
                      <a:pt x="20701000" y="1206500"/>
                    </a:lnTo>
                    <a:lnTo>
                      <a:pt x="0" y="1206500"/>
                    </a:lnTo>
                    <a:close/>
                  </a:path>
                </a:pathLst>
              </a:custGeom>
              <a:solidFill>
                <a:srgbClr val="E7F4F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20701000" cy="1244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889000" y="469900"/>
              <a:ext cx="19050000" cy="4394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025" b="true">
                  <a:solidFill>
                    <a:srgbClr val="102A3A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1  Grafik tablet donanım mı, yazılım mı?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04875" y="3143250"/>
            <a:ext cx="15954375" cy="904875"/>
            <a:chOff x="0" y="0"/>
            <a:chExt cx="21272500" cy="1206500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127000"/>
              <a:ext cx="787400" cy="787400"/>
              <a:chOff x="0" y="0"/>
              <a:chExt cx="787400" cy="7874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787400" cy="787400"/>
              </a:xfrm>
              <a:custGeom>
                <a:avLst/>
                <a:gdLst/>
                <a:ahLst/>
                <a:cxnLst/>
                <a:rect r="r" b="b" t="t" l="l"/>
                <a:pathLst>
                  <a:path h="787400" w="787400">
                    <a:moveTo>
                      <a:pt x="393700" y="0"/>
                    </a:moveTo>
                    <a:cubicBezTo>
                      <a:pt x="611134" y="0"/>
                      <a:pt x="787400" y="176266"/>
                      <a:pt x="787400" y="393700"/>
                    </a:cubicBezTo>
                    <a:cubicBezTo>
                      <a:pt x="787400" y="611134"/>
                      <a:pt x="611134" y="787400"/>
                      <a:pt x="393700" y="787400"/>
                    </a:cubicBezTo>
                    <a:cubicBezTo>
                      <a:pt x="176266" y="787400"/>
                      <a:pt x="0" y="611134"/>
                      <a:pt x="0" y="393700"/>
                    </a:cubicBezTo>
                    <a:cubicBezTo>
                      <a:pt x="0" y="176266"/>
                      <a:pt x="176266" y="0"/>
                      <a:pt x="393700" y="0"/>
                    </a:cubicBezTo>
                    <a:close/>
                  </a:path>
                </a:pathLst>
              </a:custGeom>
              <a:solidFill>
                <a:srgbClr val="21C7B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787400" cy="825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571500" y="0"/>
              <a:ext cx="20701000" cy="1206500"/>
              <a:chOff x="0" y="0"/>
              <a:chExt cx="20701000" cy="12065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20701000" cy="1206500"/>
              </a:xfrm>
              <a:custGeom>
                <a:avLst/>
                <a:gdLst/>
                <a:ahLst/>
                <a:cxnLst/>
                <a:rect r="r" b="b" t="t" l="l"/>
                <a:pathLst>
                  <a:path h="1206500" w="20701000">
                    <a:moveTo>
                      <a:pt x="0" y="0"/>
                    </a:moveTo>
                    <a:lnTo>
                      <a:pt x="20701000" y="0"/>
                    </a:lnTo>
                    <a:lnTo>
                      <a:pt x="20701000" y="1206500"/>
                    </a:lnTo>
                    <a:lnTo>
                      <a:pt x="0" y="12065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20701000" cy="1244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889000" y="469900"/>
              <a:ext cx="19050000" cy="4394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025" b="true">
                  <a:solidFill>
                    <a:srgbClr val="102A3A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2  Kamera hangi kullanım grubundadır?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04875" y="4524375"/>
            <a:ext cx="15954375" cy="904875"/>
            <a:chOff x="0" y="0"/>
            <a:chExt cx="21272500" cy="1206500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127000"/>
              <a:ext cx="787400" cy="787400"/>
              <a:chOff x="0" y="0"/>
              <a:chExt cx="787400" cy="7874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787400" cy="787400"/>
              </a:xfrm>
              <a:custGeom>
                <a:avLst/>
                <a:gdLst/>
                <a:ahLst/>
                <a:cxnLst/>
                <a:rect r="r" b="b" t="t" l="l"/>
                <a:pathLst>
                  <a:path h="787400" w="787400">
                    <a:moveTo>
                      <a:pt x="393700" y="0"/>
                    </a:moveTo>
                    <a:cubicBezTo>
                      <a:pt x="611134" y="0"/>
                      <a:pt x="787400" y="176266"/>
                      <a:pt x="787400" y="393700"/>
                    </a:cubicBezTo>
                    <a:cubicBezTo>
                      <a:pt x="787400" y="611134"/>
                      <a:pt x="611134" y="787400"/>
                      <a:pt x="393700" y="787400"/>
                    </a:cubicBezTo>
                    <a:cubicBezTo>
                      <a:pt x="176266" y="787400"/>
                      <a:pt x="0" y="611134"/>
                      <a:pt x="0" y="393700"/>
                    </a:cubicBezTo>
                    <a:cubicBezTo>
                      <a:pt x="0" y="176266"/>
                      <a:pt x="176266" y="0"/>
                      <a:pt x="393700" y="0"/>
                    </a:cubicBezTo>
                    <a:close/>
                  </a:path>
                </a:pathLst>
              </a:custGeom>
              <a:solidFill>
                <a:srgbClr val="21C7B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38100"/>
                <a:ext cx="787400" cy="825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3" id="23"/>
            <p:cNvGrpSpPr/>
            <p:nvPr/>
          </p:nvGrpSpPr>
          <p:grpSpPr>
            <a:xfrm rot="0">
              <a:off x="571500" y="0"/>
              <a:ext cx="20701000" cy="1206500"/>
              <a:chOff x="0" y="0"/>
              <a:chExt cx="20701000" cy="12065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20701000" cy="1206500"/>
              </a:xfrm>
              <a:custGeom>
                <a:avLst/>
                <a:gdLst/>
                <a:ahLst/>
                <a:cxnLst/>
                <a:rect r="r" b="b" t="t" l="l"/>
                <a:pathLst>
                  <a:path h="1206500" w="20701000">
                    <a:moveTo>
                      <a:pt x="0" y="0"/>
                    </a:moveTo>
                    <a:lnTo>
                      <a:pt x="20701000" y="0"/>
                    </a:lnTo>
                    <a:lnTo>
                      <a:pt x="20701000" y="1206500"/>
                    </a:lnTo>
                    <a:lnTo>
                      <a:pt x="0" y="1206500"/>
                    </a:lnTo>
                    <a:close/>
                  </a:path>
                </a:pathLst>
              </a:custGeom>
              <a:solidFill>
                <a:srgbClr val="E7F4F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38100"/>
                <a:ext cx="20701000" cy="1244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6" id="26"/>
            <p:cNvSpPr txBox="true"/>
            <p:nvPr/>
          </p:nvSpPr>
          <p:spPr>
            <a:xfrm rot="0">
              <a:off x="889000" y="469900"/>
              <a:ext cx="19050000" cy="4394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025" b="true">
                  <a:solidFill>
                    <a:srgbClr val="102A3A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3  Animasyon için hangi iki araç birlikte gerekir?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04875" y="5905500"/>
            <a:ext cx="15954375" cy="904875"/>
            <a:chOff x="0" y="0"/>
            <a:chExt cx="21272500" cy="1206500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127000"/>
              <a:ext cx="787400" cy="787400"/>
              <a:chOff x="0" y="0"/>
              <a:chExt cx="787400" cy="7874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787400" cy="787400"/>
              </a:xfrm>
              <a:custGeom>
                <a:avLst/>
                <a:gdLst/>
                <a:ahLst/>
                <a:cxnLst/>
                <a:rect r="r" b="b" t="t" l="l"/>
                <a:pathLst>
                  <a:path h="787400" w="787400">
                    <a:moveTo>
                      <a:pt x="393700" y="0"/>
                    </a:moveTo>
                    <a:cubicBezTo>
                      <a:pt x="611134" y="0"/>
                      <a:pt x="787400" y="176266"/>
                      <a:pt x="787400" y="393700"/>
                    </a:cubicBezTo>
                    <a:cubicBezTo>
                      <a:pt x="787400" y="611134"/>
                      <a:pt x="611134" y="787400"/>
                      <a:pt x="393700" y="787400"/>
                    </a:cubicBezTo>
                    <a:cubicBezTo>
                      <a:pt x="176266" y="787400"/>
                      <a:pt x="0" y="611134"/>
                      <a:pt x="0" y="393700"/>
                    </a:cubicBezTo>
                    <a:cubicBezTo>
                      <a:pt x="0" y="176266"/>
                      <a:pt x="176266" y="0"/>
                      <a:pt x="393700" y="0"/>
                    </a:cubicBezTo>
                    <a:close/>
                  </a:path>
                </a:pathLst>
              </a:custGeom>
              <a:solidFill>
                <a:srgbClr val="21C7B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787400" cy="825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571500" y="0"/>
              <a:ext cx="20701000" cy="1206500"/>
              <a:chOff x="0" y="0"/>
              <a:chExt cx="20701000" cy="120650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20701000" cy="1206500"/>
              </a:xfrm>
              <a:custGeom>
                <a:avLst/>
                <a:gdLst/>
                <a:ahLst/>
                <a:cxnLst/>
                <a:rect r="r" b="b" t="t" l="l"/>
                <a:pathLst>
                  <a:path h="1206500" w="20701000">
                    <a:moveTo>
                      <a:pt x="0" y="0"/>
                    </a:moveTo>
                    <a:lnTo>
                      <a:pt x="20701000" y="0"/>
                    </a:lnTo>
                    <a:lnTo>
                      <a:pt x="20701000" y="1206500"/>
                    </a:lnTo>
                    <a:lnTo>
                      <a:pt x="0" y="12065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38100"/>
                <a:ext cx="20701000" cy="1244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4" id="34"/>
            <p:cNvSpPr txBox="true"/>
            <p:nvPr/>
          </p:nvSpPr>
          <p:spPr>
            <a:xfrm rot="0">
              <a:off x="889000" y="469900"/>
              <a:ext cx="19050000" cy="4394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025" b="true">
                  <a:solidFill>
                    <a:srgbClr val="102A3A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4  Fotoğraf rengini düzeltmek için ne seçersin?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04875" y="7286625"/>
            <a:ext cx="15954375" cy="904875"/>
            <a:chOff x="0" y="0"/>
            <a:chExt cx="21272500" cy="1206500"/>
          </a:xfrm>
        </p:grpSpPr>
        <p:grpSp>
          <p:nvGrpSpPr>
            <p:cNvPr name="Group 36" id="36"/>
            <p:cNvGrpSpPr/>
            <p:nvPr/>
          </p:nvGrpSpPr>
          <p:grpSpPr>
            <a:xfrm rot="0">
              <a:off x="0" y="127000"/>
              <a:ext cx="787400" cy="787400"/>
              <a:chOff x="0" y="0"/>
              <a:chExt cx="787400" cy="78740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787400" cy="787400"/>
              </a:xfrm>
              <a:custGeom>
                <a:avLst/>
                <a:gdLst/>
                <a:ahLst/>
                <a:cxnLst/>
                <a:rect r="r" b="b" t="t" l="l"/>
                <a:pathLst>
                  <a:path h="787400" w="787400">
                    <a:moveTo>
                      <a:pt x="393700" y="0"/>
                    </a:moveTo>
                    <a:cubicBezTo>
                      <a:pt x="611134" y="0"/>
                      <a:pt x="787400" y="176266"/>
                      <a:pt x="787400" y="393700"/>
                    </a:cubicBezTo>
                    <a:cubicBezTo>
                      <a:pt x="787400" y="611134"/>
                      <a:pt x="611134" y="787400"/>
                      <a:pt x="393700" y="787400"/>
                    </a:cubicBezTo>
                    <a:cubicBezTo>
                      <a:pt x="176266" y="787400"/>
                      <a:pt x="0" y="611134"/>
                      <a:pt x="0" y="393700"/>
                    </a:cubicBezTo>
                    <a:cubicBezTo>
                      <a:pt x="0" y="176266"/>
                      <a:pt x="176266" y="0"/>
                      <a:pt x="393700" y="0"/>
                    </a:cubicBezTo>
                    <a:close/>
                  </a:path>
                </a:pathLst>
              </a:custGeom>
              <a:solidFill>
                <a:srgbClr val="F28C2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38100"/>
                <a:ext cx="787400" cy="825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571500" y="0"/>
              <a:ext cx="20701000" cy="1206500"/>
              <a:chOff x="0" y="0"/>
              <a:chExt cx="20701000" cy="1206500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20701000" cy="1206500"/>
              </a:xfrm>
              <a:custGeom>
                <a:avLst/>
                <a:gdLst/>
                <a:ahLst/>
                <a:cxnLst/>
                <a:rect r="r" b="b" t="t" l="l"/>
                <a:pathLst>
                  <a:path h="1206500" w="20701000">
                    <a:moveTo>
                      <a:pt x="0" y="0"/>
                    </a:moveTo>
                    <a:lnTo>
                      <a:pt x="20701000" y="0"/>
                    </a:lnTo>
                    <a:lnTo>
                      <a:pt x="20701000" y="1206500"/>
                    </a:lnTo>
                    <a:lnTo>
                      <a:pt x="0" y="1206500"/>
                    </a:lnTo>
                    <a:close/>
                  </a:path>
                </a:pathLst>
              </a:custGeom>
              <a:solidFill>
                <a:srgbClr val="E7F4F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-38100"/>
                <a:ext cx="20701000" cy="1244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2" id="42"/>
            <p:cNvSpPr txBox="true"/>
            <p:nvPr/>
          </p:nvSpPr>
          <p:spPr>
            <a:xfrm rot="0">
              <a:off x="889000" y="469900"/>
              <a:ext cx="19050000" cy="4394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025" b="true">
                  <a:solidFill>
                    <a:srgbClr val="102A3A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5  Bir dijital sergi projesi için üç uygun araç yaz.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07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095750" y="600075"/>
            <a:ext cx="10096500" cy="678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70"/>
              </a:lnSpc>
            </a:pPr>
            <a:r>
              <a:rPr lang="en-US" sz="40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Dijital Sanat Teknolojileri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572250" y="3619500"/>
            <a:ext cx="5143500" cy="2857500"/>
            <a:chOff x="0" y="0"/>
            <a:chExt cx="6858000" cy="381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8580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6858000">
                  <a:moveTo>
                    <a:pt x="3429000" y="0"/>
                  </a:moveTo>
                  <a:cubicBezTo>
                    <a:pt x="5322784" y="0"/>
                    <a:pt x="6858000" y="852898"/>
                    <a:pt x="6858000" y="1905000"/>
                  </a:cubicBezTo>
                  <a:cubicBezTo>
                    <a:pt x="6858000" y="2957102"/>
                    <a:pt x="5322784" y="3810000"/>
                    <a:pt x="3429000" y="3810000"/>
                  </a:cubicBezTo>
                  <a:cubicBezTo>
                    <a:pt x="1535216" y="3810000"/>
                    <a:pt x="0" y="2957102"/>
                    <a:pt x="0" y="1905000"/>
                  </a:cubicBezTo>
                  <a:cubicBezTo>
                    <a:pt x="0" y="852898"/>
                    <a:pt x="1535216" y="0"/>
                    <a:pt x="3429000" y="0"/>
                  </a:cubicBezTo>
                  <a:close/>
                </a:path>
              </a:pathLst>
            </a:custGeom>
            <a:solidFill>
              <a:srgbClr val="F28C28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38100"/>
              <a:ext cx="6858000" cy="3771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77"/>
                </a:lnSpc>
              </a:pPr>
              <a:r>
                <a:rPr lang="en-US" sz="255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FİKİR</a:t>
              </a:r>
            </a:p>
            <a:p>
              <a:pPr algn="ctr">
                <a:lnSpc>
                  <a:spcPts val="2677"/>
                </a:lnSpc>
              </a:pPr>
              <a:r>
                <a:rPr lang="en-US" sz="255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+</a:t>
              </a:r>
            </a:p>
            <a:p>
              <a:pPr algn="ctr">
                <a:lnSpc>
                  <a:spcPts val="2677"/>
                </a:lnSpc>
              </a:pPr>
              <a:r>
                <a:rPr lang="en-US" sz="255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YARATICILIK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47750" y="2381250"/>
            <a:ext cx="4095750" cy="1714500"/>
            <a:chOff x="0" y="0"/>
            <a:chExt cx="5461000" cy="228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461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5461000">
                  <a:moveTo>
                    <a:pt x="70884" y="0"/>
                  </a:moveTo>
                  <a:lnTo>
                    <a:pt x="5390116" y="0"/>
                  </a:lnTo>
                  <a:cubicBezTo>
                    <a:pt x="5429264" y="0"/>
                    <a:pt x="5461000" y="31736"/>
                    <a:pt x="5461000" y="70884"/>
                  </a:cubicBezTo>
                  <a:lnTo>
                    <a:pt x="5461000" y="2215116"/>
                  </a:lnTo>
                  <a:cubicBezTo>
                    <a:pt x="5461000" y="2254264"/>
                    <a:pt x="5429264" y="2286000"/>
                    <a:pt x="5390116" y="2286000"/>
                  </a:cubicBezTo>
                  <a:lnTo>
                    <a:pt x="70884" y="2286000"/>
                  </a:lnTo>
                  <a:cubicBezTo>
                    <a:pt x="31736" y="2286000"/>
                    <a:pt x="0" y="2254264"/>
                    <a:pt x="0" y="2215116"/>
                  </a:cubicBezTo>
                  <a:lnTo>
                    <a:pt x="0" y="70884"/>
                  </a:lnTo>
                  <a:cubicBezTo>
                    <a:pt x="0" y="31736"/>
                    <a:pt x="31736" y="0"/>
                    <a:pt x="70884" y="0"/>
                  </a:cubicBezTo>
                  <a:close/>
                </a:path>
              </a:pathLst>
            </a:custGeom>
            <a:solidFill>
              <a:srgbClr val="168AAD"/>
            </a:solidFill>
            <a:ln cap="rnd">
              <a:noFill/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28575"/>
              <a:ext cx="5461000" cy="2257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97"/>
                </a:lnSpc>
              </a:pPr>
              <a:r>
                <a:rPr lang="en-US" sz="1725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DONANIM</a:t>
              </a:r>
            </a:p>
            <a:p>
              <a:pPr algn="ctr">
                <a:lnSpc>
                  <a:spcPts val="1897"/>
                </a:lnSpc>
              </a:pPr>
              <a:r>
                <a:rPr lang="en-US" sz="1725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Kamera • tablet • mikrofon</a:t>
              </a:r>
            </a:p>
          </p:txBody>
        </p:sp>
      </p:grpSp>
      <p:sp>
        <p:nvSpPr>
          <p:cNvPr name="AutoShape 9" id="9"/>
          <p:cNvSpPr/>
          <p:nvPr/>
        </p:nvSpPr>
        <p:spPr>
          <a:xfrm>
            <a:off x="5143500" y="3238500"/>
            <a:ext cx="1428750" cy="1047750"/>
          </a:xfrm>
          <a:prstGeom prst="line">
            <a:avLst/>
          </a:prstGeom>
          <a:ln cap="rnd" w="57150">
            <a:solidFill>
              <a:srgbClr val="168AA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13144500" y="2381250"/>
            <a:ext cx="4095750" cy="1714500"/>
            <a:chOff x="0" y="0"/>
            <a:chExt cx="5461000" cy="2286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461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5461000">
                  <a:moveTo>
                    <a:pt x="70884" y="0"/>
                  </a:moveTo>
                  <a:lnTo>
                    <a:pt x="5390116" y="0"/>
                  </a:lnTo>
                  <a:cubicBezTo>
                    <a:pt x="5429264" y="0"/>
                    <a:pt x="5461000" y="31736"/>
                    <a:pt x="5461000" y="70884"/>
                  </a:cubicBezTo>
                  <a:lnTo>
                    <a:pt x="5461000" y="2215116"/>
                  </a:lnTo>
                  <a:cubicBezTo>
                    <a:pt x="5461000" y="2254264"/>
                    <a:pt x="5429264" y="2286000"/>
                    <a:pt x="5390116" y="2286000"/>
                  </a:cubicBezTo>
                  <a:lnTo>
                    <a:pt x="70884" y="2286000"/>
                  </a:lnTo>
                  <a:cubicBezTo>
                    <a:pt x="31736" y="2286000"/>
                    <a:pt x="0" y="2254264"/>
                    <a:pt x="0" y="2215116"/>
                  </a:cubicBezTo>
                  <a:lnTo>
                    <a:pt x="0" y="70884"/>
                  </a:lnTo>
                  <a:cubicBezTo>
                    <a:pt x="0" y="31736"/>
                    <a:pt x="31736" y="0"/>
                    <a:pt x="70884" y="0"/>
                  </a:cubicBezTo>
                  <a:close/>
                </a:path>
              </a:pathLst>
            </a:custGeom>
            <a:solidFill>
              <a:srgbClr val="7B4BD4"/>
            </a:solidFill>
            <a:ln cap="rnd">
              <a:noFill/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28575"/>
              <a:ext cx="5461000" cy="2257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97"/>
                </a:lnSpc>
              </a:pPr>
              <a:r>
                <a:rPr lang="en-US" sz="1725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YAZILIM</a:t>
              </a:r>
            </a:p>
            <a:p>
              <a:pPr algn="ctr">
                <a:lnSpc>
                  <a:spcPts val="1897"/>
                </a:lnSpc>
              </a:pPr>
              <a:r>
                <a:rPr lang="en-US" sz="1725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Çizim • video • 3B</a:t>
              </a:r>
            </a:p>
          </p:txBody>
        </p:sp>
      </p:grpSp>
      <p:sp>
        <p:nvSpPr>
          <p:cNvPr name="AutoShape 13" id="13"/>
          <p:cNvSpPr/>
          <p:nvPr/>
        </p:nvSpPr>
        <p:spPr>
          <a:xfrm>
            <a:off x="11715750" y="3238500"/>
            <a:ext cx="0" cy="1047750"/>
          </a:xfrm>
          <a:prstGeom prst="line">
            <a:avLst/>
          </a:prstGeom>
          <a:ln cap="rnd" w="57150">
            <a:solidFill>
              <a:srgbClr val="7B4BD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857250" y="6858000"/>
            <a:ext cx="4572000" cy="1714500"/>
            <a:chOff x="0" y="0"/>
            <a:chExt cx="6096000" cy="2286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096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6096000">
                  <a:moveTo>
                    <a:pt x="63500" y="0"/>
                  </a:moveTo>
                  <a:lnTo>
                    <a:pt x="6032500" y="0"/>
                  </a:lnTo>
                  <a:cubicBezTo>
                    <a:pt x="6067570" y="0"/>
                    <a:pt x="6096000" y="28430"/>
                    <a:pt x="6096000" y="63500"/>
                  </a:cubicBezTo>
                  <a:lnTo>
                    <a:pt x="6096000" y="2222500"/>
                  </a:lnTo>
                  <a:cubicBezTo>
                    <a:pt x="6096000" y="2257570"/>
                    <a:pt x="6067570" y="2286000"/>
                    <a:pt x="6032500" y="2286000"/>
                  </a:cubicBezTo>
                  <a:lnTo>
                    <a:pt x="63500" y="2286000"/>
                  </a:lnTo>
                  <a:cubicBezTo>
                    <a:pt x="28430" y="2286000"/>
                    <a:pt x="0" y="2257570"/>
                    <a:pt x="0" y="22225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21C7B7"/>
            </a:solidFill>
            <a:ln cap="rnd">
              <a:noFill/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28575"/>
              <a:ext cx="6096000" cy="2257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97"/>
                </a:lnSpc>
              </a:pPr>
              <a:r>
                <a:rPr lang="en-US" sz="1725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ÜRETİM</a:t>
              </a:r>
            </a:p>
            <a:p>
              <a:pPr algn="ctr">
                <a:lnSpc>
                  <a:spcPts val="1897"/>
                </a:lnSpc>
              </a:pPr>
              <a:r>
                <a:rPr lang="en-US" sz="1725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Çiz • kaydet • modelle</a:t>
              </a:r>
            </a:p>
          </p:txBody>
        </p:sp>
      </p:grpSp>
      <p:sp>
        <p:nvSpPr>
          <p:cNvPr name="AutoShape 17" id="17"/>
          <p:cNvSpPr/>
          <p:nvPr/>
        </p:nvSpPr>
        <p:spPr>
          <a:xfrm flipV="true">
            <a:off x="5429250" y="5810250"/>
            <a:ext cx="1143000" cy="1905000"/>
          </a:xfrm>
          <a:prstGeom prst="line">
            <a:avLst/>
          </a:prstGeom>
          <a:ln cap="rnd" w="57150">
            <a:solidFill>
              <a:srgbClr val="21C7B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8" id="18"/>
          <p:cNvGrpSpPr/>
          <p:nvPr/>
        </p:nvGrpSpPr>
        <p:grpSpPr>
          <a:xfrm rot="0">
            <a:off x="12858750" y="6858000"/>
            <a:ext cx="4572000" cy="1714500"/>
            <a:chOff x="0" y="0"/>
            <a:chExt cx="6096000" cy="2286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096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6096000">
                  <a:moveTo>
                    <a:pt x="63500" y="0"/>
                  </a:moveTo>
                  <a:lnTo>
                    <a:pt x="6032500" y="0"/>
                  </a:lnTo>
                  <a:cubicBezTo>
                    <a:pt x="6067570" y="0"/>
                    <a:pt x="6096000" y="28430"/>
                    <a:pt x="6096000" y="63500"/>
                  </a:cubicBezTo>
                  <a:lnTo>
                    <a:pt x="6096000" y="2222500"/>
                  </a:lnTo>
                  <a:cubicBezTo>
                    <a:pt x="6096000" y="2257570"/>
                    <a:pt x="6067570" y="2286000"/>
                    <a:pt x="6032500" y="2286000"/>
                  </a:cubicBezTo>
                  <a:lnTo>
                    <a:pt x="63500" y="2286000"/>
                  </a:lnTo>
                  <a:cubicBezTo>
                    <a:pt x="28430" y="2286000"/>
                    <a:pt x="0" y="2257570"/>
                    <a:pt x="0" y="22225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36A66A"/>
            </a:solidFill>
            <a:ln cap="rnd">
              <a:noFill/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28575"/>
              <a:ext cx="6096000" cy="2257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97"/>
                </a:lnSpc>
              </a:pPr>
              <a:r>
                <a:rPr lang="en-US" sz="1725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ÇIKTI + PAYLAŞIM</a:t>
              </a:r>
            </a:p>
            <a:p>
              <a:pPr algn="ctr">
                <a:lnSpc>
                  <a:spcPts val="1897"/>
                </a:lnSpc>
              </a:pPr>
              <a:r>
                <a:rPr lang="en-US" sz="1725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Ekran • baskı • bulut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 flipV="true">
            <a:off x="11715750" y="5810250"/>
            <a:ext cx="0" cy="1905000"/>
          </a:xfrm>
          <a:prstGeom prst="line">
            <a:avLst/>
          </a:prstGeom>
          <a:ln cap="rnd" w="57150">
            <a:solidFill>
              <a:srgbClr val="36A66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2" id="22"/>
          <p:cNvSpPr txBox="true"/>
          <p:nvPr/>
        </p:nvSpPr>
        <p:spPr>
          <a:xfrm rot="0">
            <a:off x="3714750" y="8915400"/>
            <a:ext cx="10858500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35"/>
              </a:lnSpc>
            </a:pPr>
            <a:r>
              <a:rPr lang="en-US" sz="2025" b="true">
                <a:solidFill>
                  <a:srgbClr val="21C7B7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Amaç → doğru araç → doğru dosya → etkili paylaşım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DAHXsoQBFWs</dc:identifier>
  <dcterms:modified xsi:type="dcterms:W3CDTF">2011-08-01T06:04:30Z</dcterms:modified>
  <cp:revision>1</cp:revision>
  <dc:title>Dijital Sanat Araçları</dc:title>
</cp:coreProperties>
</file>