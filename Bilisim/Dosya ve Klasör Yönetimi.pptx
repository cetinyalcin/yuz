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Baloo" charset="1" panose="03080902040302020200"/>
      <p:regular r:id="rId29"/>
    </p:embeddedFont>
    <p:embeddedFont>
      <p:font typeface="Nunito" charset="1" panose="00000000000000000000"/>
      <p:regular r:id="rId30"/>
    </p:embeddedFont>
    <p:embeddedFont>
      <p:font typeface="Nunito Bold" charset="1" panose="0000000000000000000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notesMasters/notesMaster1.xml" Type="http://schemas.openxmlformats.org/officeDocument/2006/relationships/notesMaster"/><Relationship Id="rId27" Target="theme/theme2.xml" Type="http://schemas.openxmlformats.org/officeDocument/2006/relationships/theme"/><Relationship Id="rId28" Target="notesSlides/notesSlide1.xml" Type="http://schemas.openxmlformats.org/officeDocument/2006/relationships/notes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notesSlides/notesSlide2.xml" Type="http://schemas.openxmlformats.org/officeDocument/2006/relationships/notesSlide"/><Relationship Id="rId33" Target="notesSlides/notesSlide3.xml" Type="http://schemas.openxmlformats.org/officeDocument/2006/relationships/notesSlide"/><Relationship Id="rId34" Target="notesSlides/notesSlide4.xml" Type="http://schemas.openxmlformats.org/officeDocument/2006/relationships/notesSlide"/><Relationship Id="rId35" Target="notesSlides/notesSlide5.xml" Type="http://schemas.openxmlformats.org/officeDocument/2006/relationships/notesSlide"/><Relationship Id="rId36" Target="notesSlides/notesSlide6.xml" Type="http://schemas.openxmlformats.org/officeDocument/2006/relationships/notesSlide"/><Relationship Id="rId37" Target="notesSlides/notesSlide7.xml" Type="http://schemas.openxmlformats.org/officeDocument/2006/relationships/notesSlide"/><Relationship Id="rId38" Target="notesSlides/notesSlide8.xml" Type="http://schemas.openxmlformats.org/officeDocument/2006/relationships/notesSlide"/><Relationship Id="rId39" Target="notesSlides/notesSlide9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0.xml" Type="http://schemas.openxmlformats.org/officeDocument/2006/relationships/notesSlide"/><Relationship Id="rId41" Target="notesSlides/notesSlide11.xml" Type="http://schemas.openxmlformats.org/officeDocument/2006/relationships/notesSlide"/><Relationship Id="rId42" Target="notesSlides/notesSlide12.xml" Type="http://schemas.openxmlformats.org/officeDocument/2006/relationships/notesSlide"/><Relationship Id="rId43" Target="notesSlides/notesSlide13.xml" Type="http://schemas.openxmlformats.org/officeDocument/2006/relationships/notesSlide"/><Relationship Id="rId44" Target="notesSlides/notesSlide14.xml" Type="http://schemas.openxmlformats.org/officeDocument/2006/relationships/notesSlide"/><Relationship Id="rId45" Target="notesSlides/notesSlide15.xml" Type="http://schemas.openxmlformats.org/officeDocument/2006/relationships/notesSlide"/><Relationship Id="rId46" Target="notesSlides/notesSlide16.xml" Type="http://schemas.openxmlformats.org/officeDocument/2006/relationships/notesSlide"/><Relationship Id="rId47" Target="notesSlides/notesSlide17.xml" Type="http://schemas.openxmlformats.org/officeDocument/2006/relationships/notesSlide"/><Relationship Id="rId48" Target="notesSlides/notesSlide18.xml" Type="http://schemas.openxmlformats.org/officeDocument/2006/relationships/notesSlide"/><Relationship Id="rId49" Target="notesSlides/notesSlide19.xml" Type="http://schemas.openxmlformats.org/officeDocument/2006/relationships/notesSlide"/><Relationship Id="rId5" Target="tableStyles.xml" Type="http://schemas.openxmlformats.org/officeDocument/2006/relationships/tableStyles"/><Relationship Id="rId50" Target="notesSlides/notesSlide20.xml" Type="http://schemas.openxmlformats.org/officeDocument/2006/relationships/notesSlide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Kazanımın amacı: Öğrencilerin dosya ve klasörleri düzenli, güvenli ve doğru biçimde yönetebilmesidir. Sunum boyunca kavramlar, işlemler ve güvenlik adım adım ele alınır.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Öğrencilere dosyaların farklı bilgi türleri taşıdığını anlatın. Sınıftan her türe günlük yaşamdan bir örnek vermelerini isteyin.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Klasörlerin dosyaları konuya, derse veya projeye göre grupladığını açıklayın. Alt klasör kavramını örnek üzerinden gösterin.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Dosya ile klasörün farklı işlevleri olduğunu vurgulayın: dosya bilgi taşır, klasör ise bilgiyi düzenler.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Anlamlı adların aramayı ve sıralamayı kolaylaştırdığını anlatın. Öğrencilerden kötü örneği birlikte düzeltmelerini isteyin.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Dosya adının sonundaki uzantının türü gösterdiğini vurgulayın. Uzantıyı rastgele değiştirmenin dosyayı bozabileceğini belirtin.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Hiyerarşinin dosyaları bulmayı kolaylaştırdığını açıklayın. Ana klasör ve alt klasör ilişkisini ağaç benzetmesiyle pekiştirin.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İşlemi bilgisayarda uygulamalı gösterin. Yeniden adlandırmak için klasöre sağ tıklayıp ‘Yeniden adlandır’ seçeneğini de gösterin.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Kopyalamanın çoğalttığını, taşımanın yer değiştirdiğini örneklerle belirtin. Her işlemin ne zaman işe yarayacağını sorun.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Silme ve kurtarma işlemlerinin dikkat gerektirdiğini anlatın. Kalıcı silme ile normal silme arasındaki farkı yaş düzeyine uygun biçimde açıklayın.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ZIP dosyasının bir paket gibi çalıştığını basitçe açıklayın. Sıkıştırma ve ayıklama sözcüklerini örnekle tanıtın.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Düzenli dosyalamanın zaman kazandırdığını vurgulayın. Öğrencilerden kendi klasör düzenlerini haftalık kontrol etmelerini isteyin.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İnternetten gelen dosyalarda dikkatli olunmasını önerin. Şüpheli bir durumda öğrencilerin bir yetişkine danışması gerektiğini vurgulayın.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Öğrencileri uygulamalı öğrenmeye teşvik edin. Adımları sırayla tamamlatın ve her adımın sonunda kısa kontrol yapın.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Sıralama, eşleştirme, doğru-yanlış ve kısa cevap türlerini kullanın. Öğrencinin işlem mantığını açıklamasına da fırsat verin.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Cevapları yalnızca puanlamak için değil, yanlış anlamaları görmek ve geribildirim vermek için kullanın.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Öğrencilere kendini değerlendirme alışkanlığı kazandırın. İşaretlerin not değil, sonraki çalışma için yol gösterici olduğunu söyleyin.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Konuyu bu dört kural üzerinden özetleyin. Her kural için öğrencilerden bir örnek istemek pekiştirmeyi sağlar.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Sunum sonrası öğrencilerin sorularını alın. Bir işlemi yeniden görmek isteyen öğrencilere kısa uygulama fırsatı verin.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İlgilenen öğrencileri güvenilir okul kaynaklarına ve öğretmen gözetimindeki ek materyallere yönlendirin.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001250" y="0"/>
            <a:ext cx="8286750" cy="10287000"/>
          </a:xfrm>
          <a:custGeom>
            <a:avLst/>
            <a:gdLst/>
            <a:ahLst/>
            <a:cxnLst/>
            <a:rect r="r" b="b" t="t" l="l"/>
            <a:pathLst>
              <a:path h="10287000" w="8286750">
                <a:moveTo>
                  <a:pt x="0" y="0"/>
                </a:moveTo>
                <a:lnTo>
                  <a:pt x="8286750" y="0"/>
                </a:lnTo>
                <a:lnTo>
                  <a:pt x="82867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4" r="0" b="-34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209550" cy="10287000"/>
            <a:chOff x="0" y="0"/>
            <a:chExt cx="2794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4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79400">
                  <a:moveTo>
                    <a:pt x="0" y="0"/>
                  </a:moveTo>
                  <a:lnTo>
                    <a:pt x="279400" y="0"/>
                  </a:lnTo>
                  <a:lnTo>
                    <a:pt x="2794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C74F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4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14400" y="1885950"/>
            <a:ext cx="8572500" cy="1929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>
                <a:solidFill>
                  <a:srgbClr val="17324D"/>
                </a:solidFill>
                <a:latin typeface="Baloo"/>
                <a:ea typeface="Baloo"/>
                <a:cs typeface="Baloo"/>
                <a:sym typeface="Baloo"/>
              </a:rPr>
              <a:t>Dosya ve Klasörleri</a:t>
            </a:r>
          </a:p>
          <a:p>
            <a:pPr algn="l">
              <a:lnSpc>
                <a:spcPts val="5040"/>
              </a:lnSpc>
            </a:pPr>
            <a:r>
              <a:rPr lang="en-US" sz="4800">
                <a:solidFill>
                  <a:srgbClr val="17324D"/>
                </a:solidFill>
                <a:latin typeface="Baloo"/>
                <a:ea typeface="Baloo"/>
                <a:cs typeface="Baloo"/>
                <a:sym typeface="Baloo"/>
              </a:rPr>
              <a:t>Düzenli, Güvenli ve</a:t>
            </a:r>
          </a:p>
          <a:p>
            <a:pPr algn="l">
              <a:lnSpc>
                <a:spcPts val="5040"/>
              </a:lnSpc>
            </a:pPr>
            <a:r>
              <a:rPr lang="en-US" sz="4800">
                <a:solidFill>
                  <a:srgbClr val="17324D"/>
                </a:solidFill>
                <a:latin typeface="Baloo"/>
                <a:ea typeface="Baloo"/>
                <a:cs typeface="Baloo"/>
                <a:sym typeface="Baloo"/>
              </a:rPr>
              <a:t>Doğru Yönetme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" y="5162550"/>
            <a:ext cx="7715250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250">
                <a:solidFill>
                  <a:srgbClr val="61758A"/>
                </a:solidFill>
                <a:latin typeface="Nunito"/>
                <a:ea typeface="Nunito"/>
                <a:cs typeface="Nunito"/>
                <a:sym typeface="Nunito"/>
              </a:rPr>
              <a:t>Bilgisayardaki bilgilerimizi bulmayı, taşımayı ve korumayı öğreniyoruz.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14400" y="7200900"/>
            <a:ext cx="2857500" cy="609600"/>
            <a:chOff x="0" y="0"/>
            <a:chExt cx="3810000" cy="81280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3810000" cy="812800"/>
              <a:chOff x="0" y="0"/>
              <a:chExt cx="38100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38100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3810000">
                    <a:moveTo>
                      <a:pt x="0" y="0"/>
                    </a:moveTo>
                    <a:lnTo>
                      <a:pt x="3810000" y="0"/>
                    </a:lnTo>
                    <a:lnTo>
                      <a:pt x="38100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2F80E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3810000" cy="85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0" y="139700"/>
              <a:ext cx="381000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0"/>
                </a:lnSpc>
              </a:pPr>
              <a:r>
                <a:rPr lang="en-US" sz="2100" b="true">
                  <a:solidFill>
                    <a:srgbClr val="FFFFFF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BTY.5.1.6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742950"/>
            <a:ext cx="8572500" cy="65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>
                <a:solidFill>
                  <a:srgbClr val="17324D"/>
                </a:solidFill>
                <a:latin typeface="Baloo"/>
                <a:ea typeface="Baloo"/>
                <a:cs typeface="Baloo"/>
                <a:sym typeface="Baloo"/>
              </a:rPr>
              <a:t>Dosya nedir?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447800"/>
            <a:ext cx="1047750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250">
                <a:solidFill>
                  <a:srgbClr val="61758A"/>
                </a:solidFill>
                <a:latin typeface="Nunito"/>
                <a:ea typeface="Nunito"/>
                <a:cs typeface="Nunito"/>
                <a:sym typeface="Nunito"/>
              </a:rPr>
              <a:t>Dosya, bilgisayarda bilgi içeren bir öğedir.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47750" y="3048000"/>
            <a:ext cx="2762250" cy="4000500"/>
            <a:chOff x="0" y="0"/>
            <a:chExt cx="3683000" cy="53340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3683000" cy="5334000"/>
              <a:chOff x="0" y="0"/>
              <a:chExt cx="3683000" cy="5334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3683000" cy="5334000"/>
              </a:xfrm>
              <a:custGeom>
                <a:avLst/>
                <a:gdLst/>
                <a:ahLst/>
                <a:cxnLst/>
                <a:rect r="r" b="b" t="t" l="l"/>
                <a:pathLst>
                  <a:path h="5334000" w="3683000">
                    <a:moveTo>
                      <a:pt x="0" y="0"/>
                    </a:moveTo>
                    <a:lnTo>
                      <a:pt x="3683000" y="0"/>
                    </a:lnTo>
                    <a:lnTo>
                      <a:pt x="3683000" y="5334000"/>
                    </a:lnTo>
                    <a:lnTo>
                      <a:pt x="0" y="5334000"/>
                    </a:lnTo>
                    <a:close/>
                  </a:path>
                </a:pathLst>
              </a:custGeom>
              <a:solidFill>
                <a:srgbClr val="EEF7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3683000" cy="537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635000" y="571500"/>
              <a:ext cx="2413000" cy="2413000"/>
              <a:chOff x="0" y="0"/>
              <a:chExt cx="2413000" cy="24130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413000" cy="2413000"/>
              </a:xfrm>
              <a:custGeom>
                <a:avLst/>
                <a:gdLst/>
                <a:ahLst/>
                <a:cxnLst/>
                <a:rect r="r" b="b" t="t" l="l"/>
                <a:pathLst>
                  <a:path h="2413000" w="2413000">
                    <a:moveTo>
                      <a:pt x="120316" y="0"/>
                    </a:moveTo>
                    <a:lnTo>
                      <a:pt x="2292684" y="0"/>
                    </a:lnTo>
                    <a:cubicBezTo>
                      <a:pt x="2324594" y="0"/>
                      <a:pt x="2355197" y="12676"/>
                      <a:pt x="2377760" y="35240"/>
                    </a:cubicBezTo>
                    <a:cubicBezTo>
                      <a:pt x="2400324" y="57803"/>
                      <a:pt x="2413000" y="88406"/>
                      <a:pt x="2413000" y="120316"/>
                    </a:cubicBezTo>
                    <a:lnTo>
                      <a:pt x="2413000" y="2292684"/>
                    </a:lnTo>
                    <a:cubicBezTo>
                      <a:pt x="2413000" y="2324594"/>
                      <a:pt x="2400324" y="2355197"/>
                      <a:pt x="2377760" y="2377760"/>
                    </a:cubicBezTo>
                    <a:cubicBezTo>
                      <a:pt x="2355197" y="2400324"/>
                      <a:pt x="2324594" y="2413000"/>
                      <a:pt x="2292684" y="2413000"/>
                    </a:cubicBezTo>
                    <a:lnTo>
                      <a:pt x="120316" y="2413000"/>
                    </a:lnTo>
                    <a:cubicBezTo>
                      <a:pt x="88406" y="2413000"/>
                      <a:pt x="57803" y="2400324"/>
                      <a:pt x="35240" y="2377760"/>
                    </a:cubicBezTo>
                    <a:cubicBezTo>
                      <a:pt x="12676" y="2355197"/>
                      <a:pt x="0" y="2324594"/>
                      <a:pt x="0" y="2292684"/>
                    </a:cubicBezTo>
                    <a:lnTo>
                      <a:pt x="0" y="120316"/>
                    </a:lnTo>
                    <a:cubicBezTo>
                      <a:pt x="0" y="88406"/>
                      <a:pt x="12676" y="57803"/>
                      <a:pt x="35240" y="35240"/>
                    </a:cubicBezTo>
                    <a:cubicBezTo>
                      <a:pt x="57803" y="12676"/>
                      <a:pt x="88406" y="0"/>
                      <a:pt x="120316" y="0"/>
                    </a:cubicBezTo>
                    <a:close/>
                  </a:path>
                </a:pathLst>
              </a:custGeom>
              <a:solidFill>
                <a:srgbClr val="2F80E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19050"/>
                <a:ext cx="2413000" cy="23939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75"/>
                  </a:lnSpc>
                </a:pPr>
                <a:r>
                  <a:rPr lang="en-US" sz="2250" b="true">
                    <a:solidFill>
                      <a:srgbClr val="17324D"/>
                    </a:solidFill>
                    <a:latin typeface="Nunito Bold"/>
                    <a:ea typeface="Nunito Bold"/>
                    <a:cs typeface="Nunito Bold"/>
                    <a:sym typeface="Nunito Bold"/>
                  </a:rPr>
                  <a:t>YAZI</a:t>
                </a: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317500" y="3429000"/>
              <a:ext cx="3048000" cy="3714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56"/>
                </a:lnSpc>
              </a:pPr>
              <a:r>
                <a:rPr lang="en-US" sz="1875" b="true">
                  <a:solidFill>
                    <a:srgbClr val="17324D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Metin belgesi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381500" y="3048000"/>
            <a:ext cx="2762250" cy="4000500"/>
            <a:chOff x="0" y="0"/>
            <a:chExt cx="3683000" cy="533400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3683000" cy="5334000"/>
              <a:chOff x="0" y="0"/>
              <a:chExt cx="3683000" cy="53340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3683000" cy="5334000"/>
              </a:xfrm>
              <a:custGeom>
                <a:avLst/>
                <a:gdLst/>
                <a:ahLst/>
                <a:cxnLst/>
                <a:rect r="r" b="b" t="t" l="l"/>
                <a:pathLst>
                  <a:path h="5334000" w="3683000">
                    <a:moveTo>
                      <a:pt x="0" y="0"/>
                    </a:moveTo>
                    <a:lnTo>
                      <a:pt x="3683000" y="0"/>
                    </a:lnTo>
                    <a:lnTo>
                      <a:pt x="3683000" y="5334000"/>
                    </a:lnTo>
                    <a:lnTo>
                      <a:pt x="0" y="5334000"/>
                    </a:lnTo>
                    <a:close/>
                  </a:path>
                </a:pathLst>
              </a:custGeom>
              <a:solidFill>
                <a:srgbClr val="FFF8D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3683000" cy="537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635000" y="571500"/>
              <a:ext cx="2413000" cy="2413000"/>
              <a:chOff x="0" y="0"/>
              <a:chExt cx="2413000" cy="24130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2413000" cy="2413000"/>
              </a:xfrm>
              <a:custGeom>
                <a:avLst/>
                <a:gdLst/>
                <a:ahLst/>
                <a:cxnLst/>
                <a:rect r="r" b="b" t="t" l="l"/>
                <a:pathLst>
                  <a:path h="2413000" w="2413000">
                    <a:moveTo>
                      <a:pt x="120316" y="0"/>
                    </a:moveTo>
                    <a:lnTo>
                      <a:pt x="2292684" y="0"/>
                    </a:lnTo>
                    <a:cubicBezTo>
                      <a:pt x="2324594" y="0"/>
                      <a:pt x="2355197" y="12676"/>
                      <a:pt x="2377760" y="35240"/>
                    </a:cubicBezTo>
                    <a:cubicBezTo>
                      <a:pt x="2400324" y="57803"/>
                      <a:pt x="2413000" y="88406"/>
                      <a:pt x="2413000" y="120316"/>
                    </a:cubicBezTo>
                    <a:lnTo>
                      <a:pt x="2413000" y="2292684"/>
                    </a:lnTo>
                    <a:cubicBezTo>
                      <a:pt x="2413000" y="2324594"/>
                      <a:pt x="2400324" y="2355197"/>
                      <a:pt x="2377760" y="2377760"/>
                    </a:cubicBezTo>
                    <a:cubicBezTo>
                      <a:pt x="2355197" y="2400324"/>
                      <a:pt x="2324594" y="2413000"/>
                      <a:pt x="2292684" y="2413000"/>
                    </a:cubicBezTo>
                    <a:lnTo>
                      <a:pt x="120316" y="2413000"/>
                    </a:lnTo>
                    <a:cubicBezTo>
                      <a:pt x="88406" y="2413000"/>
                      <a:pt x="57803" y="2400324"/>
                      <a:pt x="35240" y="2377760"/>
                    </a:cubicBezTo>
                    <a:cubicBezTo>
                      <a:pt x="12676" y="2355197"/>
                      <a:pt x="0" y="2324594"/>
                      <a:pt x="0" y="2292684"/>
                    </a:cubicBezTo>
                    <a:lnTo>
                      <a:pt x="0" y="120316"/>
                    </a:lnTo>
                    <a:cubicBezTo>
                      <a:pt x="0" y="88406"/>
                      <a:pt x="12676" y="57803"/>
                      <a:pt x="35240" y="35240"/>
                    </a:cubicBezTo>
                    <a:cubicBezTo>
                      <a:pt x="57803" y="12676"/>
                      <a:pt x="88406" y="0"/>
                      <a:pt x="120316" y="0"/>
                    </a:cubicBezTo>
                    <a:close/>
                  </a:path>
                </a:pathLst>
              </a:custGeom>
              <a:solidFill>
                <a:srgbClr val="F9C74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19050"/>
                <a:ext cx="2413000" cy="23939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75"/>
                  </a:lnSpc>
                </a:pPr>
                <a:r>
                  <a:rPr lang="en-US" sz="2250" b="true">
                    <a:solidFill>
                      <a:srgbClr val="17324D"/>
                    </a:solidFill>
                    <a:latin typeface="Nunito Bold"/>
                    <a:ea typeface="Nunito Bold"/>
                    <a:cs typeface="Nunito Bold"/>
                    <a:sym typeface="Nunito Bold"/>
                  </a:rPr>
                  <a:t>FOTO</a:t>
                </a: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317500" y="3429000"/>
              <a:ext cx="3048000" cy="3714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56"/>
                </a:lnSpc>
              </a:pPr>
              <a:r>
                <a:rPr lang="en-US" sz="1875" b="true">
                  <a:solidFill>
                    <a:srgbClr val="17324D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Fotoğraf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715250" y="3048000"/>
            <a:ext cx="2762250" cy="4000500"/>
            <a:chOff x="0" y="0"/>
            <a:chExt cx="3683000" cy="5334000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3683000" cy="5334000"/>
              <a:chOff x="0" y="0"/>
              <a:chExt cx="3683000" cy="53340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3683000" cy="5334000"/>
              </a:xfrm>
              <a:custGeom>
                <a:avLst/>
                <a:gdLst/>
                <a:ahLst/>
                <a:cxnLst/>
                <a:rect r="r" b="b" t="t" l="l"/>
                <a:pathLst>
                  <a:path h="5334000" w="3683000">
                    <a:moveTo>
                      <a:pt x="0" y="0"/>
                    </a:moveTo>
                    <a:lnTo>
                      <a:pt x="3683000" y="0"/>
                    </a:lnTo>
                    <a:lnTo>
                      <a:pt x="3683000" y="5334000"/>
                    </a:lnTo>
                    <a:lnTo>
                      <a:pt x="0" y="5334000"/>
                    </a:lnTo>
                    <a:close/>
                  </a:path>
                </a:pathLst>
              </a:custGeom>
              <a:solidFill>
                <a:srgbClr val="EEF7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3683000" cy="537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635000" y="571500"/>
              <a:ext cx="2413000" cy="2413000"/>
              <a:chOff x="0" y="0"/>
              <a:chExt cx="2413000" cy="24130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2413000" cy="2413000"/>
              </a:xfrm>
              <a:custGeom>
                <a:avLst/>
                <a:gdLst/>
                <a:ahLst/>
                <a:cxnLst/>
                <a:rect r="r" b="b" t="t" l="l"/>
                <a:pathLst>
                  <a:path h="2413000" w="2413000">
                    <a:moveTo>
                      <a:pt x="120316" y="0"/>
                    </a:moveTo>
                    <a:lnTo>
                      <a:pt x="2292684" y="0"/>
                    </a:lnTo>
                    <a:cubicBezTo>
                      <a:pt x="2324594" y="0"/>
                      <a:pt x="2355197" y="12676"/>
                      <a:pt x="2377760" y="35240"/>
                    </a:cubicBezTo>
                    <a:cubicBezTo>
                      <a:pt x="2400324" y="57803"/>
                      <a:pt x="2413000" y="88406"/>
                      <a:pt x="2413000" y="120316"/>
                    </a:cubicBezTo>
                    <a:lnTo>
                      <a:pt x="2413000" y="2292684"/>
                    </a:lnTo>
                    <a:cubicBezTo>
                      <a:pt x="2413000" y="2324594"/>
                      <a:pt x="2400324" y="2355197"/>
                      <a:pt x="2377760" y="2377760"/>
                    </a:cubicBezTo>
                    <a:cubicBezTo>
                      <a:pt x="2355197" y="2400324"/>
                      <a:pt x="2324594" y="2413000"/>
                      <a:pt x="2292684" y="2413000"/>
                    </a:cubicBezTo>
                    <a:lnTo>
                      <a:pt x="120316" y="2413000"/>
                    </a:lnTo>
                    <a:cubicBezTo>
                      <a:pt x="88406" y="2413000"/>
                      <a:pt x="57803" y="2400324"/>
                      <a:pt x="35240" y="2377760"/>
                    </a:cubicBezTo>
                    <a:cubicBezTo>
                      <a:pt x="12676" y="2355197"/>
                      <a:pt x="0" y="2324594"/>
                      <a:pt x="0" y="2292684"/>
                    </a:cubicBezTo>
                    <a:lnTo>
                      <a:pt x="0" y="120316"/>
                    </a:lnTo>
                    <a:cubicBezTo>
                      <a:pt x="0" y="88406"/>
                      <a:pt x="12676" y="57803"/>
                      <a:pt x="35240" y="35240"/>
                    </a:cubicBezTo>
                    <a:cubicBezTo>
                      <a:pt x="57803" y="12676"/>
                      <a:pt x="88406" y="0"/>
                      <a:pt x="120316" y="0"/>
                    </a:cubicBezTo>
                    <a:close/>
                  </a:path>
                </a:pathLst>
              </a:custGeom>
              <a:solidFill>
                <a:srgbClr val="EF476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19050"/>
                <a:ext cx="2413000" cy="23939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75"/>
                  </a:lnSpc>
                </a:pPr>
                <a:r>
                  <a:rPr lang="en-US" sz="2250" b="true">
                    <a:solidFill>
                      <a:srgbClr val="17324D"/>
                    </a:solidFill>
                    <a:latin typeface="Nunito Bold"/>
                    <a:ea typeface="Nunito Bold"/>
                    <a:cs typeface="Nunito Bold"/>
                    <a:sym typeface="Nunito Bold"/>
                  </a:rPr>
                  <a:t>VİDEO</a:t>
                </a: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317500" y="3429000"/>
              <a:ext cx="3048000" cy="3714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56"/>
                </a:lnSpc>
              </a:pPr>
              <a:r>
                <a:rPr lang="en-US" sz="1875" b="true">
                  <a:solidFill>
                    <a:srgbClr val="17324D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Video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049000" y="3048000"/>
            <a:ext cx="2762250" cy="4000500"/>
            <a:chOff x="0" y="0"/>
            <a:chExt cx="3683000" cy="5334000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3683000" cy="5334000"/>
              <a:chOff x="0" y="0"/>
              <a:chExt cx="3683000" cy="53340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3683000" cy="5334000"/>
              </a:xfrm>
              <a:custGeom>
                <a:avLst/>
                <a:gdLst/>
                <a:ahLst/>
                <a:cxnLst/>
                <a:rect r="r" b="b" t="t" l="l"/>
                <a:pathLst>
                  <a:path h="5334000" w="3683000">
                    <a:moveTo>
                      <a:pt x="0" y="0"/>
                    </a:moveTo>
                    <a:lnTo>
                      <a:pt x="3683000" y="0"/>
                    </a:lnTo>
                    <a:lnTo>
                      <a:pt x="3683000" y="5334000"/>
                    </a:lnTo>
                    <a:lnTo>
                      <a:pt x="0" y="5334000"/>
                    </a:lnTo>
                    <a:close/>
                  </a:path>
                </a:pathLst>
              </a:custGeom>
              <a:solidFill>
                <a:srgbClr val="FFF8D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38100"/>
                <a:ext cx="3683000" cy="537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635000" y="571500"/>
              <a:ext cx="2413000" cy="2413000"/>
              <a:chOff x="0" y="0"/>
              <a:chExt cx="2413000" cy="24130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2413000" cy="2413000"/>
              </a:xfrm>
              <a:custGeom>
                <a:avLst/>
                <a:gdLst/>
                <a:ahLst/>
                <a:cxnLst/>
                <a:rect r="r" b="b" t="t" l="l"/>
                <a:pathLst>
                  <a:path h="2413000" w="2413000">
                    <a:moveTo>
                      <a:pt x="120316" y="0"/>
                    </a:moveTo>
                    <a:lnTo>
                      <a:pt x="2292684" y="0"/>
                    </a:lnTo>
                    <a:cubicBezTo>
                      <a:pt x="2324594" y="0"/>
                      <a:pt x="2355197" y="12676"/>
                      <a:pt x="2377760" y="35240"/>
                    </a:cubicBezTo>
                    <a:cubicBezTo>
                      <a:pt x="2400324" y="57803"/>
                      <a:pt x="2413000" y="88406"/>
                      <a:pt x="2413000" y="120316"/>
                    </a:cubicBezTo>
                    <a:lnTo>
                      <a:pt x="2413000" y="2292684"/>
                    </a:lnTo>
                    <a:cubicBezTo>
                      <a:pt x="2413000" y="2324594"/>
                      <a:pt x="2400324" y="2355197"/>
                      <a:pt x="2377760" y="2377760"/>
                    </a:cubicBezTo>
                    <a:cubicBezTo>
                      <a:pt x="2355197" y="2400324"/>
                      <a:pt x="2324594" y="2413000"/>
                      <a:pt x="2292684" y="2413000"/>
                    </a:cubicBezTo>
                    <a:lnTo>
                      <a:pt x="120316" y="2413000"/>
                    </a:lnTo>
                    <a:cubicBezTo>
                      <a:pt x="88406" y="2413000"/>
                      <a:pt x="57803" y="2400324"/>
                      <a:pt x="35240" y="2377760"/>
                    </a:cubicBezTo>
                    <a:cubicBezTo>
                      <a:pt x="12676" y="2355197"/>
                      <a:pt x="0" y="2324594"/>
                      <a:pt x="0" y="2292684"/>
                    </a:cubicBezTo>
                    <a:lnTo>
                      <a:pt x="0" y="120316"/>
                    </a:lnTo>
                    <a:cubicBezTo>
                      <a:pt x="0" y="88406"/>
                      <a:pt x="12676" y="57803"/>
                      <a:pt x="35240" y="35240"/>
                    </a:cubicBezTo>
                    <a:cubicBezTo>
                      <a:pt x="57803" y="12676"/>
                      <a:pt x="88406" y="0"/>
                      <a:pt x="120316" y="0"/>
                    </a:cubicBezTo>
                    <a:close/>
                  </a:path>
                </a:pathLst>
              </a:custGeom>
              <a:solidFill>
                <a:srgbClr val="43AA8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19050"/>
                <a:ext cx="2413000" cy="23939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75"/>
                  </a:lnSpc>
                </a:pPr>
                <a:r>
                  <a:rPr lang="en-US" sz="2250" b="true">
                    <a:solidFill>
                      <a:srgbClr val="17324D"/>
                    </a:solidFill>
                    <a:latin typeface="Nunito Bold"/>
                    <a:ea typeface="Nunito Bold"/>
                    <a:cs typeface="Nunito Bold"/>
                    <a:sym typeface="Nunito Bold"/>
                  </a:rPr>
                  <a:t>SUNU</a:t>
                </a:r>
              </a:p>
            </p:txBody>
          </p:sp>
        </p:grpSp>
        <p:sp>
          <p:nvSpPr>
            <p:cNvPr name="TextBox 35" id="35"/>
            <p:cNvSpPr txBox="true"/>
            <p:nvPr/>
          </p:nvSpPr>
          <p:spPr>
            <a:xfrm rot="0">
              <a:off x="317500" y="3429000"/>
              <a:ext cx="3048000" cy="3714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56"/>
                </a:lnSpc>
              </a:pPr>
              <a:r>
                <a:rPr lang="en-US" sz="1875" b="true">
                  <a:solidFill>
                    <a:srgbClr val="17324D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Sunum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4382750" y="3048000"/>
            <a:ext cx="2762250" cy="4000500"/>
            <a:chOff x="0" y="0"/>
            <a:chExt cx="3683000" cy="5334000"/>
          </a:xfrm>
        </p:grpSpPr>
        <p:grpSp>
          <p:nvGrpSpPr>
            <p:cNvPr name="Group 37" id="37"/>
            <p:cNvGrpSpPr/>
            <p:nvPr/>
          </p:nvGrpSpPr>
          <p:grpSpPr>
            <a:xfrm rot="0">
              <a:off x="0" y="0"/>
              <a:ext cx="3683000" cy="5334000"/>
              <a:chOff x="0" y="0"/>
              <a:chExt cx="3683000" cy="533400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3683000" cy="5334000"/>
              </a:xfrm>
              <a:custGeom>
                <a:avLst/>
                <a:gdLst/>
                <a:ahLst/>
                <a:cxnLst/>
                <a:rect r="r" b="b" t="t" l="l"/>
                <a:pathLst>
                  <a:path h="5334000" w="3683000">
                    <a:moveTo>
                      <a:pt x="0" y="0"/>
                    </a:moveTo>
                    <a:lnTo>
                      <a:pt x="3683000" y="0"/>
                    </a:lnTo>
                    <a:lnTo>
                      <a:pt x="3683000" y="5334000"/>
                    </a:lnTo>
                    <a:lnTo>
                      <a:pt x="0" y="5334000"/>
                    </a:lnTo>
                    <a:close/>
                  </a:path>
                </a:pathLst>
              </a:custGeom>
              <a:solidFill>
                <a:srgbClr val="EEF7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38100"/>
                <a:ext cx="3683000" cy="537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635000" y="571500"/>
              <a:ext cx="2413000" cy="2413000"/>
              <a:chOff x="0" y="0"/>
              <a:chExt cx="2413000" cy="2413000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2413000" cy="2413000"/>
              </a:xfrm>
              <a:custGeom>
                <a:avLst/>
                <a:gdLst/>
                <a:ahLst/>
                <a:cxnLst/>
                <a:rect r="r" b="b" t="t" l="l"/>
                <a:pathLst>
                  <a:path h="2413000" w="2413000">
                    <a:moveTo>
                      <a:pt x="120316" y="0"/>
                    </a:moveTo>
                    <a:lnTo>
                      <a:pt x="2292684" y="0"/>
                    </a:lnTo>
                    <a:cubicBezTo>
                      <a:pt x="2324594" y="0"/>
                      <a:pt x="2355197" y="12676"/>
                      <a:pt x="2377760" y="35240"/>
                    </a:cubicBezTo>
                    <a:cubicBezTo>
                      <a:pt x="2400324" y="57803"/>
                      <a:pt x="2413000" y="88406"/>
                      <a:pt x="2413000" y="120316"/>
                    </a:cubicBezTo>
                    <a:lnTo>
                      <a:pt x="2413000" y="2292684"/>
                    </a:lnTo>
                    <a:cubicBezTo>
                      <a:pt x="2413000" y="2324594"/>
                      <a:pt x="2400324" y="2355197"/>
                      <a:pt x="2377760" y="2377760"/>
                    </a:cubicBezTo>
                    <a:cubicBezTo>
                      <a:pt x="2355197" y="2400324"/>
                      <a:pt x="2324594" y="2413000"/>
                      <a:pt x="2292684" y="2413000"/>
                    </a:cubicBezTo>
                    <a:lnTo>
                      <a:pt x="120316" y="2413000"/>
                    </a:lnTo>
                    <a:cubicBezTo>
                      <a:pt x="88406" y="2413000"/>
                      <a:pt x="57803" y="2400324"/>
                      <a:pt x="35240" y="2377760"/>
                    </a:cubicBezTo>
                    <a:cubicBezTo>
                      <a:pt x="12676" y="2355197"/>
                      <a:pt x="0" y="2324594"/>
                      <a:pt x="0" y="2292684"/>
                    </a:cubicBezTo>
                    <a:lnTo>
                      <a:pt x="0" y="120316"/>
                    </a:lnTo>
                    <a:cubicBezTo>
                      <a:pt x="0" y="88406"/>
                      <a:pt x="12676" y="57803"/>
                      <a:pt x="35240" y="35240"/>
                    </a:cubicBezTo>
                    <a:cubicBezTo>
                      <a:pt x="57803" y="12676"/>
                      <a:pt x="88406" y="0"/>
                      <a:pt x="120316" y="0"/>
                    </a:cubicBezTo>
                    <a:close/>
                  </a:path>
                </a:pathLst>
              </a:custGeom>
              <a:solidFill>
                <a:srgbClr val="56CCF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19050"/>
                <a:ext cx="2413000" cy="23939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75"/>
                  </a:lnSpc>
                </a:pPr>
                <a:r>
                  <a:rPr lang="en-US" sz="2250" b="true">
                    <a:solidFill>
                      <a:srgbClr val="17324D"/>
                    </a:solidFill>
                    <a:latin typeface="Nunito Bold"/>
                    <a:ea typeface="Nunito Bold"/>
                    <a:cs typeface="Nunito Bold"/>
                    <a:sym typeface="Nunito Bold"/>
                  </a:rPr>
                  <a:t>SES</a:t>
                </a:r>
              </a:p>
            </p:txBody>
          </p:sp>
        </p:grpSp>
        <p:sp>
          <p:nvSpPr>
            <p:cNvPr name="TextBox 43" id="43"/>
            <p:cNvSpPr txBox="true"/>
            <p:nvPr/>
          </p:nvSpPr>
          <p:spPr>
            <a:xfrm rot="0">
              <a:off x="317500" y="3429000"/>
              <a:ext cx="3048000" cy="3714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56"/>
                </a:lnSpc>
              </a:pPr>
              <a:r>
                <a:rPr lang="en-US" sz="1875" b="true">
                  <a:solidFill>
                    <a:srgbClr val="17324D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Ses kaydı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19250" y="2333625"/>
            <a:ext cx="6286500" cy="4953000"/>
            <a:chOff x="0" y="0"/>
            <a:chExt cx="8382000" cy="66040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508000" y="0"/>
              <a:ext cx="3302000" cy="1143000"/>
              <a:chOff x="0" y="0"/>
              <a:chExt cx="3302000" cy="11430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302000" cy="1143000"/>
              </a:xfrm>
              <a:custGeom>
                <a:avLst/>
                <a:gdLst/>
                <a:ahLst/>
                <a:cxnLst/>
                <a:rect r="r" b="b" t="t" l="l"/>
                <a:pathLst>
                  <a:path h="1143000" w="3302000">
                    <a:moveTo>
                      <a:pt x="0" y="0"/>
                    </a:moveTo>
                    <a:lnTo>
                      <a:pt x="3302000" y="0"/>
                    </a:lnTo>
                    <a:lnTo>
                      <a:pt x="3302000" y="1143000"/>
                    </a:lnTo>
                    <a:lnTo>
                      <a:pt x="0" y="1143000"/>
                    </a:lnTo>
                    <a:close/>
                  </a:path>
                </a:pathLst>
              </a:custGeom>
              <a:solidFill>
                <a:srgbClr val="F9C74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3302000" cy="118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508000"/>
              <a:ext cx="8382000" cy="6096000"/>
              <a:chOff x="0" y="0"/>
              <a:chExt cx="8382000" cy="60960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382000" cy="6096000"/>
              </a:xfrm>
              <a:custGeom>
                <a:avLst/>
                <a:gdLst/>
                <a:ahLst/>
                <a:cxnLst/>
                <a:rect r="r" b="b" t="t" l="l"/>
                <a:pathLst>
                  <a:path h="6096000" w="8382000">
                    <a:moveTo>
                      <a:pt x="0" y="0"/>
                    </a:moveTo>
                    <a:lnTo>
                      <a:pt x="8382000" y="0"/>
                    </a:lnTo>
                    <a:lnTo>
                      <a:pt x="8382000" y="6096000"/>
                    </a:lnTo>
                    <a:lnTo>
                      <a:pt x="0" y="6096000"/>
                    </a:lnTo>
                    <a:close/>
                  </a:path>
                </a:pathLst>
              </a:custGeom>
              <a:solidFill>
                <a:srgbClr val="F9C74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8382000" cy="613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1206500" y="1085850"/>
              <a:ext cx="5969000" cy="6870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09"/>
                </a:lnSpc>
              </a:pPr>
              <a:r>
                <a:rPr lang="en-US" sz="3150">
                  <a:solidFill>
                    <a:srgbClr val="17324D"/>
                  </a:solidFill>
                  <a:latin typeface="Baloo"/>
                  <a:ea typeface="Baloo"/>
                  <a:cs typeface="Baloo"/>
                  <a:sym typeface="Baloo"/>
                </a:rPr>
                <a:t>BİLİŞİM</a:t>
              </a:r>
            </a:p>
          </p:txBody>
        </p:sp>
        <p:grpSp>
          <p:nvGrpSpPr>
            <p:cNvPr name="Group 10" id="10"/>
            <p:cNvGrpSpPr/>
            <p:nvPr/>
          </p:nvGrpSpPr>
          <p:grpSpPr>
            <a:xfrm rot="0">
              <a:off x="952500" y="2857500"/>
              <a:ext cx="2413000" cy="2413000"/>
              <a:chOff x="0" y="0"/>
              <a:chExt cx="2413000" cy="2413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413000" cy="2413000"/>
              </a:xfrm>
              <a:custGeom>
                <a:avLst/>
                <a:gdLst/>
                <a:ahLst/>
                <a:cxnLst/>
                <a:rect r="r" b="b" t="t" l="l"/>
                <a:pathLst>
                  <a:path h="2413000" w="2413000">
                    <a:moveTo>
                      <a:pt x="120316" y="0"/>
                    </a:moveTo>
                    <a:lnTo>
                      <a:pt x="2292684" y="0"/>
                    </a:lnTo>
                    <a:cubicBezTo>
                      <a:pt x="2324594" y="0"/>
                      <a:pt x="2355197" y="12676"/>
                      <a:pt x="2377760" y="35240"/>
                    </a:cubicBezTo>
                    <a:cubicBezTo>
                      <a:pt x="2400324" y="57803"/>
                      <a:pt x="2413000" y="88406"/>
                      <a:pt x="2413000" y="120316"/>
                    </a:cubicBezTo>
                    <a:lnTo>
                      <a:pt x="2413000" y="2292684"/>
                    </a:lnTo>
                    <a:cubicBezTo>
                      <a:pt x="2413000" y="2324594"/>
                      <a:pt x="2400324" y="2355197"/>
                      <a:pt x="2377760" y="2377760"/>
                    </a:cubicBezTo>
                    <a:cubicBezTo>
                      <a:pt x="2355197" y="2400324"/>
                      <a:pt x="2324594" y="2413000"/>
                      <a:pt x="2292684" y="2413000"/>
                    </a:cubicBezTo>
                    <a:lnTo>
                      <a:pt x="120316" y="2413000"/>
                    </a:lnTo>
                    <a:cubicBezTo>
                      <a:pt x="88406" y="2413000"/>
                      <a:pt x="57803" y="2400324"/>
                      <a:pt x="35240" y="2377760"/>
                    </a:cubicBezTo>
                    <a:cubicBezTo>
                      <a:pt x="12676" y="2355197"/>
                      <a:pt x="0" y="2324594"/>
                      <a:pt x="0" y="2292684"/>
                    </a:cubicBezTo>
                    <a:lnTo>
                      <a:pt x="0" y="120316"/>
                    </a:lnTo>
                    <a:cubicBezTo>
                      <a:pt x="0" y="88406"/>
                      <a:pt x="12676" y="57803"/>
                      <a:pt x="35240" y="35240"/>
                    </a:cubicBezTo>
                    <a:cubicBezTo>
                      <a:pt x="57803" y="12676"/>
                      <a:pt x="88406" y="0"/>
                      <a:pt x="1203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19050"/>
                <a:ext cx="2413000" cy="23939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75"/>
                  </a:lnSpc>
                </a:pPr>
                <a:r>
                  <a:rPr lang="en-US" sz="2250" b="true">
                    <a:solidFill>
                      <a:srgbClr val="17324D"/>
                    </a:solidFill>
                    <a:latin typeface="Nunito Bold"/>
                    <a:ea typeface="Nunito Bold"/>
                    <a:cs typeface="Nunito Bold"/>
                    <a:sym typeface="Nunito Bold"/>
                  </a:rPr>
                  <a:t>ÖDEV</a:t>
                </a: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4381500" y="2857500"/>
              <a:ext cx="2413000" cy="2413000"/>
              <a:chOff x="0" y="0"/>
              <a:chExt cx="2413000" cy="24130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413000" cy="2413000"/>
              </a:xfrm>
              <a:custGeom>
                <a:avLst/>
                <a:gdLst/>
                <a:ahLst/>
                <a:cxnLst/>
                <a:rect r="r" b="b" t="t" l="l"/>
                <a:pathLst>
                  <a:path h="2413000" w="2413000">
                    <a:moveTo>
                      <a:pt x="120316" y="0"/>
                    </a:moveTo>
                    <a:lnTo>
                      <a:pt x="2292684" y="0"/>
                    </a:lnTo>
                    <a:cubicBezTo>
                      <a:pt x="2324594" y="0"/>
                      <a:pt x="2355197" y="12676"/>
                      <a:pt x="2377760" y="35240"/>
                    </a:cubicBezTo>
                    <a:cubicBezTo>
                      <a:pt x="2400324" y="57803"/>
                      <a:pt x="2413000" y="88406"/>
                      <a:pt x="2413000" y="120316"/>
                    </a:cubicBezTo>
                    <a:lnTo>
                      <a:pt x="2413000" y="2292684"/>
                    </a:lnTo>
                    <a:cubicBezTo>
                      <a:pt x="2413000" y="2324594"/>
                      <a:pt x="2400324" y="2355197"/>
                      <a:pt x="2377760" y="2377760"/>
                    </a:cubicBezTo>
                    <a:cubicBezTo>
                      <a:pt x="2355197" y="2400324"/>
                      <a:pt x="2324594" y="2413000"/>
                      <a:pt x="2292684" y="2413000"/>
                    </a:cubicBezTo>
                    <a:lnTo>
                      <a:pt x="120316" y="2413000"/>
                    </a:lnTo>
                    <a:cubicBezTo>
                      <a:pt x="88406" y="2413000"/>
                      <a:pt x="57803" y="2400324"/>
                      <a:pt x="35240" y="2377760"/>
                    </a:cubicBezTo>
                    <a:cubicBezTo>
                      <a:pt x="12676" y="2355197"/>
                      <a:pt x="0" y="2324594"/>
                      <a:pt x="0" y="2292684"/>
                    </a:cubicBezTo>
                    <a:lnTo>
                      <a:pt x="0" y="120316"/>
                    </a:lnTo>
                    <a:cubicBezTo>
                      <a:pt x="0" y="88406"/>
                      <a:pt x="12676" y="57803"/>
                      <a:pt x="35240" y="35240"/>
                    </a:cubicBezTo>
                    <a:cubicBezTo>
                      <a:pt x="57803" y="12676"/>
                      <a:pt x="88406" y="0"/>
                      <a:pt x="1203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19050"/>
                <a:ext cx="2413000" cy="23939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75"/>
                  </a:lnSpc>
                </a:pPr>
                <a:r>
                  <a:rPr lang="en-US" sz="2250" b="true">
                    <a:solidFill>
                      <a:srgbClr val="17324D"/>
                    </a:solidFill>
                    <a:latin typeface="Nunito Bold"/>
                    <a:ea typeface="Nunito Bold"/>
                    <a:cs typeface="Nunito Bold"/>
                    <a:sym typeface="Nunito Bold"/>
                  </a:rPr>
                  <a:t>RESİM</a:t>
                </a:r>
              </a:p>
            </p:txBody>
          </p:sp>
        </p:grpSp>
      </p:grpSp>
      <p:sp>
        <p:nvSpPr>
          <p:cNvPr name="AutoShape 16" id="16"/>
          <p:cNvSpPr/>
          <p:nvPr/>
        </p:nvSpPr>
        <p:spPr>
          <a:xfrm flipV="true">
            <a:off x="8096250" y="4000500"/>
            <a:ext cx="1905000" cy="952500"/>
          </a:xfrm>
          <a:prstGeom prst="line">
            <a:avLst/>
          </a:prstGeom>
          <a:ln cap="rnd" w="66675">
            <a:solidFill>
              <a:srgbClr val="2F80ED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7" id="17"/>
          <p:cNvGrpSpPr/>
          <p:nvPr/>
        </p:nvGrpSpPr>
        <p:grpSpPr>
          <a:xfrm rot="0">
            <a:off x="10096500" y="2952750"/>
            <a:ext cx="4762500" cy="1714500"/>
            <a:chOff x="0" y="0"/>
            <a:chExt cx="6350000" cy="2286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350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6350000">
                  <a:moveTo>
                    <a:pt x="45720" y="0"/>
                  </a:moveTo>
                  <a:lnTo>
                    <a:pt x="6304280" y="0"/>
                  </a:lnTo>
                  <a:cubicBezTo>
                    <a:pt x="6316406" y="0"/>
                    <a:pt x="6328035" y="4817"/>
                    <a:pt x="6336609" y="13391"/>
                  </a:cubicBezTo>
                  <a:cubicBezTo>
                    <a:pt x="6345183" y="21965"/>
                    <a:pt x="6350000" y="33594"/>
                    <a:pt x="6350000" y="45720"/>
                  </a:cubicBezTo>
                  <a:lnTo>
                    <a:pt x="6350000" y="2240280"/>
                  </a:lnTo>
                  <a:cubicBezTo>
                    <a:pt x="6350000" y="2265531"/>
                    <a:pt x="6329530" y="2286000"/>
                    <a:pt x="6304280" y="2286000"/>
                  </a:cubicBezTo>
                  <a:lnTo>
                    <a:pt x="45720" y="2286000"/>
                  </a:lnTo>
                  <a:cubicBezTo>
                    <a:pt x="20470" y="2286000"/>
                    <a:pt x="0" y="2265531"/>
                    <a:pt x="0" y="2240280"/>
                  </a:cubicBezTo>
                  <a:lnTo>
                    <a:pt x="0" y="45720"/>
                  </a:lnTo>
                  <a:cubicBezTo>
                    <a:pt x="0" y="20470"/>
                    <a:pt x="20470" y="0"/>
                    <a:pt x="45720" y="0"/>
                  </a:cubicBezTo>
                  <a:close/>
                </a:path>
              </a:pathLst>
            </a:custGeom>
            <a:solidFill>
              <a:srgbClr val="DFF6E8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28575"/>
              <a:ext cx="6350000" cy="2257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  <a:r>
                <a:rPr lang="en-US" sz="2400" b="true">
                  <a:solidFill>
                    <a:srgbClr val="17324D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Alt klasör</a:t>
              </a:r>
            </a:p>
            <a:p>
              <a:pPr algn="ctr">
                <a:lnSpc>
                  <a:spcPts val="2640"/>
                </a:lnSpc>
              </a:pPr>
              <a:r>
                <a:rPr lang="en-US" sz="2400" b="true">
                  <a:solidFill>
                    <a:srgbClr val="17324D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Projeler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914400" y="742950"/>
            <a:ext cx="8572500" cy="65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>
                <a:solidFill>
                  <a:srgbClr val="17324D"/>
                </a:solidFill>
                <a:latin typeface="Baloo"/>
                <a:ea typeface="Baloo"/>
                <a:cs typeface="Baloo"/>
                <a:sym typeface="Baloo"/>
              </a:rPr>
              <a:t>Klasör nedir?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14400" y="1581150"/>
            <a:ext cx="7620000" cy="739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2175">
                <a:solidFill>
                  <a:srgbClr val="17324D"/>
                </a:solidFill>
                <a:latin typeface="Nunito"/>
                <a:ea typeface="Nunito"/>
                <a:cs typeface="Nunito"/>
                <a:sym typeface="Nunito"/>
              </a:rPr>
              <a:t>Klasörler, dosyaları ve alt klasörleri bir arada tutarak düzen sağlar.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429750" y="7858125"/>
            <a:ext cx="6858000" cy="973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3600">
                <a:solidFill>
                  <a:srgbClr val="17324D"/>
                </a:solidFill>
                <a:latin typeface="Baloo"/>
                <a:ea typeface="Baloo"/>
                <a:cs typeface="Baloo"/>
                <a:sym typeface="Baloo"/>
              </a:rPr>
              <a:t>Bir okul çantası gibi düşün: Her şeyin yeri bellidir!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EA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28750" y="2238375"/>
            <a:ext cx="6667500" cy="6191250"/>
            <a:chOff x="0" y="0"/>
            <a:chExt cx="8890000" cy="82550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8890000" cy="8255000"/>
              <a:chOff x="0" y="0"/>
              <a:chExt cx="8890000" cy="82550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890000" cy="8255000"/>
              </a:xfrm>
              <a:custGeom>
                <a:avLst/>
                <a:gdLst/>
                <a:ahLst/>
                <a:cxnLst/>
                <a:rect r="r" b="b" t="t" l="l"/>
                <a:pathLst>
                  <a:path h="8255000" w="8890000">
                    <a:moveTo>
                      <a:pt x="0" y="0"/>
                    </a:moveTo>
                    <a:lnTo>
                      <a:pt x="8890000" y="0"/>
                    </a:lnTo>
                    <a:lnTo>
                      <a:pt x="8890000" y="8255000"/>
                    </a:lnTo>
                    <a:lnTo>
                      <a:pt x="0" y="8255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8890000" cy="829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3238500" y="1587500"/>
              <a:ext cx="2413000" cy="2413000"/>
              <a:chOff x="0" y="0"/>
              <a:chExt cx="2413000" cy="24130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413000" cy="2413000"/>
              </a:xfrm>
              <a:custGeom>
                <a:avLst/>
                <a:gdLst/>
                <a:ahLst/>
                <a:cxnLst/>
                <a:rect r="r" b="b" t="t" l="l"/>
                <a:pathLst>
                  <a:path h="2413000" w="2413000">
                    <a:moveTo>
                      <a:pt x="120316" y="0"/>
                    </a:moveTo>
                    <a:lnTo>
                      <a:pt x="2292684" y="0"/>
                    </a:lnTo>
                    <a:cubicBezTo>
                      <a:pt x="2324594" y="0"/>
                      <a:pt x="2355197" y="12676"/>
                      <a:pt x="2377760" y="35240"/>
                    </a:cubicBezTo>
                    <a:cubicBezTo>
                      <a:pt x="2400324" y="57803"/>
                      <a:pt x="2413000" y="88406"/>
                      <a:pt x="2413000" y="120316"/>
                    </a:cubicBezTo>
                    <a:lnTo>
                      <a:pt x="2413000" y="2292684"/>
                    </a:lnTo>
                    <a:cubicBezTo>
                      <a:pt x="2413000" y="2324594"/>
                      <a:pt x="2400324" y="2355197"/>
                      <a:pt x="2377760" y="2377760"/>
                    </a:cubicBezTo>
                    <a:cubicBezTo>
                      <a:pt x="2355197" y="2400324"/>
                      <a:pt x="2324594" y="2413000"/>
                      <a:pt x="2292684" y="2413000"/>
                    </a:cubicBezTo>
                    <a:lnTo>
                      <a:pt x="120316" y="2413000"/>
                    </a:lnTo>
                    <a:cubicBezTo>
                      <a:pt x="88406" y="2413000"/>
                      <a:pt x="57803" y="2400324"/>
                      <a:pt x="35240" y="2377760"/>
                    </a:cubicBezTo>
                    <a:cubicBezTo>
                      <a:pt x="12676" y="2355197"/>
                      <a:pt x="0" y="2324594"/>
                      <a:pt x="0" y="2292684"/>
                    </a:cubicBezTo>
                    <a:lnTo>
                      <a:pt x="0" y="120316"/>
                    </a:lnTo>
                    <a:cubicBezTo>
                      <a:pt x="0" y="88406"/>
                      <a:pt x="12676" y="57803"/>
                      <a:pt x="35240" y="35240"/>
                    </a:cubicBezTo>
                    <a:cubicBezTo>
                      <a:pt x="57803" y="12676"/>
                      <a:pt x="88406" y="0"/>
                      <a:pt x="120316" y="0"/>
                    </a:cubicBezTo>
                    <a:close/>
                  </a:path>
                </a:pathLst>
              </a:custGeom>
              <a:solidFill>
                <a:srgbClr val="2F80E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19050"/>
                <a:ext cx="2413000" cy="23939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75"/>
                  </a:lnSpc>
                </a:pPr>
                <a:r>
                  <a:rPr lang="en-US" sz="2250" b="true">
                    <a:solidFill>
                      <a:srgbClr val="17324D"/>
                    </a:solidFill>
                    <a:latin typeface="Nunito Bold"/>
                    <a:ea typeface="Nunito Bold"/>
                    <a:cs typeface="Nunito Bold"/>
                    <a:sym typeface="Nunito Bold"/>
                  </a:rPr>
                  <a:t>BİLGİ</a:t>
                </a: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635000" y="682625"/>
              <a:ext cx="7620000" cy="678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80"/>
                </a:lnSpc>
              </a:pPr>
              <a:r>
                <a:rPr lang="en-US" sz="3600">
                  <a:solidFill>
                    <a:srgbClr val="17324D"/>
                  </a:solidFill>
                  <a:latin typeface="Baloo"/>
                  <a:ea typeface="Baloo"/>
                  <a:cs typeface="Baloo"/>
                  <a:sym typeface="Baloo"/>
                </a:rPr>
                <a:t>DOSYA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1079500" y="3581400"/>
              <a:ext cx="6731000" cy="14687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36"/>
                </a:lnSpc>
              </a:pPr>
              <a:r>
                <a:rPr lang="en-US" sz="217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Bilgi içerir.</a:t>
              </a:r>
            </a:p>
            <a:p>
              <a:pPr algn="ctr">
                <a:lnSpc>
                  <a:spcPts val="2936"/>
                </a:lnSpc>
              </a:pPr>
              <a:r>
                <a:rPr lang="en-US" sz="217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Açılır ve düzenlenir.</a:t>
              </a:r>
            </a:p>
            <a:p>
              <a:pPr algn="ctr">
                <a:lnSpc>
                  <a:spcPts val="2936"/>
                </a:lnSpc>
              </a:pPr>
              <a:r>
                <a:rPr lang="en-US" sz="217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Bir uzantısı olabilir.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191750" y="2238375"/>
            <a:ext cx="6667500" cy="6191250"/>
            <a:chOff x="0" y="0"/>
            <a:chExt cx="8890000" cy="825500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8890000" cy="8255000"/>
              <a:chOff x="0" y="0"/>
              <a:chExt cx="8890000" cy="82550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890000" cy="8255000"/>
              </a:xfrm>
              <a:custGeom>
                <a:avLst/>
                <a:gdLst/>
                <a:ahLst/>
                <a:cxnLst/>
                <a:rect r="r" b="b" t="t" l="l"/>
                <a:pathLst>
                  <a:path h="8255000" w="8890000">
                    <a:moveTo>
                      <a:pt x="0" y="0"/>
                    </a:moveTo>
                    <a:lnTo>
                      <a:pt x="8890000" y="0"/>
                    </a:lnTo>
                    <a:lnTo>
                      <a:pt x="8890000" y="8255000"/>
                    </a:lnTo>
                    <a:lnTo>
                      <a:pt x="0" y="8255000"/>
                    </a:lnTo>
                    <a:close/>
                  </a:path>
                </a:pathLst>
              </a:custGeom>
              <a:solidFill>
                <a:srgbClr val="FFF8D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8890000" cy="829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3238500" y="1587500"/>
              <a:ext cx="2413000" cy="2413000"/>
              <a:chOff x="0" y="0"/>
              <a:chExt cx="2413000" cy="24130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2413000" cy="2413000"/>
              </a:xfrm>
              <a:custGeom>
                <a:avLst/>
                <a:gdLst/>
                <a:ahLst/>
                <a:cxnLst/>
                <a:rect r="r" b="b" t="t" l="l"/>
                <a:pathLst>
                  <a:path h="2413000" w="2413000">
                    <a:moveTo>
                      <a:pt x="120316" y="0"/>
                    </a:moveTo>
                    <a:lnTo>
                      <a:pt x="2292684" y="0"/>
                    </a:lnTo>
                    <a:cubicBezTo>
                      <a:pt x="2324594" y="0"/>
                      <a:pt x="2355197" y="12676"/>
                      <a:pt x="2377760" y="35240"/>
                    </a:cubicBezTo>
                    <a:cubicBezTo>
                      <a:pt x="2400324" y="57803"/>
                      <a:pt x="2413000" y="88406"/>
                      <a:pt x="2413000" y="120316"/>
                    </a:cubicBezTo>
                    <a:lnTo>
                      <a:pt x="2413000" y="2292684"/>
                    </a:lnTo>
                    <a:cubicBezTo>
                      <a:pt x="2413000" y="2324594"/>
                      <a:pt x="2400324" y="2355197"/>
                      <a:pt x="2377760" y="2377760"/>
                    </a:cubicBezTo>
                    <a:cubicBezTo>
                      <a:pt x="2355197" y="2400324"/>
                      <a:pt x="2324594" y="2413000"/>
                      <a:pt x="2292684" y="2413000"/>
                    </a:cubicBezTo>
                    <a:lnTo>
                      <a:pt x="120316" y="2413000"/>
                    </a:lnTo>
                    <a:cubicBezTo>
                      <a:pt x="88406" y="2413000"/>
                      <a:pt x="57803" y="2400324"/>
                      <a:pt x="35240" y="2377760"/>
                    </a:cubicBezTo>
                    <a:cubicBezTo>
                      <a:pt x="12676" y="2355197"/>
                      <a:pt x="0" y="2324594"/>
                      <a:pt x="0" y="2292684"/>
                    </a:cubicBezTo>
                    <a:lnTo>
                      <a:pt x="0" y="120316"/>
                    </a:lnTo>
                    <a:cubicBezTo>
                      <a:pt x="0" y="88406"/>
                      <a:pt x="12676" y="57803"/>
                      <a:pt x="35240" y="35240"/>
                    </a:cubicBezTo>
                    <a:cubicBezTo>
                      <a:pt x="57803" y="12676"/>
                      <a:pt x="88406" y="0"/>
                      <a:pt x="120316" y="0"/>
                    </a:cubicBezTo>
                    <a:close/>
                  </a:path>
                </a:pathLst>
              </a:custGeom>
              <a:solidFill>
                <a:srgbClr val="F9C74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19050"/>
                <a:ext cx="2413000" cy="23939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75"/>
                  </a:lnSpc>
                </a:pPr>
                <a:r>
                  <a:rPr lang="en-US" sz="2250" b="true">
                    <a:solidFill>
                      <a:srgbClr val="17324D"/>
                    </a:solidFill>
                    <a:latin typeface="Nunito Bold"/>
                    <a:ea typeface="Nunito Bold"/>
                    <a:cs typeface="Nunito Bold"/>
                    <a:sym typeface="Nunito Bold"/>
                  </a:rPr>
                  <a:t>DÜZEN</a:t>
                </a: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635000" y="682625"/>
              <a:ext cx="7620000" cy="678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80"/>
                </a:lnSpc>
              </a:pPr>
              <a:r>
                <a:rPr lang="en-US" sz="3600">
                  <a:solidFill>
                    <a:srgbClr val="17324D"/>
                  </a:solidFill>
                  <a:latin typeface="Baloo"/>
                  <a:ea typeface="Baloo"/>
                  <a:cs typeface="Baloo"/>
                  <a:sym typeface="Baloo"/>
                </a:rPr>
                <a:t>KLASÖR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1079500" y="3581400"/>
              <a:ext cx="6731000" cy="14687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36"/>
                </a:lnSpc>
              </a:pPr>
              <a:r>
                <a:rPr lang="en-US" sz="217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Düzen sağlar.</a:t>
              </a:r>
            </a:p>
            <a:p>
              <a:pPr algn="ctr">
                <a:lnSpc>
                  <a:spcPts val="2936"/>
                </a:lnSpc>
              </a:pPr>
              <a:r>
                <a:rPr lang="en-US" sz="217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Dosya ve alt klasör içerir.</a:t>
              </a:r>
            </a:p>
            <a:p>
              <a:pPr algn="ctr">
                <a:lnSpc>
                  <a:spcPts val="2936"/>
                </a:lnSpc>
              </a:pPr>
              <a:r>
                <a:rPr lang="en-US" sz="217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Bir yer gibi çalışır.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914400" y="742950"/>
            <a:ext cx="10477500" cy="65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>
                <a:solidFill>
                  <a:srgbClr val="17324D"/>
                </a:solidFill>
                <a:latin typeface="Baloo"/>
                <a:ea typeface="Baloo"/>
                <a:cs typeface="Baloo"/>
                <a:sym typeface="Baloo"/>
              </a:rPr>
              <a:t>Dosya mı, klasör mü?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524875" y="4448175"/>
            <a:ext cx="1238250" cy="1053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10"/>
              </a:lnSpc>
            </a:pPr>
            <a:r>
              <a:rPr lang="en-US" sz="6150">
                <a:solidFill>
                  <a:srgbClr val="EF476F"/>
                </a:solidFill>
                <a:latin typeface="Baloo"/>
                <a:ea typeface="Baloo"/>
                <a:cs typeface="Baloo"/>
                <a:sym typeface="Baloo"/>
              </a:rPr>
              <a:t>≠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5375" y="2238375"/>
            <a:ext cx="16097250" cy="5905500"/>
            <a:chOff x="0" y="0"/>
            <a:chExt cx="21463000" cy="787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463000" cy="7874000"/>
            </a:xfrm>
            <a:custGeom>
              <a:avLst/>
              <a:gdLst/>
              <a:ahLst/>
              <a:cxnLst/>
              <a:rect r="r" b="b" t="t" l="l"/>
              <a:pathLst>
                <a:path h="7874000" w="21463000">
                  <a:moveTo>
                    <a:pt x="0" y="0"/>
                  </a:moveTo>
                  <a:lnTo>
                    <a:pt x="21463000" y="0"/>
                  </a:lnTo>
                  <a:lnTo>
                    <a:pt x="21463000" y="7874000"/>
                  </a:lnTo>
                  <a:lnTo>
                    <a:pt x="0" y="7874000"/>
                  </a:lnTo>
                  <a:close/>
                </a:path>
              </a:pathLst>
            </a:custGeom>
            <a:solidFill>
              <a:srgbClr val="EAF6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463000" cy="791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14400" y="742950"/>
            <a:ext cx="13335000" cy="65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>
                <a:solidFill>
                  <a:srgbClr val="17324D"/>
                </a:solidFill>
                <a:latin typeface="Baloo"/>
                <a:ea typeface="Baloo"/>
                <a:cs typeface="Baloo"/>
                <a:sym typeface="Baloo"/>
              </a:rPr>
              <a:t>İyi bir dosya adı, yolu kısaltır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381125" y="2762250"/>
            <a:ext cx="7429500" cy="904875"/>
            <a:chOff x="0" y="0"/>
            <a:chExt cx="9906000" cy="1206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906000" cy="1206500"/>
            </a:xfrm>
            <a:custGeom>
              <a:avLst/>
              <a:gdLst/>
              <a:ahLst/>
              <a:cxnLst/>
              <a:rect r="r" b="b" t="t" l="l"/>
              <a:pathLst>
                <a:path h="1206500" w="9906000">
                  <a:moveTo>
                    <a:pt x="0" y="0"/>
                  </a:moveTo>
                  <a:lnTo>
                    <a:pt x="9906000" y="0"/>
                  </a:lnTo>
                  <a:lnTo>
                    <a:pt x="9906000" y="1206500"/>
                  </a:lnTo>
                  <a:lnTo>
                    <a:pt x="0" y="12065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9906000" cy="1244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619250" y="2905125"/>
            <a:ext cx="619125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2850" b="true">
                <a:solidFill>
                  <a:srgbClr val="EF476F"/>
                </a:solidFill>
                <a:latin typeface="Nunito Bold"/>
                <a:ea typeface="Nunito Bold"/>
                <a:cs typeface="Nunito Bold"/>
                <a:sym typeface="Nunito Bold"/>
              </a:rPr>
              <a:t>ödev son yeni 2!!.docx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47875" y="3667125"/>
            <a:ext cx="1905000" cy="278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875" b="true">
                <a:solidFill>
                  <a:srgbClr val="17324D"/>
                </a:solidFill>
                <a:latin typeface="Nunito Bold"/>
                <a:ea typeface="Nunito Bold"/>
                <a:cs typeface="Nunito Bold"/>
                <a:sym typeface="Nunito Bold"/>
              </a:rPr>
              <a:t>Karışık</a:t>
            </a:r>
          </a:p>
        </p:txBody>
      </p:sp>
      <p:sp>
        <p:nvSpPr>
          <p:cNvPr name="AutoShape 11" id="11"/>
          <p:cNvSpPr/>
          <p:nvPr/>
        </p:nvSpPr>
        <p:spPr>
          <a:xfrm>
            <a:off x="9001125" y="3238500"/>
            <a:ext cx="1571625" cy="1714500"/>
          </a:xfrm>
          <a:prstGeom prst="line">
            <a:avLst/>
          </a:prstGeom>
          <a:ln cap="rnd" w="66675">
            <a:solidFill>
              <a:srgbClr val="43AA8B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2" id="12"/>
          <p:cNvGrpSpPr/>
          <p:nvPr/>
        </p:nvGrpSpPr>
        <p:grpSpPr>
          <a:xfrm rot="0">
            <a:off x="1381125" y="4667250"/>
            <a:ext cx="8096250" cy="904875"/>
            <a:chOff x="0" y="0"/>
            <a:chExt cx="10795000" cy="12065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795000" cy="1206500"/>
            </a:xfrm>
            <a:custGeom>
              <a:avLst/>
              <a:gdLst/>
              <a:ahLst/>
              <a:cxnLst/>
              <a:rect r="r" b="b" t="t" l="l"/>
              <a:pathLst>
                <a:path h="1206500" w="10795000">
                  <a:moveTo>
                    <a:pt x="0" y="0"/>
                  </a:moveTo>
                  <a:lnTo>
                    <a:pt x="10795000" y="0"/>
                  </a:lnTo>
                  <a:lnTo>
                    <a:pt x="10795000" y="1206500"/>
                  </a:lnTo>
                  <a:lnTo>
                    <a:pt x="0" y="12065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0795000" cy="1244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619250" y="4810125"/>
            <a:ext cx="685800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2850" b="true">
                <a:solidFill>
                  <a:srgbClr val="43AA8B"/>
                </a:solidFill>
                <a:latin typeface="Nunito Bold"/>
                <a:ea typeface="Nunito Bold"/>
                <a:cs typeface="Nunito Bold"/>
                <a:sym typeface="Nunito Bold"/>
              </a:rPr>
              <a:t>Fen_Bilimleri_Projesi.docx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047875" y="5572125"/>
            <a:ext cx="2381250" cy="278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875" b="true">
                <a:solidFill>
                  <a:srgbClr val="17324D"/>
                </a:solidFill>
                <a:latin typeface="Nunito Bold"/>
                <a:ea typeface="Nunito Bold"/>
                <a:cs typeface="Nunito Bold"/>
                <a:sym typeface="Nunito Bold"/>
              </a:rPr>
              <a:t>Kolay bulunur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381125" y="7143750"/>
            <a:ext cx="15525750" cy="952500"/>
            <a:chOff x="0" y="0"/>
            <a:chExt cx="20701000" cy="1270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701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20701000">
                  <a:moveTo>
                    <a:pt x="0" y="0"/>
                  </a:moveTo>
                  <a:lnTo>
                    <a:pt x="20701000" y="0"/>
                  </a:lnTo>
                  <a:lnTo>
                    <a:pt x="20701000" y="1270000"/>
                  </a:lnTo>
                  <a:lnTo>
                    <a:pt x="0" y="1270000"/>
                  </a:lnTo>
                  <a:close/>
                </a:path>
              </a:pathLst>
            </a:custGeom>
            <a:solidFill>
              <a:srgbClr val="FFF8DC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07010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619250" y="7477125"/>
            <a:ext cx="142875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9"/>
              </a:lnSpc>
            </a:pPr>
            <a:r>
              <a:rPr lang="en-US" sz="2550" b="true">
                <a:solidFill>
                  <a:srgbClr val="17324D"/>
                </a:solidFill>
                <a:latin typeface="Nunito Bold"/>
                <a:ea typeface="Nunito Bold"/>
                <a:cs typeface="Nunito Bold"/>
                <a:sym typeface="Nunito Bold"/>
              </a:rPr>
              <a:t>✓ Anlamlı   ✓ Kısa   ✓ Boşluksuz   ✓ Özel karaktersiz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47700"/>
            <a:ext cx="13335000" cy="65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>
                <a:solidFill>
                  <a:srgbClr val="17324D"/>
                </a:solidFill>
                <a:latin typeface="Baloo"/>
                <a:ea typeface="Baloo"/>
                <a:cs typeface="Baloo"/>
                <a:sym typeface="Baloo"/>
              </a:rPr>
              <a:t>Uzantı, dosyanın türünü söyler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47750" y="2095500"/>
            <a:ext cx="3714750" cy="2667000"/>
            <a:chOff x="0" y="0"/>
            <a:chExt cx="4953000" cy="3556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4953000" cy="3556000"/>
              <a:chOff x="0" y="0"/>
              <a:chExt cx="4953000" cy="3556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4953000" cy="3556000"/>
              </a:xfrm>
              <a:custGeom>
                <a:avLst/>
                <a:gdLst/>
                <a:ahLst/>
                <a:cxnLst/>
                <a:rect r="r" b="b" t="t" l="l"/>
                <a:pathLst>
                  <a:path h="3556000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3556000"/>
                    </a:lnTo>
                    <a:lnTo>
                      <a:pt x="0" y="3556000"/>
                    </a:lnTo>
                    <a:close/>
                  </a:path>
                </a:pathLst>
              </a:custGeom>
              <a:solidFill>
                <a:srgbClr val="EEF7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4953000" cy="359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317500" y="495300"/>
              <a:ext cx="4318000" cy="805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40"/>
                </a:lnSpc>
              </a:pPr>
              <a:r>
                <a:rPr lang="en-US" sz="3600">
                  <a:solidFill>
                    <a:srgbClr val="2F80ED"/>
                  </a:solidFill>
                  <a:latin typeface="Baloo"/>
                  <a:ea typeface="Baloo"/>
                  <a:cs typeface="Baloo"/>
                  <a:sym typeface="Baloo"/>
                </a:rPr>
                <a:t>.docx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317500" y="1841500"/>
              <a:ext cx="4318000" cy="3714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56"/>
                </a:lnSpc>
              </a:pPr>
              <a:r>
                <a:rPr lang="en-US" sz="1875" b="true">
                  <a:solidFill>
                    <a:srgbClr val="17324D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Metin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286375" y="2095500"/>
            <a:ext cx="3714750" cy="2667000"/>
            <a:chOff x="0" y="0"/>
            <a:chExt cx="4953000" cy="35560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4953000" cy="3556000"/>
              <a:chOff x="0" y="0"/>
              <a:chExt cx="4953000" cy="3556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4953000" cy="3556000"/>
              </a:xfrm>
              <a:custGeom>
                <a:avLst/>
                <a:gdLst/>
                <a:ahLst/>
                <a:cxnLst/>
                <a:rect r="r" b="b" t="t" l="l"/>
                <a:pathLst>
                  <a:path h="3556000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3556000"/>
                    </a:lnTo>
                    <a:lnTo>
                      <a:pt x="0" y="3556000"/>
                    </a:lnTo>
                    <a:close/>
                  </a:path>
                </a:pathLst>
              </a:custGeom>
              <a:solidFill>
                <a:srgbClr val="FFF8D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4953000" cy="359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317500" y="495300"/>
              <a:ext cx="4318000" cy="805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40"/>
                </a:lnSpc>
              </a:pPr>
              <a:r>
                <a:rPr lang="en-US" sz="3600">
                  <a:solidFill>
                    <a:srgbClr val="EF476F"/>
                  </a:solidFill>
                  <a:latin typeface="Baloo"/>
                  <a:ea typeface="Baloo"/>
                  <a:cs typeface="Baloo"/>
                  <a:sym typeface="Baloo"/>
                </a:rPr>
                <a:t>.pptx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317500" y="1841500"/>
              <a:ext cx="4318000" cy="3714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56"/>
                </a:lnSpc>
              </a:pPr>
              <a:r>
                <a:rPr lang="en-US" sz="1875" b="true">
                  <a:solidFill>
                    <a:srgbClr val="17324D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Sunum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525000" y="2095500"/>
            <a:ext cx="3714750" cy="2667000"/>
            <a:chOff x="0" y="0"/>
            <a:chExt cx="4953000" cy="35560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4953000" cy="3556000"/>
              <a:chOff x="0" y="0"/>
              <a:chExt cx="4953000" cy="35560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4953000" cy="3556000"/>
              </a:xfrm>
              <a:custGeom>
                <a:avLst/>
                <a:gdLst/>
                <a:ahLst/>
                <a:cxnLst/>
                <a:rect r="r" b="b" t="t" l="l"/>
                <a:pathLst>
                  <a:path h="3556000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3556000"/>
                    </a:lnTo>
                    <a:lnTo>
                      <a:pt x="0" y="3556000"/>
                    </a:lnTo>
                    <a:close/>
                  </a:path>
                </a:pathLst>
              </a:custGeom>
              <a:solidFill>
                <a:srgbClr val="EEF7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4953000" cy="359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317500" y="495300"/>
              <a:ext cx="4318000" cy="805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40"/>
                </a:lnSpc>
              </a:pPr>
              <a:r>
                <a:rPr lang="en-US" sz="3600">
                  <a:solidFill>
                    <a:srgbClr val="F9C74F"/>
                  </a:solidFill>
                  <a:latin typeface="Baloo"/>
                  <a:ea typeface="Baloo"/>
                  <a:cs typeface="Baloo"/>
                  <a:sym typeface="Baloo"/>
                </a:rPr>
                <a:t>.pdf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317500" y="1841500"/>
              <a:ext cx="4318000" cy="3714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56"/>
                </a:lnSpc>
              </a:pPr>
              <a:r>
                <a:rPr lang="en-US" sz="1875" b="true">
                  <a:solidFill>
                    <a:srgbClr val="17324D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Belge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763625" y="2095500"/>
            <a:ext cx="3714750" cy="2667000"/>
            <a:chOff x="0" y="0"/>
            <a:chExt cx="4953000" cy="3556000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4953000" cy="3556000"/>
              <a:chOff x="0" y="0"/>
              <a:chExt cx="4953000" cy="35560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4953000" cy="3556000"/>
              </a:xfrm>
              <a:custGeom>
                <a:avLst/>
                <a:gdLst/>
                <a:ahLst/>
                <a:cxnLst/>
                <a:rect r="r" b="b" t="t" l="l"/>
                <a:pathLst>
                  <a:path h="3556000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3556000"/>
                    </a:lnTo>
                    <a:lnTo>
                      <a:pt x="0" y="3556000"/>
                    </a:lnTo>
                    <a:close/>
                  </a:path>
                </a:pathLst>
              </a:custGeom>
              <a:solidFill>
                <a:srgbClr val="FFF8D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4953000" cy="359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317500" y="495300"/>
              <a:ext cx="4318000" cy="805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40"/>
                </a:lnSpc>
              </a:pPr>
              <a:r>
                <a:rPr lang="en-US" sz="3600">
                  <a:solidFill>
                    <a:srgbClr val="43AA8B"/>
                  </a:solidFill>
                  <a:latin typeface="Baloo"/>
                  <a:ea typeface="Baloo"/>
                  <a:cs typeface="Baloo"/>
                  <a:sym typeface="Baloo"/>
                </a:rPr>
                <a:t>.jpg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317500" y="1841500"/>
              <a:ext cx="4318000" cy="3714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56"/>
                </a:lnSpc>
              </a:pPr>
              <a:r>
                <a:rPr lang="en-US" sz="1875" b="true">
                  <a:solidFill>
                    <a:srgbClr val="17324D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Fotoğraf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47750" y="5429250"/>
            <a:ext cx="3714750" cy="2667000"/>
            <a:chOff x="0" y="0"/>
            <a:chExt cx="4953000" cy="3556000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4953000" cy="3556000"/>
              <a:chOff x="0" y="0"/>
              <a:chExt cx="4953000" cy="35560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4953000" cy="3556000"/>
              </a:xfrm>
              <a:custGeom>
                <a:avLst/>
                <a:gdLst/>
                <a:ahLst/>
                <a:cxnLst/>
                <a:rect r="r" b="b" t="t" l="l"/>
                <a:pathLst>
                  <a:path h="3556000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3556000"/>
                    </a:lnTo>
                    <a:lnTo>
                      <a:pt x="0" y="3556000"/>
                    </a:lnTo>
                    <a:close/>
                  </a:path>
                </a:pathLst>
              </a:custGeom>
              <a:solidFill>
                <a:srgbClr val="EEF7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4953000" cy="359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317500" y="495300"/>
              <a:ext cx="4318000" cy="805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40"/>
                </a:lnSpc>
              </a:pPr>
              <a:r>
                <a:rPr lang="en-US" sz="3600">
                  <a:solidFill>
                    <a:srgbClr val="56CCF2"/>
                  </a:solidFill>
                  <a:latin typeface="Baloo"/>
                  <a:ea typeface="Baloo"/>
                  <a:cs typeface="Baloo"/>
                  <a:sym typeface="Baloo"/>
                </a:rPr>
                <a:t>.png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317500" y="1841500"/>
              <a:ext cx="4318000" cy="3714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56"/>
                </a:lnSpc>
              </a:pPr>
              <a:r>
                <a:rPr lang="en-US" sz="1875" b="true">
                  <a:solidFill>
                    <a:srgbClr val="17324D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Görsel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286375" y="5429250"/>
            <a:ext cx="3714750" cy="2667000"/>
            <a:chOff x="0" y="0"/>
            <a:chExt cx="4953000" cy="3556000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4953000" cy="3556000"/>
              <a:chOff x="0" y="0"/>
              <a:chExt cx="4953000" cy="35560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4953000" cy="3556000"/>
              </a:xfrm>
              <a:custGeom>
                <a:avLst/>
                <a:gdLst/>
                <a:ahLst/>
                <a:cxnLst/>
                <a:rect r="r" b="b" t="t" l="l"/>
                <a:pathLst>
                  <a:path h="3556000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3556000"/>
                    </a:lnTo>
                    <a:lnTo>
                      <a:pt x="0" y="3556000"/>
                    </a:lnTo>
                    <a:close/>
                  </a:path>
                </a:pathLst>
              </a:custGeom>
              <a:solidFill>
                <a:srgbClr val="FFF8D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38100"/>
                <a:ext cx="4953000" cy="359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7" id="37"/>
            <p:cNvSpPr txBox="true"/>
            <p:nvPr/>
          </p:nvSpPr>
          <p:spPr>
            <a:xfrm rot="0">
              <a:off x="317500" y="495300"/>
              <a:ext cx="4318000" cy="805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40"/>
                </a:lnSpc>
              </a:pPr>
              <a:r>
                <a:rPr lang="en-US" sz="3600">
                  <a:solidFill>
                    <a:srgbClr val="EF476F"/>
                  </a:solidFill>
                  <a:latin typeface="Baloo"/>
                  <a:ea typeface="Baloo"/>
                  <a:cs typeface="Baloo"/>
                  <a:sym typeface="Baloo"/>
                </a:rPr>
                <a:t>.mp3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317500" y="1841500"/>
              <a:ext cx="4318000" cy="3714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56"/>
                </a:lnSpc>
              </a:pPr>
              <a:r>
                <a:rPr lang="en-US" sz="1875" b="true">
                  <a:solidFill>
                    <a:srgbClr val="17324D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Ses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525000" y="5429250"/>
            <a:ext cx="3714750" cy="2667000"/>
            <a:chOff x="0" y="0"/>
            <a:chExt cx="4953000" cy="3556000"/>
          </a:xfrm>
        </p:grpSpPr>
        <p:grpSp>
          <p:nvGrpSpPr>
            <p:cNvPr name="Group 40" id="40"/>
            <p:cNvGrpSpPr/>
            <p:nvPr/>
          </p:nvGrpSpPr>
          <p:grpSpPr>
            <a:xfrm rot="0">
              <a:off x="0" y="0"/>
              <a:ext cx="4953000" cy="3556000"/>
              <a:chOff x="0" y="0"/>
              <a:chExt cx="4953000" cy="3556000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4953000" cy="3556000"/>
              </a:xfrm>
              <a:custGeom>
                <a:avLst/>
                <a:gdLst/>
                <a:ahLst/>
                <a:cxnLst/>
                <a:rect r="r" b="b" t="t" l="l"/>
                <a:pathLst>
                  <a:path h="3556000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3556000"/>
                    </a:lnTo>
                    <a:lnTo>
                      <a:pt x="0" y="3556000"/>
                    </a:lnTo>
                    <a:close/>
                  </a:path>
                </a:pathLst>
              </a:custGeom>
              <a:solidFill>
                <a:srgbClr val="EEF7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38100"/>
                <a:ext cx="4953000" cy="359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3" id="43"/>
            <p:cNvSpPr txBox="true"/>
            <p:nvPr/>
          </p:nvSpPr>
          <p:spPr>
            <a:xfrm rot="0">
              <a:off x="317500" y="495300"/>
              <a:ext cx="4318000" cy="805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40"/>
                </a:lnSpc>
              </a:pPr>
              <a:r>
                <a:rPr lang="en-US" sz="3600">
                  <a:solidFill>
                    <a:srgbClr val="2F80ED"/>
                  </a:solidFill>
                  <a:latin typeface="Baloo"/>
                  <a:ea typeface="Baloo"/>
                  <a:cs typeface="Baloo"/>
                  <a:sym typeface="Baloo"/>
                </a:rPr>
                <a:t>.mp4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317500" y="1841500"/>
              <a:ext cx="4318000" cy="3714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56"/>
                </a:lnSpc>
              </a:pPr>
              <a:r>
                <a:rPr lang="en-US" sz="1875" b="true">
                  <a:solidFill>
                    <a:srgbClr val="17324D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Video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3763625" y="5429250"/>
            <a:ext cx="3714750" cy="2667000"/>
            <a:chOff x="0" y="0"/>
            <a:chExt cx="4953000" cy="3556000"/>
          </a:xfrm>
        </p:grpSpPr>
        <p:grpSp>
          <p:nvGrpSpPr>
            <p:cNvPr name="Group 46" id="46"/>
            <p:cNvGrpSpPr/>
            <p:nvPr/>
          </p:nvGrpSpPr>
          <p:grpSpPr>
            <a:xfrm rot="0">
              <a:off x="0" y="0"/>
              <a:ext cx="4953000" cy="3556000"/>
              <a:chOff x="0" y="0"/>
              <a:chExt cx="4953000" cy="3556000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4953000" cy="3556000"/>
              </a:xfrm>
              <a:custGeom>
                <a:avLst/>
                <a:gdLst/>
                <a:ahLst/>
                <a:cxnLst/>
                <a:rect r="r" b="b" t="t" l="l"/>
                <a:pathLst>
                  <a:path h="3556000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3556000"/>
                    </a:lnTo>
                    <a:lnTo>
                      <a:pt x="0" y="3556000"/>
                    </a:lnTo>
                    <a:close/>
                  </a:path>
                </a:pathLst>
              </a:custGeom>
              <a:solidFill>
                <a:srgbClr val="FFF8D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0" y="-38100"/>
                <a:ext cx="4953000" cy="359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9" id="49"/>
            <p:cNvSpPr txBox="true"/>
            <p:nvPr/>
          </p:nvSpPr>
          <p:spPr>
            <a:xfrm rot="0">
              <a:off x="317500" y="495300"/>
              <a:ext cx="4318000" cy="805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40"/>
                </a:lnSpc>
              </a:pPr>
              <a:r>
                <a:rPr lang="en-US" sz="3600">
                  <a:solidFill>
                    <a:srgbClr val="43AA8B"/>
                  </a:solidFill>
                  <a:latin typeface="Baloo"/>
                  <a:ea typeface="Baloo"/>
                  <a:cs typeface="Baloo"/>
                  <a:sym typeface="Baloo"/>
                </a:rPr>
                <a:t>.xlsx</a:t>
              </a:r>
            </a:p>
          </p:txBody>
        </p:sp>
        <p:sp>
          <p:nvSpPr>
            <p:cNvPr name="TextBox 50" id="50"/>
            <p:cNvSpPr txBox="true"/>
            <p:nvPr/>
          </p:nvSpPr>
          <p:spPr>
            <a:xfrm rot="0">
              <a:off x="317500" y="1841500"/>
              <a:ext cx="4318000" cy="3714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56"/>
                </a:lnSpc>
              </a:pPr>
              <a:r>
                <a:rPr lang="en-US" sz="1875" b="true">
                  <a:solidFill>
                    <a:srgbClr val="17324D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Tablo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EA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47700"/>
            <a:ext cx="12382500" cy="65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>
                <a:solidFill>
                  <a:srgbClr val="17324D"/>
                </a:solidFill>
                <a:latin typeface="Baloo"/>
                <a:ea typeface="Baloo"/>
                <a:cs typeface="Baloo"/>
                <a:sym typeface="Baloo"/>
              </a:rPr>
              <a:t>Klasör ağacı: Büyükten küçüğe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762750" y="2143125"/>
            <a:ext cx="4762500" cy="278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6"/>
              </a:lnSpc>
            </a:pPr>
            <a:r>
              <a:rPr lang="en-US" sz="1875" b="true">
                <a:solidFill>
                  <a:srgbClr val="17324D"/>
                </a:solidFill>
                <a:latin typeface="Nunito Bold"/>
                <a:ea typeface="Nunito Bold"/>
                <a:cs typeface="Nunito Bold"/>
                <a:sym typeface="Nunito Bold"/>
              </a:rPr>
              <a:t>Ana klasör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762750" y="2667000"/>
            <a:ext cx="4762500" cy="1524000"/>
            <a:chOff x="0" y="0"/>
            <a:chExt cx="6350000" cy="2032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500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6350000">
                  <a:moveTo>
                    <a:pt x="45720" y="0"/>
                  </a:moveTo>
                  <a:lnTo>
                    <a:pt x="6304280" y="0"/>
                  </a:lnTo>
                  <a:cubicBezTo>
                    <a:pt x="6316406" y="0"/>
                    <a:pt x="6328035" y="4817"/>
                    <a:pt x="6336609" y="13391"/>
                  </a:cubicBezTo>
                  <a:cubicBezTo>
                    <a:pt x="6345183" y="21965"/>
                    <a:pt x="6350000" y="33594"/>
                    <a:pt x="6350000" y="45720"/>
                  </a:cubicBezTo>
                  <a:lnTo>
                    <a:pt x="6350000" y="1986280"/>
                  </a:lnTo>
                  <a:cubicBezTo>
                    <a:pt x="6350000" y="2011531"/>
                    <a:pt x="6329530" y="2032000"/>
                    <a:pt x="6304280" y="2032000"/>
                  </a:cubicBezTo>
                  <a:lnTo>
                    <a:pt x="45720" y="2032000"/>
                  </a:lnTo>
                  <a:cubicBezTo>
                    <a:pt x="20470" y="2032000"/>
                    <a:pt x="0" y="2011531"/>
                    <a:pt x="0" y="1986280"/>
                  </a:cubicBezTo>
                  <a:lnTo>
                    <a:pt x="0" y="45720"/>
                  </a:lnTo>
                  <a:cubicBezTo>
                    <a:pt x="0" y="20470"/>
                    <a:pt x="20470" y="0"/>
                    <a:pt x="45720" y="0"/>
                  </a:cubicBezTo>
                  <a:close/>
                </a:path>
              </a:pathLst>
            </a:custGeom>
            <a:solidFill>
              <a:srgbClr val="F9C74F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28575"/>
              <a:ext cx="6350000" cy="2003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35"/>
                </a:lnSpc>
              </a:pPr>
              <a:r>
                <a:rPr lang="en-US" sz="2850" b="true">
                  <a:solidFill>
                    <a:srgbClr val="17324D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DERSLER</a:t>
              </a:r>
            </a:p>
          </p:txBody>
        </p:sp>
      </p:grpSp>
      <p:sp>
        <p:nvSpPr>
          <p:cNvPr name="AutoShape 7" id="7"/>
          <p:cNvSpPr/>
          <p:nvPr/>
        </p:nvSpPr>
        <p:spPr>
          <a:xfrm flipH="true">
            <a:off x="3810000" y="4286250"/>
            <a:ext cx="5334000" cy="1809750"/>
          </a:xfrm>
          <a:prstGeom prst="line">
            <a:avLst/>
          </a:prstGeom>
          <a:ln cap="rnd" w="66675">
            <a:solidFill>
              <a:srgbClr val="2F80ED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8" id="8"/>
          <p:cNvGrpSpPr/>
          <p:nvPr/>
        </p:nvGrpSpPr>
        <p:grpSpPr>
          <a:xfrm rot="0">
            <a:off x="1809750" y="6191250"/>
            <a:ext cx="4000500" cy="1714500"/>
            <a:chOff x="0" y="0"/>
            <a:chExt cx="5334000" cy="228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34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5334000">
                  <a:moveTo>
                    <a:pt x="54429" y="0"/>
                  </a:moveTo>
                  <a:lnTo>
                    <a:pt x="5279572" y="0"/>
                  </a:lnTo>
                  <a:cubicBezTo>
                    <a:pt x="5309631" y="0"/>
                    <a:pt x="5334000" y="24369"/>
                    <a:pt x="5334000" y="54429"/>
                  </a:cubicBezTo>
                  <a:lnTo>
                    <a:pt x="5334000" y="2231571"/>
                  </a:lnTo>
                  <a:cubicBezTo>
                    <a:pt x="5334000" y="2261632"/>
                    <a:pt x="5309631" y="2286000"/>
                    <a:pt x="5279572" y="2286000"/>
                  </a:cubicBezTo>
                  <a:lnTo>
                    <a:pt x="54429" y="2286000"/>
                  </a:lnTo>
                  <a:cubicBezTo>
                    <a:pt x="24369" y="2286000"/>
                    <a:pt x="0" y="2261632"/>
                    <a:pt x="0" y="2231571"/>
                  </a:cubicBezTo>
                  <a:lnTo>
                    <a:pt x="0" y="54429"/>
                  </a:lnTo>
                  <a:cubicBezTo>
                    <a:pt x="0" y="24369"/>
                    <a:pt x="24369" y="0"/>
                    <a:pt x="54429" y="0"/>
                  </a:cubicBezTo>
                  <a:close/>
                </a:path>
              </a:pathLst>
            </a:custGeom>
            <a:solidFill>
              <a:srgbClr val="EF476F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19050"/>
              <a:ext cx="5334000" cy="2266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5"/>
                </a:lnSpc>
              </a:pPr>
              <a:r>
                <a:rPr lang="en-US" sz="2250" b="true">
                  <a:solidFill>
                    <a:srgbClr val="17324D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TÜRKÇE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>
            <a:off x="9144000" y="4286250"/>
            <a:ext cx="381000" cy="1809750"/>
          </a:xfrm>
          <a:prstGeom prst="line">
            <a:avLst/>
          </a:prstGeom>
          <a:ln cap="rnd" w="66675">
            <a:solidFill>
              <a:srgbClr val="2F80ED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2" id="12"/>
          <p:cNvGrpSpPr/>
          <p:nvPr/>
        </p:nvGrpSpPr>
        <p:grpSpPr>
          <a:xfrm rot="0">
            <a:off x="7524750" y="6191250"/>
            <a:ext cx="4000500" cy="1714500"/>
            <a:chOff x="0" y="0"/>
            <a:chExt cx="5334000" cy="228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334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5334000">
                  <a:moveTo>
                    <a:pt x="54429" y="0"/>
                  </a:moveTo>
                  <a:lnTo>
                    <a:pt x="5279572" y="0"/>
                  </a:lnTo>
                  <a:cubicBezTo>
                    <a:pt x="5309631" y="0"/>
                    <a:pt x="5334000" y="24369"/>
                    <a:pt x="5334000" y="54429"/>
                  </a:cubicBezTo>
                  <a:lnTo>
                    <a:pt x="5334000" y="2231571"/>
                  </a:lnTo>
                  <a:cubicBezTo>
                    <a:pt x="5334000" y="2261632"/>
                    <a:pt x="5309631" y="2286000"/>
                    <a:pt x="5279572" y="2286000"/>
                  </a:cubicBezTo>
                  <a:lnTo>
                    <a:pt x="54429" y="2286000"/>
                  </a:lnTo>
                  <a:cubicBezTo>
                    <a:pt x="24369" y="2286000"/>
                    <a:pt x="0" y="2261632"/>
                    <a:pt x="0" y="2231571"/>
                  </a:cubicBezTo>
                  <a:lnTo>
                    <a:pt x="0" y="54429"/>
                  </a:lnTo>
                  <a:cubicBezTo>
                    <a:pt x="0" y="24369"/>
                    <a:pt x="24369" y="0"/>
                    <a:pt x="54429" y="0"/>
                  </a:cubicBezTo>
                  <a:close/>
                </a:path>
              </a:pathLst>
            </a:custGeom>
            <a:solidFill>
              <a:srgbClr val="2F80ED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19050"/>
              <a:ext cx="5334000" cy="2266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5"/>
                </a:lnSpc>
              </a:pPr>
              <a:r>
                <a:rPr lang="en-US" sz="2250" b="true">
                  <a:solidFill>
                    <a:srgbClr val="17324D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MATEMATİK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>
            <a:off x="9144000" y="4286250"/>
            <a:ext cx="6096000" cy="1809750"/>
          </a:xfrm>
          <a:prstGeom prst="line">
            <a:avLst/>
          </a:prstGeom>
          <a:ln cap="rnd" w="66675">
            <a:solidFill>
              <a:srgbClr val="2F80ED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6" id="16"/>
          <p:cNvGrpSpPr/>
          <p:nvPr/>
        </p:nvGrpSpPr>
        <p:grpSpPr>
          <a:xfrm rot="0">
            <a:off x="13239750" y="6191250"/>
            <a:ext cx="4000500" cy="1714500"/>
            <a:chOff x="0" y="0"/>
            <a:chExt cx="5334000" cy="2286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334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5334000">
                  <a:moveTo>
                    <a:pt x="54429" y="0"/>
                  </a:moveTo>
                  <a:lnTo>
                    <a:pt x="5279572" y="0"/>
                  </a:lnTo>
                  <a:cubicBezTo>
                    <a:pt x="5309631" y="0"/>
                    <a:pt x="5334000" y="24369"/>
                    <a:pt x="5334000" y="54429"/>
                  </a:cubicBezTo>
                  <a:lnTo>
                    <a:pt x="5334000" y="2231571"/>
                  </a:lnTo>
                  <a:cubicBezTo>
                    <a:pt x="5334000" y="2261632"/>
                    <a:pt x="5309631" y="2286000"/>
                    <a:pt x="5279572" y="2286000"/>
                  </a:cubicBezTo>
                  <a:lnTo>
                    <a:pt x="54429" y="2286000"/>
                  </a:lnTo>
                  <a:cubicBezTo>
                    <a:pt x="24369" y="2286000"/>
                    <a:pt x="0" y="2261632"/>
                    <a:pt x="0" y="2231571"/>
                  </a:cubicBezTo>
                  <a:lnTo>
                    <a:pt x="0" y="54429"/>
                  </a:lnTo>
                  <a:cubicBezTo>
                    <a:pt x="0" y="24369"/>
                    <a:pt x="24369" y="0"/>
                    <a:pt x="54429" y="0"/>
                  </a:cubicBezTo>
                  <a:close/>
                </a:path>
              </a:pathLst>
            </a:custGeom>
            <a:solidFill>
              <a:srgbClr val="43AA8B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19050"/>
              <a:ext cx="5334000" cy="2266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5"/>
                </a:lnSpc>
              </a:pPr>
              <a:r>
                <a:rPr lang="en-US" sz="2250" b="true">
                  <a:solidFill>
                    <a:srgbClr val="17324D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BİLİŞİM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5762625" y="4857750"/>
            <a:ext cx="952500" cy="0"/>
          </a:xfrm>
          <a:prstGeom prst="line">
            <a:avLst/>
          </a:prstGeom>
          <a:ln cap="rnd" w="66675">
            <a:solidFill>
              <a:srgbClr val="2F80ED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" id="3"/>
          <p:cNvSpPr/>
          <p:nvPr/>
        </p:nvSpPr>
        <p:spPr>
          <a:xfrm>
            <a:off x="11572875" y="4857750"/>
            <a:ext cx="952500" cy="0"/>
          </a:xfrm>
          <a:prstGeom prst="line">
            <a:avLst/>
          </a:prstGeom>
          <a:ln cap="rnd" w="66675">
            <a:solidFill>
              <a:srgbClr val="2F80ED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4" id="4"/>
          <p:cNvSpPr txBox="true"/>
          <p:nvPr/>
        </p:nvSpPr>
        <p:spPr>
          <a:xfrm rot="0">
            <a:off x="914400" y="600075"/>
            <a:ext cx="14287500" cy="65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>
                <a:solidFill>
                  <a:srgbClr val="17324D"/>
                </a:solidFill>
                <a:latin typeface="Baloo"/>
                <a:ea typeface="Baloo"/>
                <a:cs typeface="Baloo"/>
                <a:sym typeface="Baloo"/>
              </a:rPr>
              <a:t>Klasör oluştur ve adını değiştir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00125" y="2095500"/>
            <a:ext cx="4762500" cy="6422231"/>
            <a:chOff x="0" y="0"/>
            <a:chExt cx="6350000" cy="8562975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6350000" cy="7366000"/>
              <a:chOff x="0" y="0"/>
              <a:chExt cx="6350000" cy="73660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350000" cy="7366000"/>
              </a:xfrm>
              <a:custGeom>
                <a:avLst/>
                <a:gdLst/>
                <a:ahLst/>
                <a:cxnLst/>
                <a:rect r="r" b="b" t="t" l="l"/>
                <a:pathLst>
                  <a:path h="7366000" w="6350000">
                    <a:moveTo>
                      <a:pt x="0" y="0"/>
                    </a:moveTo>
                    <a:lnTo>
                      <a:pt x="6350000" y="0"/>
                    </a:lnTo>
                    <a:lnTo>
                      <a:pt x="6350000" y="7366000"/>
                    </a:lnTo>
                    <a:lnTo>
                      <a:pt x="0" y="7366000"/>
                    </a:lnTo>
                    <a:close/>
                  </a:path>
                </a:pathLst>
              </a:custGeom>
              <a:solidFill>
                <a:srgbClr val="EAF6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6350000" cy="740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952500" y="1714500"/>
              <a:ext cx="4445000" cy="3175000"/>
              <a:chOff x="0" y="0"/>
              <a:chExt cx="4445000" cy="31750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445000" cy="3175000"/>
              </a:xfrm>
              <a:custGeom>
                <a:avLst/>
                <a:gdLst/>
                <a:ahLst/>
                <a:cxnLst/>
                <a:rect r="r" b="b" t="t" l="l"/>
                <a:pathLst>
                  <a:path h="3175000" w="4445000">
                    <a:moveTo>
                      <a:pt x="65314" y="0"/>
                    </a:moveTo>
                    <a:lnTo>
                      <a:pt x="4379686" y="0"/>
                    </a:lnTo>
                    <a:cubicBezTo>
                      <a:pt x="4397008" y="0"/>
                      <a:pt x="4413621" y="6881"/>
                      <a:pt x="4425870" y="19130"/>
                    </a:cubicBezTo>
                    <a:cubicBezTo>
                      <a:pt x="4438119" y="31379"/>
                      <a:pt x="4445000" y="47992"/>
                      <a:pt x="4445000" y="65314"/>
                    </a:cubicBezTo>
                    <a:lnTo>
                      <a:pt x="4445000" y="3109686"/>
                    </a:lnTo>
                    <a:cubicBezTo>
                      <a:pt x="4445000" y="3127008"/>
                      <a:pt x="4438119" y="3143621"/>
                      <a:pt x="4425870" y="3155870"/>
                    </a:cubicBezTo>
                    <a:cubicBezTo>
                      <a:pt x="4413621" y="3168119"/>
                      <a:pt x="4397008" y="3175000"/>
                      <a:pt x="4379686" y="3175000"/>
                    </a:cubicBezTo>
                    <a:lnTo>
                      <a:pt x="65314" y="3175000"/>
                    </a:lnTo>
                    <a:cubicBezTo>
                      <a:pt x="47992" y="3175000"/>
                      <a:pt x="31379" y="3168119"/>
                      <a:pt x="19130" y="3155870"/>
                    </a:cubicBezTo>
                    <a:cubicBezTo>
                      <a:pt x="6881" y="3143621"/>
                      <a:pt x="0" y="3127008"/>
                      <a:pt x="0" y="3109686"/>
                    </a:cubicBezTo>
                    <a:lnTo>
                      <a:pt x="0" y="65314"/>
                    </a:lnTo>
                    <a:cubicBezTo>
                      <a:pt x="0" y="47992"/>
                      <a:pt x="6881" y="31379"/>
                      <a:pt x="19130" y="19130"/>
                    </a:cubicBezTo>
                    <a:cubicBezTo>
                      <a:pt x="31379" y="6881"/>
                      <a:pt x="47992" y="0"/>
                      <a:pt x="65314" y="0"/>
                    </a:cubicBezTo>
                    <a:close/>
                  </a:path>
                </a:pathLst>
              </a:custGeom>
              <a:solidFill>
                <a:srgbClr val="F9C74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19050"/>
                <a:ext cx="4445000" cy="31559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75"/>
                  </a:lnSpc>
                </a:pPr>
                <a:r>
                  <a:rPr lang="en-US" sz="2250" b="true">
                    <a:solidFill>
                      <a:srgbClr val="17324D"/>
                    </a:solidFill>
                    <a:latin typeface="Nunito Bold"/>
                    <a:ea typeface="Nunito Bold"/>
                    <a:cs typeface="Nunito Bold"/>
                    <a:sym typeface="Nunito Bold"/>
                  </a:rPr>
                  <a:t>SAĞ TIK</a:t>
                </a:r>
              </a:p>
              <a:p>
                <a:pPr algn="ctr">
                  <a:lnSpc>
                    <a:spcPts val="2475"/>
                  </a:lnSpc>
                </a:pPr>
                <a:r>
                  <a:rPr lang="en-US" sz="2250" b="true">
                    <a:solidFill>
                      <a:srgbClr val="17324D"/>
                    </a:solidFill>
                    <a:latin typeface="Nunito Bold"/>
                    <a:ea typeface="Nunito Bold"/>
                    <a:cs typeface="Nunito Bold"/>
                    <a:sym typeface="Nunito Bold"/>
                  </a:rPr>
                  <a:t>menüsü</a:t>
                </a: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190500" y="8191500"/>
              <a:ext cx="5842000" cy="3714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56"/>
                </a:lnSpc>
              </a:pPr>
              <a:r>
                <a:rPr lang="en-US" sz="1875" b="true">
                  <a:solidFill>
                    <a:srgbClr val="17324D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1  Boş alana sağ tıkla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810375" y="2095500"/>
            <a:ext cx="4762500" cy="6422231"/>
            <a:chOff x="0" y="0"/>
            <a:chExt cx="6350000" cy="8562975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6350000" cy="7366000"/>
              <a:chOff x="0" y="0"/>
              <a:chExt cx="6350000" cy="73660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6350000" cy="7366000"/>
              </a:xfrm>
              <a:custGeom>
                <a:avLst/>
                <a:gdLst/>
                <a:ahLst/>
                <a:cxnLst/>
                <a:rect r="r" b="b" t="t" l="l"/>
                <a:pathLst>
                  <a:path h="7366000" w="6350000">
                    <a:moveTo>
                      <a:pt x="0" y="0"/>
                    </a:moveTo>
                    <a:lnTo>
                      <a:pt x="6350000" y="0"/>
                    </a:lnTo>
                    <a:lnTo>
                      <a:pt x="6350000" y="7366000"/>
                    </a:lnTo>
                    <a:lnTo>
                      <a:pt x="0" y="7366000"/>
                    </a:lnTo>
                    <a:close/>
                  </a:path>
                </a:pathLst>
              </a:custGeom>
              <a:solidFill>
                <a:srgbClr val="EAF6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6350000" cy="740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952500" y="1714500"/>
              <a:ext cx="4445000" cy="3175000"/>
              <a:chOff x="0" y="0"/>
              <a:chExt cx="4445000" cy="31750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4445000" cy="3175000"/>
              </a:xfrm>
              <a:custGeom>
                <a:avLst/>
                <a:gdLst/>
                <a:ahLst/>
                <a:cxnLst/>
                <a:rect r="r" b="b" t="t" l="l"/>
                <a:pathLst>
                  <a:path h="3175000" w="4445000">
                    <a:moveTo>
                      <a:pt x="65314" y="0"/>
                    </a:moveTo>
                    <a:lnTo>
                      <a:pt x="4379686" y="0"/>
                    </a:lnTo>
                    <a:cubicBezTo>
                      <a:pt x="4397008" y="0"/>
                      <a:pt x="4413621" y="6881"/>
                      <a:pt x="4425870" y="19130"/>
                    </a:cubicBezTo>
                    <a:cubicBezTo>
                      <a:pt x="4438119" y="31379"/>
                      <a:pt x="4445000" y="47992"/>
                      <a:pt x="4445000" y="65314"/>
                    </a:cubicBezTo>
                    <a:lnTo>
                      <a:pt x="4445000" y="3109686"/>
                    </a:lnTo>
                    <a:cubicBezTo>
                      <a:pt x="4445000" y="3127008"/>
                      <a:pt x="4438119" y="3143621"/>
                      <a:pt x="4425870" y="3155870"/>
                    </a:cubicBezTo>
                    <a:cubicBezTo>
                      <a:pt x="4413621" y="3168119"/>
                      <a:pt x="4397008" y="3175000"/>
                      <a:pt x="4379686" y="3175000"/>
                    </a:cubicBezTo>
                    <a:lnTo>
                      <a:pt x="65314" y="3175000"/>
                    </a:lnTo>
                    <a:cubicBezTo>
                      <a:pt x="47992" y="3175000"/>
                      <a:pt x="31379" y="3168119"/>
                      <a:pt x="19130" y="3155870"/>
                    </a:cubicBezTo>
                    <a:cubicBezTo>
                      <a:pt x="6881" y="3143621"/>
                      <a:pt x="0" y="3127008"/>
                      <a:pt x="0" y="3109686"/>
                    </a:cubicBezTo>
                    <a:lnTo>
                      <a:pt x="0" y="65314"/>
                    </a:lnTo>
                    <a:cubicBezTo>
                      <a:pt x="0" y="47992"/>
                      <a:pt x="6881" y="31379"/>
                      <a:pt x="19130" y="19130"/>
                    </a:cubicBezTo>
                    <a:cubicBezTo>
                      <a:pt x="31379" y="6881"/>
                      <a:pt x="47992" y="0"/>
                      <a:pt x="65314" y="0"/>
                    </a:cubicBezTo>
                    <a:close/>
                  </a:path>
                </a:pathLst>
              </a:custGeom>
              <a:solidFill>
                <a:srgbClr val="F9C74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19050"/>
                <a:ext cx="4445000" cy="31559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75"/>
                  </a:lnSpc>
                </a:pPr>
                <a:r>
                  <a:rPr lang="en-US" sz="2250" b="true">
                    <a:solidFill>
                      <a:srgbClr val="17324D"/>
                    </a:solidFill>
                    <a:latin typeface="Nunito Bold"/>
                    <a:ea typeface="Nunito Bold"/>
                    <a:cs typeface="Nunito Bold"/>
                    <a:sym typeface="Nunito Bold"/>
                  </a:rPr>
                  <a:t>YENİ KLASÖR</a:t>
                </a: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190500" y="8191500"/>
              <a:ext cx="5842000" cy="3714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56"/>
                </a:lnSpc>
              </a:pPr>
              <a:r>
                <a:rPr lang="en-US" sz="1875" b="true">
                  <a:solidFill>
                    <a:srgbClr val="17324D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2  Yeni → Klasör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620625" y="2095500"/>
            <a:ext cx="4762500" cy="6422231"/>
            <a:chOff x="0" y="0"/>
            <a:chExt cx="6350000" cy="8562975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6350000" cy="7366000"/>
              <a:chOff x="0" y="0"/>
              <a:chExt cx="6350000" cy="73660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6350000" cy="7366000"/>
              </a:xfrm>
              <a:custGeom>
                <a:avLst/>
                <a:gdLst/>
                <a:ahLst/>
                <a:cxnLst/>
                <a:rect r="r" b="b" t="t" l="l"/>
                <a:pathLst>
                  <a:path h="7366000" w="6350000">
                    <a:moveTo>
                      <a:pt x="0" y="0"/>
                    </a:moveTo>
                    <a:lnTo>
                      <a:pt x="6350000" y="0"/>
                    </a:lnTo>
                    <a:lnTo>
                      <a:pt x="6350000" y="7366000"/>
                    </a:lnTo>
                    <a:lnTo>
                      <a:pt x="0" y="7366000"/>
                    </a:lnTo>
                    <a:close/>
                  </a:path>
                </a:pathLst>
              </a:custGeom>
              <a:solidFill>
                <a:srgbClr val="EAF6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6350000" cy="740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952500" y="1714500"/>
              <a:ext cx="4445000" cy="3175000"/>
              <a:chOff x="0" y="0"/>
              <a:chExt cx="4445000" cy="31750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4445000" cy="3175000"/>
              </a:xfrm>
              <a:custGeom>
                <a:avLst/>
                <a:gdLst/>
                <a:ahLst/>
                <a:cxnLst/>
                <a:rect r="r" b="b" t="t" l="l"/>
                <a:pathLst>
                  <a:path h="3175000" w="4445000">
                    <a:moveTo>
                      <a:pt x="65314" y="0"/>
                    </a:moveTo>
                    <a:lnTo>
                      <a:pt x="4379686" y="0"/>
                    </a:lnTo>
                    <a:cubicBezTo>
                      <a:pt x="4397008" y="0"/>
                      <a:pt x="4413621" y="6881"/>
                      <a:pt x="4425870" y="19130"/>
                    </a:cubicBezTo>
                    <a:cubicBezTo>
                      <a:pt x="4438119" y="31379"/>
                      <a:pt x="4445000" y="47992"/>
                      <a:pt x="4445000" y="65314"/>
                    </a:cubicBezTo>
                    <a:lnTo>
                      <a:pt x="4445000" y="3109686"/>
                    </a:lnTo>
                    <a:cubicBezTo>
                      <a:pt x="4445000" y="3127008"/>
                      <a:pt x="4438119" y="3143621"/>
                      <a:pt x="4425870" y="3155870"/>
                    </a:cubicBezTo>
                    <a:cubicBezTo>
                      <a:pt x="4413621" y="3168119"/>
                      <a:pt x="4397008" y="3175000"/>
                      <a:pt x="4379686" y="3175000"/>
                    </a:cubicBezTo>
                    <a:lnTo>
                      <a:pt x="65314" y="3175000"/>
                    </a:lnTo>
                    <a:cubicBezTo>
                      <a:pt x="47992" y="3175000"/>
                      <a:pt x="31379" y="3168119"/>
                      <a:pt x="19130" y="3155870"/>
                    </a:cubicBezTo>
                    <a:cubicBezTo>
                      <a:pt x="6881" y="3143621"/>
                      <a:pt x="0" y="3127008"/>
                      <a:pt x="0" y="3109686"/>
                    </a:cubicBezTo>
                    <a:lnTo>
                      <a:pt x="0" y="65314"/>
                    </a:lnTo>
                    <a:cubicBezTo>
                      <a:pt x="0" y="47992"/>
                      <a:pt x="6881" y="31379"/>
                      <a:pt x="19130" y="19130"/>
                    </a:cubicBezTo>
                    <a:cubicBezTo>
                      <a:pt x="31379" y="6881"/>
                      <a:pt x="47992" y="0"/>
                      <a:pt x="65314" y="0"/>
                    </a:cubicBezTo>
                    <a:close/>
                  </a:path>
                </a:pathLst>
              </a:custGeom>
              <a:solidFill>
                <a:srgbClr val="43AA8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19050"/>
                <a:ext cx="4445000" cy="31559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75"/>
                  </a:lnSpc>
                </a:pPr>
                <a:r>
                  <a:rPr lang="en-US" sz="2250" b="true">
                    <a:solidFill>
                      <a:srgbClr val="17324D"/>
                    </a:solidFill>
                    <a:latin typeface="Nunito Bold"/>
                    <a:ea typeface="Nunito Bold"/>
                    <a:cs typeface="Nunito Bold"/>
                    <a:sym typeface="Nunito Bold"/>
                  </a:rPr>
                  <a:t>5A_Projeler</a:t>
                </a: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190500" y="8191500"/>
              <a:ext cx="5842000" cy="3714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56"/>
                </a:lnSpc>
              </a:pPr>
              <a:r>
                <a:rPr lang="en-US" sz="1875" b="true">
                  <a:solidFill>
                    <a:srgbClr val="17324D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3  Adını yaz ve Enter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47700"/>
            <a:ext cx="13335000" cy="65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>
                <a:solidFill>
                  <a:srgbClr val="17324D"/>
                </a:solidFill>
                <a:latin typeface="Baloo"/>
                <a:ea typeface="Baloo"/>
                <a:cs typeface="Baloo"/>
                <a:sym typeface="Baloo"/>
              </a:rPr>
              <a:t>Kopyalamak mı, taşımak mı?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143000" y="2000250"/>
            <a:ext cx="6667500" cy="6191250"/>
            <a:chOff x="0" y="0"/>
            <a:chExt cx="8890000" cy="8255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890000" cy="8255000"/>
            </a:xfrm>
            <a:custGeom>
              <a:avLst/>
              <a:gdLst/>
              <a:ahLst/>
              <a:cxnLst/>
              <a:rect r="r" b="b" t="t" l="l"/>
              <a:pathLst>
                <a:path h="8255000" w="8890000">
                  <a:moveTo>
                    <a:pt x="0" y="0"/>
                  </a:moveTo>
                  <a:lnTo>
                    <a:pt x="8890000" y="0"/>
                  </a:lnTo>
                  <a:lnTo>
                    <a:pt x="8890000" y="8255000"/>
                  </a:lnTo>
                  <a:lnTo>
                    <a:pt x="0" y="8255000"/>
                  </a:lnTo>
                  <a:close/>
                </a:path>
              </a:pathLst>
            </a:custGeom>
            <a:solidFill>
              <a:srgbClr val="EAF6FF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8890000" cy="829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0" y="2000250"/>
            <a:ext cx="6667500" cy="6191250"/>
            <a:chOff x="0" y="0"/>
            <a:chExt cx="8890000" cy="8255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890000" cy="8255000"/>
            </a:xfrm>
            <a:custGeom>
              <a:avLst/>
              <a:gdLst/>
              <a:ahLst/>
              <a:cxnLst/>
              <a:rect r="r" b="b" t="t" l="l"/>
              <a:pathLst>
                <a:path h="8255000" w="8890000">
                  <a:moveTo>
                    <a:pt x="0" y="0"/>
                  </a:moveTo>
                  <a:lnTo>
                    <a:pt x="8890000" y="0"/>
                  </a:lnTo>
                  <a:lnTo>
                    <a:pt x="8890000" y="8255000"/>
                  </a:lnTo>
                  <a:lnTo>
                    <a:pt x="0" y="8255000"/>
                  </a:lnTo>
                  <a:close/>
                </a:path>
              </a:pathLst>
            </a:custGeom>
            <a:solidFill>
              <a:srgbClr val="FFF8DC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8890000" cy="829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619250" y="2524125"/>
            <a:ext cx="5715000" cy="497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3600">
                <a:solidFill>
                  <a:srgbClr val="17324D"/>
                </a:solidFill>
                <a:latin typeface="Baloo"/>
                <a:ea typeface="Baloo"/>
                <a:cs typeface="Baloo"/>
                <a:sym typeface="Baloo"/>
              </a:rPr>
              <a:t>KOPYALA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19250" y="6296025"/>
            <a:ext cx="5715000" cy="739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6"/>
              </a:lnSpc>
            </a:pPr>
            <a:r>
              <a:rPr lang="en-US" sz="2175">
                <a:solidFill>
                  <a:srgbClr val="17324D"/>
                </a:solidFill>
                <a:latin typeface="Nunito"/>
                <a:ea typeface="Nunito"/>
                <a:cs typeface="Nunito"/>
                <a:sym typeface="Nunito"/>
              </a:rPr>
              <a:t>Dosyanın ikinci bir örneği oluşur.</a:t>
            </a:r>
          </a:p>
          <a:p>
            <a:pPr algn="ctr">
              <a:lnSpc>
                <a:spcPts val="2936"/>
              </a:lnSpc>
            </a:pPr>
            <a:r>
              <a:rPr lang="en-US" sz="2175">
                <a:solidFill>
                  <a:srgbClr val="17324D"/>
                </a:solidFill>
                <a:latin typeface="Nunito"/>
                <a:ea typeface="Nunito"/>
                <a:cs typeface="Nunito"/>
                <a:sym typeface="Nunito"/>
              </a:rPr>
              <a:t>Ctrl+C → Ctrl+V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763250" y="2524125"/>
            <a:ext cx="5715000" cy="497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3600">
                <a:solidFill>
                  <a:srgbClr val="17324D"/>
                </a:solidFill>
                <a:latin typeface="Baloo"/>
                <a:ea typeface="Baloo"/>
                <a:cs typeface="Baloo"/>
                <a:sym typeface="Baloo"/>
              </a:rPr>
              <a:t>TAŞI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763250" y="6296025"/>
            <a:ext cx="5715000" cy="739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6"/>
              </a:lnSpc>
            </a:pPr>
            <a:r>
              <a:rPr lang="en-US" sz="2175">
                <a:solidFill>
                  <a:srgbClr val="17324D"/>
                </a:solidFill>
                <a:latin typeface="Nunito"/>
                <a:ea typeface="Nunito"/>
                <a:cs typeface="Nunito"/>
                <a:sym typeface="Nunito"/>
              </a:rPr>
              <a:t>Dosya eski yerinden yeni yerine gider.</a:t>
            </a:r>
          </a:p>
          <a:p>
            <a:pPr algn="ctr">
              <a:lnSpc>
                <a:spcPts val="2936"/>
              </a:lnSpc>
            </a:pPr>
            <a:r>
              <a:rPr lang="en-US" sz="2175">
                <a:solidFill>
                  <a:srgbClr val="17324D"/>
                </a:solidFill>
                <a:latin typeface="Nunito"/>
                <a:ea typeface="Nunito"/>
                <a:cs typeface="Nunito"/>
                <a:sym typeface="Nunito"/>
              </a:rPr>
              <a:t>Ctrl+X → Ctrl+V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2095500" y="3810000"/>
            <a:ext cx="1809750" cy="1809750"/>
            <a:chOff x="0" y="0"/>
            <a:chExt cx="2413000" cy="2413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13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2413000">
                  <a:moveTo>
                    <a:pt x="120316" y="0"/>
                  </a:moveTo>
                  <a:lnTo>
                    <a:pt x="2292684" y="0"/>
                  </a:lnTo>
                  <a:cubicBezTo>
                    <a:pt x="2324594" y="0"/>
                    <a:pt x="2355197" y="12676"/>
                    <a:pt x="2377760" y="35240"/>
                  </a:cubicBezTo>
                  <a:cubicBezTo>
                    <a:pt x="2400324" y="57803"/>
                    <a:pt x="2413000" y="88406"/>
                    <a:pt x="2413000" y="120316"/>
                  </a:cubicBezTo>
                  <a:lnTo>
                    <a:pt x="2413000" y="2292684"/>
                  </a:lnTo>
                  <a:cubicBezTo>
                    <a:pt x="2413000" y="2324594"/>
                    <a:pt x="2400324" y="2355197"/>
                    <a:pt x="2377760" y="2377760"/>
                  </a:cubicBezTo>
                  <a:cubicBezTo>
                    <a:pt x="2355197" y="2400324"/>
                    <a:pt x="2324594" y="2413000"/>
                    <a:pt x="2292684" y="2413000"/>
                  </a:cubicBezTo>
                  <a:lnTo>
                    <a:pt x="120316" y="2413000"/>
                  </a:lnTo>
                  <a:cubicBezTo>
                    <a:pt x="88406" y="2413000"/>
                    <a:pt x="57803" y="2400324"/>
                    <a:pt x="35240" y="2377760"/>
                  </a:cubicBezTo>
                  <a:cubicBezTo>
                    <a:pt x="12676" y="2355197"/>
                    <a:pt x="0" y="2324594"/>
                    <a:pt x="0" y="2292684"/>
                  </a:cubicBezTo>
                  <a:lnTo>
                    <a:pt x="0" y="120316"/>
                  </a:lnTo>
                  <a:cubicBezTo>
                    <a:pt x="0" y="88406"/>
                    <a:pt x="12676" y="57803"/>
                    <a:pt x="35240" y="35240"/>
                  </a:cubicBezTo>
                  <a:cubicBezTo>
                    <a:pt x="57803" y="12676"/>
                    <a:pt x="88406" y="0"/>
                    <a:pt x="120316" y="0"/>
                  </a:cubicBezTo>
                  <a:close/>
                </a:path>
              </a:pathLst>
            </a:custGeom>
            <a:solidFill>
              <a:srgbClr val="2F80ED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19050"/>
              <a:ext cx="2413000" cy="2393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5"/>
                </a:lnSpc>
              </a:pPr>
              <a:r>
                <a:rPr lang="en-US" sz="2250" b="true">
                  <a:solidFill>
                    <a:srgbClr val="17324D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A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953000" y="3810000"/>
            <a:ext cx="1809750" cy="1809750"/>
            <a:chOff x="0" y="0"/>
            <a:chExt cx="2413000" cy="2413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413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2413000">
                  <a:moveTo>
                    <a:pt x="120316" y="0"/>
                  </a:moveTo>
                  <a:lnTo>
                    <a:pt x="2292684" y="0"/>
                  </a:lnTo>
                  <a:cubicBezTo>
                    <a:pt x="2324594" y="0"/>
                    <a:pt x="2355197" y="12676"/>
                    <a:pt x="2377760" y="35240"/>
                  </a:cubicBezTo>
                  <a:cubicBezTo>
                    <a:pt x="2400324" y="57803"/>
                    <a:pt x="2413000" y="88406"/>
                    <a:pt x="2413000" y="120316"/>
                  </a:cubicBezTo>
                  <a:lnTo>
                    <a:pt x="2413000" y="2292684"/>
                  </a:lnTo>
                  <a:cubicBezTo>
                    <a:pt x="2413000" y="2324594"/>
                    <a:pt x="2400324" y="2355197"/>
                    <a:pt x="2377760" y="2377760"/>
                  </a:cubicBezTo>
                  <a:cubicBezTo>
                    <a:pt x="2355197" y="2400324"/>
                    <a:pt x="2324594" y="2413000"/>
                    <a:pt x="2292684" y="2413000"/>
                  </a:cubicBezTo>
                  <a:lnTo>
                    <a:pt x="120316" y="2413000"/>
                  </a:lnTo>
                  <a:cubicBezTo>
                    <a:pt x="88406" y="2413000"/>
                    <a:pt x="57803" y="2400324"/>
                    <a:pt x="35240" y="2377760"/>
                  </a:cubicBezTo>
                  <a:cubicBezTo>
                    <a:pt x="12676" y="2355197"/>
                    <a:pt x="0" y="2324594"/>
                    <a:pt x="0" y="2292684"/>
                  </a:cubicBezTo>
                  <a:lnTo>
                    <a:pt x="0" y="120316"/>
                  </a:lnTo>
                  <a:cubicBezTo>
                    <a:pt x="0" y="88406"/>
                    <a:pt x="12676" y="57803"/>
                    <a:pt x="35240" y="35240"/>
                  </a:cubicBezTo>
                  <a:cubicBezTo>
                    <a:pt x="57803" y="12676"/>
                    <a:pt x="88406" y="0"/>
                    <a:pt x="120316" y="0"/>
                  </a:cubicBezTo>
                  <a:close/>
                </a:path>
              </a:pathLst>
            </a:custGeom>
            <a:solidFill>
              <a:srgbClr val="2F80ED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19050"/>
              <a:ext cx="2413000" cy="2393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5"/>
                </a:lnSpc>
              </a:pPr>
              <a:r>
                <a:rPr lang="en-US" sz="2250" b="true">
                  <a:solidFill>
                    <a:srgbClr val="17324D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A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>
            <a:off x="4000500" y="4714875"/>
            <a:ext cx="857250" cy="0"/>
          </a:xfrm>
          <a:prstGeom prst="line">
            <a:avLst/>
          </a:prstGeom>
          <a:ln cap="rnd" w="66675">
            <a:solidFill>
              <a:srgbClr val="2F80ED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0" id="20"/>
          <p:cNvGrpSpPr/>
          <p:nvPr/>
        </p:nvGrpSpPr>
        <p:grpSpPr>
          <a:xfrm rot="0">
            <a:off x="11239500" y="3810000"/>
            <a:ext cx="1809750" cy="1809750"/>
            <a:chOff x="0" y="0"/>
            <a:chExt cx="2413000" cy="2413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413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2413000">
                  <a:moveTo>
                    <a:pt x="120316" y="0"/>
                  </a:moveTo>
                  <a:lnTo>
                    <a:pt x="2292684" y="0"/>
                  </a:lnTo>
                  <a:cubicBezTo>
                    <a:pt x="2324594" y="0"/>
                    <a:pt x="2355197" y="12676"/>
                    <a:pt x="2377760" y="35240"/>
                  </a:cubicBezTo>
                  <a:cubicBezTo>
                    <a:pt x="2400324" y="57803"/>
                    <a:pt x="2413000" y="88406"/>
                    <a:pt x="2413000" y="120316"/>
                  </a:cubicBezTo>
                  <a:lnTo>
                    <a:pt x="2413000" y="2292684"/>
                  </a:lnTo>
                  <a:cubicBezTo>
                    <a:pt x="2413000" y="2324594"/>
                    <a:pt x="2400324" y="2355197"/>
                    <a:pt x="2377760" y="2377760"/>
                  </a:cubicBezTo>
                  <a:cubicBezTo>
                    <a:pt x="2355197" y="2400324"/>
                    <a:pt x="2324594" y="2413000"/>
                    <a:pt x="2292684" y="2413000"/>
                  </a:cubicBezTo>
                  <a:lnTo>
                    <a:pt x="120316" y="2413000"/>
                  </a:lnTo>
                  <a:cubicBezTo>
                    <a:pt x="88406" y="2413000"/>
                    <a:pt x="57803" y="2400324"/>
                    <a:pt x="35240" y="2377760"/>
                  </a:cubicBezTo>
                  <a:cubicBezTo>
                    <a:pt x="12676" y="2355197"/>
                    <a:pt x="0" y="2324594"/>
                    <a:pt x="0" y="2292684"/>
                  </a:cubicBezTo>
                  <a:lnTo>
                    <a:pt x="0" y="120316"/>
                  </a:lnTo>
                  <a:cubicBezTo>
                    <a:pt x="0" y="88406"/>
                    <a:pt x="12676" y="57803"/>
                    <a:pt x="35240" y="35240"/>
                  </a:cubicBezTo>
                  <a:cubicBezTo>
                    <a:pt x="57803" y="12676"/>
                    <a:pt x="88406" y="0"/>
                    <a:pt x="120316" y="0"/>
                  </a:cubicBezTo>
                  <a:close/>
                </a:path>
              </a:pathLst>
            </a:custGeom>
            <a:solidFill>
              <a:srgbClr val="EF476F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19050"/>
              <a:ext cx="2413000" cy="2393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5"/>
                </a:lnSpc>
              </a:pPr>
              <a:r>
                <a:rPr lang="en-US" sz="2250" b="true">
                  <a:solidFill>
                    <a:srgbClr val="17324D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A</a:t>
              </a:r>
            </a:p>
          </p:txBody>
        </p:sp>
      </p:grpSp>
      <p:sp>
        <p:nvSpPr>
          <p:cNvPr name="AutoShape 23" id="23"/>
          <p:cNvSpPr/>
          <p:nvPr/>
        </p:nvSpPr>
        <p:spPr>
          <a:xfrm>
            <a:off x="13144500" y="4714875"/>
            <a:ext cx="1905000" cy="0"/>
          </a:xfrm>
          <a:prstGeom prst="line">
            <a:avLst/>
          </a:prstGeom>
          <a:ln cap="rnd" w="66675">
            <a:solidFill>
              <a:srgbClr val="2F80ED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4" id="24"/>
          <p:cNvGrpSpPr/>
          <p:nvPr/>
        </p:nvGrpSpPr>
        <p:grpSpPr>
          <a:xfrm rot="0">
            <a:off x="15144750" y="3810000"/>
            <a:ext cx="1143000" cy="1809750"/>
            <a:chOff x="0" y="0"/>
            <a:chExt cx="1524000" cy="2413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524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1524000">
                  <a:moveTo>
                    <a:pt x="190500" y="0"/>
                  </a:moveTo>
                  <a:lnTo>
                    <a:pt x="1333500" y="0"/>
                  </a:lnTo>
                  <a:cubicBezTo>
                    <a:pt x="1438710" y="0"/>
                    <a:pt x="1524000" y="85290"/>
                    <a:pt x="1524000" y="190500"/>
                  </a:cubicBezTo>
                  <a:lnTo>
                    <a:pt x="1524000" y="2222500"/>
                  </a:lnTo>
                  <a:cubicBezTo>
                    <a:pt x="1524000" y="2327710"/>
                    <a:pt x="1438710" y="2413000"/>
                    <a:pt x="1333500" y="2413000"/>
                  </a:cubicBezTo>
                  <a:lnTo>
                    <a:pt x="190500" y="2413000"/>
                  </a:lnTo>
                  <a:cubicBezTo>
                    <a:pt x="85290" y="2413000"/>
                    <a:pt x="0" y="2327710"/>
                    <a:pt x="0" y="2222500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rgbClr val="F9C74F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19050"/>
              <a:ext cx="1524000" cy="2393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5"/>
                </a:lnSpc>
              </a:pPr>
              <a:r>
                <a:rPr lang="en-US" sz="2250" b="true">
                  <a:solidFill>
                    <a:srgbClr val="17324D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B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EA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00075"/>
            <a:ext cx="15716250" cy="65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>
                <a:solidFill>
                  <a:srgbClr val="17324D"/>
                </a:solidFill>
                <a:latin typeface="Baloo"/>
                <a:ea typeface="Baloo"/>
                <a:cs typeface="Baloo"/>
                <a:sym typeface="Baloo"/>
              </a:rPr>
              <a:t>Sildin mi? Önce Geri Dönüşüm Kutusuna bak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000250" y="2857500"/>
            <a:ext cx="1809750" cy="1809750"/>
            <a:chOff x="0" y="0"/>
            <a:chExt cx="2413000" cy="2413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13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2413000">
                  <a:moveTo>
                    <a:pt x="120316" y="0"/>
                  </a:moveTo>
                  <a:lnTo>
                    <a:pt x="2292684" y="0"/>
                  </a:lnTo>
                  <a:cubicBezTo>
                    <a:pt x="2324594" y="0"/>
                    <a:pt x="2355197" y="12676"/>
                    <a:pt x="2377760" y="35240"/>
                  </a:cubicBezTo>
                  <a:cubicBezTo>
                    <a:pt x="2400324" y="57803"/>
                    <a:pt x="2413000" y="88406"/>
                    <a:pt x="2413000" y="120316"/>
                  </a:cubicBezTo>
                  <a:lnTo>
                    <a:pt x="2413000" y="2292684"/>
                  </a:lnTo>
                  <a:cubicBezTo>
                    <a:pt x="2413000" y="2324594"/>
                    <a:pt x="2400324" y="2355197"/>
                    <a:pt x="2377760" y="2377760"/>
                  </a:cubicBezTo>
                  <a:cubicBezTo>
                    <a:pt x="2355197" y="2400324"/>
                    <a:pt x="2324594" y="2413000"/>
                    <a:pt x="2292684" y="2413000"/>
                  </a:cubicBezTo>
                  <a:lnTo>
                    <a:pt x="120316" y="2413000"/>
                  </a:lnTo>
                  <a:cubicBezTo>
                    <a:pt x="88406" y="2413000"/>
                    <a:pt x="57803" y="2400324"/>
                    <a:pt x="35240" y="2377760"/>
                  </a:cubicBezTo>
                  <a:cubicBezTo>
                    <a:pt x="12676" y="2355197"/>
                    <a:pt x="0" y="2324594"/>
                    <a:pt x="0" y="2292684"/>
                  </a:cubicBezTo>
                  <a:lnTo>
                    <a:pt x="0" y="120316"/>
                  </a:lnTo>
                  <a:cubicBezTo>
                    <a:pt x="0" y="88406"/>
                    <a:pt x="12676" y="57803"/>
                    <a:pt x="35240" y="35240"/>
                  </a:cubicBezTo>
                  <a:cubicBezTo>
                    <a:pt x="57803" y="12676"/>
                    <a:pt x="88406" y="0"/>
                    <a:pt x="120316" y="0"/>
                  </a:cubicBezTo>
                  <a:close/>
                </a:path>
              </a:pathLst>
            </a:custGeom>
            <a:solidFill>
              <a:srgbClr val="2F80ED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2413000" cy="2393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5"/>
                </a:lnSpc>
              </a:pPr>
              <a:r>
                <a:rPr lang="en-US" sz="2250" b="true">
                  <a:solidFill>
                    <a:srgbClr val="17324D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ÖDEV</a:t>
              </a:r>
            </a:p>
          </p:txBody>
        </p:sp>
      </p:grpSp>
      <p:sp>
        <p:nvSpPr>
          <p:cNvPr name="AutoShape 6" id="6"/>
          <p:cNvSpPr/>
          <p:nvPr/>
        </p:nvSpPr>
        <p:spPr>
          <a:xfrm>
            <a:off x="4095750" y="3762375"/>
            <a:ext cx="3143250" cy="0"/>
          </a:xfrm>
          <a:prstGeom prst="line">
            <a:avLst/>
          </a:prstGeom>
          <a:ln cap="rnd" w="66675">
            <a:solidFill>
              <a:srgbClr val="2F80ED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7" id="7"/>
          <p:cNvGrpSpPr/>
          <p:nvPr/>
        </p:nvGrpSpPr>
        <p:grpSpPr>
          <a:xfrm rot="0">
            <a:off x="7429500" y="2571750"/>
            <a:ext cx="2857500" cy="2857500"/>
            <a:chOff x="0" y="0"/>
            <a:chExt cx="3810000" cy="381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810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38100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3733800"/>
                  </a:lnTo>
                  <a:cubicBezTo>
                    <a:pt x="3810000" y="3775884"/>
                    <a:pt x="3775884" y="3810000"/>
                    <a:pt x="3733800" y="3810000"/>
                  </a:cubicBezTo>
                  <a:lnTo>
                    <a:pt x="76200" y="3810000"/>
                  </a:lnTo>
                  <a:cubicBezTo>
                    <a:pt x="34116" y="3810000"/>
                    <a:pt x="0" y="3775884"/>
                    <a:pt x="0" y="3733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61758A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19050"/>
              <a:ext cx="3810000" cy="3790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sz="2100" b="true">
                  <a:solidFill>
                    <a:srgbClr val="17324D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GERİ</a:t>
              </a:r>
            </a:p>
            <a:p>
              <a:pPr algn="ctr">
                <a:lnSpc>
                  <a:spcPts val="2310"/>
                </a:lnSpc>
              </a:pPr>
              <a:r>
                <a:rPr lang="en-US" sz="2100" b="true">
                  <a:solidFill>
                    <a:srgbClr val="17324D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DÖNÜŞÜM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>
            <a:off x="10477500" y="3762375"/>
            <a:ext cx="3048000" cy="0"/>
          </a:xfrm>
          <a:prstGeom prst="line">
            <a:avLst/>
          </a:prstGeom>
          <a:ln cap="rnd" w="66675">
            <a:solidFill>
              <a:srgbClr val="43AA8B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1" id="11"/>
          <p:cNvGrpSpPr/>
          <p:nvPr/>
        </p:nvGrpSpPr>
        <p:grpSpPr>
          <a:xfrm rot="0">
            <a:off x="13811250" y="2857500"/>
            <a:ext cx="1809750" cy="1809750"/>
            <a:chOff x="0" y="0"/>
            <a:chExt cx="2413000" cy="2413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13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2413000">
                  <a:moveTo>
                    <a:pt x="120316" y="0"/>
                  </a:moveTo>
                  <a:lnTo>
                    <a:pt x="2292684" y="0"/>
                  </a:lnTo>
                  <a:cubicBezTo>
                    <a:pt x="2324594" y="0"/>
                    <a:pt x="2355197" y="12676"/>
                    <a:pt x="2377760" y="35240"/>
                  </a:cubicBezTo>
                  <a:cubicBezTo>
                    <a:pt x="2400324" y="57803"/>
                    <a:pt x="2413000" y="88406"/>
                    <a:pt x="2413000" y="120316"/>
                  </a:cubicBezTo>
                  <a:lnTo>
                    <a:pt x="2413000" y="2292684"/>
                  </a:lnTo>
                  <a:cubicBezTo>
                    <a:pt x="2413000" y="2324594"/>
                    <a:pt x="2400324" y="2355197"/>
                    <a:pt x="2377760" y="2377760"/>
                  </a:cubicBezTo>
                  <a:cubicBezTo>
                    <a:pt x="2355197" y="2400324"/>
                    <a:pt x="2324594" y="2413000"/>
                    <a:pt x="2292684" y="2413000"/>
                  </a:cubicBezTo>
                  <a:lnTo>
                    <a:pt x="120316" y="2413000"/>
                  </a:lnTo>
                  <a:cubicBezTo>
                    <a:pt x="88406" y="2413000"/>
                    <a:pt x="57803" y="2400324"/>
                    <a:pt x="35240" y="2377760"/>
                  </a:cubicBezTo>
                  <a:cubicBezTo>
                    <a:pt x="12676" y="2355197"/>
                    <a:pt x="0" y="2324594"/>
                    <a:pt x="0" y="2292684"/>
                  </a:cubicBezTo>
                  <a:lnTo>
                    <a:pt x="0" y="120316"/>
                  </a:lnTo>
                  <a:cubicBezTo>
                    <a:pt x="0" y="88406"/>
                    <a:pt x="12676" y="57803"/>
                    <a:pt x="35240" y="35240"/>
                  </a:cubicBezTo>
                  <a:cubicBezTo>
                    <a:pt x="57803" y="12676"/>
                    <a:pt x="88406" y="0"/>
                    <a:pt x="120316" y="0"/>
                  </a:cubicBezTo>
                  <a:close/>
                </a:path>
              </a:pathLst>
            </a:custGeom>
            <a:solidFill>
              <a:srgbClr val="43AA8B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19050"/>
              <a:ext cx="2413000" cy="2393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5"/>
                </a:lnSpc>
              </a:pPr>
              <a:r>
                <a:rPr lang="en-US" sz="2250" b="true">
                  <a:solidFill>
                    <a:srgbClr val="17324D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ÖDEV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952500" y="7810500"/>
            <a:ext cx="4476750" cy="278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875" b="true">
                <a:solidFill>
                  <a:srgbClr val="17324D"/>
                </a:solidFill>
                <a:latin typeface="Nunito Bold"/>
                <a:ea typeface="Nunito Bold"/>
                <a:cs typeface="Nunito Bold"/>
                <a:sym typeface="Nunito Bold"/>
              </a:rPr>
              <a:t>1  Dosyayı seç → Sil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858000" y="7810500"/>
            <a:ext cx="4476750" cy="278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875" b="true">
                <a:solidFill>
                  <a:srgbClr val="17324D"/>
                </a:solidFill>
                <a:latin typeface="Nunito Bold"/>
                <a:ea typeface="Nunito Bold"/>
                <a:cs typeface="Nunito Bold"/>
                <a:sym typeface="Nunito Bold"/>
              </a:rPr>
              <a:t>2  Kutuyu aç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573000" y="7810500"/>
            <a:ext cx="4762500" cy="278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875" b="true">
                <a:solidFill>
                  <a:srgbClr val="17324D"/>
                </a:solidFill>
                <a:latin typeface="Nunito Bold"/>
                <a:ea typeface="Nunito Bold"/>
                <a:cs typeface="Nunito Bold"/>
                <a:sym typeface="Nunito Bold"/>
              </a:rPr>
              <a:t>3  Sağ tık → Geri Yükle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143000" y="8715375"/>
            <a:ext cx="16002000" cy="952500"/>
            <a:chOff x="0" y="0"/>
            <a:chExt cx="21336000" cy="1270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336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1270000"/>
                  </a:lnTo>
                  <a:lnTo>
                    <a:pt x="0" y="1270000"/>
                  </a:lnTo>
                  <a:close/>
                </a:path>
              </a:pathLst>
            </a:custGeom>
            <a:solidFill>
              <a:srgbClr val="FFE8EE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13360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524000" y="8963025"/>
            <a:ext cx="15240000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2025" b="true">
                <a:solidFill>
                  <a:srgbClr val="EF476F"/>
                </a:solidFill>
                <a:latin typeface="Nunito Bold"/>
                <a:ea typeface="Nunito Bold"/>
                <a:cs typeface="Nunito Bold"/>
                <a:sym typeface="Nunito Bold"/>
              </a:rPr>
              <a:t>Dikkat: Kutu boşaltıldıysa dosya her zaman geri gelmeyebilir.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742950"/>
            <a:ext cx="15240000" cy="65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>
                <a:solidFill>
                  <a:srgbClr val="17324D"/>
                </a:solidFill>
                <a:latin typeface="Baloo"/>
                <a:ea typeface="Baloo"/>
                <a:cs typeface="Baloo"/>
                <a:sym typeface="Baloo"/>
              </a:rPr>
              <a:t>ZIP: Birçok dosyayı tek pakette toplar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714500" y="2857500"/>
            <a:ext cx="1809750" cy="1809750"/>
            <a:chOff x="0" y="0"/>
            <a:chExt cx="2413000" cy="2413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13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2413000">
                  <a:moveTo>
                    <a:pt x="120316" y="0"/>
                  </a:moveTo>
                  <a:lnTo>
                    <a:pt x="2292684" y="0"/>
                  </a:lnTo>
                  <a:cubicBezTo>
                    <a:pt x="2324594" y="0"/>
                    <a:pt x="2355197" y="12676"/>
                    <a:pt x="2377760" y="35240"/>
                  </a:cubicBezTo>
                  <a:cubicBezTo>
                    <a:pt x="2400324" y="57803"/>
                    <a:pt x="2413000" y="88406"/>
                    <a:pt x="2413000" y="120316"/>
                  </a:cubicBezTo>
                  <a:lnTo>
                    <a:pt x="2413000" y="2292684"/>
                  </a:lnTo>
                  <a:cubicBezTo>
                    <a:pt x="2413000" y="2324594"/>
                    <a:pt x="2400324" y="2355197"/>
                    <a:pt x="2377760" y="2377760"/>
                  </a:cubicBezTo>
                  <a:cubicBezTo>
                    <a:pt x="2355197" y="2400324"/>
                    <a:pt x="2324594" y="2413000"/>
                    <a:pt x="2292684" y="2413000"/>
                  </a:cubicBezTo>
                  <a:lnTo>
                    <a:pt x="120316" y="2413000"/>
                  </a:lnTo>
                  <a:cubicBezTo>
                    <a:pt x="88406" y="2413000"/>
                    <a:pt x="57803" y="2400324"/>
                    <a:pt x="35240" y="2377760"/>
                  </a:cubicBezTo>
                  <a:cubicBezTo>
                    <a:pt x="12676" y="2355197"/>
                    <a:pt x="0" y="2324594"/>
                    <a:pt x="0" y="2292684"/>
                  </a:cubicBezTo>
                  <a:lnTo>
                    <a:pt x="0" y="120316"/>
                  </a:lnTo>
                  <a:cubicBezTo>
                    <a:pt x="0" y="88406"/>
                    <a:pt x="12676" y="57803"/>
                    <a:pt x="35240" y="35240"/>
                  </a:cubicBezTo>
                  <a:cubicBezTo>
                    <a:pt x="57803" y="12676"/>
                    <a:pt x="88406" y="0"/>
                    <a:pt x="120316" y="0"/>
                  </a:cubicBezTo>
                  <a:close/>
                </a:path>
              </a:pathLst>
            </a:custGeom>
            <a:solidFill>
              <a:srgbClr val="F9C74F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2413000" cy="2393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5"/>
                </a:lnSpc>
              </a:pPr>
              <a:r>
                <a:rPr lang="en-US" sz="2250" b="true">
                  <a:solidFill>
                    <a:srgbClr val="17324D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ÖDEV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238500" y="5048250"/>
            <a:ext cx="1809750" cy="1809750"/>
            <a:chOff x="0" y="0"/>
            <a:chExt cx="2413000" cy="2413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13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2413000">
                  <a:moveTo>
                    <a:pt x="120316" y="0"/>
                  </a:moveTo>
                  <a:lnTo>
                    <a:pt x="2292684" y="0"/>
                  </a:lnTo>
                  <a:cubicBezTo>
                    <a:pt x="2324594" y="0"/>
                    <a:pt x="2355197" y="12676"/>
                    <a:pt x="2377760" y="35240"/>
                  </a:cubicBezTo>
                  <a:cubicBezTo>
                    <a:pt x="2400324" y="57803"/>
                    <a:pt x="2413000" y="88406"/>
                    <a:pt x="2413000" y="120316"/>
                  </a:cubicBezTo>
                  <a:lnTo>
                    <a:pt x="2413000" y="2292684"/>
                  </a:lnTo>
                  <a:cubicBezTo>
                    <a:pt x="2413000" y="2324594"/>
                    <a:pt x="2400324" y="2355197"/>
                    <a:pt x="2377760" y="2377760"/>
                  </a:cubicBezTo>
                  <a:cubicBezTo>
                    <a:pt x="2355197" y="2400324"/>
                    <a:pt x="2324594" y="2413000"/>
                    <a:pt x="2292684" y="2413000"/>
                  </a:cubicBezTo>
                  <a:lnTo>
                    <a:pt x="120316" y="2413000"/>
                  </a:lnTo>
                  <a:cubicBezTo>
                    <a:pt x="88406" y="2413000"/>
                    <a:pt x="57803" y="2400324"/>
                    <a:pt x="35240" y="2377760"/>
                  </a:cubicBezTo>
                  <a:cubicBezTo>
                    <a:pt x="12676" y="2355197"/>
                    <a:pt x="0" y="2324594"/>
                    <a:pt x="0" y="2292684"/>
                  </a:cubicBezTo>
                  <a:lnTo>
                    <a:pt x="0" y="120316"/>
                  </a:lnTo>
                  <a:cubicBezTo>
                    <a:pt x="0" y="88406"/>
                    <a:pt x="12676" y="57803"/>
                    <a:pt x="35240" y="35240"/>
                  </a:cubicBezTo>
                  <a:cubicBezTo>
                    <a:pt x="57803" y="12676"/>
                    <a:pt x="88406" y="0"/>
                    <a:pt x="120316" y="0"/>
                  </a:cubicBezTo>
                  <a:close/>
                </a:path>
              </a:pathLst>
            </a:custGeom>
            <a:solidFill>
              <a:srgbClr val="43AA8B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19050"/>
              <a:ext cx="2413000" cy="2393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5"/>
                </a:lnSpc>
              </a:pPr>
              <a:r>
                <a:rPr lang="en-US" sz="2250" b="true">
                  <a:solidFill>
                    <a:srgbClr val="17324D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FOTO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953000" y="2857500"/>
            <a:ext cx="1809750" cy="1809750"/>
            <a:chOff x="0" y="0"/>
            <a:chExt cx="2413000" cy="2413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13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2413000">
                  <a:moveTo>
                    <a:pt x="120316" y="0"/>
                  </a:moveTo>
                  <a:lnTo>
                    <a:pt x="2292684" y="0"/>
                  </a:lnTo>
                  <a:cubicBezTo>
                    <a:pt x="2324594" y="0"/>
                    <a:pt x="2355197" y="12676"/>
                    <a:pt x="2377760" y="35240"/>
                  </a:cubicBezTo>
                  <a:cubicBezTo>
                    <a:pt x="2400324" y="57803"/>
                    <a:pt x="2413000" y="88406"/>
                    <a:pt x="2413000" y="120316"/>
                  </a:cubicBezTo>
                  <a:lnTo>
                    <a:pt x="2413000" y="2292684"/>
                  </a:lnTo>
                  <a:cubicBezTo>
                    <a:pt x="2413000" y="2324594"/>
                    <a:pt x="2400324" y="2355197"/>
                    <a:pt x="2377760" y="2377760"/>
                  </a:cubicBezTo>
                  <a:cubicBezTo>
                    <a:pt x="2355197" y="2400324"/>
                    <a:pt x="2324594" y="2413000"/>
                    <a:pt x="2292684" y="2413000"/>
                  </a:cubicBezTo>
                  <a:lnTo>
                    <a:pt x="120316" y="2413000"/>
                  </a:lnTo>
                  <a:cubicBezTo>
                    <a:pt x="88406" y="2413000"/>
                    <a:pt x="57803" y="2400324"/>
                    <a:pt x="35240" y="2377760"/>
                  </a:cubicBezTo>
                  <a:cubicBezTo>
                    <a:pt x="12676" y="2355197"/>
                    <a:pt x="0" y="2324594"/>
                    <a:pt x="0" y="2292684"/>
                  </a:cubicBezTo>
                  <a:lnTo>
                    <a:pt x="0" y="120316"/>
                  </a:lnTo>
                  <a:cubicBezTo>
                    <a:pt x="0" y="88406"/>
                    <a:pt x="12676" y="57803"/>
                    <a:pt x="35240" y="35240"/>
                  </a:cubicBezTo>
                  <a:cubicBezTo>
                    <a:pt x="57803" y="12676"/>
                    <a:pt x="88406" y="0"/>
                    <a:pt x="120316" y="0"/>
                  </a:cubicBezTo>
                  <a:close/>
                </a:path>
              </a:pathLst>
            </a:custGeom>
            <a:solidFill>
              <a:srgbClr val="EF476F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19050"/>
              <a:ext cx="2413000" cy="2393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5"/>
                </a:lnSpc>
              </a:pPr>
              <a:r>
                <a:rPr lang="en-US" sz="2250" b="true">
                  <a:solidFill>
                    <a:srgbClr val="17324D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SES</a:t>
              </a:r>
            </a:p>
          </p:txBody>
        </p:sp>
      </p:grpSp>
      <p:sp>
        <p:nvSpPr>
          <p:cNvPr name="AutoShape 12" id="12"/>
          <p:cNvSpPr/>
          <p:nvPr/>
        </p:nvSpPr>
        <p:spPr>
          <a:xfrm>
            <a:off x="7048500" y="4762500"/>
            <a:ext cx="2190750" cy="0"/>
          </a:xfrm>
          <a:prstGeom prst="line">
            <a:avLst/>
          </a:prstGeom>
          <a:ln cap="rnd" w="66675">
            <a:solidFill>
              <a:srgbClr val="2F80ED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3" id="13"/>
          <p:cNvGrpSpPr/>
          <p:nvPr/>
        </p:nvGrpSpPr>
        <p:grpSpPr>
          <a:xfrm rot="0">
            <a:off x="9525000" y="2667000"/>
            <a:ext cx="6096000" cy="4095750"/>
            <a:chOff x="0" y="0"/>
            <a:chExt cx="8128000" cy="5461000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8128000" cy="5461000"/>
              <a:chOff x="0" y="0"/>
              <a:chExt cx="8128000" cy="54610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0" cy="5461000"/>
              </a:xfrm>
              <a:custGeom>
                <a:avLst/>
                <a:gdLst/>
                <a:ahLst/>
                <a:cxnLst/>
                <a:rect r="r" b="b" t="t" l="l"/>
                <a:pathLst>
                  <a:path h="5461000" w="8128000">
                    <a:moveTo>
                      <a:pt x="0" y="0"/>
                    </a:moveTo>
                    <a:lnTo>
                      <a:pt x="8128000" y="0"/>
                    </a:lnTo>
                    <a:lnTo>
                      <a:pt x="8128000" y="5461000"/>
                    </a:lnTo>
                    <a:lnTo>
                      <a:pt x="0" y="5461000"/>
                    </a:lnTo>
                    <a:close/>
                  </a:path>
                </a:pathLst>
              </a:custGeom>
              <a:solidFill>
                <a:srgbClr val="2F80E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8128000" cy="549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1397000" y="1625600"/>
              <a:ext cx="5334000" cy="1676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500"/>
                </a:lnSpc>
              </a:pPr>
              <a:r>
                <a:rPr lang="en-US" sz="7500">
                  <a:solidFill>
                    <a:srgbClr val="FFFFFF"/>
                  </a:solidFill>
                  <a:latin typeface="Baloo"/>
                  <a:ea typeface="Baloo"/>
                  <a:cs typeface="Baloo"/>
                  <a:sym typeface="Baloo"/>
                </a:rPr>
                <a:t>ZIP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8382000" y="7200900"/>
            <a:ext cx="7620000" cy="739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2175">
                <a:solidFill>
                  <a:srgbClr val="17324D"/>
                </a:solidFill>
                <a:latin typeface="Nunito"/>
                <a:ea typeface="Nunito"/>
                <a:cs typeface="Nunito"/>
                <a:sym typeface="Nunito"/>
              </a:rPr>
              <a:t>Dosyaları bir arada tutar, daha kolay paylaşmaya yardımcı olur. Açmak için ‘Tümünü ayıkla’ seçilir.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47700"/>
            <a:ext cx="14287500" cy="65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>
                <a:solidFill>
                  <a:srgbClr val="17324D"/>
                </a:solidFill>
                <a:latin typeface="Baloo"/>
                <a:ea typeface="Baloo"/>
                <a:cs typeface="Baloo"/>
                <a:sym typeface="Baloo"/>
              </a:rPr>
              <a:t>Düzenli dosyalama = daha az arama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47750" y="2190750"/>
            <a:ext cx="7620000" cy="2667000"/>
            <a:chOff x="0" y="0"/>
            <a:chExt cx="10160000" cy="3556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0160000" cy="3556000"/>
              <a:chOff x="0" y="0"/>
              <a:chExt cx="10160000" cy="3556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0160000" cy="3556000"/>
              </a:xfrm>
              <a:custGeom>
                <a:avLst/>
                <a:gdLst/>
                <a:ahLst/>
                <a:cxnLst/>
                <a:rect r="r" b="b" t="t" l="l"/>
                <a:pathLst>
                  <a:path h="3556000" w="10160000">
                    <a:moveTo>
                      <a:pt x="0" y="0"/>
                    </a:moveTo>
                    <a:lnTo>
                      <a:pt x="10160000" y="0"/>
                    </a:lnTo>
                    <a:lnTo>
                      <a:pt x="10160000" y="3556000"/>
                    </a:lnTo>
                    <a:lnTo>
                      <a:pt x="0" y="3556000"/>
                    </a:lnTo>
                    <a:close/>
                  </a:path>
                </a:pathLst>
              </a:custGeom>
              <a:solidFill>
                <a:srgbClr val="EAF6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10160000" cy="359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508000" y="593725"/>
              <a:ext cx="1651000" cy="11918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559"/>
                </a:lnSpc>
              </a:pPr>
              <a:r>
                <a:rPr lang="en-US" sz="5400">
                  <a:solidFill>
                    <a:srgbClr val="2F80ED"/>
                  </a:solidFill>
                  <a:latin typeface="Baloo"/>
                  <a:ea typeface="Baloo"/>
                  <a:cs typeface="Baloo"/>
                  <a:sym typeface="Baloo"/>
                </a:rPr>
                <a:t>1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2540000" y="1095375"/>
              <a:ext cx="6858000" cy="558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en-US" sz="2550" b="true">
                  <a:solidFill>
                    <a:srgbClr val="17324D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Derslere göre klasör aç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429750" y="2190750"/>
            <a:ext cx="7620000" cy="2667000"/>
            <a:chOff x="0" y="0"/>
            <a:chExt cx="10160000" cy="35560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0160000" cy="3556000"/>
              <a:chOff x="0" y="0"/>
              <a:chExt cx="10160000" cy="3556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0160000" cy="3556000"/>
              </a:xfrm>
              <a:custGeom>
                <a:avLst/>
                <a:gdLst/>
                <a:ahLst/>
                <a:cxnLst/>
                <a:rect r="r" b="b" t="t" l="l"/>
                <a:pathLst>
                  <a:path h="3556000" w="10160000">
                    <a:moveTo>
                      <a:pt x="0" y="0"/>
                    </a:moveTo>
                    <a:lnTo>
                      <a:pt x="10160000" y="0"/>
                    </a:lnTo>
                    <a:lnTo>
                      <a:pt x="10160000" y="3556000"/>
                    </a:lnTo>
                    <a:lnTo>
                      <a:pt x="0" y="3556000"/>
                    </a:lnTo>
                    <a:close/>
                  </a:path>
                </a:pathLst>
              </a:custGeom>
              <a:solidFill>
                <a:srgbClr val="FFF8D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0160000" cy="359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508000" y="593725"/>
              <a:ext cx="1651000" cy="11918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559"/>
                </a:lnSpc>
              </a:pPr>
              <a:r>
                <a:rPr lang="en-US" sz="5400">
                  <a:solidFill>
                    <a:srgbClr val="43AA8B"/>
                  </a:solidFill>
                  <a:latin typeface="Baloo"/>
                  <a:ea typeface="Baloo"/>
                  <a:cs typeface="Baloo"/>
                  <a:sym typeface="Baloo"/>
                </a:rPr>
                <a:t>2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2540000" y="1095375"/>
              <a:ext cx="6858000" cy="558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en-US" sz="2550" b="true">
                  <a:solidFill>
                    <a:srgbClr val="17324D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Anlamlı adlar kullan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47750" y="5524500"/>
            <a:ext cx="7620000" cy="2667000"/>
            <a:chOff x="0" y="0"/>
            <a:chExt cx="10160000" cy="35560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0160000" cy="3556000"/>
              <a:chOff x="0" y="0"/>
              <a:chExt cx="10160000" cy="35560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0160000" cy="3556000"/>
              </a:xfrm>
              <a:custGeom>
                <a:avLst/>
                <a:gdLst/>
                <a:ahLst/>
                <a:cxnLst/>
                <a:rect r="r" b="b" t="t" l="l"/>
                <a:pathLst>
                  <a:path h="3556000" w="10160000">
                    <a:moveTo>
                      <a:pt x="0" y="0"/>
                    </a:moveTo>
                    <a:lnTo>
                      <a:pt x="10160000" y="0"/>
                    </a:lnTo>
                    <a:lnTo>
                      <a:pt x="10160000" y="3556000"/>
                    </a:lnTo>
                    <a:lnTo>
                      <a:pt x="0" y="3556000"/>
                    </a:lnTo>
                    <a:close/>
                  </a:path>
                </a:pathLst>
              </a:custGeom>
              <a:solidFill>
                <a:srgbClr val="EAF6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0160000" cy="359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508000" y="593725"/>
              <a:ext cx="1651000" cy="11918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559"/>
                </a:lnSpc>
              </a:pPr>
              <a:r>
                <a:rPr lang="en-US" sz="5400">
                  <a:solidFill>
                    <a:srgbClr val="EF476F"/>
                  </a:solidFill>
                  <a:latin typeface="Baloo"/>
                  <a:ea typeface="Baloo"/>
                  <a:cs typeface="Baloo"/>
                  <a:sym typeface="Baloo"/>
                </a:rPr>
                <a:t>3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2540000" y="1095375"/>
              <a:ext cx="6858000" cy="558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en-US" sz="2550" b="true">
                  <a:solidFill>
                    <a:srgbClr val="17324D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Gereksiz kopyaları sil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429750" y="5524500"/>
            <a:ext cx="7620000" cy="2667000"/>
            <a:chOff x="0" y="0"/>
            <a:chExt cx="10160000" cy="3556000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10160000" cy="3556000"/>
              <a:chOff x="0" y="0"/>
              <a:chExt cx="10160000" cy="35560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0160000" cy="3556000"/>
              </a:xfrm>
              <a:custGeom>
                <a:avLst/>
                <a:gdLst/>
                <a:ahLst/>
                <a:cxnLst/>
                <a:rect r="r" b="b" t="t" l="l"/>
                <a:pathLst>
                  <a:path h="3556000" w="10160000">
                    <a:moveTo>
                      <a:pt x="0" y="0"/>
                    </a:moveTo>
                    <a:lnTo>
                      <a:pt x="10160000" y="0"/>
                    </a:lnTo>
                    <a:lnTo>
                      <a:pt x="10160000" y="3556000"/>
                    </a:lnTo>
                    <a:lnTo>
                      <a:pt x="0" y="3556000"/>
                    </a:lnTo>
                    <a:close/>
                  </a:path>
                </a:pathLst>
              </a:custGeom>
              <a:solidFill>
                <a:srgbClr val="FFF8D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10160000" cy="359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508000" y="593725"/>
              <a:ext cx="1651000" cy="11918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559"/>
                </a:lnSpc>
              </a:pPr>
              <a:r>
                <a:rPr lang="en-US" sz="5400">
                  <a:solidFill>
                    <a:srgbClr val="F9C74F"/>
                  </a:solidFill>
                  <a:latin typeface="Baloo"/>
                  <a:ea typeface="Baloo"/>
                  <a:cs typeface="Baloo"/>
                  <a:sym typeface="Baloo"/>
                </a:rPr>
                <a:t>4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2540000" y="1095375"/>
              <a:ext cx="6858000" cy="558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en-US" sz="2550" b="true">
                  <a:solidFill>
                    <a:srgbClr val="17324D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Haftada bir düzenle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EA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47700"/>
            <a:ext cx="14763750" cy="65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>
                <a:solidFill>
                  <a:srgbClr val="17324D"/>
                </a:solidFill>
                <a:latin typeface="Baloo"/>
                <a:ea typeface="Baloo"/>
                <a:cs typeface="Baloo"/>
                <a:sym typeface="Baloo"/>
              </a:rPr>
              <a:t>Dosyanı koru: Açmadan önce düşün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5905500" y="2857500"/>
            <a:ext cx="6477000" cy="3810000"/>
            <a:chOff x="0" y="0"/>
            <a:chExt cx="8636000" cy="5080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8636000" cy="5080000"/>
              <a:chOff x="0" y="0"/>
              <a:chExt cx="8636000" cy="5080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636000" cy="5080000"/>
              </a:xfrm>
              <a:custGeom>
                <a:avLst/>
                <a:gdLst/>
                <a:ahLst/>
                <a:cxnLst/>
                <a:rect r="r" b="b" t="t" l="l"/>
                <a:pathLst>
                  <a:path h="5080000" w="8636000">
                    <a:moveTo>
                      <a:pt x="33618" y="0"/>
                    </a:moveTo>
                    <a:lnTo>
                      <a:pt x="8602383" y="0"/>
                    </a:lnTo>
                    <a:cubicBezTo>
                      <a:pt x="8611298" y="0"/>
                      <a:pt x="8619849" y="3542"/>
                      <a:pt x="8626153" y="9846"/>
                    </a:cubicBezTo>
                    <a:cubicBezTo>
                      <a:pt x="8632458" y="16151"/>
                      <a:pt x="8636000" y="24702"/>
                      <a:pt x="8636000" y="33618"/>
                    </a:cubicBezTo>
                    <a:lnTo>
                      <a:pt x="8636000" y="5046382"/>
                    </a:lnTo>
                    <a:cubicBezTo>
                      <a:pt x="8636000" y="5055298"/>
                      <a:pt x="8632458" y="5063849"/>
                      <a:pt x="8626153" y="5070154"/>
                    </a:cubicBezTo>
                    <a:cubicBezTo>
                      <a:pt x="8619849" y="5076458"/>
                      <a:pt x="8611298" y="5080000"/>
                      <a:pt x="8602383" y="5080000"/>
                    </a:cubicBezTo>
                    <a:lnTo>
                      <a:pt x="33618" y="5080000"/>
                    </a:lnTo>
                    <a:cubicBezTo>
                      <a:pt x="24702" y="5080000"/>
                      <a:pt x="16151" y="5076458"/>
                      <a:pt x="9846" y="5070154"/>
                    </a:cubicBezTo>
                    <a:cubicBezTo>
                      <a:pt x="3542" y="5063849"/>
                      <a:pt x="0" y="5055298"/>
                      <a:pt x="0" y="5046382"/>
                    </a:cubicBezTo>
                    <a:lnTo>
                      <a:pt x="0" y="33618"/>
                    </a:lnTo>
                    <a:cubicBezTo>
                      <a:pt x="0" y="24702"/>
                      <a:pt x="3542" y="16151"/>
                      <a:pt x="9846" y="9846"/>
                    </a:cubicBezTo>
                    <a:cubicBezTo>
                      <a:pt x="16151" y="3542"/>
                      <a:pt x="24702" y="0"/>
                      <a:pt x="33618" y="0"/>
                    </a:cubicBezTo>
                    <a:close/>
                  </a:path>
                </a:pathLst>
              </a:custGeom>
              <a:solidFill>
                <a:srgbClr val="43AA8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19050"/>
                <a:ext cx="8636000" cy="50609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650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381000" y="1609725"/>
              <a:ext cx="7874000" cy="11918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559"/>
                </a:lnSpc>
              </a:pPr>
              <a:r>
                <a:rPr lang="en-US" sz="5400">
                  <a:solidFill>
                    <a:srgbClr val="FFFFFF"/>
                  </a:solidFill>
                  <a:latin typeface="Baloo"/>
                  <a:ea typeface="Baloo"/>
                  <a:cs typeface="Baloo"/>
                  <a:sym typeface="Baloo"/>
                </a:rPr>
                <a:t>GÜVENLİ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14500" y="3238500"/>
            <a:ext cx="3238500" cy="1619250"/>
            <a:chOff x="0" y="0"/>
            <a:chExt cx="4318000" cy="2159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318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4318000">
                  <a:moveTo>
                    <a:pt x="67235" y="0"/>
                  </a:moveTo>
                  <a:lnTo>
                    <a:pt x="4250765" y="0"/>
                  </a:lnTo>
                  <a:cubicBezTo>
                    <a:pt x="4287898" y="0"/>
                    <a:pt x="4318000" y="30102"/>
                    <a:pt x="4318000" y="67235"/>
                  </a:cubicBezTo>
                  <a:lnTo>
                    <a:pt x="4318000" y="2091765"/>
                  </a:lnTo>
                  <a:cubicBezTo>
                    <a:pt x="4318000" y="2128898"/>
                    <a:pt x="4287898" y="2159000"/>
                    <a:pt x="4250765" y="2159000"/>
                  </a:cubicBezTo>
                  <a:lnTo>
                    <a:pt x="67235" y="2159000"/>
                  </a:lnTo>
                  <a:cubicBezTo>
                    <a:pt x="30102" y="2159000"/>
                    <a:pt x="0" y="2128898"/>
                    <a:pt x="0" y="2091765"/>
                  </a:cubicBezTo>
                  <a:lnTo>
                    <a:pt x="0" y="67235"/>
                  </a:lnTo>
                  <a:cubicBezTo>
                    <a:pt x="0" y="30102"/>
                    <a:pt x="30102" y="0"/>
                    <a:pt x="67235" y="0"/>
                  </a:cubicBezTo>
                  <a:close/>
                </a:path>
              </a:pathLst>
            </a:custGeom>
            <a:solidFill>
              <a:srgbClr val="FFE8EE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28575"/>
              <a:ext cx="4318000" cy="213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70"/>
                </a:lnSpc>
              </a:pPr>
              <a:r>
                <a:rPr lang="en-US" sz="2700" b="true">
                  <a:solidFill>
                    <a:srgbClr val="17324D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AÇMA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14500" y="5905500"/>
            <a:ext cx="3238500" cy="1619250"/>
            <a:chOff x="0" y="0"/>
            <a:chExt cx="4318000" cy="2159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318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4318000">
                  <a:moveTo>
                    <a:pt x="67235" y="0"/>
                  </a:moveTo>
                  <a:lnTo>
                    <a:pt x="4250765" y="0"/>
                  </a:lnTo>
                  <a:cubicBezTo>
                    <a:pt x="4287898" y="0"/>
                    <a:pt x="4318000" y="30102"/>
                    <a:pt x="4318000" y="67235"/>
                  </a:cubicBezTo>
                  <a:lnTo>
                    <a:pt x="4318000" y="2091765"/>
                  </a:lnTo>
                  <a:cubicBezTo>
                    <a:pt x="4318000" y="2128898"/>
                    <a:pt x="4287898" y="2159000"/>
                    <a:pt x="4250765" y="2159000"/>
                  </a:cubicBezTo>
                  <a:lnTo>
                    <a:pt x="67235" y="2159000"/>
                  </a:lnTo>
                  <a:cubicBezTo>
                    <a:pt x="30102" y="2159000"/>
                    <a:pt x="0" y="2128898"/>
                    <a:pt x="0" y="2091765"/>
                  </a:cubicBezTo>
                  <a:lnTo>
                    <a:pt x="0" y="67235"/>
                  </a:lnTo>
                  <a:cubicBezTo>
                    <a:pt x="0" y="30102"/>
                    <a:pt x="30102" y="0"/>
                    <a:pt x="67235" y="0"/>
                  </a:cubicBezTo>
                  <a:close/>
                </a:path>
              </a:pathLst>
            </a:custGeom>
            <a:solidFill>
              <a:srgbClr val="FFE8EE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19050"/>
              <a:ext cx="4318000" cy="213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5"/>
                </a:lnSpc>
              </a:pPr>
              <a:r>
                <a:rPr lang="en-US" sz="2550" b="true">
                  <a:solidFill>
                    <a:srgbClr val="17324D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TIKLAMA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335000" y="3238500"/>
            <a:ext cx="3238500" cy="1619250"/>
            <a:chOff x="0" y="0"/>
            <a:chExt cx="4318000" cy="2159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318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4318000">
                  <a:moveTo>
                    <a:pt x="67235" y="0"/>
                  </a:moveTo>
                  <a:lnTo>
                    <a:pt x="4250765" y="0"/>
                  </a:lnTo>
                  <a:cubicBezTo>
                    <a:pt x="4287898" y="0"/>
                    <a:pt x="4318000" y="30102"/>
                    <a:pt x="4318000" y="67235"/>
                  </a:cubicBezTo>
                  <a:lnTo>
                    <a:pt x="4318000" y="2091765"/>
                  </a:lnTo>
                  <a:cubicBezTo>
                    <a:pt x="4318000" y="2128898"/>
                    <a:pt x="4287898" y="2159000"/>
                    <a:pt x="4250765" y="2159000"/>
                  </a:cubicBezTo>
                  <a:lnTo>
                    <a:pt x="67235" y="2159000"/>
                  </a:lnTo>
                  <a:cubicBezTo>
                    <a:pt x="30102" y="2159000"/>
                    <a:pt x="0" y="2128898"/>
                    <a:pt x="0" y="2091765"/>
                  </a:cubicBezTo>
                  <a:lnTo>
                    <a:pt x="0" y="67235"/>
                  </a:lnTo>
                  <a:cubicBezTo>
                    <a:pt x="0" y="30102"/>
                    <a:pt x="30102" y="0"/>
                    <a:pt x="67235" y="0"/>
                  </a:cubicBezTo>
                  <a:close/>
                </a:path>
              </a:pathLst>
            </a:custGeom>
            <a:solidFill>
              <a:srgbClr val="DFF6E8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19050"/>
              <a:ext cx="4318000" cy="213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5"/>
                </a:lnSpc>
              </a:pPr>
              <a:r>
                <a:rPr lang="en-US" sz="2550" b="true">
                  <a:solidFill>
                    <a:srgbClr val="17324D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YEDEKLE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335000" y="5905500"/>
            <a:ext cx="3238500" cy="1619250"/>
            <a:chOff x="0" y="0"/>
            <a:chExt cx="4318000" cy="2159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318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4318000">
                  <a:moveTo>
                    <a:pt x="67235" y="0"/>
                  </a:moveTo>
                  <a:lnTo>
                    <a:pt x="4250765" y="0"/>
                  </a:lnTo>
                  <a:cubicBezTo>
                    <a:pt x="4287898" y="0"/>
                    <a:pt x="4318000" y="30102"/>
                    <a:pt x="4318000" y="67235"/>
                  </a:cubicBezTo>
                  <a:lnTo>
                    <a:pt x="4318000" y="2091765"/>
                  </a:lnTo>
                  <a:cubicBezTo>
                    <a:pt x="4318000" y="2128898"/>
                    <a:pt x="4287898" y="2159000"/>
                    <a:pt x="4250765" y="2159000"/>
                  </a:cubicBezTo>
                  <a:lnTo>
                    <a:pt x="67235" y="2159000"/>
                  </a:lnTo>
                  <a:cubicBezTo>
                    <a:pt x="30102" y="2159000"/>
                    <a:pt x="0" y="2128898"/>
                    <a:pt x="0" y="2091765"/>
                  </a:cubicBezTo>
                  <a:lnTo>
                    <a:pt x="0" y="67235"/>
                  </a:lnTo>
                  <a:cubicBezTo>
                    <a:pt x="0" y="30102"/>
                    <a:pt x="30102" y="0"/>
                    <a:pt x="67235" y="0"/>
                  </a:cubicBezTo>
                  <a:close/>
                </a:path>
              </a:pathLst>
            </a:custGeom>
            <a:solidFill>
              <a:srgbClr val="DFF6E8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28575"/>
              <a:ext cx="4318000" cy="213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70"/>
                </a:lnSpc>
              </a:pPr>
              <a:r>
                <a:rPr lang="en-US" sz="2700" b="true">
                  <a:solidFill>
                    <a:srgbClr val="17324D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KORU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143000" y="2476500"/>
            <a:ext cx="4953000" cy="278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875" b="true">
                <a:solidFill>
                  <a:srgbClr val="17324D"/>
                </a:solidFill>
                <a:latin typeface="Nunito Bold"/>
                <a:ea typeface="Nunito Bold"/>
                <a:cs typeface="Nunito Bold"/>
                <a:sym typeface="Nunito Bold"/>
              </a:rPr>
              <a:t>Bilinmeyen dosyayı açma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43000" y="6953250"/>
            <a:ext cx="4953000" cy="278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875" b="true">
                <a:solidFill>
                  <a:srgbClr val="17324D"/>
                </a:solidFill>
                <a:latin typeface="Nunito Bold"/>
                <a:ea typeface="Nunito Bold"/>
                <a:cs typeface="Nunito Bold"/>
                <a:sym typeface="Nunito Bold"/>
              </a:rPr>
              <a:t>Şüpheli eke tıklama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382500" y="2476500"/>
            <a:ext cx="4953000" cy="278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875" b="true">
                <a:solidFill>
                  <a:srgbClr val="17324D"/>
                </a:solidFill>
                <a:latin typeface="Nunito Bold"/>
                <a:ea typeface="Nunito Bold"/>
                <a:cs typeface="Nunito Bold"/>
                <a:sym typeface="Nunito Bold"/>
              </a:rPr>
              <a:t>Önemli dosyayı yedekle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382500" y="6953250"/>
            <a:ext cx="4953000" cy="278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875" b="true">
                <a:solidFill>
                  <a:srgbClr val="17324D"/>
                </a:solidFill>
                <a:latin typeface="Nunito Bold"/>
                <a:ea typeface="Nunito Bold"/>
                <a:cs typeface="Nunito Bold"/>
                <a:sym typeface="Nunito Bold"/>
              </a:rPr>
              <a:t>Kişisel dosyanı koru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00075"/>
            <a:ext cx="15240000" cy="65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>
                <a:solidFill>
                  <a:srgbClr val="17324D"/>
                </a:solidFill>
                <a:latin typeface="Baloo"/>
                <a:ea typeface="Baloo"/>
                <a:cs typeface="Baloo"/>
                <a:sym typeface="Baloo"/>
              </a:rPr>
              <a:t>Görev: Kendi okul klasörünü düzenle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762000" y="3429000"/>
            <a:ext cx="2857500" cy="2381250"/>
            <a:chOff x="0" y="0"/>
            <a:chExt cx="3810000" cy="3175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810000" cy="3175000"/>
            </a:xfrm>
            <a:custGeom>
              <a:avLst/>
              <a:gdLst/>
              <a:ahLst/>
              <a:cxnLst/>
              <a:rect r="r" b="b" t="t" l="l"/>
              <a:pathLst>
                <a:path h="3175000" w="38100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3098800"/>
                  </a:lnTo>
                  <a:cubicBezTo>
                    <a:pt x="3810000" y="3140884"/>
                    <a:pt x="3775884" y="3175000"/>
                    <a:pt x="3733800" y="3175000"/>
                  </a:cubicBezTo>
                  <a:lnTo>
                    <a:pt x="76200" y="3175000"/>
                  </a:lnTo>
                  <a:cubicBezTo>
                    <a:pt x="34116" y="3175000"/>
                    <a:pt x="0" y="3140884"/>
                    <a:pt x="0" y="3098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DFF3FF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3810000" cy="3146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17324D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1</a:t>
              </a:r>
            </a:p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17324D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OKUL klasörü oluştur</a:t>
              </a:r>
            </a:p>
          </p:txBody>
        </p:sp>
      </p:grpSp>
      <p:sp>
        <p:nvSpPr>
          <p:cNvPr name="AutoShape 6" id="6"/>
          <p:cNvSpPr/>
          <p:nvPr/>
        </p:nvSpPr>
        <p:spPr>
          <a:xfrm>
            <a:off x="3619500" y="4619625"/>
            <a:ext cx="523875" cy="0"/>
          </a:xfrm>
          <a:prstGeom prst="line">
            <a:avLst/>
          </a:prstGeom>
          <a:ln cap="rnd" w="66675">
            <a:solidFill>
              <a:srgbClr val="2F80ED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7" id="7"/>
          <p:cNvGrpSpPr/>
          <p:nvPr/>
        </p:nvGrpSpPr>
        <p:grpSpPr>
          <a:xfrm rot="0">
            <a:off x="4238625" y="3429000"/>
            <a:ext cx="2857500" cy="2381250"/>
            <a:chOff x="0" y="0"/>
            <a:chExt cx="3810000" cy="3175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810000" cy="3175000"/>
            </a:xfrm>
            <a:custGeom>
              <a:avLst/>
              <a:gdLst/>
              <a:ahLst/>
              <a:cxnLst/>
              <a:rect r="r" b="b" t="t" l="l"/>
              <a:pathLst>
                <a:path h="3175000" w="38100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3098800"/>
                  </a:lnTo>
                  <a:cubicBezTo>
                    <a:pt x="3810000" y="3140884"/>
                    <a:pt x="3775884" y="3175000"/>
                    <a:pt x="3733800" y="3175000"/>
                  </a:cubicBezTo>
                  <a:lnTo>
                    <a:pt x="76200" y="3175000"/>
                  </a:lnTo>
                  <a:cubicBezTo>
                    <a:pt x="34116" y="3175000"/>
                    <a:pt x="0" y="3140884"/>
                    <a:pt x="0" y="3098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0C2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3810000" cy="3146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17324D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2</a:t>
              </a:r>
            </a:p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17324D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Bilişim dosyası oluştur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>
            <a:off x="7096125" y="4619625"/>
            <a:ext cx="523875" cy="0"/>
          </a:xfrm>
          <a:prstGeom prst="line">
            <a:avLst/>
          </a:prstGeom>
          <a:ln cap="rnd" w="66675">
            <a:solidFill>
              <a:srgbClr val="2F80ED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1" id="11"/>
          <p:cNvGrpSpPr/>
          <p:nvPr/>
        </p:nvGrpSpPr>
        <p:grpSpPr>
          <a:xfrm rot="0">
            <a:off x="7715250" y="3429000"/>
            <a:ext cx="2857500" cy="2381250"/>
            <a:chOff x="0" y="0"/>
            <a:chExt cx="3810000" cy="3175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10000" cy="3175000"/>
            </a:xfrm>
            <a:custGeom>
              <a:avLst/>
              <a:gdLst/>
              <a:ahLst/>
              <a:cxnLst/>
              <a:rect r="r" b="b" t="t" l="l"/>
              <a:pathLst>
                <a:path h="3175000" w="38100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3098800"/>
                  </a:lnTo>
                  <a:cubicBezTo>
                    <a:pt x="3810000" y="3140884"/>
                    <a:pt x="3775884" y="3175000"/>
                    <a:pt x="3733800" y="3175000"/>
                  </a:cubicBezTo>
                  <a:lnTo>
                    <a:pt x="76200" y="3175000"/>
                  </a:lnTo>
                  <a:cubicBezTo>
                    <a:pt x="34116" y="3175000"/>
                    <a:pt x="0" y="3140884"/>
                    <a:pt x="0" y="3098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DFF3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28575"/>
              <a:ext cx="3810000" cy="3146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17324D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3</a:t>
              </a:r>
            </a:p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17324D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Dosyayı yeniden adlandır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>
            <a:off x="10572750" y="4619625"/>
            <a:ext cx="523875" cy="0"/>
          </a:xfrm>
          <a:prstGeom prst="line">
            <a:avLst/>
          </a:prstGeom>
          <a:ln cap="rnd" w="66675">
            <a:solidFill>
              <a:srgbClr val="2F80ED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5" id="15"/>
          <p:cNvGrpSpPr/>
          <p:nvPr/>
        </p:nvGrpSpPr>
        <p:grpSpPr>
          <a:xfrm rot="0">
            <a:off x="11191875" y="3429000"/>
            <a:ext cx="2857500" cy="2381250"/>
            <a:chOff x="0" y="0"/>
            <a:chExt cx="3810000" cy="3175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810000" cy="3175000"/>
            </a:xfrm>
            <a:custGeom>
              <a:avLst/>
              <a:gdLst/>
              <a:ahLst/>
              <a:cxnLst/>
              <a:rect r="r" b="b" t="t" l="l"/>
              <a:pathLst>
                <a:path h="3175000" w="38100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3098800"/>
                  </a:lnTo>
                  <a:cubicBezTo>
                    <a:pt x="3810000" y="3140884"/>
                    <a:pt x="3775884" y="3175000"/>
                    <a:pt x="3733800" y="3175000"/>
                  </a:cubicBezTo>
                  <a:lnTo>
                    <a:pt x="76200" y="3175000"/>
                  </a:lnTo>
                  <a:cubicBezTo>
                    <a:pt x="34116" y="3175000"/>
                    <a:pt x="0" y="3140884"/>
                    <a:pt x="0" y="3098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0C2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28575"/>
              <a:ext cx="3810000" cy="3146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17324D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4</a:t>
              </a:r>
            </a:p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17324D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Kopyala ve Matematik’e taşı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>
            <a:off x="14049375" y="4619625"/>
            <a:ext cx="523875" cy="0"/>
          </a:xfrm>
          <a:prstGeom prst="line">
            <a:avLst/>
          </a:prstGeom>
          <a:ln cap="rnd" w="66675">
            <a:solidFill>
              <a:srgbClr val="2F80ED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9" id="19"/>
          <p:cNvGrpSpPr/>
          <p:nvPr/>
        </p:nvGrpSpPr>
        <p:grpSpPr>
          <a:xfrm rot="0">
            <a:off x="14668500" y="3429000"/>
            <a:ext cx="2857500" cy="2381250"/>
            <a:chOff x="0" y="0"/>
            <a:chExt cx="3810000" cy="3175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810000" cy="3175000"/>
            </a:xfrm>
            <a:custGeom>
              <a:avLst/>
              <a:gdLst/>
              <a:ahLst/>
              <a:cxnLst/>
              <a:rect r="r" b="b" t="t" l="l"/>
              <a:pathLst>
                <a:path h="3175000" w="38100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3098800"/>
                  </a:lnTo>
                  <a:cubicBezTo>
                    <a:pt x="3810000" y="3140884"/>
                    <a:pt x="3775884" y="3175000"/>
                    <a:pt x="3733800" y="3175000"/>
                  </a:cubicBezTo>
                  <a:lnTo>
                    <a:pt x="76200" y="3175000"/>
                  </a:lnTo>
                  <a:cubicBezTo>
                    <a:pt x="34116" y="3175000"/>
                    <a:pt x="0" y="3140884"/>
                    <a:pt x="0" y="3098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DFF3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28575"/>
              <a:ext cx="3810000" cy="3146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17324D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5</a:t>
              </a:r>
            </a:p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17324D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Gereksiz kopyayı sil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00075"/>
            <a:ext cx="8572500" cy="65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>
                <a:solidFill>
                  <a:srgbClr val="17324D"/>
                </a:solidFill>
                <a:latin typeface="Baloo"/>
                <a:ea typeface="Baloo"/>
                <a:cs typeface="Baloo"/>
                <a:sym typeface="Baloo"/>
              </a:rPr>
              <a:t>Kendini dene!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47750" y="2095500"/>
            <a:ext cx="7620000" cy="3714750"/>
            <a:chOff x="0" y="0"/>
            <a:chExt cx="10160000" cy="4953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0160000" cy="4953000"/>
              <a:chOff x="0" y="0"/>
              <a:chExt cx="10160000" cy="4953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0160000" cy="4953000"/>
              </a:xfrm>
              <a:custGeom>
                <a:avLst/>
                <a:gdLst/>
                <a:ahLst/>
                <a:cxnLst/>
                <a:rect r="r" b="b" t="t" l="l"/>
                <a:pathLst>
                  <a:path h="4953000" w="10160000">
                    <a:moveTo>
                      <a:pt x="0" y="0"/>
                    </a:moveTo>
                    <a:lnTo>
                      <a:pt x="10160000" y="0"/>
                    </a:lnTo>
                    <a:lnTo>
                      <a:pt x="10160000" y="4953000"/>
                    </a:lnTo>
                    <a:lnTo>
                      <a:pt x="0" y="4953000"/>
                    </a:lnTo>
                    <a:close/>
                  </a:path>
                </a:pathLst>
              </a:custGeom>
              <a:solidFill>
                <a:srgbClr val="EAF6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10160000" cy="499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698500" y="723900"/>
              <a:ext cx="8763000" cy="973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en-US" sz="217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1. Doğru mu, yanlış mı?</a:t>
              </a:r>
            </a:p>
            <a:p>
              <a:pPr algn="l">
                <a:lnSpc>
                  <a:spcPts val="2936"/>
                </a:lnSpc>
              </a:pPr>
              <a:r>
                <a:rPr lang="en-US" sz="217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‘Taşıma işleminde dosyanın ikinci bir kopyası oluşur.’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20250" y="2095500"/>
            <a:ext cx="7620000" cy="3714750"/>
            <a:chOff x="0" y="0"/>
            <a:chExt cx="10160000" cy="495300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0160000" cy="4953000"/>
              <a:chOff x="0" y="0"/>
              <a:chExt cx="10160000" cy="49530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0160000" cy="4953000"/>
              </a:xfrm>
              <a:custGeom>
                <a:avLst/>
                <a:gdLst/>
                <a:ahLst/>
                <a:cxnLst/>
                <a:rect r="r" b="b" t="t" l="l"/>
                <a:pathLst>
                  <a:path h="4953000" w="10160000">
                    <a:moveTo>
                      <a:pt x="0" y="0"/>
                    </a:moveTo>
                    <a:lnTo>
                      <a:pt x="10160000" y="0"/>
                    </a:lnTo>
                    <a:lnTo>
                      <a:pt x="10160000" y="4953000"/>
                    </a:lnTo>
                    <a:lnTo>
                      <a:pt x="0" y="4953000"/>
                    </a:lnTo>
                    <a:close/>
                  </a:path>
                </a:pathLst>
              </a:custGeom>
              <a:solidFill>
                <a:srgbClr val="FFF8D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10160000" cy="499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698500" y="723900"/>
              <a:ext cx="8255000" cy="14687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en-US" sz="217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2. Eşleştir</a:t>
              </a:r>
            </a:p>
            <a:p>
              <a:pPr algn="l">
                <a:lnSpc>
                  <a:spcPts val="2936"/>
                </a:lnSpc>
              </a:pPr>
              <a:r>
                <a:rPr lang="en-US" sz="217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.mp3  →  ?</a:t>
              </a:r>
            </a:p>
            <a:p>
              <a:pPr algn="l">
                <a:lnSpc>
                  <a:spcPts val="2936"/>
                </a:lnSpc>
              </a:pPr>
              <a:r>
                <a:rPr lang="en-US" sz="217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.jpg   →  ?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762250" y="6334125"/>
            <a:ext cx="12763500" cy="2381250"/>
            <a:chOff x="0" y="0"/>
            <a:chExt cx="17018000" cy="3175000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17018000" cy="3175000"/>
              <a:chOff x="0" y="0"/>
              <a:chExt cx="17018000" cy="31750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7018000" cy="3175000"/>
              </a:xfrm>
              <a:custGeom>
                <a:avLst/>
                <a:gdLst/>
                <a:ahLst/>
                <a:cxnLst/>
                <a:rect r="r" b="b" t="t" l="l"/>
                <a:pathLst>
                  <a:path h="3175000" w="17018000">
                    <a:moveTo>
                      <a:pt x="0" y="0"/>
                    </a:moveTo>
                    <a:lnTo>
                      <a:pt x="17018000" y="0"/>
                    </a:lnTo>
                    <a:lnTo>
                      <a:pt x="17018000" y="3175000"/>
                    </a:lnTo>
                    <a:lnTo>
                      <a:pt x="0" y="3175000"/>
                    </a:lnTo>
                    <a:close/>
                  </a:path>
                </a:pathLst>
              </a:custGeom>
              <a:solidFill>
                <a:srgbClr val="DFF6E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17018000" cy="321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762000" y="660400"/>
              <a:ext cx="15494000" cy="973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36"/>
                </a:lnSpc>
              </a:pPr>
              <a:r>
                <a:rPr lang="en-US" sz="217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3. Kısa cevap</a:t>
              </a:r>
            </a:p>
            <a:p>
              <a:pPr algn="ctr">
                <a:lnSpc>
                  <a:spcPts val="2936"/>
                </a:lnSpc>
              </a:pPr>
              <a:r>
                <a:rPr lang="en-US" sz="217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Klasör hiyerarşisi neden kullanılır?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EA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47700"/>
            <a:ext cx="10477500" cy="65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>
                <a:solidFill>
                  <a:srgbClr val="17324D"/>
                </a:solidFill>
                <a:latin typeface="Baloo"/>
                <a:ea typeface="Baloo"/>
                <a:cs typeface="Baloo"/>
                <a:sym typeface="Baloo"/>
              </a:rPr>
              <a:t>Cevap anahtarı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333500" y="2286000"/>
            <a:ext cx="6667500" cy="3143250"/>
            <a:chOff x="0" y="0"/>
            <a:chExt cx="8890000" cy="4191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8890000" cy="4191000"/>
              <a:chOff x="0" y="0"/>
              <a:chExt cx="8890000" cy="4191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890000" cy="4191000"/>
              </a:xfrm>
              <a:custGeom>
                <a:avLst/>
                <a:gdLst/>
                <a:ahLst/>
                <a:cxnLst/>
                <a:rect r="r" b="b" t="t" l="l"/>
                <a:pathLst>
                  <a:path h="4191000" w="8890000">
                    <a:moveTo>
                      <a:pt x="0" y="0"/>
                    </a:moveTo>
                    <a:lnTo>
                      <a:pt x="8890000" y="0"/>
                    </a:lnTo>
                    <a:lnTo>
                      <a:pt x="8890000" y="4191000"/>
                    </a:lnTo>
                    <a:lnTo>
                      <a:pt x="0" y="4191000"/>
                    </a:lnTo>
                    <a:close/>
                  </a:path>
                </a:pathLst>
              </a:custGeom>
              <a:solidFill>
                <a:srgbClr val="FFE8E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8890000" cy="422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762000" y="936625"/>
              <a:ext cx="5461000" cy="678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80"/>
                </a:lnSpc>
              </a:pPr>
              <a:r>
                <a:rPr lang="en-US" sz="3600">
                  <a:solidFill>
                    <a:srgbClr val="17324D"/>
                  </a:solidFill>
                  <a:latin typeface="Baloo"/>
                  <a:ea typeface="Baloo"/>
                  <a:cs typeface="Baloo"/>
                  <a:sym typeface="Baloo"/>
                </a:rPr>
                <a:t>1  YANLIŞ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762000" y="2120900"/>
              <a:ext cx="7366000" cy="4781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en-US" sz="217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İkinci örnek kopyalamada oluşur.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334500" y="2286000"/>
            <a:ext cx="7620000" cy="3143250"/>
            <a:chOff x="0" y="0"/>
            <a:chExt cx="10160000" cy="41910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0160000" cy="4191000"/>
              <a:chOff x="0" y="0"/>
              <a:chExt cx="10160000" cy="4191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0160000" cy="4191000"/>
              </a:xfrm>
              <a:custGeom>
                <a:avLst/>
                <a:gdLst/>
                <a:ahLst/>
                <a:cxnLst/>
                <a:rect r="r" b="b" t="t" l="l"/>
                <a:pathLst>
                  <a:path h="4191000" w="10160000">
                    <a:moveTo>
                      <a:pt x="0" y="0"/>
                    </a:moveTo>
                    <a:lnTo>
                      <a:pt x="10160000" y="0"/>
                    </a:lnTo>
                    <a:lnTo>
                      <a:pt x="10160000" y="4191000"/>
                    </a:lnTo>
                    <a:lnTo>
                      <a:pt x="0" y="4191000"/>
                    </a:lnTo>
                    <a:close/>
                  </a:path>
                </a:pathLst>
              </a:custGeom>
              <a:solidFill>
                <a:srgbClr val="FFF8D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0160000" cy="422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762000" y="936625"/>
              <a:ext cx="8255000" cy="1313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80"/>
                </a:lnSpc>
              </a:pPr>
              <a:r>
                <a:rPr lang="en-US" sz="3600">
                  <a:solidFill>
                    <a:srgbClr val="17324D"/>
                  </a:solidFill>
                  <a:latin typeface="Baloo"/>
                  <a:ea typeface="Baloo"/>
                  <a:cs typeface="Baloo"/>
                  <a:sym typeface="Baloo"/>
                </a:rPr>
                <a:t>2  .mp3 = Ses</a:t>
              </a:r>
            </a:p>
            <a:p>
              <a:pPr algn="l">
                <a:lnSpc>
                  <a:spcPts val="3780"/>
                </a:lnSpc>
              </a:pPr>
              <a:r>
                <a:rPr lang="en-US" sz="3600">
                  <a:solidFill>
                    <a:srgbClr val="17324D"/>
                  </a:solidFill>
                  <a:latin typeface="Baloo"/>
                  <a:ea typeface="Baloo"/>
                  <a:cs typeface="Baloo"/>
                  <a:sym typeface="Baloo"/>
                </a:rPr>
                <a:t>    .jpg = Fotoğraf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667000" y="6191250"/>
            <a:ext cx="12954000" cy="2190750"/>
            <a:chOff x="0" y="0"/>
            <a:chExt cx="17272000" cy="2921000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17272000" cy="2921000"/>
              <a:chOff x="0" y="0"/>
              <a:chExt cx="17272000" cy="29210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7272000" cy="2921000"/>
              </a:xfrm>
              <a:custGeom>
                <a:avLst/>
                <a:gdLst/>
                <a:ahLst/>
                <a:cxnLst/>
                <a:rect r="r" b="b" t="t" l="l"/>
                <a:pathLst>
                  <a:path h="2921000" w="17272000">
                    <a:moveTo>
                      <a:pt x="0" y="0"/>
                    </a:moveTo>
                    <a:lnTo>
                      <a:pt x="17272000" y="0"/>
                    </a:lnTo>
                    <a:lnTo>
                      <a:pt x="17272000" y="2921000"/>
                    </a:lnTo>
                    <a:lnTo>
                      <a:pt x="0" y="2921000"/>
                    </a:lnTo>
                    <a:close/>
                  </a:path>
                </a:pathLst>
              </a:custGeom>
              <a:solidFill>
                <a:srgbClr val="DFF6E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17272000" cy="295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889000" y="682625"/>
              <a:ext cx="15494000" cy="678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80"/>
                </a:lnSpc>
              </a:pPr>
              <a:r>
                <a:rPr lang="en-US" sz="3600">
                  <a:solidFill>
                    <a:srgbClr val="17324D"/>
                  </a:solidFill>
                  <a:latin typeface="Baloo"/>
                  <a:ea typeface="Baloo"/>
                  <a:cs typeface="Baloo"/>
                  <a:sym typeface="Baloo"/>
                </a:rPr>
                <a:t>3  Dosyaları düzenli tutmak ve kolay bulmak için.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00075"/>
            <a:ext cx="9525000" cy="65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>
                <a:solidFill>
                  <a:srgbClr val="17324D"/>
                </a:solidFill>
                <a:latin typeface="Baloo"/>
                <a:ea typeface="Baloo"/>
                <a:cs typeface="Baloo"/>
                <a:sym typeface="Baloo"/>
              </a:rPr>
              <a:t>Ben neredeyim?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38250" y="3105150"/>
            <a:ext cx="6667500" cy="368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2175">
                <a:solidFill>
                  <a:srgbClr val="17324D"/>
                </a:solidFill>
                <a:latin typeface="Nunito"/>
                <a:ea typeface="Nunito"/>
                <a:cs typeface="Nunito"/>
                <a:sym typeface="Nunito"/>
              </a:rPr>
              <a:t>Dosya ve klasörü ayırt ederim.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38250" y="4914900"/>
            <a:ext cx="6667500" cy="368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2175">
                <a:solidFill>
                  <a:srgbClr val="17324D"/>
                </a:solidFill>
                <a:latin typeface="Nunito"/>
                <a:ea typeface="Nunito"/>
                <a:cs typeface="Nunito"/>
                <a:sym typeface="Nunito"/>
              </a:rPr>
              <a:t>Klasör oluşturup adlandırırım.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38250" y="6724650"/>
            <a:ext cx="6667500" cy="368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2175">
                <a:solidFill>
                  <a:srgbClr val="17324D"/>
                </a:solidFill>
                <a:latin typeface="Nunito"/>
                <a:ea typeface="Nunito"/>
                <a:cs typeface="Nunito"/>
                <a:sym typeface="Nunito"/>
              </a:rPr>
              <a:t>Kopyalama ve taşımayı seçerim.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382000" y="1952625"/>
            <a:ext cx="2476500" cy="952500"/>
            <a:chOff x="0" y="0"/>
            <a:chExt cx="3302000" cy="127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302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3302000">
                  <a:moveTo>
                    <a:pt x="87923" y="0"/>
                  </a:moveTo>
                  <a:lnTo>
                    <a:pt x="3214077" y="0"/>
                  </a:lnTo>
                  <a:cubicBezTo>
                    <a:pt x="3237396" y="0"/>
                    <a:pt x="3259759" y="9263"/>
                    <a:pt x="3276248" y="25752"/>
                  </a:cubicBezTo>
                  <a:cubicBezTo>
                    <a:pt x="3292737" y="42241"/>
                    <a:pt x="3302000" y="64604"/>
                    <a:pt x="3302000" y="87923"/>
                  </a:cubicBezTo>
                  <a:lnTo>
                    <a:pt x="3302000" y="1182077"/>
                  </a:lnTo>
                  <a:cubicBezTo>
                    <a:pt x="3302000" y="1205396"/>
                    <a:pt x="3292737" y="1227759"/>
                    <a:pt x="3276248" y="1244248"/>
                  </a:cubicBezTo>
                  <a:cubicBezTo>
                    <a:pt x="3259759" y="1260737"/>
                    <a:pt x="3237396" y="1270000"/>
                    <a:pt x="3214077" y="1270000"/>
                  </a:cubicBezTo>
                  <a:lnTo>
                    <a:pt x="87923" y="1270000"/>
                  </a:lnTo>
                  <a:cubicBezTo>
                    <a:pt x="64604" y="1270000"/>
                    <a:pt x="42241" y="1260737"/>
                    <a:pt x="25752" y="1244248"/>
                  </a:cubicBezTo>
                  <a:cubicBezTo>
                    <a:pt x="9263" y="1227759"/>
                    <a:pt x="0" y="1205396"/>
                    <a:pt x="0" y="1182077"/>
                  </a:cubicBezTo>
                  <a:lnTo>
                    <a:pt x="0" y="87923"/>
                  </a:lnTo>
                  <a:cubicBezTo>
                    <a:pt x="0" y="64604"/>
                    <a:pt x="9263" y="42241"/>
                    <a:pt x="25752" y="25752"/>
                  </a:cubicBezTo>
                  <a:cubicBezTo>
                    <a:pt x="42241" y="9263"/>
                    <a:pt x="64604" y="0"/>
                    <a:pt x="87923" y="0"/>
                  </a:cubicBezTo>
                  <a:close/>
                </a:path>
              </a:pathLst>
            </a:custGeom>
            <a:solidFill>
              <a:srgbClr val="43AA8B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9525"/>
              <a:ext cx="3302000" cy="1260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32"/>
                </a:lnSpc>
              </a:pPr>
              <a:r>
                <a:rPr lang="en-US" sz="1575" b="true">
                  <a:solidFill>
                    <a:srgbClr val="17324D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BİLİYORUM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239500" y="1952625"/>
            <a:ext cx="2476500" cy="952500"/>
            <a:chOff x="0" y="0"/>
            <a:chExt cx="3302000" cy="127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302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3302000">
                  <a:moveTo>
                    <a:pt x="87923" y="0"/>
                  </a:moveTo>
                  <a:lnTo>
                    <a:pt x="3214077" y="0"/>
                  </a:lnTo>
                  <a:cubicBezTo>
                    <a:pt x="3237396" y="0"/>
                    <a:pt x="3259759" y="9263"/>
                    <a:pt x="3276248" y="25752"/>
                  </a:cubicBezTo>
                  <a:cubicBezTo>
                    <a:pt x="3292737" y="42241"/>
                    <a:pt x="3302000" y="64604"/>
                    <a:pt x="3302000" y="87923"/>
                  </a:cubicBezTo>
                  <a:lnTo>
                    <a:pt x="3302000" y="1182077"/>
                  </a:lnTo>
                  <a:cubicBezTo>
                    <a:pt x="3302000" y="1205396"/>
                    <a:pt x="3292737" y="1227759"/>
                    <a:pt x="3276248" y="1244248"/>
                  </a:cubicBezTo>
                  <a:cubicBezTo>
                    <a:pt x="3259759" y="1260737"/>
                    <a:pt x="3237396" y="1270000"/>
                    <a:pt x="3214077" y="1270000"/>
                  </a:cubicBezTo>
                  <a:lnTo>
                    <a:pt x="87923" y="1270000"/>
                  </a:lnTo>
                  <a:cubicBezTo>
                    <a:pt x="64604" y="1270000"/>
                    <a:pt x="42241" y="1260737"/>
                    <a:pt x="25752" y="1244248"/>
                  </a:cubicBezTo>
                  <a:cubicBezTo>
                    <a:pt x="9263" y="1227759"/>
                    <a:pt x="0" y="1205396"/>
                    <a:pt x="0" y="1182077"/>
                  </a:cubicBezTo>
                  <a:lnTo>
                    <a:pt x="0" y="87923"/>
                  </a:lnTo>
                  <a:cubicBezTo>
                    <a:pt x="0" y="64604"/>
                    <a:pt x="9263" y="42241"/>
                    <a:pt x="25752" y="25752"/>
                  </a:cubicBezTo>
                  <a:cubicBezTo>
                    <a:pt x="42241" y="9263"/>
                    <a:pt x="64604" y="0"/>
                    <a:pt x="87923" y="0"/>
                  </a:cubicBezTo>
                  <a:close/>
                </a:path>
              </a:pathLst>
            </a:custGeom>
            <a:solidFill>
              <a:srgbClr val="F9C74F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9525"/>
              <a:ext cx="3302000" cy="1260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32"/>
                </a:lnSpc>
              </a:pPr>
              <a:r>
                <a:rPr lang="en-US" sz="1575" b="true">
                  <a:solidFill>
                    <a:srgbClr val="17324D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ÖĞRENİYORUM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097000" y="1952625"/>
            <a:ext cx="2476500" cy="952500"/>
            <a:chOff x="0" y="0"/>
            <a:chExt cx="3302000" cy="127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302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3302000">
                  <a:moveTo>
                    <a:pt x="87923" y="0"/>
                  </a:moveTo>
                  <a:lnTo>
                    <a:pt x="3214077" y="0"/>
                  </a:lnTo>
                  <a:cubicBezTo>
                    <a:pt x="3237396" y="0"/>
                    <a:pt x="3259759" y="9263"/>
                    <a:pt x="3276248" y="25752"/>
                  </a:cubicBezTo>
                  <a:cubicBezTo>
                    <a:pt x="3292737" y="42241"/>
                    <a:pt x="3302000" y="64604"/>
                    <a:pt x="3302000" y="87923"/>
                  </a:cubicBezTo>
                  <a:lnTo>
                    <a:pt x="3302000" y="1182077"/>
                  </a:lnTo>
                  <a:cubicBezTo>
                    <a:pt x="3302000" y="1205396"/>
                    <a:pt x="3292737" y="1227759"/>
                    <a:pt x="3276248" y="1244248"/>
                  </a:cubicBezTo>
                  <a:cubicBezTo>
                    <a:pt x="3259759" y="1260737"/>
                    <a:pt x="3237396" y="1270000"/>
                    <a:pt x="3214077" y="1270000"/>
                  </a:cubicBezTo>
                  <a:lnTo>
                    <a:pt x="87923" y="1270000"/>
                  </a:lnTo>
                  <a:cubicBezTo>
                    <a:pt x="64604" y="1270000"/>
                    <a:pt x="42241" y="1260737"/>
                    <a:pt x="25752" y="1244248"/>
                  </a:cubicBezTo>
                  <a:cubicBezTo>
                    <a:pt x="9263" y="1227759"/>
                    <a:pt x="0" y="1205396"/>
                    <a:pt x="0" y="1182077"/>
                  </a:cubicBezTo>
                  <a:lnTo>
                    <a:pt x="0" y="87923"/>
                  </a:lnTo>
                  <a:cubicBezTo>
                    <a:pt x="0" y="64604"/>
                    <a:pt x="9263" y="42241"/>
                    <a:pt x="25752" y="25752"/>
                  </a:cubicBezTo>
                  <a:cubicBezTo>
                    <a:pt x="42241" y="9263"/>
                    <a:pt x="64604" y="0"/>
                    <a:pt x="87923" y="0"/>
                  </a:cubicBezTo>
                  <a:close/>
                </a:path>
              </a:pathLst>
            </a:custGeom>
            <a:solidFill>
              <a:srgbClr val="EF476F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9525"/>
              <a:ext cx="3302000" cy="1260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32"/>
                </a:lnSpc>
              </a:pPr>
              <a:r>
                <a:rPr lang="en-US" sz="1575" b="true">
                  <a:solidFill>
                    <a:srgbClr val="17324D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ÇALIŞMALIYIM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44000" y="3143250"/>
            <a:ext cx="857250" cy="857250"/>
            <a:chOff x="0" y="0"/>
            <a:chExt cx="1143000" cy="1143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43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143000">
                  <a:moveTo>
                    <a:pt x="254000" y="0"/>
                  </a:moveTo>
                  <a:lnTo>
                    <a:pt x="889000" y="0"/>
                  </a:lnTo>
                  <a:cubicBezTo>
                    <a:pt x="1029280" y="0"/>
                    <a:pt x="1143000" y="113720"/>
                    <a:pt x="1143000" y="254000"/>
                  </a:cubicBezTo>
                  <a:lnTo>
                    <a:pt x="1143000" y="889000"/>
                  </a:lnTo>
                  <a:cubicBezTo>
                    <a:pt x="1143000" y="1029280"/>
                    <a:pt x="1029280" y="1143000"/>
                    <a:pt x="889000" y="1143000"/>
                  </a:cubicBezTo>
                  <a:lnTo>
                    <a:pt x="254000" y="1143000"/>
                  </a:lnTo>
                  <a:cubicBezTo>
                    <a:pt x="113720" y="1143000"/>
                    <a:pt x="0" y="1029280"/>
                    <a:pt x="0" y="889000"/>
                  </a:cubicBezTo>
                  <a:lnTo>
                    <a:pt x="0" y="254000"/>
                  </a:ln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28575"/>
              <a:ext cx="1143000" cy="1114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0"/>
                </a:lnSpc>
              </a:pPr>
              <a:r>
                <a:rPr lang="en-US" sz="3300" b="true">
                  <a:solidFill>
                    <a:srgbClr val="17324D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○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001500" y="3143250"/>
            <a:ext cx="857250" cy="857250"/>
            <a:chOff x="0" y="0"/>
            <a:chExt cx="1143000" cy="1143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43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143000">
                  <a:moveTo>
                    <a:pt x="254000" y="0"/>
                  </a:moveTo>
                  <a:lnTo>
                    <a:pt x="889000" y="0"/>
                  </a:lnTo>
                  <a:cubicBezTo>
                    <a:pt x="1029280" y="0"/>
                    <a:pt x="1143000" y="113720"/>
                    <a:pt x="1143000" y="254000"/>
                  </a:cubicBezTo>
                  <a:lnTo>
                    <a:pt x="1143000" y="889000"/>
                  </a:lnTo>
                  <a:cubicBezTo>
                    <a:pt x="1143000" y="1029280"/>
                    <a:pt x="1029280" y="1143000"/>
                    <a:pt x="889000" y="1143000"/>
                  </a:cubicBezTo>
                  <a:lnTo>
                    <a:pt x="254000" y="1143000"/>
                  </a:lnTo>
                  <a:cubicBezTo>
                    <a:pt x="113720" y="1143000"/>
                    <a:pt x="0" y="1029280"/>
                    <a:pt x="0" y="889000"/>
                  </a:cubicBezTo>
                  <a:lnTo>
                    <a:pt x="0" y="254000"/>
                  </a:ln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28575"/>
              <a:ext cx="1143000" cy="1114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0"/>
                </a:lnSpc>
              </a:pPr>
              <a:r>
                <a:rPr lang="en-US" sz="3300" b="true">
                  <a:solidFill>
                    <a:srgbClr val="17324D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○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4859000" y="3143250"/>
            <a:ext cx="857250" cy="857250"/>
            <a:chOff x="0" y="0"/>
            <a:chExt cx="1143000" cy="1143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43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143000">
                  <a:moveTo>
                    <a:pt x="254000" y="0"/>
                  </a:moveTo>
                  <a:lnTo>
                    <a:pt x="889000" y="0"/>
                  </a:lnTo>
                  <a:cubicBezTo>
                    <a:pt x="1029280" y="0"/>
                    <a:pt x="1143000" y="113720"/>
                    <a:pt x="1143000" y="254000"/>
                  </a:cubicBezTo>
                  <a:lnTo>
                    <a:pt x="1143000" y="889000"/>
                  </a:lnTo>
                  <a:cubicBezTo>
                    <a:pt x="1143000" y="1029280"/>
                    <a:pt x="1029280" y="1143000"/>
                    <a:pt x="889000" y="1143000"/>
                  </a:cubicBezTo>
                  <a:lnTo>
                    <a:pt x="254000" y="1143000"/>
                  </a:lnTo>
                  <a:cubicBezTo>
                    <a:pt x="113720" y="1143000"/>
                    <a:pt x="0" y="1029280"/>
                    <a:pt x="0" y="889000"/>
                  </a:cubicBezTo>
                  <a:lnTo>
                    <a:pt x="0" y="254000"/>
                  </a:ln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28575"/>
              <a:ext cx="1143000" cy="1114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0"/>
                </a:lnSpc>
              </a:pPr>
              <a:r>
                <a:rPr lang="en-US" sz="3300" b="true">
                  <a:solidFill>
                    <a:srgbClr val="17324D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○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144000" y="4953000"/>
            <a:ext cx="857250" cy="857250"/>
            <a:chOff x="0" y="0"/>
            <a:chExt cx="1143000" cy="1143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43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143000">
                  <a:moveTo>
                    <a:pt x="254000" y="0"/>
                  </a:moveTo>
                  <a:lnTo>
                    <a:pt x="889000" y="0"/>
                  </a:lnTo>
                  <a:cubicBezTo>
                    <a:pt x="1029280" y="0"/>
                    <a:pt x="1143000" y="113720"/>
                    <a:pt x="1143000" y="254000"/>
                  </a:cubicBezTo>
                  <a:lnTo>
                    <a:pt x="1143000" y="889000"/>
                  </a:lnTo>
                  <a:cubicBezTo>
                    <a:pt x="1143000" y="1029280"/>
                    <a:pt x="1029280" y="1143000"/>
                    <a:pt x="889000" y="1143000"/>
                  </a:cubicBezTo>
                  <a:lnTo>
                    <a:pt x="254000" y="1143000"/>
                  </a:lnTo>
                  <a:cubicBezTo>
                    <a:pt x="113720" y="1143000"/>
                    <a:pt x="0" y="1029280"/>
                    <a:pt x="0" y="889000"/>
                  </a:cubicBezTo>
                  <a:lnTo>
                    <a:pt x="0" y="254000"/>
                  </a:ln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28575"/>
              <a:ext cx="1143000" cy="1114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0"/>
                </a:lnSpc>
              </a:pPr>
              <a:r>
                <a:rPr lang="en-US" sz="3300" b="true">
                  <a:solidFill>
                    <a:srgbClr val="17324D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○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2001500" y="4953000"/>
            <a:ext cx="857250" cy="857250"/>
            <a:chOff x="0" y="0"/>
            <a:chExt cx="1143000" cy="11430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43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143000">
                  <a:moveTo>
                    <a:pt x="254000" y="0"/>
                  </a:moveTo>
                  <a:lnTo>
                    <a:pt x="889000" y="0"/>
                  </a:lnTo>
                  <a:cubicBezTo>
                    <a:pt x="1029280" y="0"/>
                    <a:pt x="1143000" y="113720"/>
                    <a:pt x="1143000" y="254000"/>
                  </a:cubicBezTo>
                  <a:lnTo>
                    <a:pt x="1143000" y="889000"/>
                  </a:lnTo>
                  <a:cubicBezTo>
                    <a:pt x="1143000" y="1029280"/>
                    <a:pt x="1029280" y="1143000"/>
                    <a:pt x="889000" y="1143000"/>
                  </a:cubicBezTo>
                  <a:lnTo>
                    <a:pt x="254000" y="1143000"/>
                  </a:lnTo>
                  <a:cubicBezTo>
                    <a:pt x="113720" y="1143000"/>
                    <a:pt x="0" y="1029280"/>
                    <a:pt x="0" y="889000"/>
                  </a:cubicBezTo>
                  <a:lnTo>
                    <a:pt x="0" y="254000"/>
                  </a:ln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28575"/>
              <a:ext cx="1143000" cy="1114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0"/>
                </a:lnSpc>
              </a:pPr>
              <a:r>
                <a:rPr lang="en-US" sz="3300" b="true">
                  <a:solidFill>
                    <a:srgbClr val="17324D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○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4859000" y="4953000"/>
            <a:ext cx="857250" cy="857250"/>
            <a:chOff x="0" y="0"/>
            <a:chExt cx="1143000" cy="1143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43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143000">
                  <a:moveTo>
                    <a:pt x="254000" y="0"/>
                  </a:moveTo>
                  <a:lnTo>
                    <a:pt x="889000" y="0"/>
                  </a:lnTo>
                  <a:cubicBezTo>
                    <a:pt x="1029280" y="0"/>
                    <a:pt x="1143000" y="113720"/>
                    <a:pt x="1143000" y="254000"/>
                  </a:cubicBezTo>
                  <a:lnTo>
                    <a:pt x="1143000" y="889000"/>
                  </a:lnTo>
                  <a:cubicBezTo>
                    <a:pt x="1143000" y="1029280"/>
                    <a:pt x="1029280" y="1143000"/>
                    <a:pt x="889000" y="1143000"/>
                  </a:cubicBezTo>
                  <a:lnTo>
                    <a:pt x="254000" y="1143000"/>
                  </a:lnTo>
                  <a:cubicBezTo>
                    <a:pt x="113720" y="1143000"/>
                    <a:pt x="0" y="1029280"/>
                    <a:pt x="0" y="889000"/>
                  </a:cubicBezTo>
                  <a:lnTo>
                    <a:pt x="0" y="254000"/>
                  </a:ln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28575"/>
              <a:ext cx="1143000" cy="1114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0"/>
                </a:lnSpc>
              </a:pPr>
              <a:r>
                <a:rPr lang="en-US" sz="3300" b="true">
                  <a:solidFill>
                    <a:srgbClr val="17324D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○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144000" y="6762750"/>
            <a:ext cx="857250" cy="857250"/>
            <a:chOff x="0" y="0"/>
            <a:chExt cx="1143000" cy="11430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43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143000">
                  <a:moveTo>
                    <a:pt x="254000" y="0"/>
                  </a:moveTo>
                  <a:lnTo>
                    <a:pt x="889000" y="0"/>
                  </a:lnTo>
                  <a:cubicBezTo>
                    <a:pt x="1029280" y="0"/>
                    <a:pt x="1143000" y="113720"/>
                    <a:pt x="1143000" y="254000"/>
                  </a:cubicBezTo>
                  <a:lnTo>
                    <a:pt x="1143000" y="889000"/>
                  </a:lnTo>
                  <a:cubicBezTo>
                    <a:pt x="1143000" y="1029280"/>
                    <a:pt x="1029280" y="1143000"/>
                    <a:pt x="889000" y="1143000"/>
                  </a:cubicBezTo>
                  <a:lnTo>
                    <a:pt x="254000" y="1143000"/>
                  </a:lnTo>
                  <a:cubicBezTo>
                    <a:pt x="113720" y="1143000"/>
                    <a:pt x="0" y="1029280"/>
                    <a:pt x="0" y="889000"/>
                  </a:cubicBezTo>
                  <a:lnTo>
                    <a:pt x="0" y="254000"/>
                  </a:ln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28575"/>
              <a:ext cx="1143000" cy="1114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0"/>
                </a:lnSpc>
              </a:pPr>
              <a:r>
                <a:rPr lang="en-US" sz="3300" b="true">
                  <a:solidFill>
                    <a:srgbClr val="17324D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○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2001500" y="6762750"/>
            <a:ext cx="857250" cy="857250"/>
            <a:chOff x="0" y="0"/>
            <a:chExt cx="1143000" cy="11430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43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143000">
                  <a:moveTo>
                    <a:pt x="254000" y="0"/>
                  </a:moveTo>
                  <a:lnTo>
                    <a:pt x="889000" y="0"/>
                  </a:lnTo>
                  <a:cubicBezTo>
                    <a:pt x="1029280" y="0"/>
                    <a:pt x="1143000" y="113720"/>
                    <a:pt x="1143000" y="254000"/>
                  </a:cubicBezTo>
                  <a:lnTo>
                    <a:pt x="1143000" y="889000"/>
                  </a:lnTo>
                  <a:cubicBezTo>
                    <a:pt x="1143000" y="1029280"/>
                    <a:pt x="1029280" y="1143000"/>
                    <a:pt x="889000" y="1143000"/>
                  </a:cubicBezTo>
                  <a:lnTo>
                    <a:pt x="254000" y="1143000"/>
                  </a:lnTo>
                  <a:cubicBezTo>
                    <a:pt x="113720" y="1143000"/>
                    <a:pt x="0" y="1029280"/>
                    <a:pt x="0" y="889000"/>
                  </a:cubicBezTo>
                  <a:lnTo>
                    <a:pt x="0" y="254000"/>
                  </a:ln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28575"/>
              <a:ext cx="1143000" cy="1114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0"/>
                </a:lnSpc>
              </a:pPr>
              <a:r>
                <a:rPr lang="en-US" sz="3300" b="true">
                  <a:solidFill>
                    <a:srgbClr val="17324D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○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4859000" y="6762750"/>
            <a:ext cx="857250" cy="857250"/>
            <a:chOff x="0" y="0"/>
            <a:chExt cx="1143000" cy="1143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143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143000">
                  <a:moveTo>
                    <a:pt x="254000" y="0"/>
                  </a:moveTo>
                  <a:lnTo>
                    <a:pt x="889000" y="0"/>
                  </a:lnTo>
                  <a:cubicBezTo>
                    <a:pt x="1029280" y="0"/>
                    <a:pt x="1143000" y="113720"/>
                    <a:pt x="1143000" y="254000"/>
                  </a:cubicBezTo>
                  <a:lnTo>
                    <a:pt x="1143000" y="889000"/>
                  </a:lnTo>
                  <a:cubicBezTo>
                    <a:pt x="1143000" y="1029280"/>
                    <a:pt x="1029280" y="1143000"/>
                    <a:pt x="889000" y="1143000"/>
                  </a:cubicBezTo>
                  <a:lnTo>
                    <a:pt x="254000" y="1143000"/>
                  </a:lnTo>
                  <a:cubicBezTo>
                    <a:pt x="113720" y="1143000"/>
                    <a:pt x="0" y="1029280"/>
                    <a:pt x="0" y="889000"/>
                  </a:cubicBezTo>
                  <a:lnTo>
                    <a:pt x="0" y="254000"/>
                  </a:ln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28575"/>
              <a:ext cx="1143000" cy="1114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0"/>
                </a:lnSpc>
              </a:pPr>
              <a:r>
                <a:rPr lang="en-US" sz="3300" b="true">
                  <a:solidFill>
                    <a:srgbClr val="17324D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○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47700"/>
            <a:ext cx="11430000" cy="65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>
                <a:solidFill>
                  <a:srgbClr val="17324D"/>
                </a:solidFill>
                <a:latin typeface="Baloo"/>
                <a:ea typeface="Baloo"/>
                <a:cs typeface="Baloo"/>
                <a:sym typeface="Baloo"/>
              </a:rPr>
              <a:t>Dört altın kural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47750" y="2476500"/>
            <a:ext cx="3714750" cy="5334000"/>
            <a:chOff x="0" y="0"/>
            <a:chExt cx="4953000" cy="7112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4953000" cy="7112000"/>
              <a:chOff x="0" y="0"/>
              <a:chExt cx="4953000" cy="7112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4953000" cy="7112000"/>
              </a:xfrm>
              <a:custGeom>
                <a:avLst/>
                <a:gdLst/>
                <a:ahLst/>
                <a:cxnLst/>
                <a:rect r="r" b="b" t="t" l="l"/>
                <a:pathLst>
                  <a:path h="7112000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7112000"/>
                    </a:lnTo>
                    <a:lnTo>
                      <a:pt x="0" y="7112000"/>
                    </a:lnTo>
                    <a:close/>
                  </a:path>
                </a:pathLst>
              </a:custGeom>
              <a:solidFill>
                <a:srgbClr val="EAF6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4953000" cy="715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1333500" y="628650"/>
              <a:ext cx="2286000" cy="15913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080"/>
                </a:lnSpc>
              </a:pPr>
              <a:r>
                <a:rPr lang="en-US" sz="7200">
                  <a:solidFill>
                    <a:srgbClr val="2F80ED"/>
                  </a:solidFill>
                  <a:latin typeface="Baloo"/>
                  <a:ea typeface="Baloo"/>
                  <a:cs typeface="Baloo"/>
                  <a:sym typeface="Baloo"/>
                </a:rPr>
                <a:t>1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508000" y="3889375"/>
              <a:ext cx="3937000" cy="558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69"/>
                </a:lnSpc>
              </a:pPr>
              <a:r>
                <a:rPr lang="en-US" sz="2550" b="true">
                  <a:solidFill>
                    <a:srgbClr val="17324D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Anlamlı ad ver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286375" y="2476500"/>
            <a:ext cx="3714750" cy="5334000"/>
            <a:chOff x="0" y="0"/>
            <a:chExt cx="4953000" cy="71120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4953000" cy="7112000"/>
              <a:chOff x="0" y="0"/>
              <a:chExt cx="4953000" cy="7112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4953000" cy="7112000"/>
              </a:xfrm>
              <a:custGeom>
                <a:avLst/>
                <a:gdLst/>
                <a:ahLst/>
                <a:cxnLst/>
                <a:rect r="r" b="b" t="t" l="l"/>
                <a:pathLst>
                  <a:path h="7112000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7112000"/>
                    </a:lnTo>
                    <a:lnTo>
                      <a:pt x="0" y="7112000"/>
                    </a:lnTo>
                    <a:close/>
                  </a:path>
                </a:pathLst>
              </a:custGeom>
              <a:solidFill>
                <a:srgbClr val="FFF8D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4953000" cy="715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1333500" y="628650"/>
              <a:ext cx="2286000" cy="15913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080"/>
                </a:lnSpc>
              </a:pPr>
              <a:r>
                <a:rPr lang="en-US" sz="7200">
                  <a:solidFill>
                    <a:srgbClr val="F9C74F"/>
                  </a:solidFill>
                  <a:latin typeface="Baloo"/>
                  <a:ea typeface="Baloo"/>
                  <a:cs typeface="Baloo"/>
                  <a:sym typeface="Baloo"/>
                </a:rPr>
                <a:t>2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508000" y="3889375"/>
              <a:ext cx="3937000" cy="558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69"/>
                </a:lnSpc>
              </a:pPr>
              <a:r>
                <a:rPr lang="en-US" sz="2550" b="true">
                  <a:solidFill>
                    <a:srgbClr val="17324D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Klasör ağacı kur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525000" y="2476500"/>
            <a:ext cx="3714750" cy="5334000"/>
            <a:chOff x="0" y="0"/>
            <a:chExt cx="4953000" cy="71120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4953000" cy="7112000"/>
              <a:chOff x="0" y="0"/>
              <a:chExt cx="4953000" cy="71120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4953000" cy="7112000"/>
              </a:xfrm>
              <a:custGeom>
                <a:avLst/>
                <a:gdLst/>
                <a:ahLst/>
                <a:cxnLst/>
                <a:rect r="r" b="b" t="t" l="l"/>
                <a:pathLst>
                  <a:path h="7112000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7112000"/>
                    </a:lnTo>
                    <a:lnTo>
                      <a:pt x="0" y="7112000"/>
                    </a:lnTo>
                    <a:close/>
                  </a:path>
                </a:pathLst>
              </a:custGeom>
              <a:solidFill>
                <a:srgbClr val="EAF6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4953000" cy="715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1333500" y="628650"/>
              <a:ext cx="2286000" cy="15913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080"/>
                </a:lnSpc>
              </a:pPr>
              <a:r>
                <a:rPr lang="en-US" sz="7200">
                  <a:solidFill>
                    <a:srgbClr val="43AA8B"/>
                  </a:solidFill>
                  <a:latin typeface="Baloo"/>
                  <a:ea typeface="Baloo"/>
                  <a:cs typeface="Baloo"/>
                  <a:sym typeface="Baloo"/>
                </a:rPr>
                <a:t>3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508000" y="3889375"/>
              <a:ext cx="3937000" cy="558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69"/>
                </a:lnSpc>
              </a:pPr>
              <a:r>
                <a:rPr lang="en-US" sz="2550" b="true">
                  <a:solidFill>
                    <a:srgbClr val="17324D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Doğru işlemi seç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763625" y="2476500"/>
            <a:ext cx="3714750" cy="5334000"/>
            <a:chOff x="0" y="0"/>
            <a:chExt cx="4953000" cy="7112000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4953000" cy="7112000"/>
              <a:chOff x="0" y="0"/>
              <a:chExt cx="4953000" cy="71120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4953000" cy="7112000"/>
              </a:xfrm>
              <a:custGeom>
                <a:avLst/>
                <a:gdLst/>
                <a:ahLst/>
                <a:cxnLst/>
                <a:rect r="r" b="b" t="t" l="l"/>
                <a:pathLst>
                  <a:path h="7112000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7112000"/>
                    </a:lnTo>
                    <a:lnTo>
                      <a:pt x="0" y="7112000"/>
                    </a:lnTo>
                    <a:close/>
                  </a:path>
                </a:pathLst>
              </a:custGeom>
              <a:solidFill>
                <a:srgbClr val="FFF8D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4953000" cy="715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1333500" y="628650"/>
              <a:ext cx="2286000" cy="15913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080"/>
                </a:lnSpc>
              </a:pPr>
              <a:r>
                <a:rPr lang="en-US" sz="7200">
                  <a:solidFill>
                    <a:srgbClr val="EF476F"/>
                  </a:solidFill>
                  <a:latin typeface="Baloo"/>
                  <a:ea typeface="Baloo"/>
                  <a:cs typeface="Baloo"/>
                  <a:sym typeface="Baloo"/>
                </a:rPr>
                <a:t>4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508000" y="3889375"/>
              <a:ext cx="3937000" cy="558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69"/>
                </a:lnSpc>
              </a:pPr>
              <a:r>
                <a:rPr lang="en-US" sz="2550" b="true">
                  <a:solidFill>
                    <a:srgbClr val="17324D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Dosyanı koru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7810500" cy="10287000"/>
          </a:xfrm>
          <a:custGeom>
            <a:avLst/>
            <a:gdLst/>
            <a:ahLst/>
            <a:cxnLst/>
            <a:rect r="r" b="b" t="t" l="l"/>
            <a:pathLst>
              <a:path h="10287000" w="7810500">
                <a:moveTo>
                  <a:pt x="0" y="0"/>
                </a:moveTo>
                <a:lnTo>
                  <a:pt x="7810500" y="0"/>
                </a:lnTo>
                <a:lnTo>
                  <a:pt x="78105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3" r="0" b="-33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8763000" y="2647950"/>
            <a:ext cx="8096250" cy="1291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>
                <a:solidFill>
                  <a:srgbClr val="17324D"/>
                </a:solidFill>
                <a:latin typeface="Baloo"/>
                <a:ea typeface="Baloo"/>
                <a:cs typeface="Baloo"/>
                <a:sym typeface="Baloo"/>
              </a:rPr>
              <a:t>Dinlediğiniz için</a:t>
            </a:r>
          </a:p>
          <a:p>
            <a:pPr algn="l">
              <a:lnSpc>
                <a:spcPts val="5040"/>
              </a:lnSpc>
            </a:pPr>
            <a:r>
              <a:rPr lang="en-US" sz="4800">
                <a:solidFill>
                  <a:srgbClr val="17324D"/>
                </a:solidFill>
                <a:latin typeface="Baloo"/>
                <a:ea typeface="Baloo"/>
                <a:cs typeface="Baloo"/>
                <a:sym typeface="Baloo"/>
              </a:rPr>
              <a:t>teşekkürler!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810625" y="5372100"/>
            <a:ext cx="66675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2F80ED"/>
                </a:solidFill>
                <a:latin typeface="Nunito Bold"/>
                <a:ea typeface="Nunito Bold"/>
                <a:cs typeface="Nunito Bold"/>
                <a:sym typeface="Nunito Bold"/>
              </a:rPr>
              <a:t>Sorularınızı alabilirim.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573000" y="6781800"/>
            <a:ext cx="2095500" cy="1933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50"/>
              </a:lnSpc>
            </a:pPr>
            <a:r>
              <a:rPr lang="en-US" sz="11250">
                <a:solidFill>
                  <a:srgbClr val="F9C74F"/>
                </a:solidFill>
                <a:latin typeface="Baloo"/>
                <a:ea typeface="Baloo"/>
                <a:cs typeface="Baloo"/>
                <a:sym typeface="Baloo"/>
              </a:rPr>
              <a:t>?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47700"/>
            <a:ext cx="13335000" cy="65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>
                <a:solidFill>
                  <a:srgbClr val="17324D"/>
                </a:solidFill>
                <a:latin typeface="Baloo"/>
                <a:ea typeface="Baloo"/>
                <a:cs typeface="Baloo"/>
                <a:sym typeface="Baloo"/>
              </a:rPr>
              <a:t>Kaynaklar ve ek bilgiler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47750" y="2095500"/>
            <a:ext cx="11430000" cy="4953000"/>
            <a:chOff x="0" y="0"/>
            <a:chExt cx="15240000" cy="6604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240000" cy="6604000"/>
            </a:xfrm>
            <a:custGeom>
              <a:avLst/>
              <a:gdLst/>
              <a:ahLst/>
              <a:cxnLst/>
              <a:rect r="r" b="b" t="t" l="l"/>
              <a:pathLst>
                <a:path h="6604000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6604000"/>
                  </a:lnTo>
                  <a:lnTo>
                    <a:pt x="0" y="6604000"/>
                  </a:lnTo>
                  <a:close/>
                </a:path>
              </a:pathLst>
            </a:custGeom>
            <a:solidFill>
              <a:srgbClr val="EAF6FF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5240000" cy="664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714500" y="2628900"/>
            <a:ext cx="10477500" cy="368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2175">
                <a:solidFill>
                  <a:srgbClr val="17324D"/>
                </a:solidFill>
                <a:latin typeface="Nunito"/>
                <a:ea typeface="Nunito"/>
                <a:cs typeface="Nunito"/>
                <a:sym typeface="Nunito"/>
              </a:rPr>
              <a:t>MEB Bilişim Teknolojileri ve Yazılım dersi materyalleri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14500" y="4152900"/>
            <a:ext cx="10477500" cy="368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2175">
                <a:solidFill>
                  <a:srgbClr val="17324D"/>
                </a:solidFill>
                <a:latin typeface="Nunito"/>
                <a:ea typeface="Nunito"/>
                <a:cs typeface="Nunito"/>
                <a:sym typeface="Nunito"/>
              </a:rPr>
              <a:t>Bilgisayarın yardım ve dosya yönetimi bölümü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14500" y="5676900"/>
            <a:ext cx="10477500" cy="368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2175">
                <a:solidFill>
                  <a:srgbClr val="17324D"/>
                </a:solidFill>
                <a:latin typeface="Nunito"/>
                <a:ea typeface="Nunito"/>
                <a:cs typeface="Nunito"/>
                <a:sym typeface="Nunito"/>
              </a:rPr>
              <a:t>Öğretmen tarafından hazırlanan örnek dosya ve klasörler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763500" y="2095500"/>
            <a:ext cx="4762500" cy="5810250"/>
            <a:chOff x="0" y="0"/>
            <a:chExt cx="6350000" cy="77470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6350000" cy="7747000"/>
              <a:chOff x="0" y="0"/>
              <a:chExt cx="6350000" cy="7747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6350000" cy="7747000"/>
              </a:xfrm>
              <a:custGeom>
                <a:avLst/>
                <a:gdLst/>
                <a:ahLst/>
                <a:cxnLst/>
                <a:rect r="r" b="b" t="t" l="l"/>
                <a:pathLst>
                  <a:path h="7747000" w="6350000">
                    <a:moveTo>
                      <a:pt x="0" y="0"/>
                    </a:moveTo>
                    <a:lnTo>
                      <a:pt x="6350000" y="0"/>
                    </a:lnTo>
                    <a:lnTo>
                      <a:pt x="6350000" y="7747000"/>
                    </a:lnTo>
                    <a:lnTo>
                      <a:pt x="0" y="7747000"/>
                    </a:lnTo>
                    <a:close/>
                  </a:path>
                </a:pathLst>
              </a:custGeom>
              <a:solidFill>
                <a:srgbClr val="FFF8D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6350000" cy="7785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1778000" y="5080000"/>
              <a:ext cx="2794000" cy="1651000"/>
              <a:chOff x="0" y="0"/>
              <a:chExt cx="2794000" cy="16510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794000" cy="1651000"/>
              </a:xfrm>
              <a:custGeom>
                <a:avLst/>
                <a:gdLst/>
                <a:ahLst/>
                <a:cxnLst/>
                <a:rect r="r" b="b" t="t" l="l"/>
                <a:pathLst>
                  <a:path h="1651000" w="2794000">
                    <a:moveTo>
                      <a:pt x="103909" y="0"/>
                    </a:moveTo>
                    <a:lnTo>
                      <a:pt x="2690091" y="0"/>
                    </a:lnTo>
                    <a:cubicBezTo>
                      <a:pt x="2717649" y="0"/>
                      <a:pt x="2744079" y="10948"/>
                      <a:pt x="2763566" y="30434"/>
                    </a:cubicBezTo>
                    <a:cubicBezTo>
                      <a:pt x="2783052" y="49921"/>
                      <a:pt x="2794000" y="76351"/>
                      <a:pt x="2794000" y="103909"/>
                    </a:cubicBezTo>
                    <a:lnTo>
                      <a:pt x="2794000" y="1547091"/>
                    </a:lnTo>
                    <a:cubicBezTo>
                      <a:pt x="2794000" y="1574649"/>
                      <a:pt x="2783052" y="1601079"/>
                      <a:pt x="2763566" y="1620566"/>
                    </a:cubicBezTo>
                    <a:cubicBezTo>
                      <a:pt x="2744079" y="1640052"/>
                      <a:pt x="2717649" y="1651000"/>
                      <a:pt x="2690091" y="1651000"/>
                    </a:cubicBezTo>
                    <a:lnTo>
                      <a:pt x="103909" y="1651000"/>
                    </a:lnTo>
                    <a:cubicBezTo>
                      <a:pt x="76351" y="1651000"/>
                      <a:pt x="49921" y="1640052"/>
                      <a:pt x="30434" y="1620566"/>
                    </a:cubicBezTo>
                    <a:cubicBezTo>
                      <a:pt x="10948" y="1601079"/>
                      <a:pt x="0" y="1574649"/>
                      <a:pt x="0" y="1547091"/>
                    </a:cubicBezTo>
                    <a:lnTo>
                      <a:pt x="0" y="103909"/>
                    </a:lnTo>
                    <a:cubicBezTo>
                      <a:pt x="0" y="76351"/>
                      <a:pt x="10948" y="49921"/>
                      <a:pt x="30434" y="30434"/>
                    </a:cubicBezTo>
                    <a:cubicBezTo>
                      <a:pt x="49921" y="10948"/>
                      <a:pt x="76351" y="0"/>
                      <a:pt x="103909" y="0"/>
                    </a:cubicBezTo>
                    <a:close/>
                  </a:path>
                </a:pathLst>
              </a:custGeom>
              <a:solidFill>
                <a:srgbClr val="F9C74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9525"/>
                <a:ext cx="2794000" cy="16414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62"/>
                  </a:lnSpc>
                </a:pPr>
                <a:r>
                  <a:rPr lang="en-US" sz="1875" b="true">
                    <a:solidFill>
                      <a:srgbClr val="17324D"/>
                    </a:solidFill>
                    <a:latin typeface="Nunito Bold"/>
                    <a:ea typeface="Nunito Bold"/>
                    <a:cs typeface="Nunito Bold"/>
                    <a:sym typeface="Nunito Bold"/>
                  </a:rPr>
                  <a:t>EK GÖREV</a:t>
                </a: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381000" y="977900"/>
              <a:ext cx="5334000" cy="19640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36"/>
                </a:lnSpc>
              </a:pPr>
              <a:r>
                <a:rPr lang="en-US" sz="217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Ek çalışma önerisi</a:t>
              </a:r>
            </a:p>
            <a:p>
              <a:pPr algn="ctr">
                <a:lnSpc>
                  <a:spcPts val="2936"/>
                </a:lnSpc>
              </a:pPr>
              <a:r>
                <a:rPr lang="en-US" sz="217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Evdeki bir cihazda ‘Okul’ klasörü oluştur ve derslere göre alt klasörlere ayır.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DAHXr3LGNo0</dc:identifier>
  <dcterms:modified xsi:type="dcterms:W3CDTF">2011-08-01T06:04:30Z</dcterms:modified>
  <cp:revision>1</cp:revision>
  <dc:title>Dosya ve Klasör Yönetimi</dc:title>
</cp:coreProperties>
</file>