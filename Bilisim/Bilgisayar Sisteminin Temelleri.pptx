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aloo" charset="1" panose="03080902040302020200"/>
      <p:regular r:id="rId23"/>
    </p:embeddedFont>
    <p:embeddedFont>
      <p:font typeface="Nunito Sans" charset="1" panose="00000000000000000000"/>
      <p:regular r:id="rId24"/>
    </p:embeddedFont>
    <p:embeddedFont>
      <p:font typeface="Nunito Sans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Öğrencilere bilgisayarın sadece tek parça olmadığını, birlikte çalışan bir sistem olduğunu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Donanımın gözle görülebilen ve elle tutulabilen parçalar olduğunu açıklayın.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Donanım ile yazılım arasındaki farkı ‘cihaz’ ve ‘talimat’ sözcükleriyle basitçe anlatın.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Öğrencilerden evde veya okulda kullandıkları giriş birimlerini söylemelerini isteyin.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RAM’in geçici olduğunu; işlemcinin işleri yönettiğini vurgulayın. Okları iki yönlü okuyun.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Çıkış birimlerinin bilgiyi kullanıcıya görüntü, kâğıt veya ses olarak sunduğunu örnekleyin.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Bilginin kalıcı saklanmasının önemini vurgulayın; RAM ile SSD karşılaştırmasını sınıfça okuyun.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Şemayı soldan sağa adım adım açıklayın; öğrencilerle birlikte Giriş–İşlem–Çıkış–Depolama sırasını tekrar edin.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Öğrencilerden yazı yazma ve dosya kaydetme deneyimlerini paylaşmalarını isteyin.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Donanım ve yazılımın tek başına yeterli olmadığını; görev yapmak için birlikte çalışmaları gerektiğini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Her kartı bir soru ile açın: ‘Sizce doğru mu?’ Ardından doğru açıklamayı birlikte okuyun.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Kartları grup halinde sınıflandırın. Her grubun bir kart için gerekçe söylemesini isteyin.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Soruları önce bireysel, sonra eşli cevaplatın; gerekçeleri birlikte tartışın.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Öğrencilerin cevaplarını kontrol etmelerini ve öz değerlendirme cümlelerini dürüstçe tamamlamalarını teşvik edin.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58250" y="0"/>
            <a:ext cx="9429750" cy="10287000"/>
          </a:xfrm>
          <a:custGeom>
            <a:avLst/>
            <a:gdLst/>
            <a:ahLst/>
            <a:cxnLst/>
            <a:rect r="r" b="b" t="t" l="l"/>
            <a:pathLst>
              <a:path h="10287000" w="9429750">
                <a:moveTo>
                  <a:pt x="0" y="0"/>
                </a:moveTo>
                <a:lnTo>
                  <a:pt x="9429750" y="0"/>
                </a:lnTo>
                <a:lnTo>
                  <a:pt x="9429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" r="0" b="-22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14400" y="6572250"/>
            <a:ext cx="1524000" cy="95250"/>
            <a:chOff x="0" y="0"/>
            <a:chExt cx="2032000" cy="12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2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032000">
                  <a:moveTo>
                    <a:pt x="0" y="0"/>
                  </a:moveTo>
                  <a:lnTo>
                    <a:pt x="2032000" y="0"/>
                  </a:lnTo>
                  <a:lnTo>
                    <a:pt x="2032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EF6F6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32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562100"/>
            <a:ext cx="7239000" cy="179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900">
                <a:solidFill>
                  <a:srgbClr val="112A35"/>
                </a:solidFill>
                <a:latin typeface="Baloo"/>
                <a:ea typeface="Baloo"/>
                <a:cs typeface="Baloo"/>
                <a:sym typeface="Baloo"/>
              </a:rPr>
              <a:t>Bilgisayar</a:t>
            </a:r>
          </a:p>
          <a:p>
            <a:pPr algn="l">
              <a:lnSpc>
                <a:spcPts val="6900"/>
              </a:lnSpc>
            </a:pPr>
            <a:r>
              <a:rPr lang="en-US" sz="6900">
                <a:solidFill>
                  <a:srgbClr val="112A35"/>
                </a:solidFill>
                <a:latin typeface="Baloo"/>
                <a:ea typeface="Baloo"/>
                <a:cs typeface="Baloo"/>
                <a:sym typeface="Baloo"/>
              </a:rPr>
              <a:t>Sistemi Nedir?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4533900"/>
            <a:ext cx="657225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12A35"/>
                </a:solidFill>
                <a:latin typeface="Nunito Sans"/>
                <a:ea typeface="Nunito Sans"/>
                <a:cs typeface="Nunito Sans"/>
                <a:sym typeface="Nunito Sans"/>
              </a:rPr>
              <a:t>Bilgisayar, birçok parçanın birlikte çalışarak görevleri yerine getirdiği bir sistemdir.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23900" y="6781800"/>
            <a:ext cx="7381875" cy="781050"/>
            <a:chOff x="0" y="0"/>
            <a:chExt cx="9842500" cy="1041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425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9842500">
                  <a:moveTo>
                    <a:pt x="0" y="0"/>
                  </a:moveTo>
                  <a:lnTo>
                    <a:pt x="9842500" y="0"/>
                  </a:lnTo>
                  <a:lnTo>
                    <a:pt x="98425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6C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8425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6905625"/>
            <a:ext cx="6858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PARÇALAR + PROGRAMLAR = SİSTEM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74295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12A35"/>
                </a:solidFill>
                <a:latin typeface="Baloo"/>
                <a:ea typeface="Baloo"/>
                <a:cs typeface="Baloo"/>
                <a:sym typeface="Baloo"/>
              </a:rPr>
              <a:t>Donanım: Bilgisayarın Fiziksel Parçaları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2286000"/>
            <a:ext cx="16459200" cy="4762500"/>
          </a:xfrm>
          <a:custGeom>
            <a:avLst/>
            <a:gdLst/>
            <a:ahLst/>
            <a:cxnLst/>
            <a:rect r="r" b="b" t="t" l="l"/>
            <a:pathLst>
              <a:path h="4762500" w="16459200">
                <a:moveTo>
                  <a:pt x="0" y="0"/>
                </a:moveTo>
                <a:lnTo>
                  <a:pt x="16459200" y="0"/>
                </a:lnTo>
                <a:lnTo>
                  <a:pt x="16459200" y="4762500"/>
                </a:ln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" t="0" r="-104" b="0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4" id="4"/>
          <p:cNvGrpSpPr/>
          <p:nvPr/>
        </p:nvGrpSpPr>
        <p:grpSpPr>
          <a:xfrm rot="0">
            <a:off x="914400" y="7286625"/>
            <a:ext cx="5238750" cy="781050"/>
            <a:chOff x="0" y="0"/>
            <a:chExt cx="6985000" cy="10414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985000" cy="1041400"/>
              <a:chOff x="0" y="0"/>
              <a:chExt cx="6985000" cy="1041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985000" cy="1041400"/>
              </a:xfrm>
              <a:custGeom>
                <a:avLst/>
                <a:gdLst/>
                <a:ahLst/>
                <a:cxnLst/>
                <a:rect r="r" b="b" t="t" l="l"/>
                <a:pathLst>
                  <a:path h="1041400" w="698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1041400"/>
                    </a:lnTo>
                    <a:lnTo>
                      <a:pt x="0" y="1041400"/>
                    </a:lnTo>
                    <a:close/>
                  </a:path>
                </a:pathLst>
              </a:custGeom>
              <a:solidFill>
                <a:srgbClr val="F6C4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985000" cy="1079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04800" y="254000"/>
              <a:ext cx="6350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Ekran • Klavye • Fare • Kasa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34150" y="7286625"/>
            <a:ext cx="5238750" cy="781050"/>
            <a:chOff x="0" y="0"/>
            <a:chExt cx="6985000" cy="10414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985000" cy="1041400"/>
              <a:chOff x="0" y="0"/>
              <a:chExt cx="6985000" cy="1041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985000" cy="1041400"/>
              </a:xfrm>
              <a:custGeom>
                <a:avLst/>
                <a:gdLst/>
                <a:ahLst/>
                <a:cxnLst/>
                <a:rect r="r" b="b" t="t" l="l"/>
                <a:pathLst>
                  <a:path h="1041400" w="698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1041400"/>
                    </a:lnTo>
                    <a:lnTo>
                      <a:pt x="0" y="1041400"/>
                    </a:lnTo>
                    <a:close/>
                  </a:path>
                </a:pathLst>
              </a:custGeom>
              <a:solidFill>
                <a:srgbClr val="18A9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985000" cy="1079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04800" y="254000"/>
              <a:ext cx="6350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Anakart • İşlemci • RAM • SSD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53900" y="7286625"/>
            <a:ext cx="5219700" cy="781050"/>
            <a:chOff x="0" y="0"/>
            <a:chExt cx="6959600" cy="10414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959600" cy="1041400"/>
              <a:chOff x="0" y="0"/>
              <a:chExt cx="6959600" cy="1041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959600" cy="1041400"/>
              </a:xfrm>
              <a:custGeom>
                <a:avLst/>
                <a:gdLst/>
                <a:ahLst/>
                <a:cxnLst/>
                <a:rect r="r" b="b" t="t" l="l"/>
                <a:pathLst>
                  <a:path h="1041400" w="6959600">
                    <a:moveTo>
                      <a:pt x="0" y="0"/>
                    </a:moveTo>
                    <a:lnTo>
                      <a:pt x="6959600" y="0"/>
                    </a:lnTo>
                    <a:lnTo>
                      <a:pt x="6959600" y="1041400"/>
                    </a:lnTo>
                    <a:lnTo>
                      <a:pt x="0" y="1041400"/>
                    </a:lnTo>
                    <a:close/>
                  </a:path>
                </a:pathLst>
              </a:custGeom>
              <a:solidFill>
                <a:srgbClr val="EF6F6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959600" cy="1079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0800" y="254000"/>
              <a:ext cx="6604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Yazıcı • Mikrofon • Hoparlör • Kamera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476500" y="8724900"/>
            <a:ext cx="13335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12A35"/>
                </a:solidFill>
                <a:latin typeface="Nunito Sans"/>
                <a:ea typeface="Nunito Sans"/>
                <a:cs typeface="Nunito Sans"/>
                <a:sym typeface="Nunito Sans"/>
              </a:rPr>
              <a:t>Klavye: Yazı yazmamızı sağlar.   •   Ekran: Bilgiyi görmemizi sağlar.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0" y="1428750"/>
            <a:ext cx="7562850" cy="7620000"/>
          </a:xfrm>
          <a:custGeom>
            <a:avLst/>
            <a:gdLst/>
            <a:ahLst/>
            <a:cxnLst/>
            <a:rect r="r" b="b" t="t" l="l"/>
            <a:pathLst>
              <a:path h="7620000" w="7562850">
                <a:moveTo>
                  <a:pt x="0" y="0"/>
                </a:moveTo>
                <a:lnTo>
                  <a:pt x="7562850" y="0"/>
                </a:lnTo>
                <a:lnTo>
                  <a:pt x="7562850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3" r="0" b="-63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1323975"/>
            <a:ext cx="771525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Yazılım:</a:t>
            </a:r>
          </a:p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Bilgisayarı Yöneten Programlar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4438650"/>
            <a:ext cx="723900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Yazılım, bilgisayara ne yapacağını söyleyen programlardır.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6191250"/>
            <a:ext cx="6858000" cy="2857500"/>
            <a:chOff x="0" y="0"/>
            <a:chExt cx="9144000" cy="381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6C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33500" y="6372225"/>
            <a:ext cx="5524500" cy="184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2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İşletim sistemi</a:t>
            </a:r>
          </a:p>
          <a:p>
            <a:pPr algn="l">
              <a:lnSpc>
                <a:spcPts val="3712"/>
              </a:lnSpc>
            </a:pPr>
            <a:r>
              <a:rPr lang="en-US" sz="22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Kelime işlemci</a:t>
            </a:r>
          </a:p>
          <a:p>
            <a:pPr algn="l">
              <a:lnSpc>
                <a:spcPts val="3712"/>
              </a:lnSpc>
            </a:pPr>
            <a:r>
              <a:rPr lang="en-US" sz="22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İnternet tarayıcısı</a:t>
            </a:r>
          </a:p>
          <a:p>
            <a:pPr algn="l">
              <a:lnSpc>
                <a:spcPts val="3712"/>
              </a:lnSpc>
            </a:pPr>
            <a:r>
              <a:rPr lang="en-US" sz="22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Eğitim yazılımı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742950"/>
            <a:ext cx="8572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12A35"/>
                </a:solidFill>
                <a:latin typeface="Baloo"/>
                <a:ea typeface="Baloo"/>
                <a:cs typeface="Baloo"/>
                <a:sym typeface="Baloo"/>
              </a:rPr>
              <a:t>Giriş Birimleri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0" y="1390650"/>
            <a:ext cx="68580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37"/>
              </a:lnSpc>
            </a:pPr>
            <a:r>
              <a:rPr lang="en-US" sz="2250">
                <a:solidFill>
                  <a:srgbClr val="112A35"/>
                </a:solidFill>
                <a:latin typeface="Nunito Sans"/>
                <a:ea typeface="Nunito Sans"/>
                <a:cs typeface="Nunito Sans"/>
                <a:sym typeface="Nunito Sans"/>
              </a:rPr>
              <a:t>Bilgiyi bilgisayara gönderir.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" y="2333625"/>
            <a:ext cx="16459200" cy="4953000"/>
          </a:xfrm>
          <a:custGeom>
            <a:avLst/>
            <a:gdLst/>
            <a:ahLst/>
            <a:cxnLst/>
            <a:rect r="r" b="b" t="t" l="l"/>
            <a:pathLst>
              <a:path h="4953000" w="16459200">
                <a:moveTo>
                  <a:pt x="0" y="0"/>
                </a:moveTo>
                <a:lnTo>
                  <a:pt x="16459200" y="0"/>
                </a:lnTo>
                <a:lnTo>
                  <a:pt x="16459200" y="4953000"/>
                </a:lnTo>
                <a:lnTo>
                  <a:pt x="0" y="4953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" t="0" r="-154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1047750" y="7620000"/>
            <a:ext cx="1619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KLAVYE                 FARE                 MİKROFON                 KAMERA                 TARAYICI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714750" y="8477250"/>
            <a:ext cx="10858500" cy="762000"/>
            <a:chOff x="0" y="0"/>
            <a:chExt cx="14478000" cy="10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78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478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000500" y="8667750"/>
            <a:ext cx="10287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Mikrofon → Sesimizi bilgisayara gönderir.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904875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İşlem Birimleri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47750" y="2952750"/>
            <a:ext cx="5905500" cy="4381500"/>
          </a:xfrm>
          <a:custGeom>
            <a:avLst/>
            <a:gdLst/>
            <a:ahLst/>
            <a:cxnLst/>
            <a:rect r="r" b="b" t="t" l="l"/>
            <a:pathLst>
              <a:path h="4381500" w="5905500">
                <a:moveTo>
                  <a:pt x="0" y="0"/>
                </a:moveTo>
                <a:lnTo>
                  <a:pt x="5905500" y="0"/>
                </a:lnTo>
                <a:lnTo>
                  <a:pt x="5905500" y="4381500"/>
                </a:lnTo>
                <a:lnTo>
                  <a:pt x="0" y="4381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" t="0" r="-46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334750" y="2952750"/>
            <a:ext cx="5905500" cy="4381500"/>
          </a:xfrm>
          <a:custGeom>
            <a:avLst/>
            <a:gdLst/>
            <a:ahLst/>
            <a:cxnLst/>
            <a:rect r="r" b="b" t="t" l="l"/>
            <a:pathLst>
              <a:path h="4381500" w="5905500">
                <a:moveTo>
                  <a:pt x="0" y="0"/>
                </a:moveTo>
                <a:lnTo>
                  <a:pt x="5905500" y="0"/>
                </a:lnTo>
                <a:lnTo>
                  <a:pt x="5905500" y="4381500"/>
                </a:lnTo>
                <a:lnTo>
                  <a:pt x="0" y="438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" t="0" r="-46" b="0"/>
            </a:stretch>
          </a:blipFill>
          <a:ln cap="rnd">
            <a:noFill/>
            <a:prstDash val="solid"/>
            <a:round/>
          </a:ln>
        </p:spPr>
      </p:sp>
      <p:sp>
        <p:nvSpPr>
          <p:cNvPr name="AutoShape 5" id="5"/>
          <p:cNvSpPr/>
          <p:nvPr/>
        </p:nvSpPr>
        <p:spPr>
          <a:xfrm>
            <a:off x="7143750" y="4762500"/>
            <a:ext cx="3905250" cy="0"/>
          </a:xfrm>
          <a:prstGeom prst="line">
            <a:avLst/>
          </a:prstGeom>
          <a:ln cap="rnd" w="76200">
            <a:solidFill>
              <a:srgbClr val="18A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7143750" y="5619750"/>
            <a:ext cx="3905250" cy="0"/>
          </a:xfrm>
          <a:prstGeom prst="line">
            <a:avLst/>
          </a:prstGeom>
          <a:ln cap="rnd" w="76200">
            <a:solidFill>
              <a:srgbClr val="F6C4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7572375" y="4495800"/>
            <a:ext cx="314325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5"/>
              </a:lnSpc>
            </a:pPr>
            <a:r>
              <a:rPr lang="en-US" sz="2850">
                <a:solidFill>
                  <a:srgbClr val="F6C445"/>
                </a:solidFill>
                <a:latin typeface="Baloo"/>
                <a:ea typeface="Baloo"/>
                <a:cs typeface="Baloo"/>
                <a:sym typeface="Baloo"/>
              </a:rPr>
              <a:t>Birlikte</a:t>
            </a:r>
          </a:p>
          <a:p>
            <a:pPr algn="ctr">
              <a:lnSpc>
                <a:spcPts val="3135"/>
              </a:lnSpc>
            </a:pPr>
            <a:r>
              <a:rPr lang="en-US" sz="2850">
                <a:solidFill>
                  <a:srgbClr val="F6C445"/>
                </a:solidFill>
                <a:latin typeface="Baloo"/>
                <a:ea typeface="Baloo"/>
                <a:cs typeface="Baloo"/>
                <a:sym typeface="Baloo"/>
              </a:rPr>
              <a:t>çalışırlar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8250" y="7667625"/>
            <a:ext cx="5524500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</a:pPr>
            <a:r>
              <a:rPr lang="en-US" sz="1875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CPU = Bilgisayarın beyni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25250" y="7667625"/>
            <a:ext cx="5524500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</a:pPr>
            <a:r>
              <a:rPr lang="en-US" sz="1875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RAM = Geçici çalışma alanı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8572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12A35"/>
                </a:solidFill>
                <a:latin typeface="Baloo"/>
                <a:ea typeface="Baloo"/>
                <a:cs typeface="Baloo"/>
                <a:sym typeface="Baloo"/>
              </a:rPr>
              <a:t>Çıkış Birimleri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30000" y="1390650"/>
            <a:ext cx="59055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37"/>
              </a:lnSpc>
            </a:pPr>
            <a:r>
              <a:rPr lang="en-US" sz="2250">
                <a:solidFill>
                  <a:srgbClr val="112A35"/>
                </a:solidFill>
                <a:latin typeface="Nunito Sans"/>
                <a:ea typeface="Nunito Sans"/>
                <a:cs typeface="Nunito Sans"/>
                <a:sym typeface="Nunito Sans"/>
              </a:rPr>
              <a:t>Bilgiyi bize sunar.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2476500"/>
            <a:ext cx="5219700" cy="6048375"/>
            <a:chOff x="0" y="0"/>
            <a:chExt cx="6959600" cy="8064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96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6959600">
                  <a:moveTo>
                    <a:pt x="0" y="0"/>
                  </a:moveTo>
                  <a:lnTo>
                    <a:pt x="6959600" y="0"/>
                  </a:lnTo>
                  <a:lnTo>
                    <a:pt x="6959600" y="5969000"/>
                  </a:lnTo>
                  <a:lnTo>
                    <a:pt x="0" y="596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2" t="0" r="-82" b="0"/>
              </a:stretch>
            </a:blipFill>
            <a:ln cap="rnd">
              <a:noFill/>
              <a:prstDash val="solid"/>
              <a:round/>
            </a:ln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6413500"/>
              <a:ext cx="6959600" cy="1651000"/>
              <a:chOff x="0" y="0"/>
              <a:chExt cx="6959600" cy="1651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9596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6959600">
                    <a:moveTo>
                      <a:pt x="0" y="0"/>
                    </a:moveTo>
                    <a:lnTo>
                      <a:pt x="6959600" y="0"/>
                    </a:lnTo>
                    <a:lnTo>
                      <a:pt x="69596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6C4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9596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04800" y="6648450"/>
              <a:ext cx="63500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12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EKRAN</a:t>
              </a:r>
            </a:p>
            <a:p>
              <a:pPr algn="ctr">
                <a:lnSpc>
                  <a:spcPts val="2812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Görüntü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34150" y="2476500"/>
            <a:ext cx="5219700" cy="6048375"/>
            <a:chOff x="0" y="0"/>
            <a:chExt cx="6959600" cy="8064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96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6959600">
                  <a:moveTo>
                    <a:pt x="0" y="0"/>
                  </a:moveTo>
                  <a:lnTo>
                    <a:pt x="6959600" y="0"/>
                  </a:lnTo>
                  <a:lnTo>
                    <a:pt x="6959600" y="5969000"/>
                  </a:lnTo>
                  <a:lnTo>
                    <a:pt x="0" y="596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2" t="0" r="-82" b="0"/>
              </a:stretch>
            </a:blipFill>
            <a:ln cap="rnd">
              <a:noFill/>
              <a:prstDash val="solid"/>
              <a:round/>
            </a:ln>
          </p:spPr>
        </p:sp>
        <p:grpSp>
          <p:nvGrpSpPr>
            <p:cNvPr name="Group 12" id="12"/>
            <p:cNvGrpSpPr/>
            <p:nvPr/>
          </p:nvGrpSpPr>
          <p:grpSpPr>
            <a:xfrm rot="0">
              <a:off x="0" y="6413500"/>
              <a:ext cx="6959600" cy="1651000"/>
              <a:chOff x="0" y="0"/>
              <a:chExt cx="6959600" cy="1651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9596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6959600">
                    <a:moveTo>
                      <a:pt x="0" y="0"/>
                    </a:moveTo>
                    <a:lnTo>
                      <a:pt x="6959600" y="0"/>
                    </a:lnTo>
                    <a:lnTo>
                      <a:pt x="69596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EF6F6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9596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04800" y="6648450"/>
              <a:ext cx="63500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12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YAZICI</a:t>
              </a:r>
            </a:p>
            <a:p>
              <a:pPr algn="ctr">
                <a:lnSpc>
                  <a:spcPts val="2812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Kâğıt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53900" y="2476500"/>
            <a:ext cx="5219700" cy="6048375"/>
            <a:chOff x="0" y="0"/>
            <a:chExt cx="6959600" cy="8064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596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6959600">
                  <a:moveTo>
                    <a:pt x="0" y="0"/>
                  </a:moveTo>
                  <a:lnTo>
                    <a:pt x="6959600" y="0"/>
                  </a:lnTo>
                  <a:lnTo>
                    <a:pt x="6959600" y="5969000"/>
                  </a:lnTo>
                  <a:lnTo>
                    <a:pt x="0" y="596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2" t="0" r="-82" b="0"/>
              </a:stretch>
            </a:blipFill>
            <a:ln cap="rnd">
              <a:noFill/>
              <a:prstDash val="solid"/>
              <a:round/>
            </a:ln>
          </p:spPr>
        </p:sp>
        <p:grpSp>
          <p:nvGrpSpPr>
            <p:cNvPr name="Group 18" id="18"/>
            <p:cNvGrpSpPr/>
            <p:nvPr/>
          </p:nvGrpSpPr>
          <p:grpSpPr>
            <a:xfrm rot="0">
              <a:off x="0" y="6413500"/>
              <a:ext cx="6959600" cy="1651000"/>
              <a:chOff x="0" y="0"/>
              <a:chExt cx="6959600" cy="1651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9596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6959600">
                    <a:moveTo>
                      <a:pt x="0" y="0"/>
                    </a:moveTo>
                    <a:lnTo>
                      <a:pt x="6959600" y="0"/>
                    </a:lnTo>
                    <a:lnTo>
                      <a:pt x="69596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8A9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9596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04800" y="6648450"/>
              <a:ext cx="63500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12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HOPARLÖR</a:t>
              </a:r>
            </a:p>
            <a:p>
              <a:pPr algn="ctr">
                <a:lnSpc>
                  <a:spcPts val="2812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904875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12A35"/>
                </a:solidFill>
                <a:latin typeface="Baloo"/>
                <a:ea typeface="Baloo"/>
                <a:cs typeface="Baloo"/>
                <a:sym typeface="Baloo"/>
              </a:rPr>
              <a:t>Depolama Birimleri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2286000"/>
            <a:ext cx="7810500" cy="5905500"/>
          </a:xfrm>
          <a:custGeom>
            <a:avLst/>
            <a:gdLst/>
            <a:ahLst/>
            <a:cxnLst/>
            <a:rect r="r" b="b" t="t" l="l"/>
            <a:pathLst>
              <a:path h="5905500" w="7810500">
                <a:moveTo>
                  <a:pt x="0" y="0"/>
                </a:moveTo>
                <a:lnTo>
                  <a:pt x="7810500" y="0"/>
                </a:lnTo>
                <a:lnTo>
                  <a:pt x="7810500" y="5905500"/>
                </a:lnTo>
                <a:lnTo>
                  <a:pt x="0" y="590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" t="0" r="-72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1047750" y="8401050"/>
            <a:ext cx="75247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SSD  •  Sabit disk</a:t>
            </a:r>
          </a:p>
          <a:p>
            <a:pPr algn="ctr">
              <a:lnSpc>
                <a:spcPts val="2835"/>
              </a:lnSpc>
            </a:pPr>
            <a:r>
              <a:rPr lang="en-US" sz="210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USB bellek  •  Hafıza kartı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25000" y="2857500"/>
            <a:ext cx="3714750" cy="3714750"/>
            <a:chOff x="0" y="0"/>
            <a:chExt cx="4953000" cy="4953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953000" cy="4953000"/>
              <a:chOff x="0" y="0"/>
              <a:chExt cx="4953000" cy="4953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53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6C4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953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71500" y="733425"/>
              <a:ext cx="3810000" cy="1091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RAM</a:t>
              </a:r>
            </a:p>
            <a:p>
              <a:pPr algn="ctr">
                <a:lnSpc>
                  <a:spcPts val="2227"/>
                </a:lnSpc>
              </a:pPr>
              <a:r>
                <a:rPr lang="en-US" sz="16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Geçici</a:t>
              </a:r>
            </a:p>
            <a:p>
              <a:pPr algn="ctr">
                <a:lnSpc>
                  <a:spcPts val="2227"/>
                </a:lnSpc>
              </a:pPr>
              <a:r>
                <a:rPr lang="en-US" sz="16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Bilgisayar kapanınca silinir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82625" y="2857500"/>
            <a:ext cx="3714750" cy="3714750"/>
            <a:chOff x="0" y="0"/>
            <a:chExt cx="4953000" cy="4953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953000" cy="4953000"/>
              <a:chOff x="0" y="0"/>
              <a:chExt cx="4953000" cy="495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953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8A9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4953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71500" y="733425"/>
              <a:ext cx="3810000" cy="1531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8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SSD</a:t>
              </a:r>
            </a:p>
            <a:p>
              <a:pPr algn="ctr">
                <a:lnSpc>
                  <a:spcPts val="3138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Kalıcı</a:t>
              </a:r>
            </a:p>
            <a:p>
              <a:pPr algn="ctr">
                <a:lnSpc>
                  <a:spcPts val="3138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Dosyalar saklanır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0" y="7572375"/>
            <a:ext cx="7572375" cy="762000"/>
            <a:chOff x="0" y="0"/>
            <a:chExt cx="10096500" cy="101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965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F6F61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0965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906000" y="7762875"/>
            <a:ext cx="6858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RAM geçici, depolama kalıcıdır.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1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742950"/>
            <a:ext cx="1190625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Bilgisayar Nasıl Çalışır?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676400"/>
            <a:ext cx="85725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Bilgisayar bilgiyi bu sırayla işler.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3810000"/>
            <a:ext cx="3429000" cy="2190750"/>
            <a:chOff x="0" y="0"/>
            <a:chExt cx="4572000" cy="292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72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572000">
                  <a:moveTo>
                    <a:pt x="84667" y="0"/>
                  </a:moveTo>
                  <a:lnTo>
                    <a:pt x="4487333" y="0"/>
                  </a:lnTo>
                  <a:cubicBezTo>
                    <a:pt x="4534093" y="0"/>
                    <a:pt x="4572000" y="37907"/>
                    <a:pt x="4572000" y="84667"/>
                  </a:cubicBezTo>
                  <a:lnTo>
                    <a:pt x="4572000" y="2836333"/>
                  </a:lnTo>
                  <a:cubicBezTo>
                    <a:pt x="4572000" y="2883093"/>
                    <a:pt x="4534093" y="2921000"/>
                    <a:pt x="4487333" y="2921000"/>
                  </a:cubicBezTo>
                  <a:lnTo>
                    <a:pt x="84667" y="2921000"/>
                  </a:lnTo>
                  <a:cubicBezTo>
                    <a:pt x="37907" y="2921000"/>
                    <a:pt x="0" y="2883093"/>
                    <a:pt x="0" y="2836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F6C445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72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1  GİRİŞ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Klavye • Fare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4381500" y="4905375"/>
            <a:ext cx="714375" cy="0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238750" y="3810000"/>
            <a:ext cx="3429000" cy="2190750"/>
            <a:chOff x="0" y="0"/>
            <a:chExt cx="4572000" cy="292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2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572000">
                  <a:moveTo>
                    <a:pt x="84667" y="0"/>
                  </a:moveTo>
                  <a:lnTo>
                    <a:pt x="4487333" y="0"/>
                  </a:lnTo>
                  <a:cubicBezTo>
                    <a:pt x="4534093" y="0"/>
                    <a:pt x="4572000" y="37907"/>
                    <a:pt x="4572000" y="84667"/>
                  </a:cubicBezTo>
                  <a:lnTo>
                    <a:pt x="4572000" y="2836333"/>
                  </a:lnTo>
                  <a:cubicBezTo>
                    <a:pt x="4572000" y="2883093"/>
                    <a:pt x="4534093" y="2921000"/>
                    <a:pt x="4487333" y="2921000"/>
                  </a:cubicBezTo>
                  <a:lnTo>
                    <a:pt x="84667" y="2921000"/>
                  </a:lnTo>
                  <a:cubicBezTo>
                    <a:pt x="37907" y="2921000"/>
                    <a:pt x="0" y="2883093"/>
                    <a:pt x="0" y="2836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8A99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572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2  İŞLEM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CPU • RAM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8763000" y="4905375"/>
            <a:ext cx="714375" cy="0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620250" y="3810000"/>
            <a:ext cx="3429000" cy="2190750"/>
            <a:chOff x="0" y="0"/>
            <a:chExt cx="4572000" cy="292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572000">
                  <a:moveTo>
                    <a:pt x="84667" y="0"/>
                  </a:moveTo>
                  <a:lnTo>
                    <a:pt x="4487333" y="0"/>
                  </a:lnTo>
                  <a:cubicBezTo>
                    <a:pt x="4534093" y="0"/>
                    <a:pt x="4572000" y="37907"/>
                    <a:pt x="4572000" y="84667"/>
                  </a:cubicBezTo>
                  <a:lnTo>
                    <a:pt x="4572000" y="2836333"/>
                  </a:lnTo>
                  <a:cubicBezTo>
                    <a:pt x="4572000" y="2883093"/>
                    <a:pt x="4534093" y="2921000"/>
                    <a:pt x="4487333" y="2921000"/>
                  </a:cubicBezTo>
                  <a:lnTo>
                    <a:pt x="84667" y="2921000"/>
                  </a:lnTo>
                  <a:cubicBezTo>
                    <a:pt x="37907" y="2921000"/>
                    <a:pt x="0" y="2883093"/>
                    <a:pt x="0" y="2836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EF6F6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72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  ÇIKIŞ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Ekran • Ses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3144500" y="4905375"/>
            <a:ext cx="714375" cy="0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001750" y="3810000"/>
            <a:ext cx="3429000" cy="2190750"/>
            <a:chOff x="0" y="0"/>
            <a:chExt cx="4572000" cy="292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72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572000">
                  <a:moveTo>
                    <a:pt x="84667" y="0"/>
                  </a:moveTo>
                  <a:lnTo>
                    <a:pt x="4487333" y="0"/>
                  </a:lnTo>
                  <a:cubicBezTo>
                    <a:pt x="4534093" y="0"/>
                    <a:pt x="4572000" y="37907"/>
                    <a:pt x="4572000" y="84667"/>
                  </a:cubicBezTo>
                  <a:lnTo>
                    <a:pt x="4572000" y="2836333"/>
                  </a:lnTo>
                  <a:cubicBezTo>
                    <a:pt x="4572000" y="2883093"/>
                    <a:pt x="4534093" y="2921000"/>
                    <a:pt x="4487333" y="2921000"/>
                  </a:cubicBezTo>
                  <a:lnTo>
                    <a:pt x="84667" y="2921000"/>
                  </a:lnTo>
                  <a:cubicBezTo>
                    <a:pt x="37907" y="2921000"/>
                    <a:pt x="0" y="2883093"/>
                    <a:pt x="0" y="2836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F6C44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572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4  DEPOLAMA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SSD • USB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19250" y="7191375"/>
            <a:ext cx="15049500" cy="952500"/>
            <a:chOff x="0" y="0"/>
            <a:chExt cx="20066000" cy="127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06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0066000">
                  <a:moveTo>
                    <a:pt x="0" y="0"/>
                  </a:moveTo>
                  <a:lnTo>
                    <a:pt x="20066000" y="0"/>
                  </a:lnTo>
                  <a:lnTo>
                    <a:pt x="20066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DCEBE7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06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000250" y="7486650"/>
            <a:ext cx="142875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Örnek: Tuşa bas → İşlemci anlar → Harf ekranda görünür → Dosya kaydedilir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4500" y="0"/>
            <a:ext cx="8953500" cy="10287000"/>
          </a:xfrm>
          <a:custGeom>
            <a:avLst/>
            <a:gdLst/>
            <a:ahLst/>
            <a:cxnLst/>
            <a:rect r="r" b="b" t="t" l="l"/>
            <a:pathLst>
              <a:path h="10287000" w="8953500">
                <a:moveTo>
                  <a:pt x="0" y="0"/>
                </a:moveTo>
                <a:lnTo>
                  <a:pt x="8953500" y="0"/>
                </a:lnTo>
                <a:lnTo>
                  <a:pt x="8953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" r="0" b="-21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990600"/>
            <a:ext cx="7334250" cy="267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900">
                <a:solidFill>
                  <a:srgbClr val="112A35"/>
                </a:solidFill>
                <a:latin typeface="Baloo"/>
                <a:ea typeface="Baloo"/>
                <a:cs typeface="Baloo"/>
                <a:sym typeface="Baloo"/>
              </a:rPr>
              <a:t>Bilgisayar Günlük Hayatta Nasıl Çalışır?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429125"/>
            <a:ext cx="7239000" cy="4095750"/>
            <a:chOff x="0" y="0"/>
            <a:chExt cx="9652000" cy="546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520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F6C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652000" cy="549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38250" y="4752975"/>
            <a:ext cx="6191250" cy="279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1  Yazı yaz</a:t>
            </a:r>
          </a:p>
          <a:p>
            <a:pPr algn="l">
              <a:lnSpc>
                <a:spcPts val="3187"/>
              </a:lnSpc>
            </a:pPr>
          </a:p>
          <a:p>
            <a:pPr algn="l">
              <a:lnSpc>
                <a:spcPts val="3187"/>
              </a:lnSpc>
            </a:pPr>
            <a:r>
              <a:rPr lang="en-US" sz="25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2  İşlemci işler</a:t>
            </a:r>
          </a:p>
          <a:p>
            <a:pPr algn="l">
              <a:lnSpc>
                <a:spcPts val="3187"/>
              </a:lnSpc>
            </a:pPr>
          </a:p>
          <a:p>
            <a:pPr algn="l">
              <a:lnSpc>
                <a:spcPts val="3187"/>
              </a:lnSpc>
            </a:pPr>
            <a:r>
              <a:rPr lang="en-US" sz="25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3  Ekranda göster</a:t>
            </a:r>
          </a:p>
          <a:p>
            <a:pPr algn="l">
              <a:lnSpc>
                <a:spcPts val="3187"/>
              </a:lnSpc>
            </a:pPr>
          </a:p>
          <a:p>
            <a:pPr algn="l">
              <a:lnSpc>
                <a:spcPts val="3187"/>
              </a:lnSpc>
            </a:pPr>
            <a:r>
              <a:rPr lang="en-US" sz="25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4  Dosyayı kaydet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1190625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12A35"/>
                </a:solidFill>
                <a:latin typeface="Baloo"/>
                <a:ea typeface="Baloo"/>
                <a:cs typeface="Baloo"/>
                <a:sym typeface="Baloo"/>
              </a:rPr>
              <a:t>Donanım ve Yazılım İlişkisi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2381250"/>
            <a:ext cx="7429500" cy="4381500"/>
          </a:xfrm>
          <a:custGeom>
            <a:avLst/>
            <a:gdLst/>
            <a:ahLst/>
            <a:cxnLst/>
            <a:rect r="r" b="b" t="t" l="l"/>
            <a:pathLst>
              <a:path h="4381500" w="7429500">
                <a:moveTo>
                  <a:pt x="0" y="0"/>
                </a:moveTo>
                <a:lnTo>
                  <a:pt x="7429500" y="0"/>
                </a:lnTo>
                <a:lnTo>
                  <a:pt x="7429500" y="4381500"/>
                </a:lnTo>
                <a:lnTo>
                  <a:pt x="0" y="4381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" t="0" r="-84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944100" y="2381250"/>
            <a:ext cx="7429500" cy="4381500"/>
          </a:xfrm>
          <a:custGeom>
            <a:avLst/>
            <a:gdLst/>
            <a:ahLst/>
            <a:cxnLst/>
            <a:rect r="r" b="b" t="t" l="l"/>
            <a:pathLst>
              <a:path h="4381500" w="7429500">
                <a:moveTo>
                  <a:pt x="0" y="0"/>
                </a:moveTo>
                <a:lnTo>
                  <a:pt x="7429500" y="0"/>
                </a:lnTo>
                <a:lnTo>
                  <a:pt x="7429500" y="4381500"/>
                </a:lnTo>
                <a:lnTo>
                  <a:pt x="0" y="438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" t="0" r="-84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1143000" y="7162800"/>
            <a:ext cx="69532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sz="22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DONANIM</a:t>
            </a:r>
          </a:p>
          <a:p>
            <a:pPr algn="ctr">
              <a:lnSpc>
                <a:spcPts val="2925"/>
              </a:lnSpc>
            </a:pPr>
            <a:r>
              <a:rPr lang="en-US" sz="22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Fiziksel, elle tutulur parçalar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91750" y="7162800"/>
            <a:ext cx="69532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sz="22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YAZILIM</a:t>
            </a:r>
          </a:p>
          <a:p>
            <a:pPr algn="ctr">
              <a:lnSpc>
                <a:spcPts val="2925"/>
              </a:lnSpc>
            </a:pPr>
            <a:r>
              <a:rPr lang="en-US" sz="22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Donanıma ne yapacağını söyler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53000" y="8763000"/>
            <a:ext cx="8382000" cy="762000"/>
            <a:chOff x="0" y="0"/>
            <a:chExt cx="11176000" cy="10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7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1176000">
                  <a:moveTo>
                    <a:pt x="0" y="0"/>
                  </a:moveTo>
                  <a:lnTo>
                    <a:pt x="11176000" y="0"/>
                  </a:lnTo>
                  <a:lnTo>
                    <a:pt x="11176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17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334000" y="8905875"/>
            <a:ext cx="7620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BİRLİKTE ÇALIŞIRLAR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1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14625"/>
            <a:ext cx="5029200" cy="3714750"/>
            <a:chOff x="0" y="0"/>
            <a:chExt cx="6705600" cy="4953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705600" cy="4953000"/>
              <a:chOff x="0" y="0"/>
              <a:chExt cx="6705600" cy="4953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7056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6C4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7056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558800" y="806450"/>
              <a:ext cx="5588000" cy="762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17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RAM kalıcı değildir</a:t>
              </a:r>
            </a:p>
            <a:p>
              <a:pPr algn="ctr">
                <a:lnSpc>
                  <a:spcPts val="2328"/>
                </a:lnSpc>
              </a:pPr>
              <a:r>
                <a:rPr lang="en-US" sz="17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Bilgisayar kapanınca içindekiler silinir.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29400" y="2714625"/>
            <a:ext cx="5029200" cy="3714750"/>
            <a:chOff x="0" y="0"/>
            <a:chExt cx="6705600" cy="4953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705600" cy="4953000"/>
              <a:chOff x="0" y="0"/>
              <a:chExt cx="6705600" cy="4953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7056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8A9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7056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558800" y="806450"/>
              <a:ext cx="5588000" cy="786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18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Donanım ≠ Yazılım</a:t>
              </a:r>
            </a:p>
            <a:p>
              <a:pPr algn="ctr">
                <a:lnSpc>
                  <a:spcPts val="2430"/>
                </a:lnSpc>
              </a:pPr>
              <a:r>
                <a:rPr lang="en-US" sz="18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Biri fiziksel parça, diğeri programdır.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0" y="2714625"/>
            <a:ext cx="5029200" cy="3714750"/>
            <a:chOff x="0" y="0"/>
            <a:chExt cx="6705600" cy="4953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705600" cy="4953000"/>
              <a:chOff x="0" y="0"/>
              <a:chExt cx="6705600" cy="4953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7056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EF6F6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7056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58800" y="806450"/>
              <a:ext cx="5588000" cy="762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17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Giriş ≠ Çıkış</a:t>
              </a:r>
            </a:p>
            <a:p>
              <a:pPr algn="ctr">
                <a:lnSpc>
                  <a:spcPts val="2328"/>
                </a:lnSpc>
              </a:pPr>
              <a:r>
                <a:rPr lang="en-US" sz="17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Biri bilgi gönderir, diğeri bilgiyi sunar.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" y="695325"/>
            <a:ext cx="95250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Kavram Yanılgıları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76500" y="8201025"/>
            <a:ext cx="13335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Kendine sor: Bilgi bilgisayara mı gidiyor, bilgisayardan mı geliyor?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1381125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12A35"/>
                </a:solidFill>
                <a:latin typeface="Baloo"/>
                <a:ea typeface="Baloo"/>
                <a:cs typeface="Baloo"/>
                <a:sym typeface="Baloo"/>
              </a:rPr>
              <a:t>Etkinlik: Bileşenleri Sınıflandıralım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2381250"/>
            <a:ext cx="7810500" cy="6667500"/>
          </a:xfrm>
          <a:custGeom>
            <a:avLst/>
            <a:gdLst/>
            <a:ahLst/>
            <a:cxnLst/>
            <a:rect r="r" b="b" t="t" l="l"/>
            <a:pathLst>
              <a:path h="6667500" w="7810500">
                <a:moveTo>
                  <a:pt x="0" y="0"/>
                </a:moveTo>
                <a:lnTo>
                  <a:pt x="7810500" y="0"/>
                </a:lnTo>
                <a:lnTo>
                  <a:pt x="78105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" t="0" r="-67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9810750" y="1952625"/>
            <a:ext cx="7429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12A35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Kartı seç → Görevini düşün → Doğru kutuya yerleştir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06000" y="3143250"/>
            <a:ext cx="3333750" cy="1238250"/>
            <a:chOff x="0" y="0"/>
            <a:chExt cx="4445000" cy="165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445000">
                  <a:moveTo>
                    <a:pt x="87086" y="0"/>
                  </a:moveTo>
                  <a:lnTo>
                    <a:pt x="4357914" y="0"/>
                  </a:lnTo>
                  <a:cubicBezTo>
                    <a:pt x="4406011" y="0"/>
                    <a:pt x="4445000" y="38990"/>
                    <a:pt x="4445000" y="87086"/>
                  </a:cubicBezTo>
                  <a:lnTo>
                    <a:pt x="4445000" y="1563914"/>
                  </a:lnTo>
                  <a:cubicBezTo>
                    <a:pt x="4445000" y="1612010"/>
                    <a:pt x="4406011" y="1651000"/>
                    <a:pt x="4357914" y="1651000"/>
                  </a:cubicBezTo>
                  <a:lnTo>
                    <a:pt x="87086" y="1651000"/>
                  </a:lnTo>
                  <a:cubicBezTo>
                    <a:pt x="38990" y="1651000"/>
                    <a:pt x="0" y="1612010"/>
                    <a:pt x="0" y="1563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6C445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45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GİRİŞ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06000" y="4953000"/>
            <a:ext cx="3333750" cy="1238250"/>
            <a:chOff x="0" y="0"/>
            <a:chExt cx="4445000" cy="165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445000">
                  <a:moveTo>
                    <a:pt x="87086" y="0"/>
                  </a:moveTo>
                  <a:lnTo>
                    <a:pt x="4357914" y="0"/>
                  </a:lnTo>
                  <a:cubicBezTo>
                    <a:pt x="4406011" y="0"/>
                    <a:pt x="4445000" y="38990"/>
                    <a:pt x="4445000" y="87086"/>
                  </a:cubicBezTo>
                  <a:lnTo>
                    <a:pt x="4445000" y="1563914"/>
                  </a:lnTo>
                  <a:cubicBezTo>
                    <a:pt x="4445000" y="1612010"/>
                    <a:pt x="4406011" y="1651000"/>
                    <a:pt x="4357914" y="1651000"/>
                  </a:cubicBezTo>
                  <a:lnTo>
                    <a:pt x="87086" y="1651000"/>
                  </a:lnTo>
                  <a:cubicBezTo>
                    <a:pt x="38990" y="1651000"/>
                    <a:pt x="0" y="1612010"/>
                    <a:pt x="0" y="1563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18A99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445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İŞLEM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06000" y="6762750"/>
            <a:ext cx="3333750" cy="1238250"/>
            <a:chOff x="0" y="0"/>
            <a:chExt cx="4445000" cy="165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445000">
                  <a:moveTo>
                    <a:pt x="87086" y="0"/>
                  </a:moveTo>
                  <a:lnTo>
                    <a:pt x="4357914" y="0"/>
                  </a:lnTo>
                  <a:cubicBezTo>
                    <a:pt x="4406011" y="0"/>
                    <a:pt x="4445000" y="38990"/>
                    <a:pt x="4445000" y="87086"/>
                  </a:cubicBezTo>
                  <a:lnTo>
                    <a:pt x="4445000" y="1563914"/>
                  </a:lnTo>
                  <a:cubicBezTo>
                    <a:pt x="4445000" y="1612010"/>
                    <a:pt x="4406011" y="1651000"/>
                    <a:pt x="4357914" y="1651000"/>
                  </a:cubicBezTo>
                  <a:lnTo>
                    <a:pt x="87086" y="1651000"/>
                  </a:lnTo>
                  <a:cubicBezTo>
                    <a:pt x="38990" y="1651000"/>
                    <a:pt x="0" y="1612010"/>
                    <a:pt x="0" y="1563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EF6F6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45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ÇIKIŞ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16000" y="3143250"/>
            <a:ext cx="3333750" cy="1238250"/>
            <a:chOff x="0" y="0"/>
            <a:chExt cx="4445000" cy="165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445000">
                  <a:moveTo>
                    <a:pt x="87086" y="0"/>
                  </a:moveTo>
                  <a:lnTo>
                    <a:pt x="4357914" y="0"/>
                  </a:lnTo>
                  <a:cubicBezTo>
                    <a:pt x="4406011" y="0"/>
                    <a:pt x="4445000" y="38990"/>
                    <a:pt x="4445000" y="87086"/>
                  </a:cubicBezTo>
                  <a:lnTo>
                    <a:pt x="4445000" y="1563914"/>
                  </a:lnTo>
                  <a:cubicBezTo>
                    <a:pt x="4445000" y="1612010"/>
                    <a:pt x="4406011" y="1651000"/>
                    <a:pt x="4357914" y="1651000"/>
                  </a:cubicBezTo>
                  <a:lnTo>
                    <a:pt x="87086" y="1651000"/>
                  </a:lnTo>
                  <a:cubicBezTo>
                    <a:pt x="38990" y="1651000"/>
                    <a:pt x="0" y="1612010"/>
                    <a:pt x="0" y="1563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6C44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445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DEPOLAMA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0" y="4953000"/>
            <a:ext cx="3333750" cy="1238250"/>
            <a:chOff x="0" y="0"/>
            <a:chExt cx="4445000" cy="165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445000">
                  <a:moveTo>
                    <a:pt x="87086" y="0"/>
                  </a:moveTo>
                  <a:lnTo>
                    <a:pt x="4357914" y="0"/>
                  </a:lnTo>
                  <a:cubicBezTo>
                    <a:pt x="4406011" y="0"/>
                    <a:pt x="4445000" y="38990"/>
                    <a:pt x="4445000" y="87086"/>
                  </a:cubicBezTo>
                  <a:lnTo>
                    <a:pt x="4445000" y="1563914"/>
                  </a:lnTo>
                  <a:cubicBezTo>
                    <a:pt x="4445000" y="1612010"/>
                    <a:pt x="4406011" y="1651000"/>
                    <a:pt x="4357914" y="1651000"/>
                  </a:cubicBezTo>
                  <a:lnTo>
                    <a:pt x="87086" y="1651000"/>
                  </a:lnTo>
                  <a:cubicBezTo>
                    <a:pt x="38990" y="1651000"/>
                    <a:pt x="0" y="1612010"/>
                    <a:pt x="0" y="1563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18A99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445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YAZILIM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1190625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12A35"/>
                </a:solidFill>
                <a:latin typeface="Baloo"/>
                <a:ea typeface="Baloo"/>
                <a:cs typeface="Baloo"/>
                <a:sym typeface="Baloo"/>
              </a:rPr>
              <a:t>Ölçme ve Değerlendirme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571750"/>
            <a:ext cx="5029200" cy="5238750"/>
            <a:chOff x="0" y="0"/>
            <a:chExt cx="6705600" cy="698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705600" cy="6985000"/>
              <a:chOff x="0" y="0"/>
              <a:chExt cx="6705600" cy="698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05600" cy="6985000"/>
              </a:xfrm>
              <a:custGeom>
                <a:avLst/>
                <a:gdLst/>
                <a:ahLst/>
                <a:cxnLst/>
                <a:rect r="r" b="b" t="t" l="l"/>
                <a:pathLst>
                  <a:path h="69850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6985000"/>
                    </a:lnTo>
                    <a:lnTo>
                      <a:pt x="0" y="6985000"/>
                    </a:lnTo>
                    <a:close/>
                  </a:path>
                </a:pathLst>
              </a:custGeom>
              <a:solidFill>
                <a:srgbClr val="F6C4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705600" cy="702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704850"/>
              <a:ext cx="5461000" cy="2275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7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EŞLEŞTİR</a:t>
              </a:r>
            </a:p>
            <a:p>
              <a:pPr algn="l">
                <a:lnSpc>
                  <a:spcPts val="3487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Mikrofon  →  ?</a:t>
              </a:r>
            </a:p>
            <a:p>
              <a:pPr algn="l">
                <a:lnSpc>
                  <a:spcPts val="3487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SSD  →  ?</a:t>
              </a:r>
            </a:p>
            <a:p>
              <a:pPr algn="l">
                <a:lnSpc>
                  <a:spcPts val="3487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Ekran  →  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29400" y="2571750"/>
            <a:ext cx="5029200" cy="5238750"/>
            <a:chOff x="0" y="0"/>
            <a:chExt cx="6705600" cy="6985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705600" cy="6985000"/>
              <a:chOff x="0" y="0"/>
              <a:chExt cx="6705600" cy="6985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705600" cy="6985000"/>
              </a:xfrm>
              <a:custGeom>
                <a:avLst/>
                <a:gdLst/>
                <a:ahLst/>
                <a:cxnLst/>
                <a:rect r="r" b="b" t="t" l="l"/>
                <a:pathLst>
                  <a:path h="69850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6985000"/>
                    </a:lnTo>
                    <a:lnTo>
                      <a:pt x="0" y="6985000"/>
                    </a:lnTo>
                    <a:close/>
                  </a:path>
                </a:pathLst>
              </a:custGeom>
              <a:solidFill>
                <a:srgbClr val="18A9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705600" cy="702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22300" y="704850"/>
              <a:ext cx="5461000" cy="2275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7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DOĞRU / YANLIŞ</a:t>
              </a:r>
            </a:p>
            <a:p>
              <a:pPr algn="l">
                <a:lnSpc>
                  <a:spcPts val="3487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RAM kalıcıdır.</a:t>
              </a:r>
            </a:p>
            <a:p>
              <a:pPr algn="l">
                <a:lnSpc>
                  <a:spcPts val="3487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Fare giriş birimidir.</a:t>
              </a:r>
            </a:p>
            <a:p>
              <a:pPr algn="l">
                <a:lnSpc>
                  <a:spcPts val="3487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Yazıcı çıktı verir.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0" y="2571750"/>
            <a:ext cx="5029200" cy="5238750"/>
            <a:chOff x="0" y="0"/>
            <a:chExt cx="6705600" cy="6985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705600" cy="6985000"/>
              <a:chOff x="0" y="0"/>
              <a:chExt cx="6705600" cy="6985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705600" cy="6985000"/>
              </a:xfrm>
              <a:custGeom>
                <a:avLst/>
                <a:gdLst/>
                <a:ahLst/>
                <a:cxnLst/>
                <a:rect r="r" b="b" t="t" l="l"/>
                <a:pathLst>
                  <a:path h="69850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6985000"/>
                    </a:lnTo>
                    <a:lnTo>
                      <a:pt x="0" y="6985000"/>
                    </a:lnTo>
                    <a:close/>
                  </a:path>
                </a:pathLst>
              </a:custGeom>
              <a:solidFill>
                <a:srgbClr val="EF6F6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705600" cy="702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58800" y="704850"/>
              <a:ext cx="5461000" cy="2275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7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KISA CEVAP</a:t>
              </a:r>
            </a:p>
            <a:p>
              <a:pPr algn="l">
                <a:lnSpc>
                  <a:spcPts val="3487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RAM ne işe yarar?</a:t>
              </a:r>
            </a:p>
            <a:p>
              <a:pPr algn="l">
                <a:lnSpc>
                  <a:spcPts val="3487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Bir yazılım örneği ver.</a:t>
              </a:r>
            </a:p>
            <a:p>
              <a:pPr algn="l">
                <a:lnSpc>
                  <a:spcPts val="3487"/>
                </a:lnSpc>
              </a:pPr>
              <a:r>
                <a:rPr lang="en-US" sz="2325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CPU neden ‘beyin’dir?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1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Cevap Anahtarı ve Öz Değerlendirme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333625"/>
            <a:ext cx="6858000" cy="5429250"/>
            <a:chOff x="0" y="0"/>
            <a:chExt cx="9144000" cy="7239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44000" cy="7239000"/>
              <a:chOff x="0" y="0"/>
              <a:chExt cx="9144000" cy="7239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1440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F6C4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1440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460375"/>
              <a:ext cx="7620000" cy="3697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95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KISA CEVAPLAR</a:t>
              </a:r>
            </a:p>
            <a:p>
              <a:pPr algn="l">
                <a:lnSpc>
                  <a:spcPts val="3195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Mikrofon → Giriş</a:t>
              </a:r>
            </a:p>
            <a:p>
              <a:pPr algn="l">
                <a:lnSpc>
                  <a:spcPts val="3195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SSD → Depolama</a:t>
              </a:r>
            </a:p>
            <a:p>
              <a:pPr algn="l">
                <a:lnSpc>
                  <a:spcPts val="3195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Ekran → Çıkış</a:t>
              </a:r>
            </a:p>
            <a:p>
              <a:pPr algn="l">
                <a:lnSpc>
                  <a:spcPts val="3195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RAM geçicidir</a:t>
              </a:r>
            </a:p>
            <a:p>
              <a:pPr algn="l">
                <a:lnSpc>
                  <a:spcPts val="3195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Fare giriş birimidir ✓</a:t>
              </a:r>
            </a:p>
            <a:p>
              <a:pPr algn="l">
                <a:lnSpc>
                  <a:spcPts val="3195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Yazıcı çıktı verir ✓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48650" y="2333625"/>
            <a:ext cx="9124950" cy="5429250"/>
            <a:chOff x="0" y="0"/>
            <a:chExt cx="12166600" cy="7239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2166600" cy="7239000"/>
              <a:chOff x="0" y="0"/>
              <a:chExt cx="12166600" cy="7239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1666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12166600">
                    <a:moveTo>
                      <a:pt x="0" y="0"/>
                    </a:moveTo>
                    <a:lnTo>
                      <a:pt x="12166600" y="0"/>
                    </a:lnTo>
                    <a:lnTo>
                      <a:pt x="121666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DCEBE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21666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85800" y="431800"/>
              <a:ext cx="10414000" cy="286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7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KENDİMİ KONTROL EDİYORUM</a:t>
              </a:r>
            </a:p>
            <a:p>
              <a:pPr algn="l">
                <a:lnSpc>
                  <a:spcPts val="3487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□ Temel bileşenleri sıralayabiliyorum.</a:t>
              </a:r>
            </a:p>
            <a:p>
              <a:pPr algn="l">
                <a:lnSpc>
                  <a:spcPts val="3487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□ Giriş ve çıkışı ayırt edebiliyorum.</a:t>
              </a:r>
            </a:p>
            <a:p>
              <a:pPr algn="l">
                <a:lnSpc>
                  <a:spcPts val="3487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□ RAM ile SSD’nin farkını biliyorum.</a:t>
              </a:r>
            </a:p>
            <a:p>
              <a:pPr algn="l">
                <a:lnSpc>
                  <a:spcPts val="3487"/>
                </a:lnSpc>
              </a:pPr>
              <a:r>
                <a:rPr lang="en-US" sz="2250" b="true">
                  <a:solidFill>
                    <a:srgbClr val="112A35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□ Donanım ve yazılımı açıklayabiliyorum.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476500" y="8524875"/>
            <a:ext cx="13335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>
                <a:solidFill>
                  <a:srgbClr val="F6C445"/>
                </a:solidFill>
                <a:latin typeface="Baloo"/>
                <a:ea typeface="Baloo"/>
                <a:cs typeface="Baloo"/>
                <a:sym typeface="Baloo"/>
              </a:rPr>
              <a:t>Bir sistemi anlamak, parçaların nasıl birlikte çalıştığını görmektir.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DAHXrytaPz0</dc:identifier>
  <dcterms:modified xsi:type="dcterms:W3CDTF">2011-08-01T06:04:30Z</dcterms:modified>
  <cp:revision>1</cp:revision>
  <dc:title>Bilgisayar Sisteminin Temelleri</dc:title>
</cp:coreProperties>
</file>