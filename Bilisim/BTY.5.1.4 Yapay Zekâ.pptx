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Nunito Sans Bold" charset="1" panose="00000000000000000000"/>
      <p:regular r:id="rId27"/>
    </p:embeddedFont>
    <p:embeddedFont>
      <p:font typeface="Aptos Bold" charset="1" panose="020B0004020202020204"/>
      <p:regular r:id="rId28"/>
    </p:embeddedFont>
    <p:embeddedFont>
      <p:font typeface="Aptos" charset="1" panose="020B000402020202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notesMasters/notesMaster1.xml" Type="http://schemas.openxmlformats.org/officeDocument/2006/relationships/notesMaster"/><Relationship Id="rId25" Target="theme/theme2.xml" Type="http://schemas.openxmlformats.org/officeDocument/2006/relationships/theme"/><Relationship Id="rId26" Target="notesSlides/notesSlide1.xml" Type="http://schemas.openxmlformats.org/officeDocument/2006/relationships/notes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2.xml" Type="http://schemas.openxmlformats.org/officeDocument/2006/relationships/notesSlide"/><Relationship Id="rId31" Target="notesSlides/notesSlide3.xml" Type="http://schemas.openxmlformats.org/officeDocument/2006/relationships/notesSlide"/><Relationship Id="rId32" Target="notesSlides/notesSlide4.xml" Type="http://schemas.openxmlformats.org/officeDocument/2006/relationships/notesSlide"/><Relationship Id="rId33" Target="notesSlides/notesSlide5.xml" Type="http://schemas.openxmlformats.org/officeDocument/2006/relationships/notesSlide"/><Relationship Id="rId34" Target="notesSlides/notesSlide6.xml" Type="http://schemas.openxmlformats.org/officeDocument/2006/relationships/notesSlide"/><Relationship Id="rId35" Target="notesSlides/notesSlide7.xml" Type="http://schemas.openxmlformats.org/officeDocument/2006/relationships/notesSlide"/><Relationship Id="rId36" Target="notesSlides/notesSlide8.xml" Type="http://schemas.openxmlformats.org/officeDocument/2006/relationships/notesSlide"/><Relationship Id="rId37" Target="notesSlides/notesSlide9.xml" Type="http://schemas.openxmlformats.org/officeDocument/2006/relationships/notesSlide"/><Relationship Id="rId38" Target="notesSlides/notesSlide10.xml" Type="http://schemas.openxmlformats.org/officeDocument/2006/relationships/notesSlide"/><Relationship Id="rId39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2.xml" Type="http://schemas.openxmlformats.org/officeDocument/2006/relationships/notesSlide"/><Relationship Id="rId41" Target="notesSlides/notesSlide13.xml" Type="http://schemas.openxmlformats.org/officeDocument/2006/relationships/notesSlide"/><Relationship Id="rId42" Target="notesSlides/notesSlide14.xml" Type="http://schemas.openxmlformats.org/officeDocument/2006/relationships/notesSlide"/><Relationship Id="rId43" Target="notesSlides/notesSlide15.xml" Type="http://schemas.openxmlformats.org/officeDocument/2006/relationships/notesSlide"/><Relationship Id="rId44" Target="notesSlides/notesSlide16.xml" Type="http://schemas.openxmlformats.org/officeDocument/2006/relationships/notesSlide"/><Relationship Id="rId45" Target="notesSlides/notesSlide17.xml" Type="http://schemas.openxmlformats.org/officeDocument/2006/relationships/notesSlide"/><Relationship Id="rId46" Target="notesSlides/notesSlide18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Sunuma öğrencilerin dikkatini çekerek başlayın. Yapay zekânın günlük hayatımızda olduğunu vurgulayın.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Basit ve anlaşılır tanımla başlayın; öğrencilerden günlük örnekler isteyin.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Her alanı kısa örneklerle açıklayın, öğrencilerin ilgisini canlı tutun.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Verinin öğrenmenin ilk adımı olduğunu vurgulayın.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Örüntü bulmanın yapay zekâ için neden önemli olduğunu sorun.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Modelin yapay zekânın öğrendiklerini temsil ettiğini açıklayın.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Bu kavramların YZ’nin nasıl karar verdiğini gösterdiğini anlatın.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Süreci oklarla adım adım izletin ve öğrencilerin örnek vermesini sağlayın.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Bu teknolojilerin yaratıcılığı desteklediğini, ancak kontrol gerektiğini vurgulayın.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Yararları somut örneklerle açıklayın ve olumlu yönleri öne çıkarın.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YZ’ye her zaman güvenilmemesi gerektiğini anlatın.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Bilginin doğruluğunu birden çok kaynaktan kontrol etmenin önemini vurgulayın.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Güvenli internet kullanımı ve etik davranışı günlük örneklerle anlatın.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Grupları yönlendirin; her grubun gerekçesini paylaşmasını isteyin.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Soruları anlaşılır biçimde okuyun; önce bireysel düşünme süresi verin.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Doğru cevapları açıklayın; yanlış seçeneklerdeki hatayı birlikte bulun.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Öğrencileri dürüst ve samimi değerlendirmeye teşvik edin.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Ana kavramları kısaca özetleyin ve öğrencileri soru sormaya teşvik edin.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01250" y="0"/>
            <a:ext cx="8286750" cy="10287000"/>
          </a:xfrm>
          <a:custGeom>
            <a:avLst/>
            <a:gdLst/>
            <a:ahLst/>
            <a:cxnLst/>
            <a:rect r="r" b="b" t="t" l="l"/>
            <a:pathLst>
              <a:path h="10287000" w="8286750">
                <a:moveTo>
                  <a:pt x="0" y="0"/>
                </a:moveTo>
                <a:lnTo>
                  <a:pt x="8286750" y="0"/>
                </a:lnTo>
                <a:lnTo>
                  <a:pt x="82867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4" r="0" b="-34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0668000" cy="10287000"/>
            <a:chOff x="0" y="0"/>
            <a:chExt cx="1422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22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4224000">
                  <a:moveTo>
                    <a:pt x="0" y="0"/>
                  </a:moveTo>
                  <a:lnTo>
                    <a:pt x="14224000" y="0"/>
                  </a:lnTo>
                  <a:lnTo>
                    <a:pt x="14224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102A43">
                    <a:alpha val="100000"/>
                  </a:srgbClr>
                </a:gs>
                <a:gs pos="78000">
                  <a:srgbClr val="102A43">
                    <a:alpha val="96000"/>
                  </a:srgbClr>
                </a:gs>
                <a:gs pos="100000">
                  <a:srgbClr val="102A43">
                    <a:alpha val="2500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422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52500" y="1809750"/>
            <a:ext cx="8953500" cy="2317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25"/>
              </a:lnSpc>
            </a:pPr>
            <a:r>
              <a:rPr lang="en-US" sz="5850" b="true">
                <a:solidFill>
                  <a:srgbClr val="FFFF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BTY.5.1.4:</a:t>
            </a:r>
          </a:p>
          <a:p>
            <a:pPr algn="l">
              <a:lnSpc>
                <a:spcPts val="6025"/>
              </a:lnSpc>
            </a:pPr>
            <a:r>
              <a:rPr lang="en-US" sz="5850" b="true">
                <a:solidFill>
                  <a:srgbClr val="FFFF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Yapay Zekâ Kavramları</a:t>
            </a:r>
          </a:p>
          <a:p>
            <a:pPr algn="l">
              <a:lnSpc>
                <a:spcPts val="6025"/>
              </a:lnSpc>
            </a:pPr>
            <a:r>
              <a:rPr lang="en-US" sz="5850" b="true">
                <a:solidFill>
                  <a:srgbClr val="FFFF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ve Temel Özellikleri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5762625"/>
            <a:ext cx="66675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56CCF2"/>
                </a:solidFill>
                <a:latin typeface="Aptos Bold"/>
                <a:ea typeface="Aptos Bold"/>
                <a:cs typeface="Aptos Bold"/>
                <a:sym typeface="Aptos Bold"/>
              </a:rPr>
              <a:t>5. Sınıf Öğrencileri için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2500" y="6562725"/>
            <a:ext cx="38100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11 Ekim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742950"/>
            <a:ext cx="1428750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true">
                <a:solidFill>
                  <a:srgbClr val="16324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Yapay zekâ nedir?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2200275"/>
            <a:ext cx="9334500" cy="104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sz="3525" b="true">
                <a:solidFill>
                  <a:srgbClr val="2F80ED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“Bilgisayarların insan gibi düşünmesini ve öğrenmesini sağlayan teknoloji.”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2500" y="6276975"/>
            <a:ext cx="171450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800" b="true">
                <a:solidFill>
                  <a:srgbClr val="FF6B6B"/>
                </a:solidFill>
                <a:latin typeface="Aptos Bold"/>
                <a:ea typeface="Aptos Bold"/>
                <a:cs typeface="Aptos Bold"/>
                <a:sym typeface="Aptos Bold"/>
              </a:rPr>
              <a:t>AMAÇ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2500" y="6743700"/>
            <a:ext cx="76200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16324F"/>
                </a:solidFill>
                <a:latin typeface="Aptos"/>
                <a:ea typeface="Aptos"/>
                <a:cs typeface="Aptos"/>
                <a:sym typeface="Aptos"/>
              </a:rPr>
              <a:t>İşleri daha hızlı ve kolay yapmak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620500" y="2095500"/>
            <a:ext cx="5334000" cy="1809750"/>
            <a:chOff x="0" y="0"/>
            <a:chExt cx="7112000" cy="241300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7112000" cy="2413000"/>
              <a:chOff x="0" y="0"/>
              <a:chExt cx="7112000" cy="2413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71120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7112000">
                    <a:moveTo>
                      <a:pt x="0" y="0"/>
                    </a:moveTo>
                    <a:lnTo>
                      <a:pt x="7112000" y="0"/>
                    </a:lnTo>
                    <a:lnTo>
                      <a:pt x="7112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E8F4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71120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431800" y="390525"/>
              <a:ext cx="6248400" cy="42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6"/>
                </a:lnSpc>
              </a:pPr>
              <a:r>
                <a:rPr lang="en-US" sz="2175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Akıllı telefon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431800" y="1158875"/>
              <a:ext cx="6248400" cy="37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557086"/>
                  </a:solidFill>
                  <a:latin typeface="Aptos"/>
                  <a:ea typeface="Aptos"/>
                  <a:cs typeface="Aptos"/>
                  <a:sym typeface="Aptos"/>
                </a:rPr>
                <a:t>Fotoğrafı tanır, yazmayı kolaylaştırır.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620500" y="4191000"/>
            <a:ext cx="5334000" cy="1809750"/>
            <a:chOff x="0" y="0"/>
            <a:chExt cx="7112000" cy="24130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7112000" cy="2413000"/>
              <a:chOff x="0" y="0"/>
              <a:chExt cx="7112000" cy="2413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71120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7112000">
                    <a:moveTo>
                      <a:pt x="0" y="0"/>
                    </a:moveTo>
                    <a:lnTo>
                      <a:pt x="7112000" y="0"/>
                    </a:lnTo>
                    <a:lnTo>
                      <a:pt x="7112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FFF0D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71120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431800" y="390525"/>
              <a:ext cx="6248400" cy="42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6"/>
                </a:lnSpc>
              </a:pPr>
              <a:r>
                <a:rPr lang="en-US" sz="2175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Sesli yardımcı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431800" y="1158875"/>
              <a:ext cx="6248400" cy="37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557086"/>
                  </a:solidFill>
                  <a:latin typeface="Aptos"/>
                  <a:ea typeface="Aptos"/>
                  <a:cs typeface="Aptos"/>
                  <a:sym typeface="Aptos"/>
                </a:rPr>
                <a:t>Soruyu dinler ve yanıt arar.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620500" y="6286500"/>
            <a:ext cx="5334000" cy="1809750"/>
            <a:chOff x="0" y="0"/>
            <a:chExt cx="7112000" cy="24130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7112000" cy="2413000"/>
              <a:chOff x="0" y="0"/>
              <a:chExt cx="7112000" cy="2413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71120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7112000">
                    <a:moveTo>
                      <a:pt x="0" y="0"/>
                    </a:moveTo>
                    <a:lnTo>
                      <a:pt x="7112000" y="0"/>
                    </a:lnTo>
                    <a:lnTo>
                      <a:pt x="7112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E9F8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71120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431800" y="390525"/>
              <a:ext cx="6248400" cy="42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6"/>
                </a:lnSpc>
              </a:pPr>
              <a:r>
                <a:rPr lang="en-US" sz="2175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Öneri sistemi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431800" y="1158875"/>
              <a:ext cx="6248400" cy="37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557086"/>
                  </a:solidFill>
                  <a:latin typeface="Aptos"/>
                  <a:ea typeface="Aptos"/>
                  <a:cs typeface="Aptos"/>
                  <a:sym typeface="Aptos"/>
                </a:rPr>
                <a:t>İlgine göre içerik önerir.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742950"/>
            <a:ext cx="1428750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true">
                <a:solidFill>
                  <a:srgbClr val="16324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Yapay zekâ nerelerde?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52500" y="2190750"/>
            <a:ext cx="4953000" cy="2381250"/>
            <a:chOff x="0" y="0"/>
            <a:chExt cx="6604000" cy="3175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6604000" cy="3175000"/>
              <a:chOff x="0" y="0"/>
              <a:chExt cx="6604000" cy="3175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604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E8F4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6604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431800" y="390525"/>
              <a:ext cx="5740400" cy="42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6"/>
                </a:lnSpc>
              </a:pPr>
              <a:r>
                <a:rPr lang="en-US" sz="2175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Sesli yardımcı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31800" y="1158875"/>
              <a:ext cx="5740400" cy="756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557086"/>
                  </a:solidFill>
                  <a:latin typeface="Aptos"/>
                  <a:ea typeface="Aptos"/>
                  <a:cs typeface="Aptos"/>
                  <a:sym typeface="Aptos"/>
                </a:rPr>
                <a:t>Soruyu dinler. Günlük yaşamda zaman kazandırır.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77000" y="2190750"/>
            <a:ext cx="4953000" cy="2381250"/>
            <a:chOff x="0" y="0"/>
            <a:chExt cx="6604000" cy="3175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6604000" cy="3175000"/>
              <a:chOff x="0" y="0"/>
              <a:chExt cx="6604000" cy="3175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604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FFF0D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6604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31800" y="390525"/>
              <a:ext cx="5740400" cy="42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6"/>
                </a:lnSpc>
              </a:pPr>
              <a:r>
                <a:rPr lang="en-US" sz="2175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Çeviri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31800" y="1158875"/>
              <a:ext cx="5740400" cy="756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557086"/>
                  </a:solidFill>
                  <a:latin typeface="Aptos"/>
                  <a:ea typeface="Aptos"/>
                  <a:cs typeface="Aptos"/>
                  <a:sym typeface="Aptos"/>
                </a:rPr>
                <a:t>Dilleri dönüştürür. Günlük yaşamda zaman kazandırır.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01500" y="2190750"/>
            <a:ext cx="4953000" cy="2381250"/>
            <a:chOff x="0" y="0"/>
            <a:chExt cx="6604000" cy="31750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6604000" cy="3175000"/>
              <a:chOff x="0" y="0"/>
              <a:chExt cx="6604000" cy="3175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604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E9F8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6604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31800" y="390525"/>
              <a:ext cx="5740400" cy="42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6"/>
                </a:lnSpc>
              </a:pPr>
              <a:r>
                <a:rPr lang="en-US" sz="2175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Navigasyon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31800" y="1158875"/>
              <a:ext cx="5740400" cy="756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557086"/>
                  </a:solidFill>
                  <a:latin typeface="Aptos"/>
                  <a:ea typeface="Aptos"/>
                  <a:cs typeface="Aptos"/>
                  <a:sym typeface="Aptos"/>
                </a:rPr>
                <a:t>Yol önerir. Günlük yaşamda zaman kazandırır.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52500" y="5238750"/>
            <a:ext cx="4953000" cy="2381250"/>
            <a:chOff x="0" y="0"/>
            <a:chExt cx="6604000" cy="3175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6604000" cy="3175000"/>
              <a:chOff x="0" y="0"/>
              <a:chExt cx="6604000" cy="3175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604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E8F4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6604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431800" y="390525"/>
              <a:ext cx="5740400" cy="42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6"/>
                </a:lnSpc>
              </a:pPr>
              <a:r>
                <a:rPr lang="en-US" sz="2175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Öneriler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431800" y="1158875"/>
              <a:ext cx="5740400" cy="756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557086"/>
                  </a:solidFill>
                  <a:latin typeface="Aptos"/>
                  <a:ea typeface="Aptos"/>
                  <a:cs typeface="Aptos"/>
                  <a:sym typeface="Aptos"/>
                </a:rPr>
                <a:t>İçerik seçer. Günlük yaşamda zaman kazandırır.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477000" y="5238750"/>
            <a:ext cx="4953000" cy="2381250"/>
            <a:chOff x="0" y="0"/>
            <a:chExt cx="6604000" cy="31750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6604000" cy="3175000"/>
              <a:chOff x="0" y="0"/>
              <a:chExt cx="6604000" cy="31750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6604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FFF0D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6604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431800" y="390525"/>
              <a:ext cx="5740400" cy="42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6"/>
                </a:lnSpc>
              </a:pPr>
              <a:r>
                <a:rPr lang="en-US" sz="2175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Robotlar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431800" y="1158875"/>
              <a:ext cx="5740400" cy="756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557086"/>
                  </a:solidFill>
                  <a:latin typeface="Aptos"/>
                  <a:ea typeface="Aptos"/>
                  <a:cs typeface="Aptos"/>
                  <a:sym typeface="Aptos"/>
                </a:rPr>
                <a:t>Göreve yardım eder. Günlük yaşamda zaman kazandırır.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001500" y="5238750"/>
            <a:ext cx="4953000" cy="2381250"/>
            <a:chOff x="0" y="0"/>
            <a:chExt cx="6604000" cy="3175000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6604000" cy="3175000"/>
              <a:chOff x="0" y="0"/>
              <a:chExt cx="6604000" cy="31750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6604000" cy="3175000"/>
              </a:xfrm>
              <a:custGeom>
                <a:avLst/>
                <a:gdLst/>
                <a:ahLst/>
                <a:cxnLst/>
                <a:rect r="r" b="b" t="t" l="l"/>
                <a:pathLst>
                  <a:path h="3175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175000"/>
                    </a:lnTo>
                    <a:lnTo>
                      <a:pt x="0" y="3175000"/>
                    </a:lnTo>
                    <a:close/>
                  </a:path>
                </a:pathLst>
              </a:custGeom>
              <a:solidFill>
                <a:srgbClr val="E9F8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6604000" cy="321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431800" y="390525"/>
              <a:ext cx="5740400" cy="42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6"/>
                </a:lnSpc>
              </a:pPr>
              <a:r>
                <a:rPr lang="en-US" sz="2175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Eğitim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431800" y="1158875"/>
              <a:ext cx="5740400" cy="756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557086"/>
                  </a:solidFill>
                  <a:latin typeface="Aptos"/>
                  <a:ea typeface="Aptos"/>
                  <a:cs typeface="Aptos"/>
                  <a:sym typeface="Aptos"/>
                </a:rPr>
                <a:t>Öğrenmeyi destekler. Günlük yaşamda zaman kazandırır.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742950"/>
            <a:ext cx="1428750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true">
                <a:solidFill>
                  <a:srgbClr val="16324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Temel kavram: Veri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933575"/>
            <a:ext cx="9048750" cy="1198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0"/>
              </a:lnSpc>
            </a:pPr>
            <a:r>
              <a:rPr lang="en-US" sz="3450" b="true">
                <a:solidFill>
                  <a:srgbClr val="2F80ED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Veri, bilgisayarlara öğretilen bilgiler veya sayılardır.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2500" y="4933950"/>
            <a:ext cx="762000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16324F"/>
                </a:solidFill>
                <a:latin typeface="Aptos"/>
                <a:ea typeface="Aptos"/>
                <a:cs typeface="Aptos"/>
                <a:sym typeface="Aptos"/>
              </a:rPr>
              <a:t>Bir yapay zekâ öğrenmeye başlamadan önce örneklere ihtiyaç duyar.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668000" y="2381250"/>
            <a:ext cx="1905000" cy="2465070"/>
            <a:chOff x="0" y="0"/>
            <a:chExt cx="2540000" cy="328676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540000" cy="2540000"/>
              <a:chOff x="0" y="0"/>
              <a:chExt cx="2540000" cy="2540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540000" cy="2540000"/>
              </a:xfrm>
              <a:custGeom>
                <a:avLst/>
                <a:gdLst/>
                <a:ahLst/>
                <a:cxnLst/>
                <a:rect r="r" b="b" t="t" l="l"/>
                <a:pathLst>
                  <a:path h="2540000" w="2540000">
                    <a:moveTo>
                      <a:pt x="101600" y="0"/>
                    </a:moveTo>
                    <a:lnTo>
                      <a:pt x="2438400" y="0"/>
                    </a:lnTo>
                    <a:cubicBezTo>
                      <a:pt x="2494512" y="0"/>
                      <a:pt x="2540000" y="45488"/>
                      <a:pt x="2540000" y="101600"/>
                    </a:cubicBezTo>
                    <a:lnTo>
                      <a:pt x="2540000" y="2438400"/>
                    </a:lnTo>
                    <a:cubicBezTo>
                      <a:pt x="2540000" y="2494512"/>
                      <a:pt x="2494512" y="2540000"/>
                      <a:pt x="2438400" y="2540000"/>
                    </a:cubicBezTo>
                    <a:lnTo>
                      <a:pt x="101600" y="2540000"/>
                    </a:lnTo>
                    <a:cubicBezTo>
                      <a:pt x="45488" y="2540000"/>
                      <a:pt x="0" y="2494512"/>
                      <a:pt x="0" y="2438400"/>
                    </a:cubicBezTo>
                    <a:lnTo>
                      <a:pt x="0" y="101600"/>
                    </a:lnTo>
                    <a:cubicBezTo>
                      <a:pt x="0" y="45488"/>
                      <a:pt x="45488" y="0"/>
                      <a:pt x="101600" y="0"/>
                    </a:cubicBezTo>
                    <a:close/>
                  </a:path>
                </a:pathLst>
              </a:custGeom>
              <a:solidFill>
                <a:srgbClr val="F2C94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19050"/>
                <a:ext cx="2540000" cy="2520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5"/>
                  </a:lnSpc>
                </a:pPr>
                <a:r>
                  <a:rPr lang="en-US" sz="2250" b="true">
                    <a:solidFill>
                      <a:srgbClr val="16324F"/>
                    </a:solidFill>
                    <a:latin typeface="Nunito Sans Bold"/>
                    <a:ea typeface="Nunito Sans Bold"/>
                    <a:cs typeface="Nunito Sans Bold"/>
                    <a:sym typeface="Nunito Sans Bold"/>
                  </a:rPr>
                  <a:t>24°</a:t>
                </a: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0" y="2911475"/>
              <a:ext cx="2540000" cy="37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50"/>
                </a:lnSpc>
              </a:pPr>
              <a:r>
                <a:rPr lang="en-US" sz="1800" b="true">
                  <a:solidFill>
                    <a:srgbClr val="55708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Sıcaklık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954000" y="2381250"/>
            <a:ext cx="1905000" cy="2465070"/>
            <a:chOff x="0" y="0"/>
            <a:chExt cx="2540000" cy="328676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2540000" cy="2540000"/>
              <a:chOff x="0" y="0"/>
              <a:chExt cx="2540000" cy="2540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540000" cy="2540000"/>
              </a:xfrm>
              <a:custGeom>
                <a:avLst/>
                <a:gdLst/>
                <a:ahLst/>
                <a:cxnLst/>
                <a:rect r="r" b="b" t="t" l="l"/>
                <a:pathLst>
                  <a:path h="2540000" w="2540000">
                    <a:moveTo>
                      <a:pt x="101600" y="0"/>
                    </a:moveTo>
                    <a:lnTo>
                      <a:pt x="2438400" y="0"/>
                    </a:lnTo>
                    <a:cubicBezTo>
                      <a:pt x="2494512" y="0"/>
                      <a:pt x="2540000" y="45488"/>
                      <a:pt x="2540000" y="101600"/>
                    </a:cubicBezTo>
                    <a:lnTo>
                      <a:pt x="2540000" y="2438400"/>
                    </a:lnTo>
                    <a:cubicBezTo>
                      <a:pt x="2540000" y="2494512"/>
                      <a:pt x="2494512" y="2540000"/>
                      <a:pt x="2438400" y="2540000"/>
                    </a:cubicBezTo>
                    <a:lnTo>
                      <a:pt x="101600" y="2540000"/>
                    </a:lnTo>
                    <a:cubicBezTo>
                      <a:pt x="45488" y="2540000"/>
                      <a:pt x="0" y="2494512"/>
                      <a:pt x="0" y="2438400"/>
                    </a:cubicBezTo>
                    <a:lnTo>
                      <a:pt x="0" y="101600"/>
                    </a:lnTo>
                    <a:cubicBezTo>
                      <a:pt x="0" y="45488"/>
                      <a:pt x="45488" y="0"/>
                      <a:pt x="101600" y="0"/>
                    </a:cubicBezTo>
                    <a:close/>
                  </a:path>
                </a:pathLst>
              </a:custGeom>
              <a:solidFill>
                <a:srgbClr val="56CCF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19050"/>
                <a:ext cx="2540000" cy="2520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5"/>
                  </a:lnSpc>
                </a:pPr>
                <a:r>
                  <a:rPr lang="en-US" sz="2250" b="true">
                    <a:solidFill>
                      <a:srgbClr val="16324F"/>
                    </a:solidFill>
                    <a:latin typeface="Nunito Sans Bold"/>
                    <a:ea typeface="Nunito Sans Bold"/>
                    <a:cs typeface="Nunito Sans Bold"/>
                    <a:sym typeface="Nunito Sans Bold"/>
                  </a:rPr>
                  <a:t>FOTO</a:t>
                </a: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0" y="2911475"/>
              <a:ext cx="2540000" cy="37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50"/>
                </a:lnSpc>
              </a:pPr>
              <a:r>
                <a:rPr lang="en-US" sz="1800" b="true">
                  <a:solidFill>
                    <a:srgbClr val="55708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Görüntü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240000" y="2381250"/>
            <a:ext cx="1905000" cy="2465070"/>
            <a:chOff x="0" y="0"/>
            <a:chExt cx="2540000" cy="328676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2540000" cy="2540000"/>
              <a:chOff x="0" y="0"/>
              <a:chExt cx="2540000" cy="2540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540000" cy="2540000"/>
              </a:xfrm>
              <a:custGeom>
                <a:avLst/>
                <a:gdLst/>
                <a:ahLst/>
                <a:cxnLst/>
                <a:rect r="r" b="b" t="t" l="l"/>
                <a:pathLst>
                  <a:path h="2540000" w="2540000">
                    <a:moveTo>
                      <a:pt x="101600" y="0"/>
                    </a:moveTo>
                    <a:lnTo>
                      <a:pt x="2438400" y="0"/>
                    </a:lnTo>
                    <a:cubicBezTo>
                      <a:pt x="2494512" y="0"/>
                      <a:pt x="2540000" y="45488"/>
                      <a:pt x="2540000" y="101600"/>
                    </a:cubicBezTo>
                    <a:lnTo>
                      <a:pt x="2540000" y="2438400"/>
                    </a:lnTo>
                    <a:cubicBezTo>
                      <a:pt x="2540000" y="2494512"/>
                      <a:pt x="2494512" y="2540000"/>
                      <a:pt x="2438400" y="2540000"/>
                    </a:cubicBezTo>
                    <a:lnTo>
                      <a:pt x="101600" y="2540000"/>
                    </a:lnTo>
                    <a:cubicBezTo>
                      <a:pt x="45488" y="2540000"/>
                      <a:pt x="0" y="2494512"/>
                      <a:pt x="0" y="2438400"/>
                    </a:cubicBezTo>
                    <a:lnTo>
                      <a:pt x="0" y="101600"/>
                    </a:lnTo>
                    <a:cubicBezTo>
                      <a:pt x="0" y="45488"/>
                      <a:pt x="45488" y="0"/>
                      <a:pt x="101600" y="0"/>
                    </a:cubicBezTo>
                    <a:close/>
                  </a:path>
                </a:pathLst>
              </a:custGeom>
              <a:solidFill>
                <a:srgbClr val="FF6B6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19050"/>
                <a:ext cx="2540000" cy="25209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75"/>
                  </a:lnSpc>
                </a:pPr>
                <a:r>
                  <a:rPr lang="en-US" sz="2250" b="true">
                    <a:solidFill>
                      <a:srgbClr val="16324F"/>
                    </a:solidFill>
                    <a:latin typeface="Nunito Sans Bold"/>
                    <a:ea typeface="Nunito Sans Bold"/>
                    <a:cs typeface="Nunito Sans Bold"/>
                    <a:sym typeface="Nunito Sans Bold"/>
                  </a:rPr>
                  <a:t>KELİME</a:t>
                </a: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0" y="2911475"/>
              <a:ext cx="2540000" cy="37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50"/>
                </a:lnSpc>
              </a:pPr>
              <a:r>
                <a:rPr lang="en-US" sz="1800" b="true">
                  <a:solidFill>
                    <a:srgbClr val="55708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Metin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742950"/>
            <a:ext cx="1428750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true">
                <a:solidFill>
                  <a:srgbClr val="16324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Temel kavram: Örüntü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743075"/>
            <a:ext cx="10477500" cy="112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5"/>
              </a:lnSpc>
            </a:pPr>
            <a:r>
              <a:rPr lang="en-US" sz="3225" b="true">
                <a:solidFill>
                  <a:srgbClr val="2F80ED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Örüntü, tekrarlanan benzer özellikler veya şekillerdir.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2500" y="7029450"/>
            <a:ext cx="57150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 b="true">
                <a:solidFill>
                  <a:srgbClr val="16324F"/>
                </a:solidFill>
                <a:latin typeface="Aptos Bold"/>
                <a:ea typeface="Aptos Bold"/>
                <a:cs typeface="Aptos Bold"/>
                <a:sym typeface="Aptos Bold"/>
              </a:rPr>
              <a:t>Sıradaki şekil hangisi?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714500" y="4381500"/>
            <a:ext cx="1428750" cy="1428750"/>
            <a:chOff x="0" y="0"/>
            <a:chExt cx="1905000" cy="1905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68232"/>
                    <a:pt x="1905000" y="152400"/>
                  </a:cubicBezTo>
                  <a:lnTo>
                    <a:pt x="1905000" y="1752600"/>
                  </a:lnTo>
                  <a:cubicBezTo>
                    <a:pt x="1905000" y="1836768"/>
                    <a:pt x="1836768" y="1905000"/>
                    <a:pt x="1752600" y="1905000"/>
                  </a:cubicBezTo>
                  <a:lnTo>
                    <a:pt x="152400" y="1905000"/>
                  </a:lnTo>
                  <a:cubicBezTo>
                    <a:pt x="68232" y="1905000"/>
                    <a:pt x="0" y="1836768"/>
                    <a:pt x="0" y="1752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6B6B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90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095750" y="4381500"/>
            <a:ext cx="1428750" cy="1428750"/>
            <a:chOff x="0" y="0"/>
            <a:chExt cx="1905000" cy="1905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952500" y="0"/>
                  </a:moveTo>
                  <a:cubicBezTo>
                    <a:pt x="1478551" y="0"/>
                    <a:pt x="1905000" y="426449"/>
                    <a:pt x="1905000" y="952500"/>
                  </a:cubicBezTo>
                  <a:cubicBezTo>
                    <a:pt x="1905000" y="1478551"/>
                    <a:pt x="1478551" y="1905000"/>
                    <a:pt x="952500" y="1905000"/>
                  </a:cubicBezTo>
                  <a:cubicBezTo>
                    <a:pt x="426449" y="1905000"/>
                    <a:pt x="0" y="1478551"/>
                    <a:pt x="0" y="952500"/>
                  </a:cubicBezTo>
                  <a:cubicBezTo>
                    <a:pt x="0" y="426449"/>
                    <a:pt x="426449" y="0"/>
                    <a:pt x="952500" y="0"/>
                  </a:cubicBezTo>
                  <a:lnTo>
                    <a:pt x="952500" y="0"/>
                  </a:lnTo>
                  <a:close/>
                </a:path>
              </a:pathLst>
            </a:custGeom>
            <a:solidFill>
              <a:srgbClr val="F2C94C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90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77000" y="4381500"/>
            <a:ext cx="1428750" cy="1428750"/>
            <a:chOff x="0" y="0"/>
            <a:chExt cx="1905000" cy="1905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68232"/>
                    <a:pt x="1905000" y="152400"/>
                  </a:cubicBezTo>
                  <a:lnTo>
                    <a:pt x="1905000" y="1752600"/>
                  </a:lnTo>
                  <a:cubicBezTo>
                    <a:pt x="1905000" y="1836768"/>
                    <a:pt x="1836768" y="1905000"/>
                    <a:pt x="1752600" y="1905000"/>
                  </a:cubicBezTo>
                  <a:lnTo>
                    <a:pt x="152400" y="1905000"/>
                  </a:lnTo>
                  <a:cubicBezTo>
                    <a:pt x="68232" y="1905000"/>
                    <a:pt x="0" y="1836768"/>
                    <a:pt x="0" y="1752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56CCF2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90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858250" y="4381500"/>
            <a:ext cx="1428750" cy="1428750"/>
            <a:chOff x="0" y="0"/>
            <a:chExt cx="1905000" cy="1905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68232"/>
                    <a:pt x="1905000" y="152400"/>
                  </a:cubicBezTo>
                  <a:lnTo>
                    <a:pt x="1905000" y="1752600"/>
                  </a:lnTo>
                  <a:cubicBezTo>
                    <a:pt x="1905000" y="1836768"/>
                    <a:pt x="1836768" y="1905000"/>
                    <a:pt x="1752600" y="1905000"/>
                  </a:cubicBezTo>
                  <a:lnTo>
                    <a:pt x="152400" y="1905000"/>
                  </a:lnTo>
                  <a:cubicBezTo>
                    <a:pt x="68232" y="1905000"/>
                    <a:pt x="0" y="1836768"/>
                    <a:pt x="0" y="1752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6B6B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0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239500" y="4381500"/>
            <a:ext cx="1428750" cy="1428750"/>
            <a:chOff x="0" y="0"/>
            <a:chExt cx="1905000" cy="1905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952500" y="0"/>
                  </a:moveTo>
                  <a:cubicBezTo>
                    <a:pt x="1478551" y="0"/>
                    <a:pt x="1905000" y="426449"/>
                    <a:pt x="1905000" y="952500"/>
                  </a:cubicBezTo>
                  <a:cubicBezTo>
                    <a:pt x="1905000" y="1478551"/>
                    <a:pt x="1478551" y="1905000"/>
                    <a:pt x="952500" y="1905000"/>
                  </a:cubicBezTo>
                  <a:cubicBezTo>
                    <a:pt x="426449" y="1905000"/>
                    <a:pt x="0" y="1478551"/>
                    <a:pt x="0" y="952500"/>
                  </a:cubicBezTo>
                  <a:cubicBezTo>
                    <a:pt x="0" y="426449"/>
                    <a:pt x="426449" y="0"/>
                    <a:pt x="952500" y="0"/>
                  </a:cubicBezTo>
                  <a:lnTo>
                    <a:pt x="952500" y="0"/>
                  </a:lnTo>
                  <a:close/>
                </a:path>
              </a:pathLst>
            </a:custGeom>
            <a:solidFill>
              <a:srgbClr val="F2C94C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0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620750" y="4381500"/>
            <a:ext cx="1428750" cy="1428750"/>
            <a:chOff x="0" y="0"/>
            <a:chExt cx="1905000" cy="1905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05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68232"/>
                    <a:pt x="1905000" y="152400"/>
                  </a:cubicBezTo>
                  <a:lnTo>
                    <a:pt x="1905000" y="1752600"/>
                  </a:lnTo>
                  <a:cubicBezTo>
                    <a:pt x="1905000" y="1836768"/>
                    <a:pt x="1836768" y="1905000"/>
                    <a:pt x="1752600" y="1905000"/>
                  </a:cubicBezTo>
                  <a:lnTo>
                    <a:pt x="152400" y="1905000"/>
                  </a:lnTo>
                  <a:cubicBezTo>
                    <a:pt x="68232" y="1905000"/>
                    <a:pt x="0" y="1836768"/>
                    <a:pt x="0" y="1752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56CCF2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905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239000" y="6953250"/>
            <a:ext cx="1714500" cy="1143000"/>
            <a:chOff x="0" y="0"/>
            <a:chExt cx="2286000" cy="1524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86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286000">
                  <a:moveTo>
                    <a:pt x="112889" y="0"/>
                  </a:moveTo>
                  <a:lnTo>
                    <a:pt x="2173111" y="0"/>
                  </a:lnTo>
                  <a:cubicBezTo>
                    <a:pt x="2235458" y="0"/>
                    <a:pt x="2286000" y="50542"/>
                    <a:pt x="2286000" y="112889"/>
                  </a:cubicBezTo>
                  <a:lnTo>
                    <a:pt x="2286000" y="1411111"/>
                  </a:lnTo>
                  <a:cubicBezTo>
                    <a:pt x="2286000" y="1473458"/>
                    <a:pt x="2235458" y="1524000"/>
                    <a:pt x="2173111" y="1524000"/>
                  </a:cubicBezTo>
                  <a:lnTo>
                    <a:pt x="112889" y="1524000"/>
                  </a:lnTo>
                  <a:cubicBezTo>
                    <a:pt x="50542" y="1524000"/>
                    <a:pt x="0" y="1473458"/>
                    <a:pt x="0" y="1411111"/>
                  </a:cubicBezTo>
                  <a:lnTo>
                    <a:pt x="0" y="112889"/>
                  </a:lnTo>
                  <a:cubicBezTo>
                    <a:pt x="0" y="50542"/>
                    <a:pt x="50542" y="0"/>
                    <a:pt x="112889" y="0"/>
                  </a:cubicBezTo>
                  <a:close/>
                </a:path>
              </a:pathLst>
            </a:custGeom>
            <a:solidFill>
              <a:srgbClr val="102A43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38100"/>
              <a:ext cx="2286000" cy="148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90"/>
                </a:lnSpc>
              </a:pPr>
              <a:r>
                <a:rPr lang="en-US" sz="390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?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742950"/>
            <a:ext cx="1428750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true">
                <a:solidFill>
                  <a:srgbClr val="16324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Temel kavram: Model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647825"/>
            <a:ext cx="10001250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 b="true">
                <a:solidFill>
                  <a:srgbClr val="2F80ED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Model, verilerden öğrenilen kurallar topluluğudur.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38250" y="4381500"/>
            <a:ext cx="3714750" cy="1809750"/>
            <a:chOff x="0" y="0"/>
            <a:chExt cx="4953000" cy="2413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53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953000">
                  <a:moveTo>
                    <a:pt x="52103" y="0"/>
                  </a:moveTo>
                  <a:lnTo>
                    <a:pt x="4900897" y="0"/>
                  </a:lnTo>
                  <a:cubicBezTo>
                    <a:pt x="4914716" y="0"/>
                    <a:pt x="4927969" y="5489"/>
                    <a:pt x="4937740" y="15260"/>
                  </a:cubicBezTo>
                  <a:cubicBezTo>
                    <a:pt x="4947511" y="25032"/>
                    <a:pt x="4953000" y="38284"/>
                    <a:pt x="4953000" y="52103"/>
                  </a:cubicBezTo>
                  <a:lnTo>
                    <a:pt x="4953000" y="2360897"/>
                  </a:lnTo>
                  <a:cubicBezTo>
                    <a:pt x="4953000" y="2374716"/>
                    <a:pt x="4947511" y="2387968"/>
                    <a:pt x="4937740" y="2397739"/>
                  </a:cubicBezTo>
                  <a:cubicBezTo>
                    <a:pt x="4927969" y="2407511"/>
                    <a:pt x="4914716" y="2413000"/>
                    <a:pt x="4900897" y="2413000"/>
                  </a:cubicBezTo>
                  <a:lnTo>
                    <a:pt x="52103" y="2413000"/>
                  </a:lnTo>
                  <a:cubicBezTo>
                    <a:pt x="38284" y="2413000"/>
                    <a:pt x="25032" y="2407511"/>
                    <a:pt x="15260" y="2397739"/>
                  </a:cubicBezTo>
                  <a:cubicBezTo>
                    <a:pt x="5489" y="2387968"/>
                    <a:pt x="0" y="2374716"/>
                    <a:pt x="0" y="2360897"/>
                  </a:cubicBezTo>
                  <a:lnTo>
                    <a:pt x="0" y="52103"/>
                  </a:lnTo>
                  <a:cubicBezTo>
                    <a:pt x="0" y="38284"/>
                    <a:pt x="5489" y="25032"/>
                    <a:pt x="15260" y="15260"/>
                  </a:cubicBezTo>
                  <a:cubicBezTo>
                    <a:pt x="25032" y="5489"/>
                    <a:pt x="38284" y="0"/>
                    <a:pt x="52103" y="0"/>
                  </a:cubicBezTo>
                  <a:close/>
                </a:path>
              </a:pathLst>
            </a:custGeom>
            <a:solidFill>
              <a:srgbClr val="FFE4E4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4953000" cy="239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27"/>
                </a:lnSpc>
              </a:pPr>
              <a:r>
                <a:rPr lang="en-US" sz="2025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Çok sayıda</a:t>
              </a:r>
            </a:p>
            <a:p>
              <a:pPr algn="ctr">
                <a:lnSpc>
                  <a:spcPts val="2227"/>
                </a:lnSpc>
              </a:pPr>
              <a:r>
                <a:rPr lang="en-US" sz="2025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meyve örneği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5238750" y="5286375"/>
            <a:ext cx="1714500" cy="0"/>
          </a:xfrm>
          <a:prstGeom prst="line">
            <a:avLst/>
          </a:prstGeom>
          <a:ln cap="rnd" w="76200">
            <a:solidFill>
              <a:srgbClr val="2F80E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7239000" y="4381500"/>
            <a:ext cx="3714750" cy="1809750"/>
            <a:chOff x="0" y="0"/>
            <a:chExt cx="4953000" cy="2413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53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953000">
                  <a:moveTo>
                    <a:pt x="52103" y="0"/>
                  </a:moveTo>
                  <a:lnTo>
                    <a:pt x="4900897" y="0"/>
                  </a:lnTo>
                  <a:cubicBezTo>
                    <a:pt x="4914716" y="0"/>
                    <a:pt x="4927969" y="5489"/>
                    <a:pt x="4937740" y="15260"/>
                  </a:cubicBezTo>
                  <a:cubicBezTo>
                    <a:pt x="4947511" y="25032"/>
                    <a:pt x="4953000" y="38284"/>
                    <a:pt x="4953000" y="52103"/>
                  </a:cubicBezTo>
                  <a:lnTo>
                    <a:pt x="4953000" y="2360897"/>
                  </a:lnTo>
                  <a:cubicBezTo>
                    <a:pt x="4953000" y="2374716"/>
                    <a:pt x="4947511" y="2387968"/>
                    <a:pt x="4937740" y="2397739"/>
                  </a:cubicBezTo>
                  <a:cubicBezTo>
                    <a:pt x="4927969" y="2407511"/>
                    <a:pt x="4914716" y="2413000"/>
                    <a:pt x="4900897" y="2413000"/>
                  </a:cubicBezTo>
                  <a:lnTo>
                    <a:pt x="52103" y="2413000"/>
                  </a:lnTo>
                  <a:cubicBezTo>
                    <a:pt x="38284" y="2413000"/>
                    <a:pt x="25032" y="2407511"/>
                    <a:pt x="15260" y="2397739"/>
                  </a:cubicBezTo>
                  <a:cubicBezTo>
                    <a:pt x="5489" y="2387968"/>
                    <a:pt x="0" y="2374716"/>
                    <a:pt x="0" y="2360897"/>
                  </a:cubicBezTo>
                  <a:lnTo>
                    <a:pt x="0" y="52103"/>
                  </a:lnTo>
                  <a:cubicBezTo>
                    <a:pt x="0" y="38284"/>
                    <a:pt x="5489" y="25032"/>
                    <a:pt x="15260" y="15260"/>
                  </a:cubicBezTo>
                  <a:cubicBezTo>
                    <a:pt x="25032" y="5489"/>
                    <a:pt x="38284" y="0"/>
                    <a:pt x="52103" y="0"/>
                  </a:cubicBezTo>
                  <a:close/>
                </a:path>
              </a:pathLst>
            </a:custGeom>
            <a:solidFill>
              <a:srgbClr val="E8F4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4953000" cy="239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27"/>
                </a:lnSpc>
              </a:pPr>
              <a:r>
                <a:rPr lang="en-US" sz="2025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Özellikleri</a:t>
              </a:r>
            </a:p>
            <a:p>
              <a:pPr algn="ctr">
                <a:lnSpc>
                  <a:spcPts val="2227"/>
                </a:lnSpc>
              </a:pPr>
              <a:r>
                <a:rPr lang="en-US" sz="2025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öğrenen model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11239500" y="5286375"/>
            <a:ext cx="1714500" cy="0"/>
          </a:xfrm>
          <a:prstGeom prst="line">
            <a:avLst/>
          </a:prstGeom>
          <a:ln cap="rnd" w="76200">
            <a:solidFill>
              <a:srgbClr val="2F80E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3239750" y="4381500"/>
            <a:ext cx="3714750" cy="1809750"/>
            <a:chOff x="0" y="0"/>
            <a:chExt cx="4953000" cy="2413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53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953000">
                  <a:moveTo>
                    <a:pt x="52103" y="0"/>
                  </a:moveTo>
                  <a:lnTo>
                    <a:pt x="4900897" y="0"/>
                  </a:lnTo>
                  <a:cubicBezTo>
                    <a:pt x="4914716" y="0"/>
                    <a:pt x="4927969" y="5489"/>
                    <a:pt x="4937740" y="15260"/>
                  </a:cubicBezTo>
                  <a:cubicBezTo>
                    <a:pt x="4947511" y="25032"/>
                    <a:pt x="4953000" y="38284"/>
                    <a:pt x="4953000" y="52103"/>
                  </a:cubicBezTo>
                  <a:lnTo>
                    <a:pt x="4953000" y="2360897"/>
                  </a:lnTo>
                  <a:cubicBezTo>
                    <a:pt x="4953000" y="2374716"/>
                    <a:pt x="4947511" y="2387968"/>
                    <a:pt x="4937740" y="2397739"/>
                  </a:cubicBezTo>
                  <a:cubicBezTo>
                    <a:pt x="4927969" y="2407511"/>
                    <a:pt x="4914716" y="2413000"/>
                    <a:pt x="4900897" y="2413000"/>
                  </a:cubicBezTo>
                  <a:lnTo>
                    <a:pt x="52103" y="2413000"/>
                  </a:lnTo>
                  <a:cubicBezTo>
                    <a:pt x="38284" y="2413000"/>
                    <a:pt x="25032" y="2407511"/>
                    <a:pt x="15260" y="2397739"/>
                  </a:cubicBezTo>
                  <a:cubicBezTo>
                    <a:pt x="5489" y="2387968"/>
                    <a:pt x="0" y="2374716"/>
                    <a:pt x="0" y="2360897"/>
                  </a:cubicBezTo>
                  <a:lnTo>
                    <a:pt x="0" y="52103"/>
                  </a:lnTo>
                  <a:cubicBezTo>
                    <a:pt x="0" y="38284"/>
                    <a:pt x="5489" y="25032"/>
                    <a:pt x="15260" y="15260"/>
                  </a:cubicBezTo>
                  <a:cubicBezTo>
                    <a:pt x="25032" y="5489"/>
                    <a:pt x="38284" y="0"/>
                    <a:pt x="52103" y="0"/>
                  </a:cubicBezTo>
                  <a:close/>
                </a:path>
              </a:pathLst>
            </a:custGeom>
            <a:solidFill>
              <a:srgbClr val="E9F8EF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4953000" cy="239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27"/>
                </a:lnSpc>
              </a:pPr>
              <a:r>
                <a:rPr lang="en-US" sz="2025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Bu bir</a:t>
              </a:r>
            </a:p>
            <a:p>
              <a:pPr algn="ctr">
                <a:lnSpc>
                  <a:spcPts val="2227"/>
                </a:lnSpc>
              </a:pPr>
              <a:r>
                <a:rPr lang="en-US" sz="2025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elmadır!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742950"/>
            <a:ext cx="1428750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true">
                <a:solidFill>
                  <a:srgbClr val="16324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Tahmin mi, sınıflandırma mı?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52500" y="2476500"/>
            <a:ext cx="7524750" cy="5334000"/>
            <a:chOff x="0" y="0"/>
            <a:chExt cx="10033000" cy="7112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033000" cy="7112000"/>
              <a:chOff x="0" y="0"/>
              <a:chExt cx="10033000" cy="7112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0033000" cy="7112000"/>
              </a:xfrm>
              <a:custGeom>
                <a:avLst/>
                <a:gdLst/>
                <a:ahLst/>
                <a:cxnLst/>
                <a:rect r="r" b="b" t="t" l="l"/>
                <a:pathLst>
                  <a:path h="7112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7112000"/>
                    </a:lnTo>
                    <a:lnTo>
                      <a:pt x="0" y="7112000"/>
                    </a:lnTo>
                    <a:close/>
                  </a:path>
                </a:pathLst>
              </a:custGeom>
              <a:solidFill>
                <a:srgbClr val="E8F4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0033000" cy="715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431800" y="390525"/>
              <a:ext cx="9169400" cy="42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6"/>
                </a:lnSpc>
              </a:pPr>
              <a:r>
                <a:rPr lang="en-US" sz="2175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TAHMİN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31800" y="1158875"/>
              <a:ext cx="9169400" cy="1137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557086"/>
                  </a:solidFill>
                  <a:latin typeface="Aptos"/>
                  <a:ea typeface="Aptos"/>
                  <a:cs typeface="Aptos"/>
                  <a:sym typeface="Aptos"/>
                </a:rPr>
                <a:t>Gelecekte ne olacağını kestirmek.</a:t>
              </a:r>
            </a:p>
            <a:p>
              <a:pPr algn="l">
                <a:lnSpc>
                  <a:spcPts val="2250"/>
                </a:lnSpc>
              </a:pPr>
            </a:p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557086"/>
                  </a:solidFill>
                  <a:latin typeface="Aptos"/>
                  <a:ea typeface="Aptos"/>
                  <a:cs typeface="Aptos"/>
                  <a:sym typeface="Aptos"/>
                </a:rPr>
                <a:t>Örnek: Hava verilerine bakıp yarın yağmur olasılığını söylemek.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810750" y="2476500"/>
            <a:ext cx="7524750" cy="5334000"/>
            <a:chOff x="0" y="0"/>
            <a:chExt cx="10033000" cy="7112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0033000" cy="7112000"/>
              <a:chOff x="0" y="0"/>
              <a:chExt cx="10033000" cy="7112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033000" cy="7112000"/>
              </a:xfrm>
              <a:custGeom>
                <a:avLst/>
                <a:gdLst/>
                <a:ahLst/>
                <a:cxnLst/>
                <a:rect r="r" b="b" t="t" l="l"/>
                <a:pathLst>
                  <a:path h="7112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7112000"/>
                    </a:lnTo>
                    <a:lnTo>
                      <a:pt x="0" y="7112000"/>
                    </a:lnTo>
                    <a:close/>
                  </a:path>
                </a:pathLst>
              </a:custGeom>
              <a:solidFill>
                <a:srgbClr val="FFF0D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0033000" cy="715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31800" y="390525"/>
              <a:ext cx="9169400" cy="42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6"/>
                </a:lnSpc>
              </a:pPr>
              <a:r>
                <a:rPr lang="en-US" sz="2175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SINIFLANDIRMA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31800" y="1158875"/>
              <a:ext cx="9169400" cy="1137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557086"/>
                  </a:solidFill>
                  <a:latin typeface="Aptos"/>
                  <a:ea typeface="Aptos"/>
                  <a:cs typeface="Aptos"/>
                  <a:sym typeface="Aptos"/>
                </a:rPr>
                <a:t>Nesneleri ortak özelliklerine göre gruplamak.</a:t>
              </a:r>
            </a:p>
            <a:p>
              <a:pPr algn="l">
                <a:lnSpc>
                  <a:spcPts val="2250"/>
                </a:lnSpc>
              </a:pPr>
            </a:p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557086"/>
                  </a:solidFill>
                  <a:latin typeface="Aptos"/>
                  <a:ea typeface="Aptos"/>
                  <a:cs typeface="Aptos"/>
                  <a:sym typeface="Aptos"/>
                </a:rPr>
                <a:t>Örnek: Hayvanları kuşlar ve memeliler olarak ayırmak.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742950"/>
            <a:ext cx="1428750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true">
                <a:solidFill>
                  <a:srgbClr val="FFFF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Yapay zekâ nasıl çalışır?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52500" y="3714750"/>
            <a:ext cx="3333750" cy="2000250"/>
            <a:chOff x="0" y="0"/>
            <a:chExt cx="4445000" cy="2667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45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4445000">
                  <a:moveTo>
                    <a:pt x="58057" y="0"/>
                  </a:moveTo>
                  <a:lnTo>
                    <a:pt x="4386943" y="0"/>
                  </a:lnTo>
                  <a:cubicBezTo>
                    <a:pt x="4402341" y="0"/>
                    <a:pt x="4417108" y="6117"/>
                    <a:pt x="4427996" y="17005"/>
                  </a:cubicBezTo>
                  <a:cubicBezTo>
                    <a:pt x="4438883" y="27892"/>
                    <a:pt x="4445000" y="42659"/>
                    <a:pt x="4445000" y="58057"/>
                  </a:cubicBezTo>
                  <a:lnTo>
                    <a:pt x="4445000" y="2608943"/>
                  </a:lnTo>
                  <a:cubicBezTo>
                    <a:pt x="4445000" y="2624341"/>
                    <a:pt x="4438883" y="2639108"/>
                    <a:pt x="4427996" y="2649995"/>
                  </a:cubicBezTo>
                  <a:cubicBezTo>
                    <a:pt x="4417108" y="2660883"/>
                    <a:pt x="4402341" y="2667000"/>
                    <a:pt x="4386943" y="2667000"/>
                  </a:cubicBezTo>
                  <a:lnTo>
                    <a:pt x="58057" y="2667000"/>
                  </a:lnTo>
                  <a:cubicBezTo>
                    <a:pt x="42659" y="2667000"/>
                    <a:pt x="27892" y="2660883"/>
                    <a:pt x="17005" y="2649995"/>
                  </a:cubicBezTo>
                  <a:cubicBezTo>
                    <a:pt x="6117" y="2639108"/>
                    <a:pt x="0" y="2624341"/>
                    <a:pt x="0" y="2608943"/>
                  </a:cubicBezTo>
                  <a:lnTo>
                    <a:pt x="0" y="58057"/>
                  </a:lnTo>
                  <a:cubicBezTo>
                    <a:pt x="0" y="42659"/>
                    <a:pt x="6117" y="27892"/>
                    <a:pt x="17005" y="17005"/>
                  </a:cubicBezTo>
                  <a:cubicBezTo>
                    <a:pt x="27892" y="6117"/>
                    <a:pt x="42659" y="0"/>
                    <a:pt x="58057" y="0"/>
                  </a:cubicBezTo>
                  <a:close/>
                </a:path>
              </a:pathLst>
            </a:custGeom>
            <a:solidFill>
              <a:srgbClr val="F2C94C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4445000" cy="263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  <a:r>
                <a:rPr lang="en-US" sz="2400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1  Veri</a:t>
              </a:r>
            </a:p>
            <a:p>
              <a:pPr algn="ctr">
                <a:lnSpc>
                  <a:spcPts val="2640"/>
                </a:lnSpc>
              </a:pPr>
              <a:r>
                <a:rPr lang="en-US" sz="2400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topla</a:t>
              </a:r>
            </a:p>
          </p:txBody>
        </p:sp>
      </p:grpSp>
      <p:sp>
        <p:nvSpPr>
          <p:cNvPr name="AutoShape 6" id="6"/>
          <p:cNvSpPr/>
          <p:nvPr/>
        </p:nvSpPr>
        <p:spPr>
          <a:xfrm>
            <a:off x="4381500" y="4714875"/>
            <a:ext cx="762000" cy="0"/>
          </a:xfrm>
          <a:prstGeom prst="line">
            <a:avLst/>
          </a:prstGeom>
          <a:ln cap="rnd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5334000" y="3714750"/>
            <a:ext cx="3333750" cy="2000250"/>
            <a:chOff x="0" y="0"/>
            <a:chExt cx="4445000" cy="2667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45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4445000">
                  <a:moveTo>
                    <a:pt x="58057" y="0"/>
                  </a:moveTo>
                  <a:lnTo>
                    <a:pt x="4386943" y="0"/>
                  </a:lnTo>
                  <a:cubicBezTo>
                    <a:pt x="4402341" y="0"/>
                    <a:pt x="4417108" y="6117"/>
                    <a:pt x="4427996" y="17005"/>
                  </a:cubicBezTo>
                  <a:cubicBezTo>
                    <a:pt x="4438883" y="27892"/>
                    <a:pt x="4445000" y="42659"/>
                    <a:pt x="4445000" y="58057"/>
                  </a:cubicBezTo>
                  <a:lnTo>
                    <a:pt x="4445000" y="2608943"/>
                  </a:lnTo>
                  <a:cubicBezTo>
                    <a:pt x="4445000" y="2624341"/>
                    <a:pt x="4438883" y="2639108"/>
                    <a:pt x="4427996" y="2649995"/>
                  </a:cubicBezTo>
                  <a:cubicBezTo>
                    <a:pt x="4417108" y="2660883"/>
                    <a:pt x="4402341" y="2667000"/>
                    <a:pt x="4386943" y="2667000"/>
                  </a:cubicBezTo>
                  <a:lnTo>
                    <a:pt x="58057" y="2667000"/>
                  </a:lnTo>
                  <a:cubicBezTo>
                    <a:pt x="42659" y="2667000"/>
                    <a:pt x="27892" y="2660883"/>
                    <a:pt x="17005" y="2649995"/>
                  </a:cubicBezTo>
                  <a:cubicBezTo>
                    <a:pt x="6117" y="2639108"/>
                    <a:pt x="0" y="2624341"/>
                    <a:pt x="0" y="2608943"/>
                  </a:cubicBezTo>
                  <a:lnTo>
                    <a:pt x="0" y="58057"/>
                  </a:lnTo>
                  <a:cubicBezTo>
                    <a:pt x="0" y="42659"/>
                    <a:pt x="6117" y="27892"/>
                    <a:pt x="17005" y="17005"/>
                  </a:cubicBezTo>
                  <a:cubicBezTo>
                    <a:pt x="27892" y="6117"/>
                    <a:pt x="42659" y="0"/>
                    <a:pt x="58057" y="0"/>
                  </a:cubicBezTo>
                  <a:close/>
                </a:path>
              </a:pathLst>
            </a:custGeom>
            <a:solidFill>
              <a:srgbClr val="56CCF2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4445000" cy="263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  <a:r>
                <a:rPr lang="en-US" sz="2400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2  Örüntüyü</a:t>
              </a:r>
            </a:p>
            <a:p>
              <a:pPr algn="ctr">
                <a:lnSpc>
                  <a:spcPts val="2640"/>
                </a:lnSpc>
              </a:pPr>
              <a:r>
                <a:rPr lang="en-US" sz="2400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öğren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8763000" y="4714875"/>
            <a:ext cx="762000" cy="0"/>
          </a:xfrm>
          <a:prstGeom prst="line">
            <a:avLst/>
          </a:prstGeom>
          <a:ln cap="rnd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9715500" y="3714750"/>
            <a:ext cx="3333750" cy="2000250"/>
            <a:chOff x="0" y="0"/>
            <a:chExt cx="4445000" cy="2667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5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4445000">
                  <a:moveTo>
                    <a:pt x="58057" y="0"/>
                  </a:moveTo>
                  <a:lnTo>
                    <a:pt x="4386943" y="0"/>
                  </a:lnTo>
                  <a:cubicBezTo>
                    <a:pt x="4402341" y="0"/>
                    <a:pt x="4417108" y="6117"/>
                    <a:pt x="4427996" y="17005"/>
                  </a:cubicBezTo>
                  <a:cubicBezTo>
                    <a:pt x="4438883" y="27892"/>
                    <a:pt x="4445000" y="42659"/>
                    <a:pt x="4445000" y="58057"/>
                  </a:cubicBezTo>
                  <a:lnTo>
                    <a:pt x="4445000" y="2608943"/>
                  </a:lnTo>
                  <a:cubicBezTo>
                    <a:pt x="4445000" y="2624341"/>
                    <a:pt x="4438883" y="2639108"/>
                    <a:pt x="4427996" y="2649995"/>
                  </a:cubicBezTo>
                  <a:cubicBezTo>
                    <a:pt x="4417108" y="2660883"/>
                    <a:pt x="4402341" y="2667000"/>
                    <a:pt x="4386943" y="2667000"/>
                  </a:cubicBezTo>
                  <a:lnTo>
                    <a:pt x="58057" y="2667000"/>
                  </a:lnTo>
                  <a:cubicBezTo>
                    <a:pt x="42659" y="2667000"/>
                    <a:pt x="27892" y="2660883"/>
                    <a:pt x="17005" y="2649995"/>
                  </a:cubicBezTo>
                  <a:cubicBezTo>
                    <a:pt x="6117" y="2639108"/>
                    <a:pt x="0" y="2624341"/>
                    <a:pt x="0" y="2608943"/>
                  </a:cubicBezTo>
                  <a:lnTo>
                    <a:pt x="0" y="58057"/>
                  </a:lnTo>
                  <a:cubicBezTo>
                    <a:pt x="0" y="42659"/>
                    <a:pt x="6117" y="27892"/>
                    <a:pt x="17005" y="17005"/>
                  </a:cubicBezTo>
                  <a:cubicBezTo>
                    <a:pt x="27892" y="6117"/>
                    <a:pt x="42659" y="0"/>
                    <a:pt x="58057" y="0"/>
                  </a:cubicBezTo>
                  <a:close/>
                </a:path>
              </a:pathLst>
            </a:custGeom>
            <a:solidFill>
              <a:srgbClr val="FF6B6B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4445000" cy="263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  <a:r>
                <a:rPr lang="en-US" sz="2400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3  Model</a:t>
              </a:r>
            </a:p>
            <a:p>
              <a:pPr algn="ctr">
                <a:lnSpc>
                  <a:spcPts val="2640"/>
                </a:lnSpc>
              </a:pPr>
              <a:r>
                <a:rPr lang="en-US" sz="2400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oluştur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3144500" y="4714875"/>
            <a:ext cx="762000" cy="0"/>
          </a:xfrm>
          <a:prstGeom prst="line">
            <a:avLst/>
          </a:prstGeom>
          <a:ln cap="rnd" w="952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4097000" y="3714750"/>
            <a:ext cx="3333750" cy="2000250"/>
            <a:chOff x="0" y="0"/>
            <a:chExt cx="4445000" cy="2667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45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4445000">
                  <a:moveTo>
                    <a:pt x="58057" y="0"/>
                  </a:moveTo>
                  <a:lnTo>
                    <a:pt x="4386943" y="0"/>
                  </a:lnTo>
                  <a:cubicBezTo>
                    <a:pt x="4402341" y="0"/>
                    <a:pt x="4417108" y="6117"/>
                    <a:pt x="4427996" y="17005"/>
                  </a:cubicBezTo>
                  <a:cubicBezTo>
                    <a:pt x="4438883" y="27892"/>
                    <a:pt x="4445000" y="42659"/>
                    <a:pt x="4445000" y="58057"/>
                  </a:cubicBezTo>
                  <a:lnTo>
                    <a:pt x="4445000" y="2608943"/>
                  </a:lnTo>
                  <a:cubicBezTo>
                    <a:pt x="4445000" y="2624341"/>
                    <a:pt x="4438883" y="2639108"/>
                    <a:pt x="4427996" y="2649995"/>
                  </a:cubicBezTo>
                  <a:cubicBezTo>
                    <a:pt x="4417108" y="2660883"/>
                    <a:pt x="4402341" y="2667000"/>
                    <a:pt x="4386943" y="2667000"/>
                  </a:cubicBezTo>
                  <a:lnTo>
                    <a:pt x="58057" y="2667000"/>
                  </a:lnTo>
                  <a:cubicBezTo>
                    <a:pt x="42659" y="2667000"/>
                    <a:pt x="27892" y="2660883"/>
                    <a:pt x="17005" y="2649995"/>
                  </a:cubicBezTo>
                  <a:cubicBezTo>
                    <a:pt x="6117" y="2639108"/>
                    <a:pt x="0" y="2624341"/>
                    <a:pt x="0" y="2608943"/>
                  </a:cubicBezTo>
                  <a:lnTo>
                    <a:pt x="0" y="58057"/>
                  </a:lnTo>
                  <a:cubicBezTo>
                    <a:pt x="0" y="42659"/>
                    <a:pt x="6117" y="27892"/>
                    <a:pt x="17005" y="17005"/>
                  </a:cubicBezTo>
                  <a:cubicBezTo>
                    <a:pt x="27892" y="6117"/>
                    <a:pt x="42659" y="0"/>
                    <a:pt x="58057" y="0"/>
                  </a:cubicBezTo>
                  <a:close/>
                </a:path>
              </a:pathLst>
            </a:custGeom>
            <a:solidFill>
              <a:srgbClr val="27AE60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4445000" cy="263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40"/>
                </a:lnSpc>
              </a:pPr>
              <a:r>
                <a:rPr lang="en-US" sz="240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4  Sonuç</a:t>
              </a:r>
            </a:p>
            <a:p>
              <a:pPr algn="ctr">
                <a:lnSpc>
                  <a:spcPts val="2640"/>
                </a:lnSpc>
              </a:pPr>
              <a:r>
                <a:rPr lang="en-US" sz="240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üret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667000" y="7191375"/>
            <a:ext cx="129540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Örnekleri görür → benzerlikleri bulur → öğrendiğini kullanır.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742950"/>
            <a:ext cx="1428750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true">
                <a:solidFill>
                  <a:srgbClr val="16324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Üretken yapay zekâ nedir?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600200"/>
            <a:ext cx="95250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16324F"/>
                </a:solidFill>
                <a:latin typeface="Aptos"/>
                <a:ea typeface="Aptos"/>
                <a:cs typeface="Aptos"/>
                <a:sym typeface="Aptos"/>
              </a:rPr>
              <a:t>Yeni içerikler oluşturabilen yapay zekâ türüdür.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3143250"/>
            <a:ext cx="4953000" cy="3810000"/>
            <a:chOff x="0" y="0"/>
            <a:chExt cx="6604000" cy="5080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6604000" cy="5080000"/>
              <a:chOff x="0" y="0"/>
              <a:chExt cx="6604000" cy="5080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604000" cy="5080000"/>
              </a:xfrm>
              <a:custGeom>
                <a:avLst/>
                <a:gdLst/>
                <a:ahLst/>
                <a:cxnLst/>
                <a:rect r="r" b="b" t="t" l="l"/>
                <a:pathLst>
                  <a:path h="5080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5080000"/>
                    </a:lnTo>
                    <a:lnTo>
                      <a:pt x="0" y="5080000"/>
                    </a:lnTo>
                    <a:close/>
                  </a:path>
                </a:pathLst>
              </a:custGeom>
              <a:solidFill>
                <a:srgbClr val="E8F4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6604000" cy="511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431800" y="390525"/>
              <a:ext cx="5740400" cy="42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6"/>
                </a:lnSpc>
              </a:pPr>
              <a:r>
                <a:rPr lang="en-US" sz="2175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METİN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31800" y="1158875"/>
              <a:ext cx="5740400" cy="756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557086"/>
                  </a:solidFill>
                  <a:latin typeface="Aptos"/>
                  <a:ea typeface="Aptos"/>
                  <a:cs typeface="Aptos"/>
                  <a:sym typeface="Aptos"/>
                </a:rPr>
                <a:t>Bir hikâyenin başlangıcını veya fikir listesini yazabilir.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667500" y="3143250"/>
            <a:ext cx="4953000" cy="3810000"/>
            <a:chOff x="0" y="0"/>
            <a:chExt cx="6604000" cy="50800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6604000" cy="5080000"/>
              <a:chOff x="0" y="0"/>
              <a:chExt cx="6604000" cy="5080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604000" cy="5080000"/>
              </a:xfrm>
              <a:custGeom>
                <a:avLst/>
                <a:gdLst/>
                <a:ahLst/>
                <a:cxnLst/>
                <a:rect r="r" b="b" t="t" l="l"/>
                <a:pathLst>
                  <a:path h="5080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5080000"/>
                    </a:lnTo>
                    <a:lnTo>
                      <a:pt x="0" y="5080000"/>
                    </a:lnTo>
                    <a:close/>
                  </a:path>
                </a:pathLst>
              </a:custGeom>
              <a:solidFill>
                <a:srgbClr val="FFF0D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6604000" cy="511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431800" y="390525"/>
              <a:ext cx="5740400" cy="42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6"/>
                </a:lnSpc>
              </a:pPr>
              <a:r>
                <a:rPr lang="en-US" sz="2175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RESİM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31800" y="1158875"/>
              <a:ext cx="5740400" cy="756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557086"/>
                  </a:solidFill>
                  <a:latin typeface="Aptos"/>
                  <a:ea typeface="Aptos"/>
                  <a:cs typeface="Aptos"/>
                  <a:sym typeface="Aptos"/>
                </a:rPr>
                <a:t>Verilen açıklamaya göre yeni bir görsel oluşturabilir.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382500" y="3143250"/>
            <a:ext cx="4953000" cy="3810000"/>
            <a:chOff x="0" y="0"/>
            <a:chExt cx="6604000" cy="50800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604000" cy="5080000"/>
              <a:chOff x="0" y="0"/>
              <a:chExt cx="6604000" cy="5080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604000" cy="5080000"/>
              </a:xfrm>
              <a:custGeom>
                <a:avLst/>
                <a:gdLst/>
                <a:ahLst/>
                <a:cxnLst/>
                <a:rect r="r" b="b" t="t" l="l"/>
                <a:pathLst>
                  <a:path h="5080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5080000"/>
                    </a:lnTo>
                    <a:lnTo>
                      <a:pt x="0" y="5080000"/>
                    </a:lnTo>
                    <a:close/>
                  </a:path>
                </a:pathLst>
              </a:custGeom>
              <a:solidFill>
                <a:srgbClr val="E9F8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6604000" cy="511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431800" y="390525"/>
              <a:ext cx="5740400" cy="42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6"/>
                </a:lnSpc>
              </a:pPr>
              <a:r>
                <a:rPr lang="en-US" sz="2175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SES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431800" y="1158875"/>
              <a:ext cx="5740400" cy="37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557086"/>
                  </a:solidFill>
                  <a:latin typeface="Aptos"/>
                  <a:ea typeface="Aptos"/>
                  <a:cs typeface="Aptos"/>
                  <a:sym typeface="Aptos"/>
                </a:rPr>
                <a:t>Bir metni farklı tonlarda seslendirebilir.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742950"/>
            <a:ext cx="1428750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true">
                <a:solidFill>
                  <a:srgbClr val="16324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Yapay zekânın yararları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906000" y="1809750"/>
            <a:ext cx="7429500" cy="6858000"/>
          </a:xfrm>
          <a:custGeom>
            <a:avLst/>
            <a:gdLst/>
            <a:ahLst/>
            <a:cxnLst/>
            <a:rect r="r" b="b" t="t" l="l"/>
            <a:pathLst>
              <a:path h="6858000" w="7429500">
                <a:moveTo>
                  <a:pt x="0" y="0"/>
                </a:moveTo>
                <a:lnTo>
                  <a:pt x="7429500" y="0"/>
                </a:lnTo>
                <a:lnTo>
                  <a:pt x="74295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1" t="0" r="-31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952500" y="2190750"/>
            <a:ext cx="7620000" cy="1190625"/>
            <a:chOff x="0" y="0"/>
            <a:chExt cx="10160000" cy="1587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60000" cy="1587500"/>
            </a:xfrm>
            <a:custGeom>
              <a:avLst/>
              <a:gdLst/>
              <a:ahLst/>
              <a:cxnLst/>
              <a:rect r="r" b="b" t="t" l="l"/>
              <a:pathLst>
                <a:path h="1587500" w="10160000">
                  <a:moveTo>
                    <a:pt x="25400" y="0"/>
                  </a:moveTo>
                  <a:lnTo>
                    <a:pt x="10134600" y="0"/>
                  </a:lnTo>
                  <a:cubicBezTo>
                    <a:pt x="10148628" y="0"/>
                    <a:pt x="10160000" y="11372"/>
                    <a:pt x="10160000" y="25400"/>
                  </a:cubicBezTo>
                  <a:lnTo>
                    <a:pt x="10160000" y="1562100"/>
                  </a:lnTo>
                  <a:cubicBezTo>
                    <a:pt x="10160000" y="1576128"/>
                    <a:pt x="10148628" y="1587500"/>
                    <a:pt x="10134600" y="1587500"/>
                  </a:cubicBezTo>
                  <a:lnTo>
                    <a:pt x="25400" y="1587500"/>
                  </a:lnTo>
                  <a:cubicBezTo>
                    <a:pt x="11372" y="1587500"/>
                    <a:pt x="0" y="1576128"/>
                    <a:pt x="0" y="15621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solidFill>
              <a:srgbClr val="E8F4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10160000" cy="1568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2"/>
                </a:lnSpc>
              </a:pPr>
              <a:r>
                <a:rPr lang="en-US" sz="2175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Hızlı bilgi bulma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52500" y="3762375"/>
            <a:ext cx="7620000" cy="1190625"/>
            <a:chOff x="0" y="0"/>
            <a:chExt cx="10160000" cy="1587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60000" cy="1587500"/>
            </a:xfrm>
            <a:custGeom>
              <a:avLst/>
              <a:gdLst/>
              <a:ahLst/>
              <a:cxnLst/>
              <a:rect r="r" b="b" t="t" l="l"/>
              <a:pathLst>
                <a:path h="1587500" w="10160000">
                  <a:moveTo>
                    <a:pt x="25400" y="0"/>
                  </a:moveTo>
                  <a:lnTo>
                    <a:pt x="10134600" y="0"/>
                  </a:lnTo>
                  <a:cubicBezTo>
                    <a:pt x="10148628" y="0"/>
                    <a:pt x="10160000" y="11372"/>
                    <a:pt x="10160000" y="25400"/>
                  </a:cubicBezTo>
                  <a:lnTo>
                    <a:pt x="10160000" y="1562100"/>
                  </a:lnTo>
                  <a:cubicBezTo>
                    <a:pt x="10160000" y="1576128"/>
                    <a:pt x="10148628" y="1587500"/>
                    <a:pt x="10134600" y="1587500"/>
                  </a:cubicBezTo>
                  <a:lnTo>
                    <a:pt x="25400" y="1587500"/>
                  </a:lnTo>
                  <a:cubicBezTo>
                    <a:pt x="11372" y="1587500"/>
                    <a:pt x="0" y="1576128"/>
                    <a:pt x="0" y="15621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solidFill>
              <a:srgbClr val="E9F8E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0160000" cy="1568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2"/>
                </a:lnSpc>
              </a:pPr>
              <a:r>
                <a:rPr lang="en-US" sz="2175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Öğrenmeye destek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52500" y="5334000"/>
            <a:ext cx="7620000" cy="1190625"/>
            <a:chOff x="0" y="0"/>
            <a:chExt cx="10160000" cy="1587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160000" cy="1587500"/>
            </a:xfrm>
            <a:custGeom>
              <a:avLst/>
              <a:gdLst/>
              <a:ahLst/>
              <a:cxnLst/>
              <a:rect r="r" b="b" t="t" l="l"/>
              <a:pathLst>
                <a:path h="1587500" w="10160000">
                  <a:moveTo>
                    <a:pt x="25400" y="0"/>
                  </a:moveTo>
                  <a:lnTo>
                    <a:pt x="10134600" y="0"/>
                  </a:lnTo>
                  <a:cubicBezTo>
                    <a:pt x="10148628" y="0"/>
                    <a:pt x="10160000" y="11372"/>
                    <a:pt x="10160000" y="25400"/>
                  </a:cubicBezTo>
                  <a:lnTo>
                    <a:pt x="10160000" y="1562100"/>
                  </a:lnTo>
                  <a:cubicBezTo>
                    <a:pt x="10160000" y="1576128"/>
                    <a:pt x="10148628" y="1587500"/>
                    <a:pt x="10134600" y="1587500"/>
                  </a:cubicBezTo>
                  <a:lnTo>
                    <a:pt x="25400" y="1587500"/>
                  </a:lnTo>
                  <a:cubicBezTo>
                    <a:pt x="11372" y="1587500"/>
                    <a:pt x="0" y="1576128"/>
                    <a:pt x="0" y="15621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solidFill>
              <a:srgbClr val="FFF0DC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10160000" cy="1568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2"/>
                </a:lnSpc>
              </a:pPr>
              <a:r>
                <a:rPr lang="en-US" sz="2175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Tekrarlı işleri kolaylaştırma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52500" y="6905625"/>
            <a:ext cx="7620000" cy="1190625"/>
            <a:chOff x="0" y="0"/>
            <a:chExt cx="10160000" cy="1587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160000" cy="1587500"/>
            </a:xfrm>
            <a:custGeom>
              <a:avLst/>
              <a:gdLst/>
              <a:ahLst/>
              <a:cxnLst/>
              <a:rect r="r" b="b" t="t" l="l"/>
              <a:pathLst>
                <a:path h="1587500" w="10160000">
                  <a:moveTo>
                    <a:pt x="25400" y="0"/>
                  </a:moveTo>
                  <a:lnTo>
                    <a:pt x="10134600" y="0"/>
                  </a:lnTo>
                  <a:cubicBezTo>
                    <a:pt x="10148628" y="0"/>
                    <a:pt x="10160000" y="11372"/>
                    <a:pt x="10160000" y="25400"/>
                  </a:cubicBezTo>
                  <a:lnTo>
                    <a:pt x="10160000" y="1562100"/>
                  </a:lnTo>
                  <a:cubicBezTo>
                    <a:pt x="10160000" y="1576128"/>
                    <a:pt x="10148628" y="1587500"/>
                    <a:pt x="10134600" y="1587500"/>
                  </a:cubicBezTo>
                  <a:lnTo>
                    <a:pt x="25400" y="1587500"/>
                  </a:lnTo>
                  <a:cubicBezTo>
                    <a:pt x="11372" y="1587500"/>
                    <a:pt x="0" y="1576128"/>
                    <a:pt x="0" y="15621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solidFill>
              <a:srgbClr val="FFE4E4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10160000" cy="1568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2"/>
                </a:lnSpc>
              </a:pPr>
              <a:r>
                <a:rPr lang="en-US" sz="2175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Yeni şeyler keşfetme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742950"/>
            <a:ext cx="1428750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true">
                <a:solidFill>
                  <a:srgbClr val="16324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Yapay zekâ her şeyi bilir mi?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924050"/>
            <a:ext cx="6667500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sz="9000" b="true">
                <a:solidFill>
                  <a:srgbClr val="FF6B6B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HAYIR.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2500" y="3695700"/>
            <a:ext cx="733425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16324F"/>
                </a:solidFill>
                <a:latin typeface="Aptos"/>
                <a:ea typeface="Aptos"/>
                <a:cs typeface="Aptos"/>
                <a:sym typeface="Aptos"/>
              </a:rPr>
              <a:t>Yanıtlar ikna edici görünse bile yanlış olabilir.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715500" y="2095500"/>
            <a:ext cx="3429000" cy="2571750"/>
            <a:chOff x="0" y="0"/>
            <a:chExt cx="4572000" cy="34290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4572000" cy="3429000"/>
              <a:chOff x="0" y="0"/>
              <a:chExt cx="4572000" cy="34290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572000" cy="3429000"/>
              </a:xfrm>
              <a:custGeom>
                <a:avLst/>
                <a:gdLst/>
                <a:ahLst/>
                <a:cxnLst/>
                <a:rect r="r" b="b" t="t" l="l"/>
                <a:pathLst>
                  <a:path h="3429000" w="4572000">
                    <a:moveTo>
                      <a:pt x="0" y="0"/>
                    </a:moveTo>
                    <a:lnTo>
                      <a:pt x="4572000" y="0"/>
                    </a:lnTo>
                    <a:lnTo>
                      <a:pt x="4572000" y="3429000"/>
                    </a:lnTo>
                    <a:lnTo>
                      <a:pt x="0" y="3429000"/>
                    </a:lnTo>
                    <a:close/>
                  </a:path>
                </a:pathLst>
              </a:custGeom>
              <a:solidFill>
                <a:srgbClr val="FFF0D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572000" cy="346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431800" y="390525"/>
              <a:ext cx="3708400" cy="42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6"/>
                </a:lnSpc>
              </a:pPr>
              <a:r>
                <a:rPr lang="en-US" sz="2175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01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431800" y="1158875"/>
              <a:ext cx="3708400" cy="37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557086"/>
                  </a:solidFill>
                  <a:latin typeface="Aptos"/>
                  <a:ea typeface="Aptos"/>
                  <a:cs typeface="Aptos"/>
                  <a:sym typeface="Aptos"/>
                </a:rPr>
                <a:t>Yanlış bilgi verebilir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525500" y="2095500"/>
            <a:ext cx="3429000" cy="2571750"/>
            <a:chOff x="0" y="0"/>
            <a:chExt cx="4572000" cy="34290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4572000" cy="3429000"/>
              <a:chOff x="0" y="0"/>
              <a:chExt cx="4572000" cy="3429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572000" cy="3429000"/>
              </a:xfrm>
              <a:custGeom>
                <a:avLst/>
                <a:gdLst/>
                <a:ahLst/>
                <a:cxnLst/>
                <a:rect r="r" b="b" t="t" l="l"/>
                <a:pathLst>
                  <a:path h="3429000" w="4572000">
                    <a:moveTo>
                      <a:pt x="0" y="0"/>
                    </a:moveTo>
                    <a:lnTo>
                      <a:pt x="4572000" y="0"/>
                    </a:lnTo>
                    <a:lnTo>
                      <a:pt x="4572000" y="3429000"/>
                    </a:lnTo>
                    <a:lnTo>
                      <a:pt x="0" y="3429000"/>
                    </a:lnTo>
                    <a:close/>
                  </a:path>
                </a:pathLst>
              </a:custGeom>
              <a:solidFill>
                <a:srgbClr val="FFF0D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4572000" cy="346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431800" y="390525"/>
              <a:ext cx="3708400" cy="42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6"/>
                </a:lnSpc>
              </a:pPr>
              <a:r>
                <a:rPr lang="en-US" sz="2175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02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431800" y="1158875"/>
              <a:ext cx="3708400" cy="37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557086"/>
                  </a:solidFill>
                  <a:latin typeface="Aptos"/>
                  <a:ea typeface="Aptos"/>
                  <a:cs typeface="Aptos"/>
                  <a:sym typeface="Aptos"/>
                </a:rPr>
                <a:t>Her şeyi bilemez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715500" y="5143500"/>
            <a:ext cx="3429000" cy="2571750"/>
            <a:chOff x="0" y="0"/>
            <a:chExt cx="4572000" cy="34290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4572000" cy="3429000"/>
              <a:chOff x="0" y="0"/>
              <a:chExt cx="4572000" cy="3429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4572000" cy="3429000"/>
              </a:xfrm>
              <a:custGeom>
                <a:avLst/>
                <a:gdLst/>
                <a:ahLst/>
                <a:cxnLst/>
                <a:rect r="r" b="b" t="t" l="l"/>
                <a:pathLst>
                  <a:path h="3429000" w="4572000">
                    <a:moveTo>
                      <a:pt x="0" y="0"/>
                    </a:moveTo>
                    <a:lnTo>
                      <a:pt x="4572000" y="0"/>
                    </a:lnTo>
                    <a:lnTo>
                      <a:pt x="4572000" y="3429000"/>
                    </a:lnTo>
                    <a:lnTo>
                      <a:pt x="0" y="3429000"/>
                    </a:lnTo>
                    <a:close/>
                  </a:path>
                </a:pathLst>
              </a:custGeom>
              <a:solidFill>
                <a:srgbClr val="FFF0D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4572000" cy="346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431800" y="390525"/>
              <a:ext cx="3708400" cy="42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6"/>
                </a:lnSpc>
              </a:pPr>
              <a:r>
                <a:rPr lang="en-US" sz="2175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03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431800" y="1158875"/>
              <a:ext cx="3708400" cy="37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557086"/>
                  </a:solidFill>
                  <a:latin typeface="Aptos"/>
                  <a:ea typeface="Aptos"/>
                  <a:cs typeface="Aptos"/>
                  <a:sym typeface="Aptos"/>
                </a:rPr>
                <a:t>Bilgisi güncel olmayabilir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525500" y="5143500"/>
            <a:ext cx="3429000" cy="2571750"/>
            <a:chOff x="0" y="0"/>
            <a:chExt cx="4572000" cy="342900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4572000" cy="3429000"/>
              <a:chOff x="0" y="0"/>
              <a:chExt cx="4572000" cy="34290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572000" cy="3429000"/>
              </a:xfrm>
              <a:custGeom>
                <a:avLst/>
                <a:gdLst/>
                <a:ahLst/>
                <a:cxnLst/>
                <a:rect r="r" b="b" t="t" l="l"/>
                <a:pathLst>
                  <a:path h="3429000" w="4572000">
                    <a:moveTo>
                      <a:pt x="0" y="0"/>
                    </a:moveTo>
                    <a:lnTo>
                      <a:pt x="4572000" y="0"/>
                    </a:lnTo>
                    <a:lnTo>
                      <a:pt x="4572000" y="3429000"/>
                    </a:lnTo>
                    <a:lnTo>
                      <a:pt x="0" y="3429000"/>
                    </a:lnTo>
                    <a:close/>
                  </a:path>
                </a:pathLst>
              </a:custGeom>
              <a:solidFill>
                <a:srgbClr val="FFE4E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4572000" cy="346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431800" y="390525"/>
              <a:ext cx="3708400" cy="42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6"/>
                </a:lnSpc>
              </a:pPr>
              <a:r>
                <a:rPr lang="en-US" sz="2175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04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431800" y="1158875"/>
              <a:ext cx="3708400" cy="37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557086"/>
                  </a:solidFill>
                  <a:latin typeface="Aptos"/>
                  <a:ea typeface="Aptos"/>
                  <a:cs typeface="Aptos"/>
                  <a:sym typeface="Aptos"/>
                </a:rPr>
                <a:t>İnsan kontrolü gerekir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742950"/>
            <a:ext cx="1428750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true">
                <a:solidFill>
                  <a:srgbClr val="16324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Bilgiyi kontrol et: 3 adım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52500" y="2857500"/>
            <a:ext cx="5048250" cy="4095750"/>
            <a:chOff x="0" y="0"/>
            <a:chExt cx="6731000" cy="5461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6731000" cy="5461000"/>
              <a:chOff x="0" y="0"/>
              <a:chExt cx="6731000" cy="5461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731000" cy="5461000"/>
              </a:xfrm>
              <a:custGeom>
                <a:avLst/>
                <a:gdLst/>
                <a:ahLst/>
                <a:cxnLst/>
                <a:rect r="r" b="b" t="t" l="l"/>
                <a:pathLst>
                  <a:path h="5461000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E8F4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6731000" cy="549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431800" y="390525"/>
              <a:ext cx="5867400" cy="42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6"/>
                </a:lnSpc>
              </a:pPr>
              <a:r>
                <a:rPr lang="en-US" sz="2175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1  KARŞILAŞTIR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31800" y="1158875"/>
              <a:ext cx="5867400" cy="37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557086"/>
                  </a:solidFill>
                  <a:latin typeface="Aptos"/>
                  <a:ea typeface="Aptos"/>
                  <a:cs typeface="Aptos"/>
                  <a:sym typeface="Aptos"/>
                </a:rPr>
                <a:t>Ders kitabında aynı bilgi var mı?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572250" y="2857500"/>
            <a:ext cx="5048250" cy="4095750"/>
            <a:chOff x="0" y="0"/>
            <a:chExt cx="6731000" cy="5461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6731000" cy="5461000"/>
              <a:chOff x="0" y="0"/>
              <a:chExt cx="6731000" cy="5461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731000" cy="5461000"/>
              </a:xfrm>
              <a:custGeom>
                <a:avLst/>
                <a:gdLst/>
                <a:ahLst/>
                <a:cxnLst/>
                <a:rect r="r" b="b" t="t" l="l"/>
                <a:pathLst>
                  <a:path h="5461000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E9F8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6731000" cy="549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31800" y="390525"/>
              <a:ext cx="5867400" cy="42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6"/>
                </a:lnSpc>
              </a:pPr>
              <a:r>
                <a:rPr lang="en-US" sz="2175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2  ARAŞTIR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31800" y="1158875"/>
              <a:ext cx="5867400" cy="37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557086"/>
                  </a:solidFill>
                  <a:latin typeface="Aptos"/>
                  <a:ea typeface="Aptos"/>
                  <a:cs typeface="Aptos"/>
                  <a:sym typeface="Aptos"/>
                </a:rPr>
                <a:t>Güvenilir bir kurumun sitesine bak.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92000" y="2857500"/>
            <a:ext cx="5048250" cy="4095750"/>
            <a:chOff x="0" y="0"/>
            <a:chExt cx="6731000" cy="54610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6731000" cy="5461000"/>
              <a:chOff x="0" y="0"/>
              <a:chExt cx="6731000" cy="5461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731000" cy="5461000"/>
              </a:xfrm>
              <a:custGeom>
                <a:avLst/>
                <a:gdLst/>
                <a:ahLst/>
                <a:cxnLst/>
                <a:rect r="r" b="b" t="t" l="l"/>
                <a:pathLst>
                  <a:path h="5461000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5461000"/>
                    </a:lnTo>
                    <a:lnTo>
                      <a:pt x="0" y="5461000"/>
                    </a:lnTo>
                    <a:close/>
                  </a:path>
                </a:pathLst>
              </a:custGeom>
              <a:solidFill>
                <a:srgbClr val="FFF0D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6731000" cy="549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31800" y="390525"/>
              <a:ext cx="5867400" cy="42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6"/>
                </a:lnSpc>
              </a:pPr>
              <a:r>
                <a:rPr lang="en-US" sz="2175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3  SORGULA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31800" y="1158875"/>
              <a:ext cx="5867400" cy="37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557086"/>
                  </a:solidFill>
                  <a:latin typeface="Aptos"/>
                  <a:ea typeface="Aptos"/>
                  <a:cs typeface="Aptos"/>
                  <a:sym typeface="Aptos"/>
                </a:rPr>
                <a:t>Kaynak, tarih ve kanıt gösteriliyor mu?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3143250" y="7762875"/>
            <a:ext cx="120015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2F80ED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Tek kaynağa değil, birden fazla güvenilir kaynağa bak.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742950"/>
            <a:ext cx="1428750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true">
                <a:solidFill>
                  <a:srgbClr val="FFFF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Güvenli ve etik kullanım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52500" y="2190750"/>
            <a:ext cx="7810500" cy="2762250"/>
            <a:chOff x="0" y="0"/>
            <a:chExt cx="10414000" cy="3683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414000" cy="3683000"/>
              <a:chOff x="0" y="0"/>
              <a:chExt cx="10414000" cy="3683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04140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E8F4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04140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431800" y="390525"/>
              <a:ext cx="9550400" cy="42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6"/>
                </a:lnSpc>
              </a:pPr>
              <a:r>
                <a:rPr lang="en-US" sz="2175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KORU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31800" y="1158875"/>
              <a:ext cx="9550400" cy="37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557086"/>
                  </a:solidFill>
                  <a:latin typeface="Aptos"/>
                  <a:ea typeface="Aptos"/>
                  <a:cs typeface="Aptos"/>
                  <a:sym typeface="Aptos"/>
                </a:rPr>
                <a:t>Ad, adres, şifre ve fotoğraf gibi kişisel bilgileri paylaşma.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4500" y="2190750"/>
            <a:ext cx="7810500" cy="2762250"/>
            <a:chOff x="0" y="0"/>
            <a:chExt cx="10414000" cy="3683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0414000" cy="3683000"/>
              <a:chOff x="0" y="0"/>
              <a:chExt cx="10414000" cy="3683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4140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FFF0D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04140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31800" y="390525"/>
              <a:ext cx="9550400" cy="42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6"/>
                </a:lnSpc>
              </a:pPr>
              <a:r>
                <a:rPr lang="en-US" sz="2175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SAYGI GÖSTER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31800" y="1158875"/>
              <a:ext cx="9550400" cy="37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557086"/>
                  </a:solidFill>
                  <a:latin typeface="Aptos"/>
                  <a:ea typeface="Aptos"/>
                  <a:cs typeface="Aptos"/>
                  <a:sym typeface="Aptos"/>
                </a:rPr>
                <a:t>Başkasının eserini izinsiz kullanma; kaynağı belirt.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52500" y="5524500"/>
            <a:ext cx="7810500" cy="2762250"/>
            <a:chOff x="0" y="0"/>
            <a:chExt cx="10414000" cy="36830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0414000" cy="3683000"/>
              <a:chOff x="0" y="0"/>
              <a:chExt cx="10414000" cy="3683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04140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E9F8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04140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31800" y="390525"/>
              <a:ext cx="9550400" cy="42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6"/>
                </a:lnSpc>
              </a:pPr>
              <a:r>
                <a:rPr lang="en-US" sz="2175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SORGULA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31800" y="1158875"/>
              <a:ext cx="9550400" cy="37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557086"/>
                  </a:solidFill>
                  <a:latin typeface="Aptos"/>
                  <a:ea typeface="Aptos"/>
                  <a:cs typeface="Aptos"/>
                  <a:sym typeface="Aptos"/>
                </a:rPr>
                <a:t>YZ içeriğini doğru kabul etmeden önce kontrol et.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334500" y="5524500"/>
            <a:ext cx="7810500" cy="2762250"/>
            <a:chOff x="0" y="0"/>
            <a:chExt cx="10414000" cy="3683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0414000" cy="3683000"/>
              <a:chOff x="0" y="0"/>
              <a:chExt cx="10414000" cy="3683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04140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FFE4E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04140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431800" y="390525"/>
              <a:ext cx="9550400" cy="42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6"/>
                </a:lnSpc>
              </a:pPr>
              <a:r>
                <a:rPr lang="en-US" sz="2175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AÇIK OL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431800" y="1158875"/>
              <a:ext cx="9550400" cy="375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557086"/>
                  </a:solidFill>
                  <a:latin typeface="Aptos"/>
                  <a:ea typeface="Aptos"/>
                  <a:cs typeface="Aptos"/>
                  <a:sym typeface="Aptos"/>
                </a:rPr>
                <a:t>Ödevinde YZ desteği aldıysan öğretmenine belirt.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742950"/>
            <a:ext cx="1428750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true">
                <a:solidFill>
                  <a:srgbClr val="16324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Sınıf görevi: YZ dedektifleri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001250" y="2095500"/>
            <a:ext cx="7334250" cy="6667500"/>
          </a:xfrm>
          <a:custGeom>
            <a:avLst/>
            <a:gdLst/>
            <a:ahLst/>
            <a:cxnLst/>
            <a:rect r="r" b="b" t="t" l="l"/>
            <a:pathLst>
              <a:path h="6667500" w="7334250">
                <a:moveTo>
                  <a:pt x="0" y="0"/>
                </a:moveTo>
                <a:lnTo>
                  <a:pt x="7334250" y="0"/>
                </a:lnTo>
                <a:lnTo>
                  <a:pt x="7334250" y="6667500"/>
                </a:lnTo>
                <a:lnTo>
                  <a:pt x="0" y="6667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" t="0" r="-18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952500" y="2476500"/>
            <a:ext cx="7810500" cy="1047750"/>
            <a:chOff x="0" y="0"/>
            <a:chExt cx="10414000" cy="1397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397000" cy="1397000"/>
              <a:chOff x="0" y="0"/>
              <a:chExt cx="1397000" cy="1397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397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1397000">
                    <a:moveTo>
                      <a:pt x="184727" y="0"/>
                    </a:moveTo>
                    <a:lnTo>
                      <a:pt x="1212273" y="0"/>
                    </a:lnTo>
                    <a:cubicBezTo>
                      <a:pt x="1314295" y="0"/>
                      <a:pt x="1397000" y="82705"/>
                      <a:pt x="1397000" y="184727"/>
                    </a:cubicBezTo>
                    <a:lnTo>
                      <a:pt x="1397000" y="1212273"/>
                    </a:lnTo>
                    <a:cubicBezTo>
                      <a:pt x="1397000" y="1314295"/>
                      <a:pt x="1314295" y="1397000"/>
                      <a:pt x="1212273" y="1397000"/>
                    </a:cubicBezTo>
                    <a:lnTo>
                      <a:pt x="184727" y="1397000"/>
                    </a:lnTo>
                    <a:cubicBezTo>
                      <a:pt x="82705" y="1397000"/>
                      <a:pt x="0" y="1314295"/>
                      <a:pt x="0" y="1212273"/>
                    </a:cubicBezTo>
                    <a:lnTo>
                      <a:pt x="0" y="184727"/>
                    </a:lnTo>
                    <a:cubicBezTo>
                      <a:pt x="0" y="82705"/>
                      <a:pt x="82705" y="0"/>
                      <a:pt x="184727" y="0"/>
                    </a:cubicBezTo>
                    <a:close/>
                  </a:path>
                </a:pathLst>
              </a:custGeom>
              <a:solidFill>
                <a:srgbClr val="FF6B6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28575"/>
                <a:ext cx="1397000" cy="1368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35"/>
                  </a:lnSpc>
                </a:pPr>
                <a:r>
                  <a:rPr lang="en-US" sz="2850" b="true">
                    <a:solidFill>
                      <a:srgbClr val="16324F"/>
                    </a:solidFill>
                    <a:latin typeface="Nunito Sans Bold"/>
                    <a:ea typeface="Nunito Sans Bold"/>
                    <a:cs typeface="Nunito Sans Bold"/>
                    <a:sym typeface="Nunito Sans Bold"/>
                  </a:rPr>
                  <a:t>1</a:t>
                </a: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905000" y="107950"/>
              <a:ext cx="8509000" cy="476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en-US" sz="2250">
                  <a:solidFill>
                    <a:srgbClr val="16324F"/>
                  </a:solidFill>
                  <a:latin typeface="Aptos"/>
                  <a:ea typeface="Aptos"/>
                  <a:cs typeface="Aptos"/>
                  <a:sym typeface="Aptos"/>
                </a:rPr>
                <a:t>Günlük hayattan üç YZ örneği bulun.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52500" y="4476750"/>
            <a:ext cx="7810500" cy="1047750"/>
            <a:chOff x="0" y="0"/>
            <a:chExt cx="10414000" cy="1397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397000" cy="1397000"/>
              <a:chOff x="0" y="0"/>
              <a:chExt cx="1397000" cy="1397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397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1397000">
                    <a:moveTo>
                      <a:pt x="184727" y="0"/>
                    </a:moveTo>
                    <a:lnTo>
                      <a:pt x="1212273" y="0"/>
                    </a:lnTo>
                    <a:cubicBezTo>
                      <a:pt x="1314295" y="0"/>
                      <a:pt x="1397000" y="82705"/>
                      <a:pt x="1397000" y="184727"/>
                    </a:cubicBezTo>
                    <a:lnTo>
                      <a:pt x="1397000" y="1212273"/>
                    </a:lnTo>
                    <a:cubicBezTo>
                      <a:pt x="1397000" y="1314295"/>
                      <a:pt x="1314295" y="1397000"/>
                      <a:pt x="1212273" y="1397000"/>
                    </a:cubicBezTo>
                    <a:lnTo>
                      <a:pt x="184727" y="1397000"/>
                    </a:lnTo>
                    <a:cubicBezTo>
                      <a:pt x="82705" y="1397000"/>
                      <a:pt x="0" y="1314295"/>
                      <a:pt x="0" y="1212273"/>
                    </a:cubicBezTo>
                    <a:lnTo>
                      <a:pt x="0" y="184727"/>
                    </a:lnTo>
                    <a:cubicBezTo>
                      <a:pt x="0" y="82705"/>
                      <a:pt x="82705" y="0"/>
                      <a:pt x="184727" y="0"/>
                    </a:cubicBezTo>
                    <a:close/>
                  </a:path>
                </a:pathLst>
              </a:custGeom>
              <a:solidFill>
                <a:srgbClr val="F2C94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28575"/>
                <a:ext cx="1397000" cy="1368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35"/>
                  </a:lnSpc>
                </a:pPr>
                <a:r>
                  <a:rPr lang="en-US" sz="2850" b="true">
                    <a:solidFill>
                      <a:srgbClr val="16324F"/>
                    </a:solidFill>
                    <a:latin typeface="Nunito Sans Bold"/>
                    <a:ea typeface="Nunito Sans Bold"/>
                    <a:cs typeface="Nunito Sans Bold"/>
                    <a:sym typeface="Nunito Sans Bold"/>
                  </a:rPr>
                  <a:t>2</a:t>
                </a: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905000" y="107950"/>
              <a:ext cx="8509000" cy="476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en-US" sz="2250">
                  <a:solidFill>
                    <a:srgbClr val="16324F"/>
                  </a:solidFill>
                  <a:latin typeface="Aptos"/>
                  <a:ea typeface="Aptos"/>
                  <a:cs typeface="Aptos"/>
                  <a:sym typeface="Aptos"/>
                </a:rPr>
                <a:t>Bir YZ yanıtında olası hatayı işaretleyin.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2500" y="6477000"/>
            <a:ext cx="7810500" cy="1047750"/>
            <a:chOff x="0" y="0"/>
            <a:chExt cx="10414000" cy="1397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397000" cy="1397000"/>
              <a:chOff x="0" y="0"/>
              <a:chExt cx="1397000" cy="1397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397000" cy="1397000"/>
              </a:xfrm>
              <a:custGeom>
                <a:avLst/>
                <a:gdLst/>
                <a:ahLst/>
                <a:cxnLst/>
                <a:rect r="r" b="b" t="t" l="l"/>
                <a:pathLst>
                  <a:path h="1397000" w="1397000">
                    <a:moveTo>
                      <a:pt x="184727" y="0"/>
                    </a:moveTo>
                    <a:lnTo>
                      <a:pt x="1212273" y="0"/>
                    </a:lnTo>
                    <a:cubicBezTo>
                      <a:pt x="1314295" y="0"/>
                      <a:pt x="1397000" y="82705"/>
                      <a:pt x="1397000" y="184727"/>
                    </a:cubicBezTo>
                    <a:lnTo>
                      <a:pt x="1397000" y="1212273"/>
                    </a:lnTo>
                    <a:cubicBezTo>
                      <a:pt x="1397000" y="1314295"/>
                      <a:pt x="1314295" y="1397000"/>
                      <a:pt x="1212273" y="1397000"/>
                    </a:cubicBezTo>
                    <a:lnTo>
                      <a:pt x="184727" y="1397000"/>
                    </a:lnTo>
                    <a:cubicBezTo>
                      <a:pt x="82705" y="1397000"/>
                      <a:pt x="0" y="1314295"/>
                      <a:pt x="0" y="1212273"/>
                    </a:cubicBezTo>
                    <a:lnTo>
                      <a:pt x="0" y="184727"/>
                    </a:lnTo>
                    <a:cubicBezTo>
                      <a:pt x="0" y="82705"/>
                      <a:pt x="82705" y="0"/>
                      <a:pt x="184727" y="0"/>
                    </a:cubicBezTo>
                    <a:close/>
                  </a:path>
                </a:pathLst>
              </a:custGeom>
              <a:solidFill>
                <a:srgbClr val="56CCF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28575"/>
                <a:ext cx="1397000" cy="1368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35"/>
                  </a:lnSpc>
                </a:pPr>
                <a:r>
                  <a:rPr lang="en-US" sz="2850" b="true">
                    <a:solidFill>
                      <a:srgbClr val="16324F"/>
                    </a:solidFill>
                    <a:latin typeface="Nunito Sans Bold"/>
                    <a:ea typeface="Nunito Sans Bold"/>
                    <a:cs typeface="Nunito Sans Bold"/>
                    <a:sym typeface="Nunito Sans Bold"/>
                  </a:rPr>
                  <a:t>3</a:t>
                </a: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1905000" y="107950"/>
              <a:ext cx="8509000" cy="476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en-US" sz="2250">
                  <a:solidFill>
                    <a:srgbClr val="16324F"/>
                  </a:solidFill>
                  <a:latin typeface="Aptos"/>
                  <a:ea typeface="Aptos"/>
                  <a:cs typeface="Aptos"/>
                  <a:sym typeface="Aptos"/>
                </a:rPr>
                <a:t>Gerekçenizi sınıfla paylaşın.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742950"/>
            <a:ext cx="1428750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true">
                <a:solidFill>
                  <a:srgbClr val="16324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Kendini dene!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52500" y="2000250"/>
            <a:ext cx="16383000" cy="1952625"/>
            <a:chOff x="0" y="0"/>
            <a:chExt cx="21844000" cy="26035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1844000" cy="2603500"/>
              <a:chOff x="0" y="0"/>
              <a:chExt cx="21844000" cy="26035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1844000" cy="2603500"/>
              </a:xfrm>
              <a:custGeom>
                <a:avLst/>
                <a:gdLst/>
                <a:ahLst/>
                <a:cxnLst/>
                <a:rect r="r" b="b" t="t" l="l"/>
                <a:pathLst>
                  <a:path h="2603500" w="21844000">
                    <a:moveTo>
                      <a:pt x="0" y="0"/>
                    </a:moveTo>
                    <a:lnTo>
                      <a:pt x="21844000" y="0"/>
                    </a:lnTo>
                    <a:lnTo>
                      <a:pt x="21844000" y="2603500"/>
                    </a:lnTo>
                    <a:lnTo>
                      <a:pt x="0" y="2603500"/>
                    </a:lnTo>
                    <a:close/>
                  </a:path>
                </a:pathLst>
              </a:custGeom>
              <a:solidFill>
                <a:srgbClr val="E8F4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21844000" cy="264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431800" y="390525"/>
              <a:ext cx="20980400" cy="42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6"/>
                </a:lnSpc>
              </a:pPr>
              <a:r>
                <a:rPr lang="en-US" sz="2175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SORU 1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31800" y="1158875"/>
              <a:ext cx="20980400" cy="756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557086"/>
                  </a:solidFill>
                  <a:latin typeface="Aptos"/>
                  <a:ea typeface="Aptos"/>
                  <a:cs typeface="Aptos"/>
                  <a:sym typeface="Aptos"/>
                </a:rPr>
                <a:t>1  Yapay zekâ nedir?</a:t>
              </a:r>
            </a:p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557086"/>
                  </a:solidFill>
                  <a:latin typeface="Aptos"/>
                  <a:ea typeface="Aptos"/>
                  <a:cs typeface="Aptos"/>
                  <a:sym typeface="Aptos"/>
                </a:rPr>
                <a:t>A) Bir oyun  B) Öğrenebilen teknoloji  C) Bir kablo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52500" y="4381500"/>
            <a:ext cx="16383000" cy="1952625"/>
            <a:chOff x="0" y="0"/>
            <a:chExt cx="21844000" cy="26035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1844000" cy="2603500"/>
              <a:chOff x="0" y="0"/>
              <a:chExt cx="21844000" cy="26035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1844000" cy="2603500"/>
              </a:xfrm>
              <a:custGeom>
                <a:avLst/>
                <a:gdLst/>
                <a:ahLst/>
                <a:cxnLst/>
                <a:rect r="r" b="b" t="t" l="l"/>
                <a:pathLst>
                  <a:path h="2603500" w="21844000">
                    <a:moveTo>
                      <a:pt x="0" y="0"/>
                    </a:moveTo>
                    <a:lnTo>
                      <a:pt x="21844000" y="0"/>
                    </a:lnTo>
                    <a:lnTo>
                      <a:pt x="21844000" y="2603500"/>
                    </a:lnTo>
                    <a:lnTo>
                      <a:pt x="0" y="2603500"/>
                    </a:lnTo>
                    <a:close/>
                  </a:path>
                </a:pathLst>
              </a:custGeom>
              <a:solidFill>
                <a:srgbClr val="FFF0D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21844000" cy="264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31800" y="390525"/>
              <a:ext cx="20980400" cy="42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6"/>
                </a:lnSpc>
              </a:pPr>
              <a:r>
                <a:rPr lang="en-US" sz="2175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SORU 2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31800" y="1158875"/>
              <a:ext cx="20980400" cy="756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557086"/>
                  </a:solidFill>
                  <a:latin typeface="Aptos"/>
                  <a:ea typeface="Aptos"/>
                  <a:cs typeface="Aptos"/>
                  <a:sym typeface="Aptos"/>
                </a:rPr>
                <a:t>2  Navigasyon, yapay zekâ kullanım alanıdır.</a:t>
              </a:r>
            </a:p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557086"/>
                  </a:solidFill>
                  <a:latin typeface="Aptos"/>
                  <a:ea typeface="Aptos"/>
                  <a:cs typeface="Aptos"/>
                  <a:sym typeface="Aptos"/>
                </a:rPr>
                <a:t>DOĞRU  /  YANLIŞ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52500" y="6762750"/>
            <a:ext cx="16383000" cy="1952625"/>
            <a:chOff x="0" y="0"/>
            <a:chExt cx="21844000" cy="26035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21844000" cy="2603500"/>
              <a:chOff x="0" y="0"/>
              <a:chExt cx="21844000" cy="26035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1844000" cy="2603500"/>
              </a:xfrm>
              <a:custGeom>
                <a:avLst/>
                <a:gdLst/>
                <a:ahLst/>
                <a:cxnLst/>
                <a:rect r="r" b="b" t="t" l="l"/>
                <a:pathLst>
                  <a:path h="2603500" w="21844000">
                    <a:moveTo>
                      <a:pt x="0" y="0"/>
                    </a:moveTo>
                    <a:lnTo>
                      <a:pt x="21844000" y="0"/>
                    </a:lnTo>
                    <a:lnTo>
                      <a:pt x="21844000" y="2603500"/>
                    </a:lnTo>
                    <a:lnTo>
                      <a:pt x="0" y="2603500"/>
                    </a:lnTo>
                    <a:close/>
                  </a:path>
                </a:pathLst>
              </a:custGeom>
              <a:solidFill>
                <a:srgbClr val="E9F8E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21844000" cy="2641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31800" y="390525"/>
              <a:ext cx="20980400" cy="42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6"/>
                </a:lnSpc>
              </a:pPr>
              <a:r>
                <a:rPr lang="en-US" sz="2175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SORU 3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31800" y="1158875"/>
              <a:ext cx="20980400" cy="756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557086"/>
                  </a:solidFill>
                  <a:latin typeface="Aptos"/>
                  <a:ea typeface="Aptos"/>
                  <a:cs typeface="Aptos"/>
                  <a:sym typeface="Aptos"/>
                </a:rPr>
                <a:t>3  Veri nedir?</a:t>
              </a:r>
            </a:p>
            <a:p>
              <a:pPr algn="l">
                <a:lnSpc>
                  <a:spcPts val="2250"/>
                </a:lnSpc>
              </a:pPr>
              <a:r>
                <a:rPr lang="en-US" sz="1800">
                  <a:solidFill>
                    <a:srgbClr val="557086"/>
                  </a:solidFill>
                  <a:latin typeface="Aptos"/>
                  <a:ea typeface="Aptos"/>
                  <a:cs typeface="Aptos"/>
                  <a:sym typeface="Aptos"/>
                </a:rPr>
                <a:t>Bir cümleyle açıkla.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742950"/>
            <a:ext cx="1428750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true">
                <a:solidFill>
                  <a:srgbClr val="16324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Cevap anahtarı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52500" y="2333625"/>
            <a:ext cx="14763750" cy="1428750"/>
            <a:chOff x="0" y="0"/>
            <a:chExt cx="19685000" cy="1905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905000" cy="1905000"/>
              <a:chOff x="0" y="0"/>
              <a:chExt cx="1905000" cy="1905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9050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1905000">
                    <a:moveTo>
                      <a:pt x="135467" y="0"/>
                    </a:moveTo>
                    <a:lnTo>
                      <a:pt x="1769533" y="0"/>
                    </a:lnTo>
                    <a:cubicBezTo>
                      <a:pt x="1844349" y="0"/>
                      <a:pt x="1905000" y="60650"/>
                      <a:pt x="1905000" y="135467"/>
                    </a:cubicBezTo>
                    <a:lnTo>
                      <a:pt x="1905000" y="1769533"/>
                    </a:lnTo>
                    <a:cubicBezTo>
                      <a:pt x="1905000" y="1844349"/>
                      <a:pt x="1844349" y="1905000"/>
                      <a:pt x="1769533" y="1905000"/>
                    </a:cubicBezTo>
                    <a:lnTo>
                      <a:pt x="135467" y="1905000"/>
                    </a:lnTo>
                    <a:cubicBezTo>
                      <a:pt x="60650" y="1905000"/>
                      <a:pt x="0" y="1844349"/>
                      <a:pt x="0" y="1769533"/>
                    </a:cubicBezTo>
                    <a:lnTo>
                      <a:pt x="0" y="135467"/>
                    </a:lnTo>
                    <a:cubicBezTo>
                      <a:pt x="0" y="60650"/>
                      <a:pt x="60650" y="0"/>
                      <a:pt x="135467" y="0"/>
                    </a:cubicBezTo>
                    <a:close/>
                  </a:path>
                </a:pathLst>
              </a:custGeom>
              <a:solidFill>
                <a:srgbClr val="27AE6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38100"/>
                <a:ext cx="1905000" cy="1866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785"/>
                  </a:lnSpc>
                </a:pPr>
                <a:r>
                  <a:rPr lang="en-US" sz="4350" b="true">
                    <a:solidFill>
                      <a:srgbClr val="FFFFFF"/>
                    </a:solidFill>
                    <a:latin typeface="Nunito Sans Bold"/>
                    <a:ea typeface="Nunito Sans Bold"/>
                    <a:cs typeface="Nunito Sans Bold"/>
                    <a:sym typeface="Nunito Sans Bold"/>
                  </a:rPr>
                  <a:t>✓</a:t>
                </a: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2540000" y="73025"/>
              <a:ext cx="3810000" cy="42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6"/>
                </a:lnSpc>
              </a:pPr>
              <a:r>
                <a:rPr lang="en-US" sz="2175" b="true">
                  <a:solidFill>
                    <a:srgbClr val="27AE60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SORU 1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2540000" y="806450"/>
              <a:ext cx="17145000" cy="476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en-US" sz="2250">
                  <a:solidFill>
                    <a:srgbClr val="16324F"/>
                  </a:solidFill>
                  <a:latin typeface="Aptos"/>
                  <a:ea typeface="Aptos"/>
                  <a:cs typeface="Aptos"/>
                  <a:sym typeface="Aptos"/>
                </a:rPr>
                <a:t>B — İnsan benzeri görevleri öğrenebilen teknoloji.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52500" y="4619625"/>
            <a:ext cx="14763750" cy="1428750"/>
            <a:chOff x="0" y="0"/>
            <a:chExt cx="19685000" cy="1905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905000" cy="1905000"/>
              <a:chOff x="0" y="0"/>
              <a:chExt cx="1905000" cy="1905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9050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1905000">
                    <a:moveTo>
                      <a:pt x="135467" y="0"/>
                    </a:moveTo>
                    <a:lnTo>
                      <a:pt x="1769533" y="0"/>
                    </a:lnTo>
                    <a:cubicBezTo>
                      <a:pt x="1844349" y="0"/>
                      <a:pt x="1905000" y="60650"/>
                      <a:pt x="1905000" y="135467"/>
                    </a:cubicBezTo>
                    <a:lnTo>
                      <a:pt x="1905000" y="1769533"/>
                    </a:lnTo>
                    <a:cubicBezTo>
                      <a:pt x="1905000" y="1844349"/>
                      <a:pt x="1844349" y="1905000"/>
                      <a:pt x="1769533" y="1905000"/>
                    </a:cubicBezTo>
                    <a:lnTo>
                      <a:pt x="135467" y="1905000"/>
                    </a:lnTo>
                    <a:cubicBezTo>
                      <a:pt x="60650" y="1905000"/>
                      <a:pt x="0" y="1844349"/>
                      <a:pt x="0" y="1769533"/>
                    </a:cubicBezTo>
                    <a:lnTo>
                      <a:pt x="0" y="135467"/>
                    </a:lnTo>
                    <a:cubicBezTo>
                      <a:pt x="0" y="60650"/>
                      <a:pt x="60650" y="0"/>
                      <a:pt x="135467" y="0"/>
                    </a:cubicBezTo>
                    <a:close/>
                  </a:path>
                </a:pathLst>
              </a:custGeom>
              <a:solidFill>
                <a:srgbClr val="27AE6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38100"/>
                <a:ext cx="1905000" cy="1866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785"/>
                  </a:lnSpc>
                </a:pPr>
                <a:r>
                  <a:rPr lang="en-US" sz="4350" b="true">
                    <a:solidFill>
                      <a:srgbClr val="FFFFFF"/>
                    </a:solidFill>
                    <a:latin typeface="Nunito Sans Bold"/>
                    <a:ea typeface="Nunito Sans Bold"/>
                    <a:cs typeface="Nunito Sans Bold"/>
                    <a:sym typeface="Nunito Sans Bold"/>
                  </a:rPr>
                  <a:t>✓</a:t>
                </a: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2540000" y="73025"/>
              <a:ext cx="3810000" cy="42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6"/>
                </a:lnSpc>
              </a:pPr>
              <a:r>
                <a:rPr lang="en-US" sz="2175" b="true">
                  <a:solidFill>
                    <a:srgbClr val="27AE60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SORU 2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540000" y="806450"/>
              <a:ext cx="17145000" cy="476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en-US" sz="2250">
                  <a:solidFill>
                    <a:srgbClr val="16324F"/>
                  </a:solidFill>
                  <a:latin typeface="Aptos"/>
                  <a:ea typeface="Aptos"/>
                  <a:cs typeface="Aptos"/>
                  <a:sym typeface="Aptos"/>
                </a:rPr>
                <a:t>DOĞRU — Navigasyon verileri kullanarak yol önerir.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52500" y="6905625"/>
            <a:ext cx="14763750" cy="1428750"/>
            <a:chOff x="0" y="0"/>
            <a:chExt cx="19685000" cy="19050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905000" cy="1905000"/>
              <a:chOff x="0" y="0"/>
              <a:chExt cx="1905000" cy="1905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9050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1905000">
                    <a:moveTo>
                      <a:pt x="135467" y="0"/>
                    </a:moveTo>
                    <a:lnTo>
                      <a:pt x="1769533" y="0"/>
                    </a:lnTo>
                    <a:cubicBezTo>
                      <a:pt x="1844349" y="0"/>
                      <a:pt x="1905000" y="60650"/>
                      <a:pt x="1905000" y="135467"/>
                    </a:cubicBezTo>
                    <a:lnTo>
                      <a:pt x="1905000" y="1769533"/>
                    </a:lnTo>
                    <a:cubicBezTo>
                      <a:pt x="1905000" y="1844349"/>
                      <a:pt x="1844349" y="1905000"/>
                      <a:pt x="1769533" y="1905000"/>
                    </a:cubicBezTo>
                    <a:lnTo>
                      <a:pt x="135467" y="1905000"/>
                    </a:lnTo>
                    <a:cubicBezTo>
                      <a:pt x="60650" y="1905000"/>
                      <a:pt x="0" y="1844349"/>
                      <a:pt x="0" y="1769533"/>
                    </a:cubicBezTo>
                    <a:lnTo>
                      <a:pt x="0" y="135467"/>
                    </a:lnTo>
                    <a:cubicBezTo>
                      <a:pt x="0" y="60650"/>
                      <a:pt x="60650" y="0"/>
                      <a:pt x="135467" y="0"/>
                    </a:cubicBezTo>
                    <a:close/>
                  </a:path>
                </a:pathLst>
              </a:custGeom>
              <a:solidFill>
                <a:srgbClr val="27AE6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38100"/>
                <a:ext cx="1905000" cy="1866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785"/>
                  </a:lnSpc>
                </a:pPr>
                <a:r>
                  <a:rPr lang="en-US" sz="4350" b="true">
                    <a:solidFill>
                      <a:srgbClr val="FFFFFF"/>
                    </a:solidFill>
                    <a:latin typeface="Nunito Sans Bold"/>
                    <a:ea typeface="Nunito Sans Bold"/>
                    <a:cs typeface="Nunito Sans Bold"/>
                    <a:sym typeface="Nunito Sans Bold"/>
                  </a:rPr>
                  <a:t>✓</a:t>
                </a: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2540000" y="73025"/>
              <a:ext cx="3810000" cy="42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6"/>
                </a:lnSpc>
              </a:pPr>
              <a:r>
                <a:rPr lang="en-US" sz="2175" b="true">
                  <a:solidFill>
                    <a:srgbClr val="27AE60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SORU 3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2540000" y="806450"/>
              <a:ext cx="17145000" cy="476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en-US" sz="2250">
                  <a:solidFill>
                    <a:srgbClr val="16324F"/>
                  </a:solidFill>
                  <a:latin typeface="Aptos"/>
                  <a:ea typeface="Aptos"/>
                  <a:cs typeface="Aptos"/>
                  <a:sym typeface="Aptos"/>
                </a:rPr>
                <a:t>Bilgisayara öğretilen bilgi, sayı, kelime veya görsel.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FF8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742950"/>
            <a:ext cx="1428750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true">
                <a:solidFill>
                  <a:srgbClr val="16324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Bugün ne öğrendim?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52500" y="2095500"/>
            <a:ext cx="11430000" cy="1095375"/>
            <a:chOff x="0" y="0"/>
            <a:chExt cx="15240000" cy="1460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240000" cy="1460500"/>
            </a:xfrm>
            <a:custGeom>
              <a:avLst/>
              <a:gdLst/>
              <a:ahLst/>
              <a:cxnLst/>
              <a:rect r="r" b="b" t="t" l="l"/>
              <a:pathLst>
                <a:path h="1460500" w="15240000">
                  <a:moveTo>
                    <a:pt x="16933" y="0"/>
                  </a:moveTo>
                  <a:lnTo>
                    <a:pt x="15223066" y="0"/>
                  </a:lnTo>
                  <a:cubicBezTo>
                    <a:pt x="15227557" y="0"/>
                    <a:pt x="15231864" y="1784"/>
                    <a:pt x="15235041" y="4960"/>
                  </a:cubicBezTo>
                  <a:cubicBezTo>
                    <a:pt x="15238216" y="8135"/>
                    <a:pt x="15240000" y="12442"/>
                    <a:pt x="15240000" y="16933"/>
                  </a:cubicBezTo>
                  <a:lnTo>
                    <a:pt x="15240000" y="1443567"/>
                  </a:lnTo>
                  <a:cubicBezTo>
                    <a:pt x="15240000" y="1448058"/>
                    <a:pt x="15238216" y="1452365"/>
                    <a:pt x="15235041" y="1455540"/>
                  </a:cubicBezTo>
                  <a:cubicBezTo>
                    <a:pt x="15231864" y="1458716"/>
                    <a:pt x="15227557" y="1460500"/>
                    <a:pt x="15223066" y="1460500"/>
                  </a:cubicBezTo>
                  <a:lnTo>
                    <a:pt x="16933" y="1460500"/>
                  </a:lnTo>
                  <a:cubicBezTo>
                    <a:pt x="12442" y="1460500"/>
                    <a:pt x="8135" y="1458716"/>
                    <a:pt x="4960" y="1455540"/>
                  </a:cubicBezTo>
                  <a:cubicBezTo>
                    <a:pt x="1784" y="1452365"/>
                    <a:pt x="0" y="1448058"/>
                    <a:pt x="0" y="1443567"/>
                  </a:cubicBezTo>
                  <a:lnTo>
                    <a:pt x="0" y="16933"/>
                  </a:lnTo>
                  <a:cubicBezTo>
                    <a:pt x="0" y="12442"/>
                    <a:pt x="1784" y="8135"/>
                    <a:pt x="4960" y="4960"/>
                  </a:cubicBezTo>
                  <a:cubicBezTo>
                    <a:pt x="8135" y="1784"/>
                    <a:pt x="12442" y="0"/>
                    <a:pt x="16933" y="0"/>
                  </a:cubicBezTo>
                  <a:close/>
                </a:path>
              </a:pathLst>
            </a:custGeom>
            <a:solidFill>
              <a:srgbClr val="E8F4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15240000" cy="1450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□  Yapay zekâyı kendi sözlerimle açıklayabilirim.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52500" y="3571875"/>
            <a:ext cx="11430000" cy="1095375"/>
            <a:chOff x="0" y="0"/>
            <a:chExt cx="15240000" cy="1460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240000" cy="1460500"/>
            </a:xfrm>
            <a:custGeom>
              <a:avLst/>
              <a:gdLst/>
              <a:ahLst/>
              <a:cxnLst/>
              <a:rect r="r" b="b" t="t" l="l"/>
              <a:pathLst>
                <a:path h="1460500" w="15240000">
                  <a:moveTo>
                    <a:pt x="16933" y="0"/>
                  </a:moveTo>
                  <a:lnTo>
                    <a:pt x="15223066" y="0"/>
                  </a:lnTo>
                  <a:cubicBezTo>
                    <a:pt x="15227557" y="0"/>
                    <a:pt x="15231864" y="1784"/>
                    <a:pt x="15235041" y="4960"/>
                  </a:cubicBezTo>
                  <a:cubicBezTo>
                    <a:pt x="15238216" y="8135"/>
                    <a:pt x="15240000" y="12442"/>
                    <a:pt x="15240000" y="16933"/>
                  </a:cubicBezTo>
                  <a:lnTo>
                    <a:pt x="15240000" y="1443567"/>
                  </a:lnTo>
                  <a:cubicBezTo>
                    <a:pt x="15240000" y="1448058"/>
                    <a:pt x="15238216" y="1452365"/>
                    <a:pt x="15235041" y="1455540"/>
                  </a:cubicBezTo>
                  <a:cubicBezTo>
                    <a:pt x="15231864" y="1458716"/>
                    <a:pt x="15227557" y="1460500"/>
                    <a:pt x="15223066" y="1460500"/>
                  </a:cubicBezTo>
                  <a:lnTo>
                    <a:pt x="16933" y="1460500"/>
                  </a:lnTo>
                  <a:cubicBezTo>
                    <a:pt x="12442" y="1460500"/>
                    <a:pt x="8135" y="1458716"/>
                    <a:pt x="4960" y="1455540"/>
                  </a:cubicBezTo>
                  <a:cubicBezTo>
                    <a:pt x="1784" y="1452365"/>
                    <a:pt x="0" y="1448058"/>
                    <a:pt x="0" y="1443567"/>
                  </a:cubicBezTo>
                  <a:lnTo>
                    <a:pt x="0" y="16933"/>
                  </a:lnTo>
                  <a:cubicBezTo>
                    <a:pt x="0" y="12442"/>
                    <a:pt x="1784" y="8135"/>
                    <a:pt x="4960" y="4960"/>
                  </a:cubicBezTo>
                  <a:cubicBezTo>
                    <a:pt x="8135" y="1784"/>
                    <a:pt x="12442" y="0"/>
                    <a:pt x="16933" y="0"/>
                  </a:cubicBezTo>
                  <a:close/>
                </a:path>
              </a:pathLst>
            </a:custGeom>
            <a:solidFill>
              <a:srgbClr val="E9F8E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15240000" cy="1450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□  Veri, örüntü ve model kavramlarını ayırt edebilirim.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52500" y="5048250"/>
            <a:ext cx="11430000" cy="1095375"/>
            <a:chOff x="0" y="0"/>
            <a:chExt cx="15240000" cy="1460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240000" cy="1460500"/>
            </a:xfrm>
            <a:custGeom>
              <a:avLst/>
              <a:gdLst/>
              <a:ahLst/>
              <a:cxnLst/>
              <a:rect r="r" b="b" t="t" l="l"/>
              <a:pathLst>
                <a:path h="1460500" w="15240000">
                  <a:moveTo>
                    <a:pt x="16933" y="0"/>
                  </a:moveTo>
                  <a:lnTo>
                    <a:pt x="15223066" y="0"/>
                  </a:lnTo>
                  <a:cubicBezTo>
                    <a:pt x="15227557" y="0"/>
                    <a:pt x="15231864" y="1784"/>
                    <a:pt x="15235041" y="4960"/>
                  </a:cubicBezTo>
                  <a:cubicBezTo>
                    <a:pt x="15238216" y="8135"/>
                    <a:pt x="15240000" y="12442"/>
                    <a:pt x="15240000" y="16933"/>
                  </a:cubicBezTo>
                  <a:lnTo>
                    <a:pt x="15240000" y="1443567"/>
                  </a:lnTo>
                  <a:cubicBezTo>
                    <a:pt x="15240000" y="1448058"/>
                    <a:pt x="15238216" y="1452365"/>
                    <a:pt x="15235041" y="1455540"/>
                  </a:cubicBezTo>
                  <a:cubicBezTo>
                    <a:pt x="15231864" y="1458716"/>
                    <a:pt x="15227557" y="1460500"/>
                    <a:pt x="15223066" y="1460500"/>
                  </a:cubicBezTo>
                  <a:lnTo>
                    <a:pt x="16933" y="1460500"/>
                  </a:lnTo>
                  <a:cubicBezTo>
                    <a:pt x="12442" y="1460500"/>
                    <a:pt x="8135" y="1458716"/>
                    <a:pt x="4960" y="1455540"/>
                  </a:cubicBezTo>
                  <a:cubicBezTo>
                    <a:pt x="1784" y="1452365"/>
                    <a:pt x="0" y="1448058"/>
                    <a:pt x="0" y="1443567"/>
                  </a:cubicBezTo>
                  <a:lnTo>
                    <a:pt x="0" y="16933"/>
                  </a:lnTo>
                  <a:cubicBezTo>
                    <a:pt x="0" y="12442"/>
                    <a:pt x="1784" y="8135"/>
                    <a:pt x="4960" y="4960"/>
                  </a:cubicBezTo>
                  <a:cubicBezTo>
                    <a:pt x="8135" y="1784"/>
                    <a:pt x="12442" y="0"/>
                    <a:pt x="16933" y="0"/>
                  </a:cubicBezTo>
                  <a:close/>
                </a:path>
              </a:pathLst>
            </a:custGeom>
            <a:solidFill>
              <a:srgbClr val="FFF0DC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15240000" cy="1450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□  YZ yanıtlarını neden kontrol etmem gerektiğini biliyorum.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52500" y="7248525"/>
            <a:ext cx="5238750" cy="317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6"/>
              </a:lnSpc>
            </a:pPr>
            <a:r>
              <a:rPr lang="en-US" sz="2175" b="true">
                <a:solidFill>
                  <a:srgbClr val="16324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Kendime verdiğim puan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858000" y="7000875"/>
            <a:ext cx="1143000" cy="1143000"/>
            <a:chOff x="0" y="0"/>
            <a:chExt cx="1524000" cy="1524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169333" y="0"/>
                  </a:moveTo>
                  <a:lnTo>
                    <a:pt x="1354667" y="0"/>
                  </a:lnTo>
                  <a:cubicBezTo>
                    <a:pt x="1399577" y="0"/>
                    <a:pt x="1442647" y="17840"/>
                    <a:pt x="1474403" y="49597"/>
                  </a:cubicBezTo>
                  <a:cubicBezTo>
                    <a:pt x="1506160" y="81353"/>
                    <a:pt x="1524000" y="124423"/>
                    <a:pt x="1524000" y="169333"/>
                  </a:cubicBezTo>
                  <a:lnTo>
                    <a:pt x="1524000" y="1354667"/>
                  </a:lnTo>
                  <a:cubicBezTo>
                    <a:pt x="1524000" y="1399577"/>
                    <a:pt x="1506160" y="1442647"/>
                    <a:pt x="1474403" y="1474403"/>
                  </a:cubicBezTo>
                  <a:cubicBezTo>
                    <a:pt x="1442647" y="1506160"/>
                    <a:pt x="1399577" y="1524000"/>
                    <a:pt x="1354667" y="1524000"/>
                  </a:cubicBezTo>
                  <a:lnTo>
                    <a:pt x="169333" y="1524000"/>
                  </a:lnTo>
                  <a:cubicBezTo>
                    <a:pt x="124423" y="1524000"/>
                    <a:pt x="81353" y="1506160"/>
                    <a:pt x="49597" y="1474403"/>
                  </a:cubicBezTo>
                  <a:cubicBezTo>
                    <a:pt x="17840" y="1442647"/>
                    <a:pt x="0" y="1399577"/>
                    <a:pt x="0" y="1354667"/>
                  </a:cubicBezTo>
                  <a:lnTo>
                    <a:pt x="0" y="169333"/>
                  </a:lnTo>
                  <a:cubicBezTo>
                    <a:pt x="0" y="124423"/>
                    <a:pt x="17840" y="81353"/>
                    <a:pt x="49597" y="49597"/>
                  </a:cubicBezTo>
                  <a:cubicBezTo>
                    <a:pt x="81353" y="17840"/>
                    <a:pt x="124423" y="0"/>
                    <a:pt x="169333" y="0"/>
                  </a:cubicBezTo>
                  <a:close/>
                </a:path>
              </a:pathLst>
            </a:custGeom>
            <a:solidFill>
              <a:srgbClr val="F2C94C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1524000" cy="1504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5"/>
                </a:lnSpc>
              </a:pPr>
              <a:r>
                <a:rPr lang="en-US" sz="2550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477250" y="7000875"/>
            <a:ext cx="1143000" cy="1143000"/>
            <a:chOff x="0" y="0"/>
            <a:chExt cx="1524000" cy="1524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169333" y="0"/>
                  </a:moveTo>
                  <a:lnTo>
                    <a:pt x="1354667" y="0"/>
                  </a:lnTo>
                  <a:cubicBezTo>
                    <a:pt x="1399577" y="0"/>
                    <a:pt x="1442647" y="17840"/>
                    <a:pt x="1474403" y="49597"/>
                  </a:cubicBezTo>
                  <a:cubicBezTo>
                    <a:pt x="1506160" y="81353"/>
                    <a:pt x="1524000" y="124423"/>
                    <a:pt x="1524000" y="169333"/>
                  </a:cubicBezTo>
                  <a:lnTo>
                    <a:pt x="1524000" y="1354667"/>
                  </a:lnTo>
                  <a:cubicBezTo>
                    <a:pt x="1524000" y="1399577"/>
                    <a:pt x="1506160" y="1442647"/>
                    <a:pt x="1474403" y="1474403"/>
                  </a:cubicBezTo>
                  <a:cubicBezTo>
                    <a:pt x="1442647" y="1506160"/>
                    <a:pt x="1399577" y="1524000"/>
                    <a:pt x="1354667" y="1524000"/>
                  </a:cubicBezTo>
                  <a:lnTo>
                    <a:pt x="169333" y="1524000"/>
                  </a:lnTo>
                  <a:cubicBezTo>
                    <a:pt x="124423" y="1524000"/>
                    <a:pt x="81353" y="1506160"/>
                    <a:pt x="49597" y="1474403"/>
                  </a:cubicBezTo>
                  <a:cubicBezTo>
                    <a:pt x="17840" y="1442647"/>
                    <a:pt x="0" y="1399577"/>
                    <a:pt x="0" y="1354667"/>
                  </a:cubicBezTo>
                  <a:lnTo>
                    <a:pt x="0" y="169333"/>
                  </a:lnTo>
                  <a:cubicBezTo>
                    <a:pt x="0" y="124423"/>
                    <a:pt x="17840" y="81353"/>
                    <a:pt x="49597" y="49597"/>
                  </a:cubicBezTo>
                  <a:cubicBezTo>
                    <a:pt x="81353" y="17840"/>
                    <a:pt x="124423" y="0"/>
                    <a:pt x="169333" y="0"/>
                  </a:cubicBezTo>
                  <a:close/>
                </a:path>
              </a:pathLst>
            </a:custGeom>
            <a:solidFill>
              <a:srgbClr val="F2C94C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19050"/>
              <a:ext cx="1524000" cy="1504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5"/>
                </a:lnSpc>
              </a:pPr>
              <a:r>
                <a:rPr lang="en-US" sz="2550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2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096500" y="7000875"/>
            <a:ext cx="1143000" cy="1143000"/>
            <a:chOff x="0" y="0"/>
            <a:chExt cx="1524000" cy="1524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169333" y="0"/>
                  </a:moveTo>
                  <a:lnTo>
                    <a:pt x="1354667" y="0"/>
                  </a:lnTo>
                  <a:cubicBezTo>
                    <a:pt x="1399577" y="0"/>
                    <a:pt x="1442647" y="17840"/>
                    <a:pt x="1474403" y="49597"/>
                  </a:cubicBezTo>
                  <a:cubicBezTo>
                    <a:pt x="1506160" y="81353"/>
                    <a:pt x="1524000" y="124423"/>
                    <a:pt x="1524000" y="169333"/>
                  </a:cubicBezTo>
                  <a:lnTo>
                    <a:pt x="1524000" y="1354667"/>
                  </a:lnTo>
                  <a:cubicBezTo>
                    <a:pt x="1524000" y="1399577"/>
                    <a:pt x="1506160" y="1442647"/>
                    <a:pt x="1474403" y="1474403"/>
                  </a:cubicBezTo>
                  <a:cubicBezTo>
                    <a:pt x="1442647" y="1506160"/>
                    <a:pt x="1399577" y="1524000"/>
                    <a:pt x="1354667" y="1524000"/>
                  </a:cubicBezTo>
                  <a:lnTo>
                    <a:pt x="169333" y="1524000"/>
                  </a:lnTo>
                  <a:cubicBezTo>
                    <a:pt x="124423" y="1524000"/>
                    <a:pt x="81353" y="1506160"/>
                    <a:pt x="49597" y="1474403"/>
                  </a:cubicBezTo>
                  <a:cubicBezTo>
                    <a:pt x="17840" y="1442647"/>
                    <a:pt x="0" y="1399577"/>
                    <a:pt x="0" y="1354667"/>
                  </a:cubicBezTo>
                  <a:lnTo>
                    <a:pt x="0" y="169333"/>
                  </a:lnTo>
                  <a:cubicBezTo>
                    <a:pt x="0" y="124423"/>
                    <a:pt x="17840" y="81353"/>
                    <a:pt x="49597" y="49597"/>
                  </a:cubicBezTo>
                  <a:cubicBezTo>
                    <a:pt x="81353" y="17840"/>
                    <a:pt x="124423" y="0"/>
                    <a:pt x="169333" y="0"/>
                  </a:cubicBezTo>
                  <a:close/>
                </a:path>
              </a:pathLst>
            </a:custGeom>
            <a:solidFill>
              <a:srgbClr val="F2C94C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19050"/>
              <a:ext cx="1524000" cy="1504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5"/>
                </a:lnSpc>
              </a:pPr>
              <a:r>
                <a:rPr lang="en-US" sz="2550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3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715750" y="7000875"/>
            <a:ext cx="1143000" cy="1143000"/>
            <a:chOff x="0" y="0"/>
            <a:chExt cx="1524000" cy="1524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169333" y="0"/>
                  </a:moveTo>
                  <a:lnTo>
                    <a:pt x="1354667" y="0"/>
                  </a:lnTo>
                  <a:cubicBezTo>
                    <a:pt x="1399577" y="0"/>
                    <a:pt x="1442647" y="17840"/>
                    <a:pt x="1474403" y="49597"/>
                  </a:cubicBezTo>
                  <a:cubicBezTo>
                    <a:pt x="1506160" y="81353"/>
                    <a:pt x="1524000" y="124423"/>
                    <a:pt x="1524000" y="169333"/>
                  </a:cubicBezTo>
                  <a:lnTo>
                    <a:pt x="1524000" y="1354667"/>
                  </a:lnTo>
                  <a:cubicBezTo>
                    <a:pt x="1524000" y="1399577"/>
                    <a:pt x="1506160" y="1442647"/>
                    <a:pt x="1474403" y="1474403"/>
                  </a:cubicBezTo>
                  <a:cubicBezTo>
                    <a:pt x="1442647" y="1506160"/>
                    <a:pt x="1399577" y="1524000"/>
                    <a:pt x="1354667" y="1524000"/>
                  </a:cubicBezTo>
                  <a:lnTo>
                    <a:pt x="169333" y="1524000"/>
                  </a:lnTo>
                  <a:cubicBezTo>
                    <a:pt x="124423" y="1524000"/>
                    <a:pt x="81353" y="1506160"/>
                    <a:pt x="49597" y="1474403"/>
                  </a:cubicBezTo>
                  <a:cubicBezTo>
                    <a:pt x="17840" y="1442647"/>
                    <a:pt x="0" y="1399577"/>
                    <a:pt x="0" y="1354667"/>
                  </a:cubicBezTo>
                  <a:lnTo>
                    <a:pt x="0" y="169333"/>
                  </a:lnTo>
                  <a:cubicBezTo>
                    <a:pt x="0" y="124423"/>
                    <a:pt x="17840" y="81353"/>
                    <a:pt x="49597" y="49597"/>
                  </a:cubicBezTo>
                  <a:cubicBezTo>
                    <a:pt x="81353" y="17840"/>
                    <a:pt x="124423" y="0"/>
                    <a:pt x="16933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19050"/>
              <a:ext cx="1524000" cy="1504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5"/>
                </a:lnSpc>
              </a:pPr>
              <a:r>
                <a:rPr lang="en-US" sz="2550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4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335000" y="7000875"/>
            <a:ext cx="1143000" cy="1143000"/>
            <a:chOff x="0" y="0"/>
            <a:chExt cx="1524000" cy="1524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169333" y="0"/>
                  </a:moveTo>
                  <a:lnTo>
                    <a:pt x="1354667" y="0"/>
                  </a:lnTo>
                  <a:cubicBezTo>
                    <a:pt x="1399577" y="0"/>
                    <a:pt x="1442647" y="17840"/>
                    <a:pt x="1474403" y="49597"/>
                  </a:cubicBezTo>
                  <a:cubicBezTo>
                    <a:pt x="1506160" y="81353"/>
                    <a:pt x="1524000" y="124423"/>
                    <a:pt x="1524000" y="169333"/>
                  </a:cubicBezTo>
                  <a:lnTo>
                    <a:pt x="1524000" y="1354667"/>
                  </a:lnTo>
                  <a:cubicBezTo>
                    <a:pt x="1524000" y="1399577"/>
                    <a:pt x="1506160" y="1442647"/>
                    <a:pt x="1474403" y="1474403"/>
                  </a:cubicBezTo>
                  <a:cubicBezTo>
                    <a:pt x="1442647" y="1506160"/>
                    <a:pt x="1399577" y="1524000"/>
                    <a:pt x="1354667" y="1524000"/>
                  </a:cubicBezTo>
                  <a:lnTo>
                    <a:pt x="169333" y="1524000"/>
                  </a:lnTo>
                  <a:cubicBezTo>
                    <a:pt x="124423" y="1524000"/>
                    <a:pt x="81353" y="1506160"/>
                    <a:pt x="49597" y="1474403"/>
                  </a:cubicBezTo>
                  <a:cubicBezTo>
                    <a:pt x="17840" y="1442647"/>
                    <a:pt x="0" y="1399577"/>
                    <a:pt x="0" y="1354667"/>
                  </a:cubicBezTo>
                  <a:lnTo>
                    <a:pt x="0" y="169333"/>
                  </a:lnTo>
                  <a:cubicBezTo>
                    <a:pt x="0" y="124423"/>
                    <a:pt x="17840" y="81353"/>
                    <a:pt x="49597" y="49597"/>
                  </a:cubicBezTo>
                  <a:cubicBezTo>
                    <a:pt x="81353" y="17840"/>
                    <a:pt x="124423" y="0"/>
                    <a:pt x="16933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19050"/>
              <a:ext cx="1524000" cy="1504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5"/>
                </a:lnSpc>
              </a:pPr>
              <a:r>
                <a:rPr lang="en-US" sz="2550" b="true">
                  <a:solidFill>
                    <a:srgbClr val="16324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34500" y="0"/>
            <a:ext cx="8953500" cy="10287000"/>
          </a:xfrm>
          <a:custGeom>
            <a:avLst/>
            <a:gdLst/>
            <a:ahLst/>
            <a:cxnLst/>
            <a:rect r="r" b="b" t="t" l="l"/>
            <a:pathLst>
              <a:path h="10287000" w="8953500">
                <a:moveTo>
                  <a:pt x="0" y="0"/>
                </a:moveTo>
                <a:lnTo>
                  <a:pt x="8953500" y="0"/>
                </a:lnTo>
                <a:lnTo>
                  <a:pt x="8953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1" r="0" b="-21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0477500" cy="10287000"/>
            <a:chOff x="0" y="0"/>
            <a:chExt cx="13970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970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970000">
                  <a:moveTo>
                    <a:pt x="0" y="0"/>
                  </a:moveTo>
                  <a:lnTo>
                    <a:pt x="13970000" y="0"/>
                  </a:lnTo>
                  <a:lnTo>
                    <a:pt x="13970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102A43">
                    <a:alpha val="100000"/>
                  </a:srgbClr>
                </a:gs>
                <a:gs pos="80000">
                  <a:srgbClr val="102A43">
                    <a:alpha val="96000"/>
                  </a:srgbClr>
                </a:gs>
                <a:gs pos="100000">
                  <a:srgbClr val="102A43">
                    <a:alpha val="2000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970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52500" y="2667000"/>
            <a:ext cx="8572500" cy="1555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25"/>
              </a:lnSpc>
            </a:pPr>
            <a:r>
              <a:rPr lang="en-US" sz="5850" b="true">
                <a:solidFill>
                  <a:srgbClr val="FFFF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Dinlediğiniz için</a:t>
            </a:r>
          </a:p>
          <a:p>
            <a:pPr algn="l">
              <a:lnSpc>
                <a:spcPts val="6025"/>
              </a:lnSpc>
            </a:pPr>
            <a:r>
              <a:rPr lang="en-US" sz="5850" b="true">
                <a:solidFill>
                  <a:srgbClr val="FFFF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teşekkürler!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5762625"/>
            <a:ext cx="7239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>
                <a:solidFill>
                  <a:srgbClr val="56CCF2"/>
                </a:solidFill>
                <a:latin typeface="Aptos"/>
                <a:ea typeface="Aptos"/>
                <a:cs typeface="Aptos"/>
                <a:sym typeface="Aptos"/>
              </a:rPr>
              <a:t>Sorularınız varsa, lütfen sorun.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DAHXry_Wz3A</dc:identifier>
  <dcterms:modified xsi:type="dcterms:W3CDTF">2011-08-01T06:04:30Z</dcterms:modified>
  <cp:revision>1</cp:revision>
  <dc:title>BTY.5.1.4 Yapay Zekâ</dc:title>
</cp:coreProperties>
</file>