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Baloo" charset="1" panose="03080902040302020200"/>
      <p:regular r:id="rId27"/>
    </p:embeddedFont>
    <p:embeddedFont>
      <p:font typeface="Nunito Bold" charset="1" panose="00000000000000000000"/>
      <p:regular r:id="rId28"/>
    </p:embeddedFont>
    <p:embeddedFont>
      <p:font typeface="Nunito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000" y="0"/>
            <a:ext cx="8763000" cy="10287000"/>
          </a:xfrm>
          <a:custGeom>
            <a:avLst/>
            <a:gdLst/>
            <a:ahLst/>
            <a:cxnLst/>
            <a:rect r="r" b="b" t="t" l="l"/>
            <a:pathLst>
              <a:path h="10287000" w="8763000">
                <a:moveTo>
                  <a:pt x="0" y="0"/>
                </a:moveTo>
                <a:lnTo>
                  <a:pt x="8763000" y="0"/>
                </a:lnTo>
                <a:lnTo>
                  <a:pt x="8763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5" r="0" b="-3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0096500" cy="10287000"/>
            <a:chOff x="0" y="0"/>
            <a:chExt cx="13462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6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462000">
                  <a:moveTo>
                    <a:pt x="0" y="0"/>
                  </a:moveTo>
                  <a:lnTo>
                    <a:pt x="13462000" y="0"/>
                  </a:lnTo>
                  <a:lnTo>
                    <a:pt x="13462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23A63">
                    <a:alpha val="100000"/>
                  </a:srgbClr>
                </a:gs>
                <a:gs pos="100000">
                  <a:srgbClr val="1769AA">
                    <a:alpha val="100000"/>
                  </a:srgbClr>
                </a:gs>
              </a:gsLst>
              <a:lin ang="177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46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47750" y="1628775"/>
            <a:ext cx="7905750" cy="249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2"/>
              </a:lnSpc>
            </a:pPr>
            <a:r>
              <a:rPr lang="en-US" sz="67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BİLİŞİM</a:t>
            </a:r>
          </a:p>
          <a:p>
            <a:pPr algn="l">
              <a:lnSpc>
                <a:spcPts val="6412"/>
              </a:lnSpc>
            </a:pPr>
            <a:r>
              <a:rPr lang="en-US" sz="67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TEKNOLOJİLERİ</a:t>
            </a:r>
          </a:p>
          <a:p>
            <a:pPr algn="l">
              <a:lnSpc>
                <a:spcPts val="6412"/>
              </a:lnSpc>
            </a:pPr>
            <a:r>
              <a:rPr lang="en-US" sz="675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VE YAZILIM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5375" y="4572000"/>
            <a:ext cx="7429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BFE4FF"/>
                </a:solidFill>
                <a:latin typeface="Nunito Bold"/>
                <a:ea typeface="Nunito Bold"/>
                <a:cs typeface="Nunito Bold"/>
                <a:sym typeface="Nunito Bold"/>
              </a:rPr>
              <a:t>5. Sınıf Sınav Konuları — Genel Tekrar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375" y="6153150"/>
            <a:ext cx="7239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Donanım • Dosyalar • Yapay zekâ • Dijital güvenlik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5375" y="8096250"/>
            <a:ext cx="2095500" cy="152400"/>
            <a:chOff x="0" y="0"/>
            <a:chExt cx="2794000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94000" cy="203200"/>
            </a:xfrm>
            <a:custGeom>
              <a:avLst/>
              <a:gdLst/>
              <a:ahLst/>
              <a:cxnLst/>
              <a:rect r="r" b="b" t="t" l="l"/>
              <a:pathLst>
                <a:path h="203200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2F9E6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940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333750" y="8096250"/>
            <a:ext cx="1047750" cy="152400"/>
            <a:chOff x="0" y="0"/>
            <a:chExt cx="1397000" cy="203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97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203200"/>
                  </a:lnTo>
                  <a:lnTo>
                    <a:pt x="0" y="203200"/>
                  </a:ln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970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Bilgisayar Donanımı Nedir?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190625"/>
            <a:ext cx="1428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58A"/>
                </a:solidFill>
                <a:latin typeface="Nunito"/>
                <a:ea typeface="Nunito"/>
                <a:cs typeface="Nunito"/>
                <a:sym typeface="Nunito"/>
              </a:rPr>
              <a:t>Elle tutulabilen, fiziksel bilgisayar parçalarıdır.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095500"/>
            <a:ext cx="3714750" cy="2190750"/>
            <a:chOff x="0" y="0"/>
            <a:chExt cx="495300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2862385"/>
                  </a:lnTo>
                  <a:cubicBezTo>
                    <a:pt x="4953000" y="2894757"/>
                    <a:pt x="4926757" y="2921000"/>
                    <a:pt x="4894385" y="2921000"/>
                  </a:cubicBezTo>
                  <a:lnTo>
                    <a:pt x="58615" y="2921000"/>
                  </a:lnTo>
                  <a:cubicBezTo>
                    <a:pt x="26243" y="2921000"/>
                    <a:pt x="0" y="2894757"/>
                    <a:pt x="0" y="2862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4953000" cy="289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Kasa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Parçaları korur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48250" y="2095500"/>
            <a:ext cx="3714750" cy="2190750"/>
            <a:chOff x="0" y="0"/>
            <a:chExt cx="495300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2862385"/>
                  </a:lnTo>
                  <a:cubicBezTo>
                    <a:pt x="4953000" y="2894757"/>
                    <a:pt x="4926757" y="2921000"/>
                    <a:pt x="4894385" y="2921000"/>
                  </a:cubicBezTo>
                  <a:lnTo>
                    <a:pt x="58615" y="2921000"/>
                  </a:lnTo>
                  <a:cubicBezTo>
                    <a:pt x="26243" y="2921000"/>
                    <a:pt x="0" y="2894757"/>
                    <a:pt x="0" y="2862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4953000" cy="289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Monitör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Görüntüyü gösterir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39250" y="2095500"/>
            <a:ext cx="3714750" cy="2190750"/>
            <a:chOff x="0" y="0"/>
            <a:chExt cx="4953000" cy="292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2862385"/>
                  </a:lnTo>
                  <a:cubicBezTo>
                    <a:pt x="4953000" y="2894757"/>
                    <a:pt x="4926757" y="2921000"/>
                    <a:pt x="4894385" y="2921000"/>
                  </a:cubicBezTo>
                  <a:lnTo>
                    <a:pt x="58615" y="2921000"/>
                  </a:lnTo>
                  <a:cubicBezTo>
                    <a:pt x="26243" y="2921000"/>
                    <a:pt x="0" y="2894757"/>
                    <a:pt x="0" y="2862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4953000" cy="289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Klavye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Yazı girmeyi sağlar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430250" y="2095500"/>
            <a:ext cx="3714750" cy="2190750"/>
            <a:chOff x="0" y="0"/>
            <a:chExt cx="4953000" cy="2921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2862385"/>
                  </a:lnTo>
                  <a:cubicBezTo>
                    <a:pt x="4953000" y="2894757"/>
                    <a:pt x="4926757" y="2921000"/>
                    <a:pt x="4894385" y="2921000"/>
                  </a:cubicBezTo>
                  <a:lnTo>
                    <a:pt x="58615" y="2921000"/>
                  </a:lnTo>
                  <a:cubicBezTo>
                    <a:pt x="26243" y="2921000"/>
                    <a:pt x="0" y="2894757"/>
                    <a:pt x="0" y="2862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4953000" cy="289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Fare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İşaretler ve seçer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7250" y="4810125"/>
            <a:ext cx="3714750" cy="2190750"/>
            <a:chOff x="0" y="0"/>
            <a:chExt cx="4953000" cy="2921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2862385"/>
                  </a:lnTo>
                  <a:cubicBezTo>
                    <a:pt x="4953000" y="2894757"/>
                    <a:pt x="4926757" y="2921000"/>
                    <a:pt x="4894385" y="2921000"/>
                  </a:cubicBezTo>
                  <a:lnTo>
                    <a:pt x="58615" y="2921000"/>
                  </a:lnTo>
                  <a:cubicBezTo>
                    <a:pt x="26243" y="2921000"/>
                    <a:pt x="0" y="2894757"/>
                    <a:pt x="0" y="2862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4953000" cy="289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Anakart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Parçaları bağlar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48250" y="4810125"/>
            <a:ext cx="3714750" cy="2190750"/>
            <a:chOff x="0" y="0"/>
            <a:chExt cx="4953000" cy="292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2862385"/>
                  </a:lnTo>
                  <a:cubicBezTo>
                    <a:pt x="4953000" y="2894757"/>
                    <a:pt x="4926757" y="2921000"/>
                    <a:pt x="4894385" y="2921000"/>
                  </a:cubicBezTo>
                  <a:lnTo>
                    <a:pt x="58615" y="2921000"/>
                  </a:lnTo>
                  <a:cubicBezTo>
                    <a:pt x="26243" y="2921000"/>
                    <a:pt x="0" y="2894757"/>
                    <a:pt x="0" y="2862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4953000" cy="289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İşlemci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Komutları işler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39250" y="4810125"/>
            <a:ext cx="3714750" cy="2190750"/>
            <a:chOff x="0" y="0"/>
            <a:chExt cx="4953000" cy="2921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2862385"/>
                  </a:lnTo>
                  <a:cubicBezTo>
                    <a:pt x="4953000" y="2894757"/>
                    <a:pt x="4926757" y="2921000"/>
                    <a:pt x="4894385" y="2921000"/>
                  </a:cubicBezTo>
                  <a:lnTo>
                    <a:pt x="58615" y="2921000"/>
                  </a:lnTo>
                  <a:cubicBezTo>
                    <a:pt x="26243" y="2921000"/>
                    <a:pt x="0" y="2894757"/>
                    <a:pt x="0" y="2862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4953000" cy="289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Yazıcı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Kâğıda çıktı verir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430250" y="4810125"/>
            <a:ext cx="3714750" cy="2190750"/>
            <a:chOff x="0" y="0"/>
            <a:chExt cx="495300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53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2862385"/>
                  </a:lnTo>
                  <a:cubicBezTo>
                    <a:pt x="4953000" y="2894757"/>
                    <a:pt x="4926757" y="2921000"/>
                    <a:pt x="4894385" y="2921000"/>
                  </a:cubicBezTo>
                  <a:lnTo>
                    <a:pt x="58615" y="2921000"/>
                  </a:lnTo>
                  <a:cubicBezTo>
                    <a:pt x="26243" y="2921000"/>
                    <a:pt x="0" y="2894757"/>
                    <a:pt x="0" y="2862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4953000" cy="289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Donanım ≠ Yazılım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Donanım fiziksel parçadır. Yazılım ise bilgisayara ne yapacağını söyleyen programdır.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Bilgisayarın Önemli İç Bileşenleri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190625"/>
            <a:ext cx="1428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58A"/>
                </a:solidFill>
                <a:latin typeface="Nunito"/>
                <a:ea typeface="Nunito"/>
                <a:cs typeface="Nunito"/>
                <a:sym typeface="Nunito"/>
              </a:rPr>
              <a:t>Kasanın içinde bir ekip gibi birlikte çalışırlar.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095500"/>
            <a:ext cx="7620000" cy="2857500"/>
            <a:chOff x="0" y="0"/>
            <a:chExt cx="10160000" cy="381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3781425"/>
                  </a:lnTo>
                  <a:cubicBezTo>
                    <a:pt x="10160000" y="3797207"/>
                    <a:pt x="10147206" y="3810000"/>
                    <a:pt x="10131425" y="3810000"/>
                  </a:cubicBezTo>
                  <a:lnTo>
                    <a:pt x="28575" y="3810000"/>
                  </a:lnTo>
                  <a:cubicBezTo>
                    <a:pt x="12793" y="3810000"/>
                    <a:pt x="0" y="3797207"/>
                    <a:pt x="0" y="3781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0160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ANAKART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Bütün bileşenleri birbirine bağlar.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29750" y="2095500"/>
            <a:ext cx="7620000" cy="2857500"/>
            <a:chOff x="0" y="0"/>
            <a:chExt cx="10160000" cy="381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3781425"/>
                  </a:lnTo>
                  <a:cubicBezTo>
                    <a:pt x="10160000" y="3797207"/>
                    <a:pt x="10147206" y="3810000"/>
                    <a:pt x="10131425" y="3810000"/>
                  </a:cubicBezTo>
                  <a:lnTo>
                    <a:pt x="28575" y="3810000"/>
                  </a:lnTo>
                  <a:cubicBezTo>
                    <a:pt x="12793" y="3810000"/>
                    <a:pt x="0" y="3797207"/>
                    <a:pt x="0" y="3781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0160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İŞLEMCİ (CPU)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Komutları işler; bilgisayarın beyni gibidir.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7750" y="5524500"/>
            <a:ext cx="7620000" cy="2857500"/>
            <a:chOff x="0" y="0"/>
            <a:chExt cx="10160000" cy="381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3781425"/>
                  </a:lnTo>
                  <a:cubicBezTo>
                    <a:pt x="10160000" y="3797207"/>
                    <a:pt x="10147206" y="3810000"/>
                    <a:pt x="10131425" y="3810000"/>
                  </a:cubicBezTo>
                  <a:lnTo>
                    <a:pt x="28575" y="3810000"/>
                  </a:lnTo>
                  <a:cubicBezTo>
                    <a:pt x="12793" y="3810000"/>
                    <a:pt x="0" y="3797207"/>
                    <a:pt x="0" y="3781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10160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GÜÇ KAYNAĞI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Parçalara gerekli enerjiyi sağlar.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29750" y="5524500"/>
            <a:ext cx="7620000" cy="2857500"/>
            <a:chOff x="0" y="0"/>
            <a:chExt cx="10160000" cy="381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3781425"/>
                  </a:lnTo>
                  <a:cubicBezTo>
                    <a:pt x="10160000" y="3797207"/>
                    <a:pt x="10147206" y="3810000"/>
                    <a:pt x="10131425" y="3810000"/>
                  </a:cubicBezTo>
                  <a:lnTo>
                    <a:pt x="28575" y="3810000"/>
                  </a:lnTo>
                  <a:cubicBezTo>
                    <a:pt x="12793" y="3810000"/>
                    <a:pt x="0" y="3797207"/>
                    <a:pt x="0" y="3781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0160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EKRAN KARTI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Görüntüyü oluşturur ve ekrana yollar.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477250" y="4429125"/>
            <a:ext cx="1333500" cy="1333500"/>
            <a:chOff x="0" y="0"/>
            <a:chExt cx="1778000" cy="177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7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1778000">
                  <a:moveTo>
                    <a:pt x="889000" y="0"/>
                  </a:moveTo>
                  <a:cubicBezTo>
                    <a:pt x="1379981" y="0"/>
                    <a:pt x="1778000" y="398019"/>
                    <a:pt x="1778000" y="889000"/>
                  </a:cubicBezTo>
                  <a:cubicBezTo>
                    <a:pt x="1778000" y="1379981"/>
                    <a:pt x="1379981" y="1778000"/>
                    <a:pt x="889000" y="1778000"/>
                  </a:cubicBezTo>
                  <a:cubicBezTo>
                    <a:pt x="398019" y="1778000"/>
                    <a:pt x="0" y="1379981"/>
                    <a:pt x="0" y="889000"/>
                  </a:cubicBezTo>
                  <a:cubicBezTo>
                    <a:pt x="0" y="398019"/>
                    <a:pt x="398019" y="0"/>
                    <a:pt x="889000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78000" cy="181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1650">
                  <a:solidFill>
                    <a:srgbClr val="FFFFFF"/>
                  </a:solidFill>
                  <a:latin typeface="Baloo"/>
                  <a:ea typeface="Baloo"/>
                  <a:cs typeface="Baloo"/>
                  <a:sym typeface="Baloo"/>
                </a:rPr>
                <a:t>BİRLİKTE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>
                  <a:solidFill>
                    <a:srgbClr val="FFFFFF"/>
                  </a:solidFill>
                  <a:latin typeface="Baloo"/>
                  <a:ea typeface="Baloo"/>
                  <a:cs typeface="Baloo"/>
                  <a:sym typeface="Baloo"/>
                </a:rPr>
                <a:t>ÇALIŞIR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Giriş ve Çıkış Birimleri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190625"/>
            <a:ext cx="1428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58A"/>
                </a:solidFill>
                <a:latin typeface="Nunito"/>
                <a:ea typeface="Nunito"/>
                <a:cs typeface="Nunito"/>
                <a:sym typeface="Nunito"/>
              </a:rPr>
              <a:t>Bilgi bilgisayara girer; sonuç bilgisayardan çıkar.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000250"/>
            <a:ext cx="7620000" cy="6572250"/>
            <a:chOff x="0" y="0"/>
            <a:chExt cx="10160000" cy="876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8763000"/>
            </a:xfrm>
            <a:custGeom>
              <a:avLst/>
              <a:gdLst/>
              <a:ahLst/>
              <a:cxnLst/>
              <a:rect r="r" b="b" t="t" l="l"/>
              <a:pathLst>
                <a:path h="87630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8734425"/>
                  </a:lnTo>
                  <a:cubicBezTo>
                    <a:pt x="10160000" y="8750206"/>
                    <a:pt x="10147206" y="8763000"/>
                    <a:pt x="10131425" y="8763000"/>
                  </a:cubicBezTo>
                  <a:lnTo>
                    <a:pt x="28575" y="8763000"/>
                  </a:lnTo>
                  <a:cubicBezTo>
                    <a:pt x="12793" y="8763000"/>
                    <a:pt x="0" y="8750206"/>
                    <a:pt x="0" y="8734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0160000" cy="87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GİRİŞ BİRİMLERİ →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Klavye — yazı ve sayı girer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Fare — seçim yapar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Kamera — görüntü aktarır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Tarayıcı — belgeyi dijitale çevirir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Mikrofon — ses aktarır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10750" y="2000250"/>
            <a:ext cx="7620000" cy="6572250"/>
            <a:chOff x="0" y="0"/>
            <a:chExt cx="10160000" cy="876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0" cy="8763000"/>
            </a:xfrm>
            <a:custGeom>
              <a:avLst/>
              <a:gdLst/>
              <a:ahLst/>
              <a:cxnLst/>
              <a:rect r="r" b="b" t="t" l="l"/>
              <a:pathLst>
                <a:path h="87630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8734425"/>
                  </a:lnTo>
                  <a:cubicBezTo>
                    <a:pt x="10160000" y="8750206"/>
                    <a:pt x="10147206" y="8763000"/>
                    <a:pt x="10131425" y="8763000"/>
                  </a:cubicBezTo>
                  <a:lnTo>
                    <a:pt x="28575" y="8763000"/>
                  </a:lnTo>
                  <a:cubicBezTo>
                    <a:pt x="12793" y="8763000"/>
                    <a:pt x="0" y="8750206"/>
                    <a:pt x="0" y="8734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0160000" cy="873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→ ÇIKIŞ BİRİMLERİ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Monitör — görüntüyü gösterir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Yazıcı — kâğıda çıktı verir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Hoparlör — sesi duyurur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8524875" y="5286375"/>
            <a:ext cx="1190625" cy="0"/>
          </a:xfrm>
          <a:prstGeom prst="line">
            <a:avLst/>
          </a:prstGeom>
          <a:ln cap="rnd" w="114300">
            <a:solidFill>
              <a:srgbClr val="F28C2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Dosya Nedir? Dosya Uzantısı Ne İşe Yarar?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2500" y="2381250"/>
            <a:ext cx="6191250" cy="5429250"/>
            <a:chOff x="0" y="0"/>
            <a:chExt cx="8255000" cy="723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55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7203831"/>
                  </a:lnTo>
                  <a:cubicBezTo>
                    <a:pt x="8255000" y="7223254"/>
                    <a:pt x="8239254" y="7239000"/>
                    <a:pt x="8219831" y="7239000"/>
                  </a:cubicBezTo>
                  <a:lnTo>
                    <a:pt x="35169" y="7239000"/>
                  </a:lnTo>
                  <a:cubicBezTo>
                    <a:pt x="15746" y="7239000"/>
                    <a:pt x="0" y="7223254"/>
                    <a:pt x="0" y="720383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8255000" cy="721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DOSYA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Bilgileri saklayan birimdir. Metin, fotoğraf, ses veya video içerebilir.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44250" y="2381250"/>
            <a:ext cx="6191250" cy="5429250"/>
            <a:chOff x="0" y="0"/>
            <a:chExt cx="8255000" cy="7239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55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7203831"/>
                  </a:lnTo>
                  <a:cubicBezTo>
                    <a:pt x="8255000" y="7223254"/>
                    <a:pt x="8239254" y="7239000"/>
                    <a:pt x="8219831" y="7239000"/>
                  </a:cubicBezTo>
                  <a:lnTo>
                    <a:pt x="35169" y="7239000"/>
                  </a:lnTo>
                  <a:cubicBezTo>
                    <a:pt x="15746" y="7239000"/>
                    <a:pt x="0" y="7223254"/>
                    <a:pt x="0" y="720383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8255000" cy="721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UZANTI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Dosyanın türünü gösterir ve hangi programla açılacağını anlamamıza yardım eder.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477125" y="4333875"/>
            <a:ext cx="200025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350"/>
              </a:lnSpc>
            </a:pPr>
            <a:r>
              <a:rPr lang="en-US" sz="5250">
                <a:solidFill>
                  <a:srgbClr val="1769AA"/>
                </a:solidFill>
                <a:latin typeface="Baloo"/>
                <a:ea typeface="Baloo"/>
                <a:cs typeface="Baloo"/>
                <a:sym typeface="Baloo"/>
              </a:rPr>
              <a:t>odev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77375" y="4333875"/>
            <a:ext cx="200025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>
                <a:solidFill>
                  <a:srgbClr val="F28C28"/>
                </a:solidFill>
                <a:latin typeface="Baloo"/>
                <a:ea typeface="Baloo"/>
                <a:cs typeface="Baloo"/>
                <a:sym typeface="Baloo"/>
              </a:rPr>
              <a:t>.docx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Dosya Uzantılarını Tanıyalım — 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2476500"/>
            <a:ext cx="3857625" cy="5143500"/>
            <a:chOff x="0" y="0"/>
            <a:chExt cx="5143500" cy="685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435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5143500">
                  <a:moveTo>
                    <a:pt x="56444" y="0"/>
                  </a:moveTo>
                  <a:lnTo>
                    <a:pt x="5087055" y="0"/>
                  </a:lnTo>
                  <a:cubicBezTo>
                    <a:pt x="5102025" y="0"/>
                    <a:pt x="5116382" y="5947"/>
                    <a:pt x="5126968" y="16532"/>
                  </a:cubicBezTo>
                  <a:cubicBezTo>
                    <a:pt x="5137553" y="27118"/>
                    <a:pt x="5143500" y="41474"/>
                    <a:pt x="5143500" y="56444"/>
                  </a:cubicBezTo>
                  <a:lnTo>
                    <a:pt x="5143500" y="6801555"/>
                  </a:lnTo>
                  <a:cubicBezTo>
                    <a:pt x="5143500" y="6816526"/>
                    <a:pt x="5137553" y="6830882"/>
                    <a:pt x="5126968" y="6841468"/>
                  </a:cubicBezTo>
                  <a:cubicBezTo>
                    <a:pt x="5116382" y="6852053"/>
                    <a:pt x="5102025" y="6858000"/>
                    <a:pt x="5087055" y="6858000"/>
                  </a:cubicBezTo>
                  <a:lnTo>
                    <a:pt x="56444" y="6858000"/>
                  </a:lnTo>
                  <a:cubicBezTo>
                    <a:pt x="41474" y="6858000"/>
                    <a:pt x="27118" y="6852053"/>
                    <a:pt x="16532" y="6841468"/>
                  </a:cubicBezTo>
                  <a:cubicBezTo>
                    <a:pt x="5947" y="6830882"/>
                    <a:pt x="0" y="6816526"/>
                    <a:pt x="0" y="6801555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143500" cy="682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.mp3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Ses dosyası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Örnek: sarki.mp3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43500" y="2476500"/>
            <a:ext cx="3857625" cy="5143500"/>
            <a:chOff x="0" y="0"/>
            <a:chExt cx="5143500" cy="685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435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5143500">
                  <a:moveTo>
                    <a:pt x="56444" y="0"/>
                  </a:moveTo>
                  <a:lnTo>
                    <a:pt x="5087055" y="0"/>
                  </a:lnTo>
                  <a:cubicBezTo>
                    <a:pt x="5102025" y="0"/>
                    <a:pt x="5116382" y="5947"/>
                    <a:pt x="5126968" y="16532"/>
                  </a:cubicBezTo>
                  <a:cubicBezTo>
                    <a:pt x="5137553" y="27118"/>
                    <a:pt x="5143500" y="41474"/>
                    <a:pt x="5143500" y="56444"/>
                  </a:cubicBezTo>
                  <a:lnTo>
                    <a:pt x="5143500" y="6801555"/>
                  </a:lnTo>
                  <a:cubicBezTo>
                    <a:pt x="5143500" y="6816526"/>
                    <a:pt x="5137553" y="6830882"/>
                    <a:pt x="5126968" y="6841468"/>
                  </a:cubicBezTo>
                  <a:cubicBezTo>
                    <a:pt x="5116382" y="6852053"/>
                    <a:pt x="5102025" y="6858000"/>
                    <a:pt x="5087055" y="6858000"/>
                  </a:cubicBezTo>
                  <a:lnTo>
                    <a:pt x="56444" y="6858000"/>
                  </a:lnTo>
                  <a:cubicBezTo>
                    <a:pt x="41474" y="6858000"/>
                    <a:pt x="27118" y="6852053"/>
                    <a:pt x="16532" y="6841468"/>
                  </a:cubicBezTo>
                  <a:cubicBezTo>
                    <a:pt x="5947" y="6830882"/>
                    <a:pt x="0" y="6816526"/>
                    <a:pt x="0" y="6801555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5143500" cy="682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.jpg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Fotoğraf / görsel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Örnek: gezi.jpg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29750" y="2476500"/>
            <a:ext cx="3857625" cy="5143500"/>
            <a:chOff x="0" y="0"/>
            <a:chExt cx="5143500" cy="685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435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5143500">
                  <a:moveTo>
                    <a:pt x="56444" y="0"/>
                  </a:moveTo>
                  <a:lnTo>
                    <a:pt x="5087055" y="0"/>
                  </a:lnTo>
                  <a:cubicBezTo>
                    <a:pt x="5102025" y="0"/>
                    <a:pt x="5116382" y="5947"/>
                    <a:pt x="5126968" y="16532"/>
                  </a:cubicBezTo>
                  <a:cubicBezTo>
                    <a:pt x="5137553" y="27118"/>
                    <a:pt x="5143500" y="41474"/>
                    <a:pt x="5143500" y="56444"/>
                  </a:cubicBezTo>
                  <a:lnTo>
                    <a:pt x="5143500" y="6801555"/>
                  </a:lnTo>
                  <a:cubicBezTo>
                    <a:pt x="5143500" y="6816526"/>
                    <a:pt x="5137553" y="6830882"/>
                    <a:pt x="5126968" y="6841468"/>
                  </a:cubicBezTo>
                  <a:cubicBezTo>
                    <a:pt x="5116382" y="6852053"/>
                    <a:pt x="5102025" y="6858000"/>
                    <a:pt x="5087055" y="6858000"/>
                  </a:cubicBezTo>
                  <a:lnTo>
                    <a:pt x="56444" y="6858000"/>
                  </a:lnTo>
                  <a:cubicBezTo>
                    <a:pt x="41474" y="6858000"/>
                    <a:pt x="27118" y="6852053"/>
                    <a:pt x="16532" y="6841468"/>
                  </a:cubicBezTo>
                  <a:cubicBezTo>
                    <a:pt x="5947" y="6830882"/>
                    <a:pt x="0" y="6816526"/>
                    <a:pt x="0" y="6801555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5143500" cy="682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.mp4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Video dosyası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Örnek: film.mp4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0" y="2476500"/>
            <a:ext cx="3857625" cy="5143500"/>
            <a:chOff x="0" y="0"/>
            <a:chExt cx="5143500" cy="685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435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5143500">
                  <a:moveTo>
                    <a:pt x="56444" y="0"/>
                  </a:moveTo>
                  <a:lnTo>
                    <a:pt x="5087055" y="0"/>
                  </a:lnTo>
                  <a:cubicBezTo>
                    <a:pt x="5102025" y="0"/>
                    <a:pt x="5116382" y="5947"/>
                    <a:pt x="5126968" y="16532"/>
                  </a:cubicBezTo>
                  <a:cubicBezTo>
                    <a:pt x="5137553" y="27118"/>
                    <a:pt x="5143500" y="41474"/>
                    <a:pt x="5143500" y="56444"/>
                  </a:cubicBezTo>
                  <a:lnTo>
                    <a:pt x="5143500" y="6801555"/>
                  </a:lnTo>
                  <a:cubicBezTo>
                    <a:pt x="5143500" y="6816526"/>
                    <a:pt x="5137553" y="6830882"/>
                    <a:pt x="5126968" y="6841468"/>
                  </a:cubicBezTo>
                  <a:cubicBezTo>
                    <a:pt x="5116382" y="6852053"/>
                    <a:pt x="5102025" y="6858000"/>
                    <a:pt x="5087055" y="6858000"/>
                  </a:cubicBezTo>
                  <a:lnTo>
                    <a:pt x="56444" y="6858000"/>
                  </a:lnTo>
                  <a:cubicBezTo>
                    <a:pt x="41474" y="6858000"/>
                    <a:pt x="27118" y="6852053"/>
                    <a:pt x="16532" y="6841468"/>
                  </a:cubicBezTo>
                  <a:cubicBezTo>
                    <a:pt x="5947" y="6830882"/>
                    <a:pt x="0" y="6816526"/>
                    <a:pt x="0" y="6801555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5143500" cy="6829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.txt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Düz metin dosyası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Örnek: notlar.txt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Dosya Uzantılarını Tanıyalım — 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2286000"/>
            <a:ext cx="3857625" cy="4953000"/>
            <a:chOff x="0" y="0"/>
            <a:chExt cx="5143500" cy="660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435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5143500">
                  <a:moveTo>
                    <a:pt x="56444" y="0"/>
                  </a:moveTo>
                  <a:lnTo>
                    <a:pt x="5087055" y="0"/>
                  </a:lnTo>
                  <a:cubicBezTo>
                    <a:pt x="5102025" y="0"/>
                    <a:pt x="5116382" y="5947"/>
                    <a:pt x="5126968" y="16532"/>
                  </a:cubicBezTo>
                  <a:cubicBezTo>
                    <a:pt x="5137553" y="27118"/>
                    <a:pt x="5143500" y="41474"/>
                    <a:pt x="5143500" y="56444"/>
                  </a:cubicBezTo>
                  <a:lnTo>
                    <a:pt x="5143500" y="6547555"/>
                  </a:lnTo>
                  <a:cubicBezTo>
                    <a:pt x="5143500" y="6562526"/>
                    <a:pt x="5137553" y="6576882"/>
                    <a:pt x="5126968" y="6587468"/>
                  </a:cubicBezTo>
                  <a:cubicBezTo>
                    <a:pt x="5116382" y="6598053"/>
                    <a:pt x="5102025" y="6604000"/>
                    <a:pt x="5087055" y="6604000"/>
                  </a:cubicBezTo>
                  <a:lnTo>
                    <a:pt x="56444" y="6604000"/>
                  </a:lnTo>
                  <a:cubicBezTo>
                    <a:pt x="41474" y="6604000"/>
                    <a:pt x="27118" y="6598053"/>
                    <a:pt x="16532" y="6587468"/>
                  </a:cubicBezTo>
                  <a:cubicBezTo>
                    <a:pt x="5947" y="6576882"/>
                    <a:pt x="0" y="6562526"/>
                    <a:pt x="0" y="6547555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5143500" cy="657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.docx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Belge dosyası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Örnek: odev.docx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43500" y="2286000"/>
            <a:ext cx="3857625" cy="4953000"/>
            <a:chOff x="0" y="0"/>
            <a:chExt cx="5143500" cy="660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435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5143500">
                  <a:moveTo>
                    <a:pt x="56444" y="0"/>
                  </a:moveTo>
                  <a:lnTo>
                    <a:pt x="5087055" y="0"/>
                  </a:lnTo>
                  <a:cubicBezTo>
                    <a:pt x="5102025" y="0"/>
                    <a:pt x="5116382" y="5947"/>
                    <a:pt x="5126968" y="16532"/>
                  </a:cubicBezTo>
                  <a:cubicBezTo>
                    <a:pt x="5137553" y="27118"/>
                    <a:pt x="5143500" y="41474"/>
                    <a:pt x="5143500" y="56444"/>
                  </a:cubicBezTo>
                  <a:lnTo>
                    <a:pt x="5143500" y="6547555"/>
                  </a:lnTo>
                  <a:cubicBezTo>
                    <a:pt x="5143500" y="6562526"/>
                    <a:pt x="5137553" y="6576882"/>
                    <a:pt x="5126968" y="6587468"/>
                  </a:cubicBezTo>
                  <a:cubicBezTo>
                    <a:pt x="5116382" y="6598053"/>
                    <a:pt x="5102025" y="6604000"/>
                    <a:pt x="5087055" y="6604000"/>
                  </a:cubicBezTo>
                  <a:lnTo>
                    <a:pt x="56444" y="6604000"/>
                  </a:lnTo>
                  <a:cubicBezTo>
                    <a:pt x="41474" y="6604000"/>
                    <a:pt x="27118" y="6598053"/>
                    <a:pt x="16532" y="6587468"/>
                  </a:cubicBezTo>
                  <a:cubicBezTo>
                    <a:pt x="5947" y="6576882"/>
                    <a:pt x="0" y="6562526"/>
                    <a:pt x="0" y="6547555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5143500" cy="657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.pptx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Sunum dosyası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Örnek: proje.pptx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29750" y="2286000"/>
            <a:ext cx="3857625" cy="4953000"/>
            <a:chOff x="0" y="0"/>
            <a:chExt cx="5143500" cy="660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435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5143500">
                  <a:moveTo>
                    <a:pt x="56444" y="0"/>
                  </a:moveTo>
                  <a:lnTo>
                    <a:pt x="5087055" y="0"/>
                  </a:lnTo>
                  <a:cubicBezTo>
                    <a:pt x="5102025" y="0"/>
                    <a:pt x="5116382" y="5947"/>
                    <a:pt x="5126968" y="16532"/>
                  </a:cubicBezTo>
                  <a:cubicBezTo>
                    <a:pt x="5137553" y="27118"/>
                    <a:pt x="5143500" y="41474"/>
                    <a:pt x="5143500" y="56444"/>
                  </a:cubicBezTo>
                  <a:lnTo>
                    <a:pt x="5143500" y="6547555"/>
                  </a:lnTo>
                  <a:cubicBezTo>
                    <a:pt x="5143500" y="6562526"/>
                    <a:pt x="5137553" y="6576882"/>
                    <a:pt x="5126968" y="6587468"/>
                  </a:cubicBezTo>
                  <a:cubicBezTo>
                    <a:pt x="5116382" y="6598053"/>
                    <a:pt x="5102025" y="6604000"/>
                    <a:pt x="5087055" y="6604000"/>
                  </a:cubicBezTo>
                  <a:lnTo>
                    <a:pt x="56444" y="6604000"/>
                  </a:lnTo>
                  <a:cubicBezTo>
                    <a:pt x="41474" y="6604000"/>
                    <a:pt x="27118" y="6598053"/>
                    <a:pt x="16532" y="6587468"/>
                  </a:cubicBezTo>
                  <a:cubicBezTo>
                    <a:pt x="5947" y="6576882"/>
                    <a:pt x="0" y="6562526"/>
                    <a:pt x="0" y="6547555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5143500" cy="657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.zip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Sıkıştırılmış arşiv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Örnek: dosyalar.zip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0" y="2286000"/>
            <a:ext cx="3857625" cy="4953000"/>
            <a:chOff x="0" y="0"/>
            <a:chExt cx="5143500" cy="660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435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5143500">
                  <a:moveTo>
                    <a:pt x="56444" y="0"/>
                  </a:moveTo>
                  <a:lnTo>
                    <a:pt x="5087055" y="0"/>
                  </a:lnTo>
                  <a:cubicBezTo>
                    <a:pt x="5102025" y="0"/>
                    <a:pt x="5116382" y="5947"/>
                    <a:pt x="5126968" y="16532"/>
                  </a:cubicBezTo>
                  <a:cubicBezTo>
                    <a:pt x="5137553" y="27118"/>
                    <a:pt x="5143500" y="41474"/>
                    <a:pt x="5143500" y="56444"/>
                  </a:cubicBezTo>
                  <a:lnTo>
                    <a:pt x="5143500" y="6547555"/>
                  </a:lnTo>
                  <a:cubicBezTo>
                    <a:pt x="5143500" y="6562526"/>
                    <a:pt x="5137553" y="6576882"/>
                    <a:pt x="5126968" y="6587468"/>
                  </a:cubicBezTo>
                  <a:cubicBezTo>
                    <a:pt x="5116382" y="6598053"/>
                    <a:pt x="5102025" y="6604000"/>
                    <a:pt x="5087055" y="6604000"/>
                  </a:cubicBezTo>
                  <a:lnTo>
                    <a:pt x="56444" y="6604000"/>
                  </a:lnTo>
                  <a:cubicBezTo>
                    <a:pt x="41474" y="6604000"/>
                    <a:pt x="27118" y="6598053"/>
                    <a:pt x="16532" y="6587468"/>
                  </a:cubicBezTo>
                  <a:cubicBezTo>
                    <a:pt x="5947" y="6576882"/>
                    <a:pt x="0" y="6562526"/>
                    <a:pt x="0" y="6547555"/>
                  </a:cubicBezTo>
                  <a:lnTo>
                    <a:pt x="0" y="56444"/>
                  </a:lnTo>
                  <a:cubicBezTo>
                    <a:pt x="0" y="41474"/>
                    <a:pt x="5947" y="27118"/>
                    <a:pt x="16532" y="16532"/>
                  </a:cubicBezTo>
                  <a:cubicBezTo>
                    <a:pt x="27118" y="5947"/>
                    <a:pt x="41474" y="0"/>
                    <a:pt x="56444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5143500" cy="657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F28C28"/>
                  </a:solidFill>
                  <a:latin typeface="Baloo"/>
                  <a:ea typeface="Baloo"/>
                  <a:cs typeface="Baloo"/>
                  <a:sym typeface="Baloo"/>
                </a:rPr>
                <a:t>.gif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Görsel biçimi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Örnek: animasyon.gif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0" y="7524750"/>
            <a:ext cx="3429000" cy="1428750"/>
            <a:chOff x="0" y="0"/>
            <a:chExt cx="4572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7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841500"/>
                  </a:lnTo>
                  <a:cubicBezTo>
                    <a:pt x="4572000" y="1876570"/>
                    <a:pt x="4543570" y="1905000"/>
                    <a:pt x="4508500" y="1905000"/>
                  </a:cubicBezTo>
                  <a:lnTo>
                    <a:pt x="63500" y="1905000"/>
                  </a:lnTo>
                  <a:cubicBezTo>
                    <a:pt x="28430" y="1905000"/>
                    <a:pt x="0" y="1876570"/>
                    <a:pt x="0" y="1841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4572000" cy="187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D94B4B"/>
                  </a:solidFill>
                  <a:latin typeface="Baloo"/>
                  <a:ea typeface="Baloo"/>
                  <a:cs typeface="Baloo"/>
                  <a:sym typeface="Baloo"/>
                </a:rPr>
                <a:t>DİKKAT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GIF hem hareketli hem hareketsiz olabilir.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Dosya Uzantıları — Eşleştirme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190625"/>
            <a:ext cx="1428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58A"/>
                </a:solidFill>
                <a:latin typeface="Nunito"/>
                <a:ea typeface="Nunito"/>
                <a:cs typeface="Nunito"/>
                <a:sym typeface="Nunito"/>
              </a:rPr>
              <a:t>Dosya adını doğru türle eşleştir. Cevaplar sonraki sayfalarda!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43000" y="1962150"/>
            <a:ext cx="3524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69AA"/>
                </a:solidFill>
                <a:latin typeface="Nunito Bold"/>
                <a:ea typeface="Nunito Bold"/>
                <a:cs typeface="Nunito Bold"/>
                <a:sym typeface="Nunito Bold"/>
              </a:rPr>
              <a:t>muzik.mp3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39750" y="1962150"/>
            <a:ext cx="37147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○  Belge</a:t>
            </a:r>
          </a:p>
        </p:txBody>
      </p:sp>
      <p:sp>
        <p:nvSpPr>
          <p:cNvPr name="AutoShape 9" id="9"/>
          <p:cNvSpPr/>
          <p:nvPr/>
        </p:nvSpPr>
        <p:spPr>
          <a:xfrm>
            <a:off x="4953000" y="2190750"/>
            <a:ext cx="7905750" cy="0"/>
          </a:xfrm>
          <a:prstGeom prst="line">
            <a:avLst/>
          </a:prstGeom>
          <a:ln cap="flat" w="28575">
            <a:solidFill>
              <a:srgbClr val="CBD9E8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143000" y="2838450"/>
            <a:ext cx="3524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69AA"/>
                </a:solidFill>
                <a:latin typeface="Nunito Bold"/>
                <a:ea typeface="Nunito Bold"/>
                <a:cs typeface="Nunito Bold"/>
                <a:sym typeface="Nunito Bold"/>
              </a:rPr>
              <a:t>fotograf.jpg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39750" y="2838450"/>
            <a:ext cx="37147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○  Fotoğraf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953000" y="3067050"/>
            <a:ext cx="7905750" cy="0"/>
          </a:xfrm>
          <a:prstGeom prst="line">
            <a:avLst/>
          </a:prstGeom>
          <a:ln cap="flat" w="28575">
            <a:solidFill>
              <a:srgbClr val="CBD9E8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143000" y="3714750"/>
            <a:ext cx="3524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69AA"/>
                </a:solidFill>
                <a:latin typeface="Nunito Bold"/>
                <a:ea typeface="Nunito Bold"/>
                <a:cs typeface="Nunito Bold"/>
                <a:sym typeface="Nunito Bold"/>
              </a:rPr>
              <a:t>video.mp4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39750" y="3714750"/>
            <a:ext cx="37147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○  Video</a:t>
            </a:r>
          </a:p>
        </p:txBody>
      </p:sp>
      <p:sp>
        <p:nvSpPr>
          <p:cNvPr name="AutoShape 15" id="15"/>
          <p:cNvSpPr/>
          <p:nvPr/>
        </p:nvSpPr>
        <p:spPr>
          <a:xfrm>
            <a:off x="4953000" y="3943350"/>
            <a:ext cx="7905750" cy="0"/>
          </a:xfrm>
          <a:prstGeom prst="line">
            <a:avLst/>
          </a:prstGeom>
          <a:ln cap="flat" w="28575">
            <a:solidFill>
              <a:srgbClr val="CBD9E8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143000" y="4591050"/>
            <a:ext cx="3524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69AA"/>
                </a:solidFill>
                <a:latin typeface="Nunito Bold"/>
                <a:ea typeface="Nunito Bold"/>
                <a:cs typeface="Nunito Bold"/>
                <a:sym typeface="Nunito Bold"/>
              </a:rPr>
              <a:t>odev.docx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39750" y="4591050"/>
            <a:ext cx="37147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○  Ses</a:t>
            </a:r>
          </a:p>
        </p:txBody>
      </p:sp>
      <p:sp>
        <p:nvSpPr>
          <p:cNvPr name="AutoShape 18" id="18"/>
          <p:cNvSpPr/>
          <p:nvPr/>
        </p:nvSpPr>
        <p:spPr>
          <a:xfrm>
            <a:off x="4953000" y="4819650"/>
            <a:ext cx="7905750" cy="0"/>
          </a:xfrm>
          <a:prstGeom prst="line">
            <a:avLst/>
          </a:prstGeom>
          <a:ln cap="flat" w="28575">
            <a:solidFill>
              <a:srgbClr val="CBD9E8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143000" y="5467350"/>
            <a:ext cx="3524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69AA"/>
                </a:solidFill>
                <a:latin typeface="Nunito Bold"/>
                <a:ea typeface="Nunito Bold"/>
                <a:cs typeface="Nunito Bold"/>
                <a:sym typeface="Nunito Bold"/>
              </a:rPr>
              <a:t>sunum.pptx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39750" y="5467350"/>
            <a:ext cx="37147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○  Düz metin</a:t>
            </a:r>
          </a:p>
        </p:txBody>
      </p:sp>
      <p:sp>
        <p:nvSpPr>
          <p:cNvPr name="AutoShape 21" id="21"/>
          <p:cNvSpPr/>
          <p:nvPr/>
        </p:nvSpPr>
        <p:spPr>
          <a:xfrm>
            <a:off x="4953000" y="5695950"/>
            <a:ext cx="7905750" cy="0"/>
          </a:xfrm>
          <a:prstGeom prst="line">
            <a:avLst/>
          </a:prstGeom>
          <a:ln cap="flat" w="28575">
            <a:solidFill>
              <a:srgbClr val="CBD9E8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143000" y="6343650"/>
            <a:ext cx="3524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69AA"/>
                </a:solidFill>
                <a:latin typeface="Nunito Bold"/>
                <a:ea typeface="Nunito Bold"/>
                <a:cs typeface="Nunito Bold"/>
                <a:sym typeface="Nunito Bold"/>
              </a:rPr>
              <a:t>notlar.txt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39750" y="6343650"/>
            <a:ext cx="37147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○  Arşiv</a:t>
            </a:r>
          </a:p>
        </p:txBody>
      </p:sp>
      <p:sp>
        <p:nvSpPr>
          <p:cNvPr name="AutoShape 24" id="24"/>
          <p:cNvSpPr/>
          <p:nvPr/>
        </p:nvSpPr>
        <p:spPr>
          <a:xfrm>
            <a:off x="4953000" y="6572250"/>
            <a:ext cx="7905750" cy="0"/>
          </a:xfrm>
          <a:prstGeom prst="line">
            <a:avLst/>
          </a:prstGeom>
          <a:ln cap="flat" w="28575">
            <a:solidFill>
              <a:srgbClr val="CBD9E8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143000" y="7219950"/>
            <a:ext cx="3524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69AA"/>
                </a:solidFill>
                <a:latin typeface="Nunito Bold"/>
                <a:ea typeface="Nunito Bold"/>
                <a:cs typeface="Nunito Bold"/>
                <a:sym typeface="Nunito Bold"/>
              </a:rPr>
              <a:t>animasyon.gif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239750" y="7219950"/>
            <a:ext cx="37147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○  Sunum</a:t>
            </a:r>
          </a:p>
        </p:txBody>
      </p:sp>
      <p:sp>
        <p:nvSpPr>
          <p:cNvPr name="AutoShape 27" id="27"/>
          <p:cNvSpPr/>
          <p:nvPr/>
        </p:nvSpPr>
        <p:spPr>
          <a:xfrm>
            <a:off x="4953000" y="7448550"/>
            <a:ext cx="7905750" cy="0"/>
          </a:xfrm>
          <a:prstGeom prst="line">
            <a:avLst/>
          </a:prstGeom>
          <a:ln cap="flat" w="28575">
            <a:solidFill>
              <a:srgbClr val="CBD9E8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143000" y="8096250"/>
            <a:ext cx="35242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1769AA"/>
                </a:solidFill>
                <a:latin typeface="Nunito Bold"/>
                <a:ea typeface="Nunito Bold"/>
                <a:cs typeface="Nunito Bold"/>
                <a:sym typeface="Nunito Bold"/>
              </a:rPr>
              <a:t>arsiv.zip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39750" y="8096250"/>
            <a:ext cx="371475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17324D"/>
                </a:solidFill>
                <a:latin typeface="Nunito"/>
                <a:ea typeface="Nunito"/>
                <a:cs typeface="Nunito"/>
                <a:sym typeface="Nunito"/>
              </a:rPr>
              <a:t>○  GIF görseli</a:t>
            </a:r>
          </a:p>
        </p:txBody>
      </p:sp>
      <p:sp>
        <p:nvSpPr>
          <p:cNvPr name="AutoShape 30" id="30"/>
          <p:cNvSpPr/>
          <p:nvPr/>
        </p:nvSpPr>
        <p:spPr>
          <a:xfrm>
            <a:off x="4953000" y="8324850"/>
            <a:ext cx="7905750" cy="0"/>
          </a:xfrm>
          <a:prstGeom prst="line">
            <a:avLst/>
          </a:prstGeom>
          <a:ln cap="flat" w="28575">
            <a:solidFill>
              <a:srgbClr val="CBD9E8"/>
            </a:solidFill>
            <a:prstDash val="lg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Yapay Zekâ Nedir?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190625"/>
            <a:ext cx="1428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58A"/>
                </a:solidFill>
                <a:latin typeface="Nunito"/>
                <a:ea typeface="Nunito"/>
                <a:cs typeface="Nunito"/>
                <a:sym typeface="Nunito"/>
              </a:rPr>
              <a:t>Öğrenir, örüntüleri tanır ve tahmin yapar.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001250" y="1952625"/>
            <a:ext cx="7334250" cy="6953250"/>
          </a:xfrm>
          <a:custGeom>
            <a:avLst/>
            <a:gdLst/>
            <a:ahLst/>
            <a:cxnLst/>
            <a:rect r="r" b="b" t="t" l="l"/>
            <a:pathLst>
              <a:path h="6953250" w="7334250">
                <a:moveTo>
                  <a:pt x="0" y="0"/>
                </a:moveTo>
                <a:lnTo>
                  <a:pt x="7334250" y="0"/>
                </a:lnTo>
                <a:lnTo>
                  <a:pt x="7334250" y="6953250"/>
                </a:lnTo>
                <a:lnTo>
                  <a:pt x="0" y="695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" t="0" r="-29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857250" y="2381250"/>
            <a:ext cx="7810500" cy="2952750"/>
            <a:chOff x="0" y="0"/>
            <a:chExt cx="10414000" cy="393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3937000"/>
            </a:xfrm>
            <a:custGeom>
              <a:avLst/>
              <a:gdLst/>
              <a:ahLst/>
              <a:cxnLst/>
              <a:rect r="r" b="b" t="t" l="l"/>
              <a:pathLst>
                <a:path h="39370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3909122"/>
                  </a:lnTo>
                  <a:cubicBezTo>
                    <a:pt x="10414000" y="3916516"/>
                    <a:pt x="10411063" y="3923607"/>
                    <a:pt x="10405835" y="3928835"/>
                  </a:cubicBezTo>
                  <a:cubicBezTo>
                    <a:pt x="10400606" y="3934063"/>
                    <a:pt x="10393516" y="3937000"/>
                    <a:pt x="10386122" y="3937000"/>
                  </a:cubicBezTo>
                  <a:lnTo>
                    <a:pt x="27878" y="3937000"/>
                  </a:lnTo>
                  <a:cubicBezTo>
                    <a:pt x="20484" y="3937000"/>
                    <a:pt x="13393" y="3934063"/>
                    <a:pt x="8165" y="3928835"/>
                  </a:cubicBezTo>
                  <a:cubicBezTo>
                    <a:pt x="2937" y="3923607"/>
                    <a:pt x="0" y="3916516"/>
                    <a:pt x="0" y="39091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0414000" cy="390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KISA TANIM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Yapay zekâ, bilgisayarların verilerden öğrenmesine; örüntü tanımasına ve tahmin yapmasına yardımcı olan teknolojidir.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7250" y="5810250"/>
            <a:ext cx="7810500" cy="2381250"/>
            <a:chOff x="0" y="0"/>
            <a:chExt cx="10414000" cy="317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14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3147122"/>
                  </a:lnTo>
                  <a:cubicBezTo>
                    <a:pt x="10414000" y="3154516"/>
                    <a:pt x="10411063" y="3161607"/>
                    <a:pt x="10405835" y="3166835"/>
                  </a:cubicBezTo>
                  <a:cubicBezTo>
                    <a:pt x="10400606" y="3172063"/>
                    <a:pt x="10393516" y="3175000"/>
                    <a:pt x="10386122" y="3175000"/>
                  </a:cubicBezTo>
                  <a:lnTo>
                    <a:pt x="27878" y="3175000"/>
                  </a:lnTo>
                  <a:cubicBezTo>
                    <a:pt x="20484" y="3175000"/>
                    <a:pt x="13393" y="3172063"/>
                    <a:pt x="8165" y="3166835"/>
                  </a:cubicBezTo>
                  <a:cubicBezTo>
                    <a:pt x="2937" y="3161607"/>
                    <a:pt x="0" y="3154516"/>
                    <a:pt x="0" y="31471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10414000" cy="314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D94B4B"/>
                  </a:solidFill>
                  <a:latin typeface="Baloo"/>
                  <a:ea typeface="Baloo"/>
                  <a:cs typeface="Baloo"/>
                  <a:sym typeface="Baloo"/>
                </a:rPr>
                <a:t>UNUTMA!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İnsan gibi düşünmez. Veriye göre sonuç üretir ve hata yapabilir.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Günlük Yaşamda Yapay Zekâ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2000250"/>
            <a:ext cx="5048250" cy="2857500"/>
            <a:chOff x="0" y="0"/>
            <a:chExt cx="6731000" cy="381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31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766868"/>
                  </a:lnTo>
                  <a:cubicBezTo>
                    <a:pt x="6731000" y="3790689"/>
                    <a:pt x="6711689" y="3810000"/>
                    <a:pt x="6687868" y="3810000"/>
                  </a:cubicBezTo>
                  <a:lnTo>
                    <a:pt x="43132" y="3810000"/>
                  </a:lnTo>
                  <a:cubicBezTo>
                    <a:pt x="19311" y="3810000"/>
                    <a:pt x="0" y="3790689"/>
                    <a:pt x="0" y="3766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6731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Sesli asistan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Soruları ve komutları anlar.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77000" y="2000250"/>
            <a:ext cx="5048250" cy="2857500"/>
            <a:chOff x="0" y="0"/>
            <a:chExt cx="6731000" cy="381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31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766868"/>
                  </a:lnTo>
                  <a:cubicBezTo>
                    <a:pt x="6731000" y="3790689"/>
                    <a:pt x="6711689" y="3810000"/>
                    <a:pt x="6687868" y="3810000"/>
                  </a:cubicBezTo>
                  <a:lnTo>
                    <a:pt x="43132" y="3810000"/>
                  </a:lnTo>
                  <a:cubicBezTo>
                    <a:pt x="19311" y="3810000"/>
                    <a:pt x="0" y="3790689"/>
                    <a:pt x="0" y="3766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6731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İçerik önerisi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İlgine göre video önerir.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96750" y="2000250"/>
            <a:ext cx="5048250" cy="2857500"/>
            <a:chOff x="0" y="0"/>
            <a:chExt cx="6731000" cy="381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31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766868"/>
                  </a:lnTo>
                  <a:cubicBezTo>
                    <a:pt x="6731000" y="3790689"/>
                    <a:pt x="6711689" y="3810000"/>
                    <a:pt x="6687868" y="3810000"/>
                  </a:cubicBezTo>
                  <a:lnTo>
                    <a:pt x="43132" y="3810000"/>
                  </a:lnTo>
                  <a:cubicBezTo>
                    <a:pt x="19311" y="3810000"/>
                    <a:pt x="0" y="3790689"/>
                    <a:pt x="0" y="3766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6731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Yüz tanıma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Fotoğraflardaki yüzleri bulur.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714750" y="5619750"/>
            <a:ext cx="5048250" cy="2857500"/>
            <a:chOff x="0" y="0"/>
            <a:chExt cx="6731000" cy="381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31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766868"/>
                  </a:lnTo>
                  <a:cubicBezTo>
                    <a:pt x="6731000" y="3790689"/>
                    <a:pt x="6711689" y="3810000"/>
                    <a:pt x="6687868" y="3810000"/>
                  </a:cubicBezTo>
                  <a:lnTo>
                    <a:pt x="43132" y="3810000"/>
                  </a:lnTo>
                  <a:cubicBezTo>
                    <a:pt x="19311" y="3810000"/>
                    <a:pt x="0" y="3790689"/>
                    <a:pt x="0" y="3766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6731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Navigasyon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Trafiği tahmin edip rota önerir.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34500" y="5619750"/>
            <a:ext cx="5048250" cy="2857500"/>
            <a:chOff x="0" y="0"/>
            <a:chExt cx="6731000" cy="381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31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766868"/>
                  </a:lnTo>
                  <a:cubicBezTo>
                    <a:pt x="6731000" y="3790689"/>
                    <a:pt x="6711689" y="3810000"/>
                    <a:pt x="6687868" y="3810000"/>
                  </a:cubicBezTo>
                  <a:lnTo>
                    <a:pt x="43132" y="3810000"/>
                  </a:lnTo>
                  <a:cubicBezTo>
                    <a:pt x="19311" y="3810000"/>
                    <a:pt x="0" y="3790689"/>
                    <a:pt x="0" y="3766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28575"/>
              <a:ext cx="6731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Çeviri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Diller arasında çeviri yapar.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Yapay Zekâyı Bilinçli Kullanmak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190625"/>
            <a:ext cx="1428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58A"/>
                </a:solidFill>
                <a:latin typeface="Nunito"/>
                <a:ea typeface="Nunito"/>
                <a:cs typeface="Nunito"/>
                <a:sym typeface="Nunito"/>
              </a:rPr>
              <a:t>Hızlı sonuç, her zaman doğru sonuç demek değildir.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190750"/>
            <a:ext cx="5048250" cy="2857500"/>
            <a:chOff x="0" y="0"/>
            <a:chExt cx="6731000" cy="381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31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766868"/>
                  </a:lnTo>
                  <a:cubicBezTo>
                    <a:pt x="6731000" y="3790689"/>
                    <a:pt x="6711689" y="3810000"/>
                    <a:pt x="6687868" y="3810000"/>
                  </a:cubicBezTo>
                  <a:lnTo>
                    <a:pt x="43132" y="3810000"/>
                  </a:lnTo>
                  <a:cubicBezTo>
                    <a:pt x="19311" y="3810000"/>
                    <a:pt x="0" y="3790689"/>
                    <a:pt x="0" y="3766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6731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2F9E6F"/>
                  </a:solidFill>
                  <a:latin typeface="Baloo"/>
                  <a:ea typeface="Baloo"/>
                  <a:cs typeface="Baloo"/>
                  <a:sym typeface="Baloo"/>
                </a:rPr>
                <a:t>KONTROL ET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Bilgiyi güvenilir kaynaklarla karşılaştır.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77000" y="2190750"/>
            <a:ext cx="5048250" cy="2857500"/>
            <a:chOff x="0" y="0"/>
            <a:chExt cx="6731000" cy="381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31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766868"/>
                  </a:lnTo>
                  <a:cubicBezTo>
                    <a:pt x="6731000" y="3790689"/>
                    <a:pt x="6711689" y="3810000"/>
                    <a:pt x="6687868" y="3810000"/>
                  </a:cubicBezTo>
                  <a:lnTo>
                    <a:pt x="43132" y="3810000"/>
                  </a:lnTo>
                  <a:cubicBezTo>
                    <a:pt x="19311" y="3810000"/>
                    <a:pt x="0" y="3790689"/>
                    <a:pt x="0" y="3766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6731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2F9E6F"/>
                  </a:solidFill>
                  <a:latin typeface="Baloo"/>
                  <a:ea typeface="Baloo"/>
                  <a:cs typeface="Baloo"/>
                  <a:sym typeface="Baloo"/>
                </a:rPr>
                <a:t>ÖĞRENMEK İÇİN KULLAN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Hazır cevabı kopyalamak yerine konuyu anlamaya çalış.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96750" y="2190750"/>
            <a:ext cx="5048250" cy="2857500"/>
            <a:chOff x="0" y="0"/>
            <a:chExt cx="6731000" cy="381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31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766868"/>
                  </a:lnTo>
                  <a:cubicBezTo>
                    <a:pt x="6731000" y="3790689"/>
                    <a:pt x="6711689" y="3810000"/>
                    <a:pt x="6687868" y="3810000"/>
                  </a:cubicBezTo>
                  <a:lnTo>
                    <a:pt x="43132" y="3810000"/>
                  </a:lnTo>
                  <a:cubicBezTo>
                    <a:pt x="19311" y="3810000"/>
                    <a:pt x="0" y="3790689"/>
                    <a:pt x="0" y="3766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6731000" cy="378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2F9E6F"/>
                  </a:solidFill>
                  <a:latin typeface="Baloo"/>
                  <a:ea typeface="Baloo"/>
                  <a:cs typeface="Baloo"/>
                  <a:sym typeface="Baloo"/>
                </a:rPr>
                <a:t>SORGU LA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Üretilen içeriği düşün ve kanıt ara.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81250" y="5810250"/>
            <a:ext cx="6191250" cy="2476500"/>
            <a:chOff x="0" y="0"/>
            <a:chExt cx="8255000" cy="3302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55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3266831"/>
                  </a:lnTo>
                  <a:cubicBezTo>
                    <a:pt x="8255000" y="3286254"/>
                    <a:pt x="8239254" y="3302000"/>
                    <a:pt x="8219831" y="3302000"/>
                  </a:cubicBezTo>
                  <a:lnTo>
                    <a:pt x="35169" y="3302000"/>
                  </a:lnTo>
                  <a:cubicBezTo>
                    <a:pt x="15746" y="3302000"/>
                    <a:pt x="0" y="3286254"/>
                    <a:pt x="0" y="326683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8255000" cy="327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D94B4B"/>
                  </a:solidFill>
                  <a:latin typeface="Baloo"/>
                  <a:ea typeface="Baloo"/>
                  <a:cs typeface="Baloo"/>
                  <a:sym typeface="Baloo"/>
                </a:rPr>
                <a:t>KİŞİSEL BİLGİ VERME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Adres, parola, telefon ve okul bilgilerini paylaşma.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15500" y="5810250"/>
            <a:ext cx="6191250" cy="2476500"/>
            <a:chOff x="0" y="0"/>
            <a:chExt cx="8255000" cy="330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55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8255000">
                  <a:moveTo>
                    <a:pt x="35169" y="0"/>
                  </a:moveTo>
                  <a:lnTo>
                    <a:pt x="8219831" y="0"/>
                  </a:lnTo>
                  <a:cubicBezTo>
                    <a:pt x="8239254" y="0"/>
                    <a:pt x="8255000" y="15746"/>
                    <a:pt x="8255000" y="35169"/>
                  </a:cubicBezTo>
                  <a:lnTo>
                    <a:pt x="8255000" y="3266831"/>
                  </a:lnTo>
                  <a:cubicBezTo>
                    <a:pt x="8255000" y="3286254"/>
                    <a:pt x="8239254" y="3302000"/>
                    <a:pt x="8219831" y="3302000"/>
                  </a:cubicBezTo>
                  <a:lnTo>
                    <a:pt x="35169" y="3302000"/>
                  </a:lnTo>
                  <a:cubicBezTo>
                    <a:pt x="15746" y="3302000"/>
                    <a:pt x="0" y="3286254"/>
                    <a:pt x="0" y="3266831"/>
                  </a:cubicBezTo>
                  <a:lnTo>
                    <a:pt x="0" y="35169"/>
                  </a:lnTo>
                  <a:cubicBezTo>
                    <a:pt x="0" y="15746"/>
                    <a:pt x="15746" y="0"/>
                    <a:pt x="35169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8255000" cy="3273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D94B4B"/>
                  </a:solidFill>
                  <a:latin typeface="Baloo"/>
                  <a:ea typeface="Baloo"/>
                  <a:cs typeface="Baloo"/>
                  <a:sym typeface="Baloo"/>
                </a:rPr>
                <a:t>HER CEVABA İNANMA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Yapay zekâ eksik veya yanlış bilgi üretebilir.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Güçlü Parola Nedir?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190625"/>
            <a:ext cx="1428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58A"/>
                </a:solidFill>
                <a:latin typeface="Nunito"/>
                <a:ea typeface="Nunito"/>
                <a:cs typeface="Nunito"/>
                <a:sym typeface="Nunito"/>
              </a:rPr>
              <a:t>Tahmin edilmesi zor, uzun ve yalnızca sana ait bir anahtardır.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095500"/>
            <a:ext cx="5048250" cy="2762250"/>
            <a:chOff x="0" y="0"/>
            <a:chExt cx="6731000" cy="368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31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639868"/>
                  </a:lnTo>
                  <a:cubicBezTo>
                    <a:pt x="6731000" y="3663689"/>
                    <a:pt x="6711689" y="3683000"/>
                    <a:pt x="6687868" y="3683000"/>
                  </a:cubicBezTo>
                  <a:lnTo>
                    <a:pt x="43132" y="3683000"/>
                  </a:lnTo>
                  <a:cubicBezTo>
                    <a:pt x="19311" y="3683000"/>
                    <a:pt x="0" y="3663689"/>
                    <a:pt x="0" y="3639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6731000" cy="365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UZUN OLSUN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Uzun parolalar daha zor tahmin edilir.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77000" y="2095500"/>
            <a:ext cx="5048250" cy="2762250"/>
            <a:chOff x="0" y="0"/>
            <a:chExt cx="6731000" cy="368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31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639868"/>
                  </a:lnTo>
                  <a:cubicBezTo>
                    <a:pt x="6731000" y="3663689"/>
                    <a:pt x="6711689" y="3683000"/>
                    <a:pt x="6687868" y="3683000"/>
                  </a:cubicBezTo>
                  <a:lnTo>
                    <a:pt x="43132" y="3683000"/>
                  </a:lnTo>
                  <a:cubicBezTo>
                    <a:pt x="19311" y="3683000"/>
                    <a:pt x="0" y="3663689"/>
                    <a:pt x="0" y="3639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6731000" cy="365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KİŞİSEL BİLGİ YOK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Ad, doğum tarihi veya takım adı kullanma.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96750" y="2095500"/>
            <a:ext cx="5048250" cy="2762250"/>
            <a:chOff x="0" y="0"/>
            <a:chExt cx="6731000" cy="368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31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639868"/>
                  </a:lnTo>
                  <a:cubicBezTo>
                    <a:pt x="6731000" y="3663689"/>
                    <a:pt x="6711689" y="3683000"/>
                    <a:pt x="6687868" y="3683000"/>
                  </a:cubicBezTo>
                  <a:lnTo>
                    <a:pt x="43132" y="3683000"/>
                  </a:lnTo>
                  <a:cubicBezTo>
                    <a:pt x="19311" y="3683000"/>
                    <a:pt x="0" y="3663689"/>
                    <a:pt x="0" y="3639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6731000" cy="365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HER HESAPTA FARKLI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Bir parola sızarsa diğer hesapların korunur.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714750" y="5619750"/>
            <a:ext cx="5048250" cy="2762250"/>
            <a:chOff x="0" y="0"/>
            <a:chExt cx="6731000" cy="368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31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639868"/>
                  </a:lnTo>
                  <a:cubicBezTo>
                    <a:pt x="6731000" y="3663689"/>
                    <a:pt x="6711689" y="3683000"/>
                    <a:pt x="6687868" y="3683000"/>
                  </a:cubicBezTo>
                  <a:lnTo>
                    <a:pt x="43132" y="3683000"/>
                  </a:lnTo>
                  <a:cubicBezTo>
                    <a:pt x="19311" y="3683000"/>
                    <a:pt x="0" y="3663689"/>
                    <a:pt x="0" y="3639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6731000" cy="365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PAYLAŞMA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Parolanı arkadaşlarınla bile paylaşma.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34500" y="5619750"/>
            <a:ext cx="5048250" cy="2762250"/>
            <a:chOff x="0" y="0"/>
            <a:chExt cx="6731000" cy="368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310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6731000">
                  <a:moveTo>
                    <a:pt x="43132" y="0"/>
                  </a:moveTo>
                  <a:lnTo>
                    <a:pt x="6687868" y="0"/>
                  </a:lnTo>
                  <a:cubicBezTo>
                    <a:pt x="6711689" y="0"/>
                    <a:pt x="6731000" y="19311"/>
                    <a:pt x="6731000" y="43132"/>
                  </a:cubicBezTo>
                  <a:lnTo>
                    <a:pt x="6731000" y="3639868"/>
                  </a:lnTo>
                  <a:cubicBezTo>
                    <a:pt x="6731000" y="3663689"/>
                    <a:pt x="6711689" y="3683000"/>
                    <a:pt x="6687868" y="3683000"/>
                  </a:cubicBezTo>
                  <a:lnTo>
                    <a:pt x="43132" y="3683000"/>
                  </a:lnTo>
                  <a:cubicBezTo>
                    <a:pt x="19311" y="3683000"/>
                    <a:pt x="0" y="3663689"/>
                    <a:pt x="0" y="3639868"/>
                  </a:cubicBezTo>
                  <a:lnTo>
                    <a:pt x="0" y="43132"/>
                  </a:lnTo>
                  <a:cubicBezTo>
                    <a:pt x="0" y="19311"/>
                    <a:pt x="19311" y="0"/>
                    <a:pt x="43132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6731000" cy="365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ÇOK FAKTÖRLÜ DOĞRULAMA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Varsa ikinci doğrulama adımını aç.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Güçlü ve Zayıf Parola Karşılaştırması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2095500"/>
            <a:ext cx="7620000" cy="6191250"/>
            <a:chOff x="0" y="0"/>
            <a:chExt cx="10160000" cy="825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60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8226425"/>
                  </a:lnTo>
                  <a:cubicBezTo>
                    <a:pt x="10160000" y="8242206"/>
                    <a:pt x="10147206" y="8255000"/>
                    <a:pt x="10131425" y="8255000"/>
                  </a:cubicBezTo>
                  <a:lnTo>
                    <a:pt x="28575" y="8255000"/>
                  </a:lnTo>
                  <a:cubicBezTo>
                    <a:pt x="12793" y="8255000"/>
                    <a:pt x="0" y="8242206"/>
                    <a:pt x="0" y="8226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0160000" cy="822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D94B4B"/>
                  </a:solidFill>
                  <a:latin typeface="Baloo"/>
                  <a:ea typeface="Baloo"/>
                  <a:cs typeface="Baloo"/>
                  <a:sym typeface="Baloo"/>
                </a:rPr>
                <a:t>ZAYIF PAROLALAR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123456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password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12345678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Kısa • Yaygın • Kolay tahmin edilir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10750" y="2095500"/>
            <a:ext cx="7620000" cy="6191250"/>
            <a:chOff x="0" y="0"/>
            <a:chExt cx="10160000" cy="8255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60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160000">
                  <a:moveTo>
                    <a:pt x="28575" y="0"/>
                  </a:moveTo>
                  <a:lnTo>
                    <a:pt x="10131425" y="0"/>
                  </a:lnTo>
                  <a:cubicBezTo>
                    <a:pt x="10147206" y="0"/>
                    <a:pt x="10160000" y="12793"/>
                    <a:pt x="10160000" y="28575"/>
                  </a:cubicBezTo>
                  <a:lnTo>
                    <a:pt x="10160000" y="8226425"/>
                  </a:lnTo>
                  <a:cubicBezTo>
                    <a:pt x="10160000" y="8242206"/>
                    <a:pt x="10147206" y="8255000"/>
                    <a:pt x="10131425" y="8255000"/>
                  </a:cubicBezTo>
                  <a:lnTo>
                    <a:pt x="28575" y="8255000"/>
                  </a:lnTo>
                  <a:cubicBezTo>
                    <a:pt x="12793" y="8255000"/>
                    <a:pt x="0" y="8242206"/>
                    <a:pt x="0" y="8226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0160000" cy="822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2F9E6F"/>
                  </a:solidFill>
                  <a:latin typeface="Baloo"/>
                  <a:ea typeface="Baloo"/>
                  <a:cs typeface="Baloo"/>
                  <a:sym typeface="Baloo"/>
                </a:rPr>
                <a:t>GÜÇLÜ ÖRNEK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MaviBulut!7Kitap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Uzun • Farklı türde karakterler • Tahmini zor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Bu yalnızca örnektir; gerçek parola olarak kullanma!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Dijital Ayak İzi Nedir?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190625"/>
            <a:ext cx="1428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58A"/>
                </a:solidFill>
                <a:latin typeface="Nunito"/>
                <a:ea typeface="Nunito"/>
                <a:cs typeface="Nunito"/>
                <a:sym typeface="Nunito"/>
              </a:rPr>
              <a:t>İnternette ve dijital ortamlarda bıraktığımız izlerin tümüdür.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381250"/>
            <a:ext cx="4953000" cy="4953000"/>
            <a:chOff x="0" y="0"/>
            <a:chExt cx="6604000" cy="660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6560038"/>
                  </a:lnTo>
                  <a:cubicBezTo>
                    <a:pt x="6604000" y="6571698"/>
                    <a:pt x="6599368" y="6582880"/>
                    <a:pt x="6591124" y="6591124"/>
                  </a:cubicBezTo>
                  <a:cubicBezTo>
                    <a:pt x="6582880" y="6599368"/>
                    <a:pt x="6571698" y="6604000"/>
                    <a:pt x="6560038" y="6604000"/>
                  </a:cubicBezTo>
                  <a:lnTo>
                    <a:pt x="43962" y="6604000"/>
                  </a:lnTo>
                  <a:cubicBezTo>
                    <a:pt x="32302" y="6604000"/>
                    <a:pt x="21120" y="6599368"/>
                    <a:pt x="12876" y="6591124"/>
                  </a:cubicBezTo>
                  <a:cubicBezTo>
                    <a:pt x="4632" y="6582880"/>
                    <a:pt x="0" y="6571698"/>
                    <a:pt x="0" y="65600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6604000" cy="657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PAYLAŞIMLAR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Sosyal medyadaki fotoğraflar, videolar ve yorumlar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0" y="2381250"/>
            <a:ext cx="4953000" cy="4953000"/>
            <a:chOff x="0" y="0"/>
            <a:chExt cx="6604000" cy="660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6560038"/>
                  </a:lnTo>
                  <a:cubicBezTo>
                    <a:pt x="6604000" y="6571698"/>
                    <a:pt x="6599368" y="6582880"/>
                    <a:pt x="6591124" y="6591124"/>
                  </a:cubicBezTo>
                  <a:cubicBezTo>
                    <a:pt x="6582880" y="6599368"/>
                    <a:pt x="6571698" y="6604000"/>
                    <a:pt x="6560038" y="6604000"/>
                  </a:cubicBezTo>
                  <a:lnTo>
                    <a:pt x="43962" y="6604000"/>
                  </a:lnTo>
                  <a:cubicBezTo>
                    <a:pt x="32302" y="6604000"/>
                    <a:pt x="21120" y="6599368"/>
                    <a:pt x="12876" y="6591124"/>
                  </a:cubicBezTo>
                  <a:cubicBezTo>
                    <a:pt x="4632" y="6582880"/>
                    <a:pt x="0" y="6571698"/>
                    <a:pt x="0" y="65600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6604000" cy="657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ÇEVRİM İÇİ HAREKETLER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Formlar, beğeniler ve site ziyaretleri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87250" y="2381250"/>
            <a:ext cx="4953000" cy="4953000"/>
            <a:chOff x="0" y="0"/>
            <a:chExt cx="6604000" cy="660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0" cy="6604000"/>
            </a:xfrm>
            <a:custGeom>
              <a:avLst/>
              <a:gdLst/>
              <a:ahLst/>
              <a:cxnLst/>
              <a:rect r="r" b="b" t="t" l="l"/>
              <a:pathLst>
                <a:path h="6604000" w="6604000">
                  <a:moveTo>
                    <a:pt x="43962" y="0"/>
                  </a:moveTo>
                  <a:lnTo>
                    <a:pt x="6560038" y="0"/>
                  </a:lnTo>
                  <a:cubicBezTo>
                    <a:pt x="6571698" y="0"/>
                    <a:pt x="6582880" y="4632"/>
                    <a:pt x="6591124" y="12876"/>
                  </a:cubicBezTo>
                  <a:cubicBezTo>
                    <a:pt x="6599368" y="21120"/>
                    <a:pt x="6604000" y="32302"/>
                    <a:pt x="6604000" y="43962"/>
                  </a:cubicBezTo>
                  <a:lnTo>
                    <a:pt x="6604000" y="6560038"/>
                  </a:lnTo>
                  <a:cubicBezTo>
                    <a:pt x="6604000" y="6571698"/>
                    <a:pt x="6599368" y="6582880"/>
                    <a:pt x="6591124" y="6591124"/>
                  </a:cubicBezTo>
                  <a:cubicBezTo>
                    <a:pt x="6582880" y="6599368"/>
                    <a:pt x="6571698" y="6604000"/>
                    <a:pt x="6560038" y="6604000"/>
                  </a:cubicBezTo>
                  <a:lnTo>
                    <a:pt x="43962" y="6604000"/>
                  </a:lnTo>
                  <a:cubicBezTo>
                    <a:pt x="32302" y="6604000"/>
                    <a:pt x="21120" y="6599368"/>
                    <a:pt x="12876" y="6591124"/>
                  </a:cubicBezTo>
                  <a:cubicBezTo>
                    <a:pt x="4632" y="6582880"/>
                    <a:pt x="0" y="6571698"/>
                    <a:pt x="0" y="6560038"/>
                  </a:cubicBezTo>
                  <a:lnTo>
                    <a:pt x="0" y="43962"/>
                  </a:lnTo>
                  <a:cubicBezTo>
                    <a:pt x="0" y="32302"/>
                    <a:pt x="4632" y="21120"/>
                    <a:pt x="12876" y="12876"/>
                  </a:cubicBezTo>
                  <a:cubicBezTo>
                    <a:pt x="21120" y="4632"/>
                    <a:pt x="32302" y="0"/>
                    <a:pt x="43962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6604000" cy="657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KAYITLAR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İnternet kullanım kayıtları ve hesap etkinlikleri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429000" y="8039100"/>
            <a:ext cx="11430000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9"/>
              </a:lnSpc>
            </a:pPr>
            <a:r>
              <a:rPr lang="en-US" sz="3150">
                <a:solidFill>
                  <a:srgbClr val="2F9E6F"/>
                </a:solidFill>
                <a:latin typeface="Baloo"/>
                <a:ea typeface="Baloo"/>
                <a:cs typeface="Baloo"/>
                <a:sym typeface="Baloo"/>
              </a:rPr>
              <a:t>PAYLAŞMADAN ÖNCE DÜŞÜN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Dijital Ayak İzimizi Koruyalım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57250" y="1952625"/>
            <a:ext cx="7810500" cy="6858000"/>
            <a:chOff x="0" y="0"/>
            <a:chExt cx="10414000" cy="914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1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9116122"/>
                  </a:lnTo>
                  <a:cubicBezTo>
                    <a:pt x="10414000" y="9123516"/>
                    <a:pt x="10411063" y="9130606"/>
                    <a:pt x="10405835" y="9135835"/>
                  </a:cubicBezTo>
                  <a:cubicBezTo>
                    <a:pt x="10400606" y="9141063"/>
                    <a:pt x="10393516" y="9144000"/>
                    <a:pt x="10386122" y="9144000"/>
                  </a:cubicBezTo>
                  <a:lnTo>
                    <a:pt x="27878" y="9144000"/>
                  </a:lnTo>
                  <a:cubicBezTo>
                    <a:pt x="20484" y="9144000"/>
                    <a:pt x="13393" y="9141063"/>
                    <a:pt x="8165" y="9135835"/>
                  </a:cubicBezTo>
                  <a:cubicBezTo>
                    <a:pt x="2937" y="9130606"/>
                    <a:pt x="0" y="9123516"/>
                    <a:pt x="0" y="91161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0414000" cy="911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2F9E6F"/>
                  </a:solidFill>
                  <a:latin typeface="Baloo"/>
                  <a:ea typeface="Baloo"/>
                  <a:cs typeface="Baloo"/>
                  <a:sym typeface="Baloo"/>
                </a:rPr>
                <a:t>✓ DOĞRU DAVRANIŞLAR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Paylaşmadan önce düşün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Başkalarının fotoğrafı için izin al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Kişisel bilgilerini koru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Saygılı ve sorumlu davran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20250" y="1952625"/>
            <a:ext cx="7810500" cy="6858000"/>
            <a:chOff x="0" y="0"/>
            <a:chExt cx="10414000" cy="914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1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9116122"/>
                  </a:lnTo>
                  <a:cubicBezTo>
                    <a:pt x="10414000" y="9123516"/>
                    <a:pt x="10411063" y="9130606"/>
                    <a:pt x="10405835" y="9135835"/>
                  </a:cubicBezTo>
                  <a:cubicBezTo>
                    <a:pt x="10400606" y="9141063"/>
                    <a:pt x="10393516" y="9144000"/>
                    <a:pt x="10386122" y="9144000"/>
                  </a:cubicBezTo>
                  <a:lnTo>
                    <a:pt x="27878" y="9144000"/>
                  </a:lnTo>
                  <a:cubicBezTo>
                    <a:pt x="20484" y="9144000"/>
                    <a:pt x="13393" y="9141063"/>
                    <a:pt x="8165" y="9135835"/>
                  </a:cubicBezTo>
                  <a:cubicBezTo>
                    <a:pt x="2937" y="9130606"/>
                    <a:pt x="0" y="9123516"/>
                    <a:pt x="0" y="91161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0414000" cy="9115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D94B4B"/>
                  </a:solidFill>
                  <a:latin typeface="Baloo"/>
                  <a:ea typeface="Baloo"/>
                  <a:cs typeface="Baloo"/>
                  <a:sym typeface="Baloo"/>
                </a:rPr>
                <a:t>! RİSKLİ DAVRANIŞLAR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Hassas bilgileri paylaşmak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İncitici yorumlar yazmak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Paylaşımın hemen yok olacağını sanmak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Dijital paylaşımlar kalıcı olabilir!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Dijital Zorbalık Nedir?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477250" y="1809750"/>
            <a:ext cx="8953500" cy="7334250"/>
          </a:xfrm>
          <a:custGeom>
            <a:avLst/>
            <a:gdLst/>
            <a:ahLst/>
            <a:cxnLst/>
            <a:rect r="r" b="b" t="t" l="l"/>
            <a:pathLst>
              <a:path h="7334250" w="8953500">
                <a:moveTo>
                  <a:pt x="0" y="0"/>
                </a:moveTo>
                <a:lnTo>
                  <a:pt x="8953500" y="0"/>
                </a:lnTo>
                <a:lnTo>
                  <a:pt x="8953500" y="7334250"/>
                </a:lnTo>
                <a:lnTo>
                  <a:pt x="0" y="7334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" t="0" r="-24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57250" y="2095500"/>
            <a:ext cx="6572250" cy="2381250"/>
            <a:chOff x="0" y="0"/>
            <a:chExt cx="8763000" cy="317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63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8763000">
                  <a:moveTo>
                    <a:pt x="33130" y="0"/>
                  </a:moveTo>
                  <a:lnTo>
                    <a:pt x="8729869" y="0"/>
                  </a:lnTo>
                  <a:cubicBezTo>
                    <a:pt x="8738657" y="0"/>
                    <a:pt x="8747083" y="3491"/>
                    <a:pt x="8753296" y="9704"/>
                  </a:cubicBezTo>
                  <a:cubicBezTo>
                    <a:pt x="8759510" y="15917"/>
                    <a:pt x="8763000" y="24344"/>
                    <a:pt x="8763000" y="33130"/>
                  </a:cubicBezTo>
                  <a:lnTo>
                    <a:pt x="8763000" y="3141870"/>
                  </a:lnTo>
                  <a:cubicBezTo>
                    <a:pt x="8763000" y="3150656"/>
                    <a:pt x="8759510" y="3159083"/>
                    <a:pt x="8753296" y="3165296"/>
                  </a:cubicBezTo>
                  <a:cubicBezTo>
                    <a:pt x="8747083" y="3171510"/>
                    <a:pt x="8738657" y="3175000"/>
                    <a:pt x="8729869" y="3175000"/>
                  </a:cubicBezTo>
                  <a:lnTo>
                    <a:pt x="33130" y="3175000"/>
                  </a:lnTo>
                  <a:cubicBezTo>
                    <a:pt x="24344" y="3175000"/>
                    <a:pt x="15917" y="3171510"/>
                    <a:pt x="9704" y="3165296"/>
                  </a:cubicBezTo>
                  <a:cubicBezTo>
                    <a:pt x="3491" y="3159083"/>
                    <a:pt x="0" y="3150656"/>
                    <a:pt x="0" y="3141870"/>
                  </a:cubicBezTo>
                  <a:lnTo>
                    <a:pt x="0" y="33130"/>
                  </a:lnTo>
                  <a:cubicBezTo>
                    <a:pt x="0" y="24344"/>
                    <a:pt x="3491" y="15917"/>
                    <a:pt x="9704" y="9704"/>
                  </a:cubicBezTo>
                  <a:cubicBezTo>
                    <a:pt x="15917" y="3491"/>
                    <a:pt x="24344" y="0"/>
                    <a:pt x="33130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8763000" cy="3146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D94B4B"/>
                  </a:solidFill>
                  <a:latin typeface="Baloo"/>
                  <a:ea typeface="Baloo"/>
                  <a:cs typeface="Baloo"/>
                  <a:sym typeface="Baloo"/>
                </a:rPr>
                <a:t>TANIM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Dijital araçlarla bir kişiye zarar vermek, onu küçük düşürmek veya tehdit etmektir.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50" y="4953000"/>
            <a:ext cx="6572250" cy="3714750"/>
            <a:chOff x="0" y="0"/>
            <a:chExt cx="8763000" cy="495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63000" cy="4953000"/>
            </a:xfrm>
            <a:custGeom>
              <a:avLst/>
              <a:gdLst/>
              <a:ahLst/>
              <a:cxnLst/>
              <a:rect r="r" b="b" t="t" l="l"/>
              <a:pathLst>
                <a:path h="4953000" w="8763000">
                  <a:moveTo>
                    <a:pt x="33130" y="0"/>
                  </a:moveTo>
                  <a:lnTo>
                    <a:pt x="8729869" y="0"/>
                  </a:lnTo>
                  <a:cubicBezTo>
                    <a:pt x="8738657" y="0"/>
                    <a:pt x="8747083" y="3491"/>
                    <a:pt x="8753296" y="9704"/>
                  </a:cubicBezTo>
                  <a:cubicBezTo>
                    <a:pt x="8759510" y="15917"/>
                    <a:pt x="8763000" y="24344"/>
                    <a:pt x="8763000" y="33130"/>
                  </a:cubicBezTo>
                  <a:lnTo>
                    <a:pt x="8763000" y="4919869"/>
                  </a:lnTo>
                  <a:cubicBezTo>
                    <a:pt x="8763000" y="4928656"/>
                    <a:pt x="8759510" y="4937083"/>
                    <a:pt x="8753296" y="4943296"/>
                  </a:cubicBezTo>
                  <a:cubicBezTo>
                    <a:pt x="8747083" y="4949510"/>
                    <a:pt x="8738657" y="4953000"/>
                    <a:pt x="8729869" y="4953000"/>
                  </a:cubicBezTo>
                  <a:lnTo>
                    <a:pt x="33130" y="4953000"/>
                  </a:lnTo>
                  <a:cubicBezTo>
                    <a:pt x="24344" y="4953000"/>
                    <a:pt x="15917" y="4949510"/>
                    <a:pt x="9704" y="4943296"/>
                  </a:cubicBezTo>
                  <a:cubicBezTo>
                    <a:pt x="3491" y="4937083"/>
                    <a:pt x="0" y="4928656"/>
                    <a:pt x="0" y="4919869"/>
                  </a:cubicBezTo>
                  <a:lnTo>
                    <a:pt x="0" y="33130"/>
                  </a:lnTo>
                  <a:cubicBezTo>
                    <a:pt x="0" y="24344"/>
                    <a:pt x="3491" y="15917"/>
                    <a:pt x="9704" y="9704"/>
                  </a:cubicBezTo>
                  <a:cubicBezTo>
                    <a:pt x="15917" y="3491"/>
                    <a:pt x="24344" y="0"/>
                    <a:pt x="3313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8763000" cy="492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ÖRNEKLER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Kırıcı mesajlar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Çevrim içi küçük düşürme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İzinsiz utandırıcı fotoğraf/video paylaşma</a:t>
              </a:r>
            </a:p>
            <a:p>
              <a:pPr algn="ctr">
                <a:lnSpc>
                  <a:spcPts val="2156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Gruplarda hedef gösterme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Dijital Zorbalıkla Karşılaşırsak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190625"/>
            <a:ext cx="1428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58A"/>
                </a:solidFill>
                <a:latin typeface="Nunito"/>
                <a:ea typeface="Nunito"/>
                <a:cs typeface="Nunito"/>
                <a:sym typeface="Nunito"/>
              </a:rPr>
              <a:t>Yardım istemek cesur ve doğru bir davranıştır.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476500"/>
            <a:ext cx="3048000" cy="4762500"/>
            <a:chOff x="0" y="0"/>
            <a:chExt cx="4064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6278562"/>
                  </a:lnTo>
                  <a:cubicBezTo>
                    <a:pt x="4064000" y="6318016"/>
                    <a:pt x="4032016" y="6350000"/>
                    <a:pt x="3992562" y="6350000"/>
                  </a:cubicBezTo>
                  <a:lnTo>
                    <a:pt x="71438" y="6350000"/>
                  </a:lnTo>
                  <a:cubicBezTo>
                    <a:pt x="31984" y="6350000"/>
                    <a:pt x="0" y="6318016"/>
                    <a:pt x="0" y="62785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4064000" cy="632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2F9E6F"/>
                  </a:solidFill>
                  <a:latin typeface="Baloo"/>
                  <a:ea typeface="Baloo"/>
                  <a:cs typeface="Baloo"/>
                  <a:sym typeface="Baloo"/>
                </a:rPr>
                <a:t>1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Karşılık verme; olayı büyütme.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3905250" y="4857750"/>
            <a:ext cx="333375" cy="0"/>
          </a:xfrm>
          <a:prstGeom prst="line">
            <a:avLst/>
          </a:prstGeom>
          <a:ln cap="rnd" w="76200">
            <a:solidFill>
              <a:srgbClr val="1769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286250" y="2476500"/>
            <a:ext cx="3048000" cy="4762500"/>
            <a:chOff x="0" y="0"/>
            <a:chExt cx="4064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6278562"/>
                  </a:lnTo>
                  <a:cubicBezTo>
                    <a:pt x="4064000" y="6318016"/>
                    <a:pt x="4032016" y="6350000"/>
                    <a:pt x="3992562" y="6350000"/>
                  </a:cubicBezTo>
                  <a:lnTo>
                    <a:pt x="71438" y="6350000"/>
                  </a:lnTo>
                  <a:cubicBezTo>
                    <a:pt x="31984" y="6350000"/>
                    <a:pt x="0" y="6318016"/>
                    <a:pt x="0" y="62785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4064000" cy="632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2F9E6F"/>
                  </a:solidFill>
                  <a:latin typeface="Baloo"/>
                  <a:ea typeface="Baloo"/>
                  <a:cs typeface="Baloo"/>
                  <a:sym typeface="Baloo"/>
                </a:rPr>
                <a:t>2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Güvenliyse kanıtları sakla.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7334250" y="4857750"/>
            <a:ext cx="333375" cy="0"/>
          </a:xfrm>
          <a:prstGeom prst="line">
            <a:avLst/>
          </a:prstGeom>
          <a:ln cap="rnd" w="76200">
            <a:solidFill>
              <a:srgbClr val="1769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7715250" y="2476500"/>
            <a:ext cx="3048000" cy="4762500"/>
            <a:chOff x="0" y="0"/>
            <a:chExt cx="4064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6278562"/>
                  </a:lnTo>
                  <a:cubicBezTo>
                    <a:pt x="4064000" y="6318016"/>
                    <a:pt x="4032016" y="6350000"/>
                    <a:pt x="3992562" y="6350000"/>
                  </a:cubicBezTo>
                  <a:lnTo>
                    <a:pt x="71438" y="6350000"/>
                  </a:lnTo>
                  <a:cubicBezTo>
                    <a:pt x="31984" y="6350000"/>
                    <a:pt x="0" y="6318016"/>
                    <a:pt x="0" y="62785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4064000" cy="632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2F9E6F"/>
                  </a:solidFill>
                  <a:latin typeface="Baloo"/>
                  <a:ea typeface="Baloo"/>
                  <a:cs typeface="Baloo"/>
                  <a:sym typeface="Baloo"/>
                </a:rPr>
                <a:t>3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Hesabı veya kişiyi engelle ve bildir.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763250" y="4857750"/>
            <a:ext cx="333375" cy="0"/>
          </a:xfrm>
          <a:prstGeom prst="line">
            <a:avLst/>
          </a:prstGeom>
          <a:ln cap="rnd" w="76200">
            <a:solidFill>
              <a:srgbClr val="1769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144250" y="2476500"/>
            <a:ext cx="3048000" cy="4762500"/>
            <a:chOff x="0" y="0"/>
            <a:chExt cx="4064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64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6278562"/>
                  </a:lnTo>
                  <a:cubicBezTo>
                    <a:pt x="4064000" y="6318016"/>
                    <a:pt x="4032016" y="6350000"/>
                    <a:pt x="3992562" y="6350000"/>
                  </a:cubicBezTo>
                  <a:lnTo>
                    <a:pt x="71438" y="6350000"/>
                  </a:lnTo>
                  <a:cubicBezTo>
                    <a:pt x="31984" y="6350000"/>
                    <a:pt x="0" y="6318016"/>
                    <a:pt x="0" y="62785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4064000" cy="632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2F9E6F"/>
                  </a:solidFill>
                  <a:latin typeface="Baloo"/>
                  <a:ea typeface="Baloo"/>
                  <a:cs typeface="Baloo"/>
                  <a:sym typeface="Baloo"/>
                </a:rPr>
                <a:t>4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Güvendiğin bir yetişkinden yardım iste.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4192250" y="4857750"/>
            <a:ext cx="333375" cy="0"/>
          </a:xfrm>
          <a:prstGeom prst="line">
            <a:avLst/>
          </a:prstGeom>
          <a:ln cap="rnd" w="76200">
            <a:solidFill>
              <a:srgbClr val="1769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4573250" y="2476500"/>
            <a:ext cx="3048000" cy="4762500"/>
            <a:chOff x="0" y="0"/>
            <a:chExt cx="4064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64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6278562"/>
                  </a:lnTo>
                  <a:cubicBezTo>
                    <a:pt x="4064000" y="6318016"/>
                    <a:pt x="4032016" y="6350000"/>
                    <a:pt x="3992562" y="6350000"/>
                  </a:cubicBezTo>
                  <a:lnTo>
                    <a:pt x="71438" y="6350000"/>
                  </a:lnTo>
                  <a:cubicBezTo>
                    <a:pt x="31984" y="6350000"/>
                    <a:pt x="0" y="6318016"/>
                    <a:pt x="0" y="62785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4064000" cy="6321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D94B4B"/>
                  </a:solidFill>
                  <a:latin typeface="Baloo"/>
                  <a:ea typeface="Baloo"/>
                  <a:cs typeface="Baloo"/>
                  <a:sym typeface="Baloo"/>
                </a:rPr>
                <a:t>5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Tehdit varsa hemen yetişkin desteği al.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Kavramları Eşleştirelim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190625"/>
            <a:ext cx="1428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58A"/>
                </a:solidFill>
                <a:latin typeface="Nunito"/>
                <a:ea typeface="Nunito"/>
                <a:cs typeface="Nunito"/>
                <a:sym typeface="Nunito"/>
              </a:rPr>
              <a:t>Kavramları karışık tanımlarla eşleştir. Cevaplar şimdilik gizli!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1952625"/>
            <a:ext cx="3333750" cy="1047750"/>
            <a:chOff x="0" y="0"/>
            <a:chExt cx="4445000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444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Donanım</a:t>
              </a:r>
            </a:p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38750" y="1952625"/>
            <a:ext cx="3714750" cy="1047750"/>
            <a:chOff x="0" y="0"/>
            <a:chExt cx="4953000" cy="139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5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338385"/>
                  </a:lnTo>
                  <a:cubicBezTo>
                    <a:pt x="4953000" y="1370757"/>
                    <a:pt x="4926757" y="1397000"/>
                    <a:pt x="4894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4953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Komutları işler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5095875" y="2476500"/>
            <a:ext cx="95250" cy="0"/>
          </a:xfrm>
          <a:prstGeom prst="line">
            <a:avLst/>
          </a:prstGeom>
          <a:ln cap="flat" w="28575">
            <a:solidFill>
              <a:srgbClr val="F28C2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57250" y="3333750"/>
            <a:ext cx="3333750" cy="1047750"/>
            <a:chOff x="0" y="0"/>
            <a:chExt cx="4445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4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444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İşlemci</a:t>
              </a:r>
            </a:p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38750" y="3333750"/>
            <a:ext cx="3714750" cy="1047750"/>
            <a:chOff x="0" y="0"/>
            <a:chExt cx="49530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5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338385"/>
                  </a:lnTo>
                  <a:cubicBezTo>
                    <a:pt x="4953000" y="1370757"/>
                    <a:pt x="4926757" y="1397000"/>
                    <a:pt x="4894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4953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Bilgisayara veri yollar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5095875" y="3857625"/>
            <a:ext cx="95250" cy="0"/>
          </a:xfrm>
          <a:prstGeom prst="line">
            <a:avLst/>
          </a:prstGeom>
          <a:ln cap="flat" w="28575">
            <a:solidFill>
              <a:srgbClr val="F28C2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857250" y="4714875"/>
            <a:ext cx="3333750" cy="1047750"/>
            <a:chOff x="0" y="0"/>
            <a:chExt cx="44450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4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444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Anakart</a:t>
              </a:r>
            </a:p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238750" y="4714875"/>
            <a:ext cx="3714750" cy="1047750"/>
            <a:chOff x="0" y="0"/>
            <a:chExt cx="4953000" cy="139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5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338385"/>
                  </a:lnTo>
                  <a:cubicBezTo>
                    <a:pt x="4953000" y="1370757"/>
                    <a:pt x="4926757" y="1397000"/>
                    <a:pt x="4894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4953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Bilgiyi kullanıcıya sunar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5095875" y="5238750"/>
            <a:ext cx="95250" cy="0"/>
          </a:xfrm>
          <a:prstGeom prst="line">
            <a:avLst/>
          </a:prstGeom>
          <a:ln cap="flat" w="28575">
            <a:solidFill>
              <a:srgbClr val="F28C2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857250" y="6096000"/>
            <a:ext cx="3333750" cy="1047750"/>
            <a:chOff x="0" y="0"/>
            <a:chExt cx="4445000" cy="1397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4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444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Giriş birimi</a:t>
              </a:r>
            </a:p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238750" y="6096000"/>
            <a:ext cx="3714750" cy="1047750"/>
            <a:chOff x="0" y="0"/>
            <a:chExt cx="4953000" cy="1397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5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338385"/>
                  </a:lnTo>
                  <a:cubicBezTo>
                    <a:pt x="4953000" y="1370757"/>
                    <a:pt x="4926757" y="1397000"/>
                    <a:pt x="4894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28575"/>
              <a:ext cx="4953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Dijital araçla zarar verme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5095875" y="6619875"/>
            <a:ext cx="95250" cy="0"/>
          </a:xfrm>
          <a:prstGeom prst="line">
            <a:avLst/>
          </a:prstGeom>
          <a:ln cap="flat" w="28575">
            <a:solidFill>
              <a:srgbClr val="F28C2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857250" y="7477125"/>
            <a:ext cx="3333750" cy="1047750"/>
            <a:chOff x="0" y="0"/>
            <a:chExt cx="4445000" cy="1397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4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28575"/>
              <a:ext cx="444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Çıkış birimi</a:t>
              </a:r>
            </a:p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238750" y="7477125"/>
            <a:ext cx="3714750" cy="1047750"/>
            <a:chOff x="0" y="0"/>
            <a:chExt cx="4953000" cy="1397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5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338385"/>
                  </a:lnTo>
                  <a:cubicBezTo>
                    <a:pt x="4953000" y="1370757"/>
                    <a:pt x="4926757" y="1397000"/>
                    <a:pt x="4894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28575"/>
              <a:ext cx="4953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Türü gösterir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5095875" y="8001000"/>
            <a:ext cx="95250" cy="0"/>
          </a:xfrm>
          <a:prstGeom prst="line">
            <a:avLst/>
          </a:prstGeom>
          <a:ln cap="flat" w="28575">
            <a:solidFill>
              <a:srgbClr val="F28C2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9810750" y="1952625"/>
            <a:ext cx="3333750" cy="1047750"/>
            <a:chOff x="0" y="0"/>
            <a:chExt cx="4445000" cy="1397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4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28575"/>
              <a:ext cx="444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Dosya uzantısı</a:t>
              </a:r>
            </a:p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192250" y="1952625"/>
            <a:ext cx="3714750" cy="1047750"/>
            <a:chOff x="0" y="0"/>
            <a:chExt cx="4953000" cy="1397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95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338385"/>
                  </a:lnTo>
                  <a:cubicBezTo>
                    <a:pt x="4953000" y="1370757"/>
                    <a:pt x="4926757" y="1397000"/>
                    <a:pt x="4894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28575"/>
              <a:ext cx="4953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Bileşenleri bağlar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>
            <a:off x="14049375" y="2476500"/>
            <a:ext cx="95250" cy="0"/>
          </a:xfrm>
          <a:prstGeom prst="line">
            <a:avLst/>
          </a:prstGeom>
          <a:ln cap="flat" w="28575">
            <a:solidFill>
              <a:srgbClr val="F28C2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9810750" y="3333750"/>
            <a:ext cx="3333750" cy="1047750"/>
            <a:chOff x="0" y="0"/>
            <a:chExt cx="4445000" cy="1397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44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28575"/>
              <a:ext cx="444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Yapay zekâ</a:t>
              </a:r>
            </a:p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192250" y="3333750"/>
            <a:ext cx="3714750" cy="1047750"/>
            <a:chOff x="0" y="0"/>
            <a:chExt cx="4953000" cy="13970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5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338385"/>
                  </a:lnTo>
                  <a:cubicBezTo>
                    <a:pt x="4953000" y="1370757"/>
                    <a:pt x="4926757" y="1397000"/>
                    <a:pt x="4894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28575"/>
              <a:ext cx="4953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Veriden öğrenen teknoloji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>
            <a:off x="14049375" y="3857625"/>
            <a:ext cx="95250" cy="0"/>
          </a:xfrm>
          <a:prstGeom prst="line">
            <a:avLst/>
          </a:prstGeom>
          <a:ln cap="flat" w="28575">
            <a:solidFill>
              <a:srgbClr val="F28C2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56" id="56"/>
          <p:cNvGrpSpPr/>
          <p:nvPr/>
        </p:nvGrpSpPr>
        <p:grpSpPr>
          <a:xfrm rot="0">
            <a:off x="9810750" y="4714875"/>
            <a:ext cx="3333750" cy="1047750"/>
            <a:chOff x="0" y="0"/>
            <a:chExt cx="4445000" cy="1397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44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28575"/>
              <a:ext cx="444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Güçlü parola</a:t>
              </a:r>
            </a:p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192250" y="4714875"/>
            <a:ext cx="3714750" cy="1047750"/>
            <a:chOff x="0" y="0"/>
            <a:chExt cx="4953000" cy="1397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5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338385"/>
                  </a:lnTo>
                  <a:cubicBezTo>
                    <a:pt x="4953000" y="1370757"/>
                    <a:pt x="4926757" y="1397000"/>
                    <a:pt x="4894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28575"/>
              <a:ext cx="4953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Fiziksel parçalar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>
            <a:off x="14049375" y="5238750"/>
            <a:ext cx="95250" cy="0"/>
          </a:xfrm>
          <a:prstGeom prst="line">
            <a:avLst/>
          </a:prstGeom>
          <a:ln cap="flat" w="28575">
            <a:solidFill>
              <a:srgbClr val="F28C2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63" id="63"/>
          <p:cNvGrpSpPr/>
          <p:nvPr/>
        </p:nvGrpSpPr>
        <p:grpSpPr>
          <a:xfrm rot="0">
            <a:off x="9810750" y="6096000"/>
            <a:ext cx="3333750" cy="1047750"/>
            <a:chOff x="0" y="0"/>
            <a:chExt cx="4445000" cy="13970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44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28575"/>
              <a:ext cx="444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Dijital ayak izi</a:t>
              </a:r>
            </a:p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192250" y="6096000"/>
            <a:ext cx="3714750" cy="1047750"/>
            <a:chOff x="0" y="0"/>
            <a:chExt cx="4953000" cy="1397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95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338385"/>
                  </a:lnTo>
                  <a:cubicBezTo>
                    <a:pt x="4953000" y="1370757"/>
                    <a:pt x="4926757" y="1397000"/>
                    <a:pt x="4894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28575"/>
              <a:ext cx="4953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İnternette bırakılan iz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>
            <a:off x="14049375" y="6619875"/>
            <a:ext cx="95250" cy="0"/>
          </a:xfrm>
          <a:prstGeom prst="line">
            <a:avLst/>
          </a:prstGeom>
          <a:ln cap="flat" w="28575">
            <a:solidFill>
              <a:srgbClr val="F28C28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70" id="70"/>
          <p:cNvGrpSpPr/>
          <p:nvPr/>
        </p:nvGrpSpPr>
        <p:grpSpPr>
          <a:xfrm rot="0">
            <a:off x="9810750" y="7477125"/>
            <a:ext cx="3333750" cy="1047750"/>
            <a:chOff x="0" y="0"/>
            <a:chExt cx="4445000" cy="1397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44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0" y="28575"/>
              <a:ext cx="444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>
                  <a:solidFill>
                    <a:srgbClr val="123A63"/>
                  </a:solidFill>
                  <a:latin typeface="Baloo"/>
                  <a:ea typeface="Baloo"/>
                  <a:cs typeface="Baloo"/>
                  <a:sym typeface="Baloo"/>
                </a:rPr>
                <a:t>Dijital zorbalık</a:t>
              </a:r>
            </a:p>
            <a:p>
              <a:pPr algn="ctr">
                <a:lnSpc>
                  <a:spcPts val="2156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4192250" y="7477125"/>
            <a:ext cx="3714750" cy="1047750"/>
            <a:chOff x="0" y="0"/>
            <a:chExt cx="4953000" cy="1397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953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4953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338385"/>
                  </a:lnTo>
                  <a:cubicBezTo>
                    <a:pt x="4953000" y="1370757"/>
                    <a:pt x="4926757" y="1397000"/>
                    <a:pt x="4894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0" y="28575"/>
              <a:ext cx="4953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Tahmini zor güvenlik anahtarı</a:t>
              </a:r>
            </a:p>
          </p:txBody>
        </p:sp>
      </p:grpSp>
      <p:sp>
        <p:nvSpPr>
          <p:cNvPr name="AutoShape 76" id="76"/>
          <p:cNvSpPr/>
          <p:nvPr/>
        </p:nvSpPr>
        <p:spPr>
          <a:xfrm>
            <a:off x="14049375" y="8001000"/>
            <a:ext cx="95250" cy="0"/>
          </a:xfrm>
          <a:prstGeom prst="line">
            <a:avLst/>
          </a:prstGeom>
          <a:ln cap="flat" w="28575">
            <a:solidFill>
              <a:srgbClr val="F28C28"/>
            </a:solidFill>
            <a:prstDash val="sysDot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Çoktan Seçmeli ve Kısa Cevaplı Sorular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50" y="1190625"/>
            <a:ext cx="1428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0758A"/>
                </a:solidFill>
                <a:latin typeface="Nunito"/>
                <a:ea typeface="Nunito"/>
                <a:cs typeface="Nunito"/>
                <a:sym typeface="Nunito"/>
              </a:rPr>
              <a:t>Önce düşün, sonra seç veya kısa cevabını yaz.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1809750"/>
            <a:ext cx="7810500" cy="1571625"/>
            <a:chOff x="0" y="0"/>
            <a:chExt cx="10414000" cy="2095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1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2067622"/>
                  </a:lnTo>
                  <a:cubicBezTo>
                    <a:pt x="10414000" y="2075016"/>
                    <a:pt x="10411063" y="2082107"/>
                    <a:pt x="10405835" y="2087335"/>
                  </a:cubicBezTo>
                  <a:cubicBezTo>
                    <a:pt x="10400606" y="2092563"/>
                    <a:pt x="10393516" y="2095500"/>
                    <a:pt x="10386122" y="2095500"/>
                  </a:cubicBezTo>
                  <a:lnTo>
                    <a:pt x="27878" y="2095500"/>
                  </a:lnTo>
                  <a:cubicBezTo>
                    <a:pt x="20484" y="2095500"/>
                    <a:pt x="13393" y="2092563"/>
                    <a:pt x="8165" y="2087335"/>
                  </a:cubicBezTo>
                  <a:cubicBezTo>
                    <a:pt x="2937" y="2082107"/>
                    <a:pt x="0" y="2075016"/>
                    <a:pt x="0" y="20676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041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1  Bilgisayarın fiziksel parçalarına ne denir?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A) Yazılım  B) Donanım  C) Dosya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39250" y="1809750"/>
            <a:ext cx="7810500" cy="1571625"/>
            <a:chOff x="0" y="0"/>
            <a:chExt cx="10414000" cy="2095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1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2067622"/>
                  </a:lnTo>
                  <a:cubicBezTo>
                    <a:pt x="10414000" y="2075016"/>
                    <a:pt x="10411063" y="2082107"/>
                    <a:pt x="10405835" y="2087335"/>
                  </a:cubicBezTo>
                  <a:cubicBezTo>
                    <a:pt x="10400606" y="2092563"/>
                    <a:pt x="10393516" y="2095500"/>
                    <a:pt x="10386122" y="2095500"/>
                  </a:cubicBezTo>
                  <a:lnTo>
                    <a:pt x="27878" y="2095500"/>
                  </a:lnTo>
                  <a:cubicBezTo>
                    <a:pt x="20484" y="2095500"/>
                    <a:pt x="13393" y="2092563"/>
                    <a:pt x="8165" y="2087335"/>
                  </a:cubicBezTo>
                  <a:cubicBezTo>
                    <a:pt x="2937" y="2082107"/>
                    <a:pt x="0" y="2075016"/>
                    <a:pt x="0" y="20676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041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2  Komutları işleyen iç bileşen hangisidir?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A) İşlemci  B) Yazıcı  C) Monitör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" y="3762375"/>
            <a:ext cx="7810500" cy="1571625"/>
            <a:chOff x="0" y="0"/>
            <a:chExt cx="10414000" cy="2095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1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2067622"/>
                  </a:lnTo>
                  <a:cubicBezTo>
                    <a:pt x="10414000" y="2075016"/>
                    <a:pt x="10411063" y="2082107"/>
                    <a:pt x="10405835" y="2087335"/>
                  </a:cubicBezTo>
                  <a:cubicBezTo>
                    <a:pt x="10400606" y="2092563"/>
                    <a:pt x="10393516" y="2095500"/>
                    <a:pt x="10386122" y="2095500"/>
                  </a:cubicBezTo>
                  <a:lnTo>
                    <a:pt x="27878" y="2095500"/>
                  </a:lnTo>
                  <a:cubicBezTo>
                    <a:pt x="20484" y="2095500"/>
                    <a:pt x="13393" y="2092563"/>
                    <a:pt x="8165" y="2087335"/>
                  </a:cubicBezTo>
                  <a:cubicBezTo>
                    <a:pt x="2937" y="2082107"/>
                    <a:pt x="0" y="2075016"/>
                    <a:pt x="0" y="20676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1041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3  Hangisi giriş birimidir?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A) Hoparlör  B) Yazıcı  C) Mikrofon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239250" y="3762375"/>
            <a:ext cx="7810500" cy="1571625"/>
            <a:chOff x="0" y="0"/>
            <a:chExt cx="10414000" cy="2095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1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2067622"/>
                  </a:lnTo>
                  <a:cubicBezTo>
                    <a:pt x="10414000" y="2075016"/>
                    <a:pt x="10411063" y="2082107"/>
                    <a:pt x="10405835" y="2087335"/>
                  </a:cubicBezTo>
                  <a:cubicBezTo>
                    <a:pt x="10400606" y="2092563"/>
                    <a:pt x="10393516" y="2095500"/>
                    <a:pt x="10386122" y="2095500"/>
                  </a:cubicBezTo>
                  <a:lnTo>
                    <a:pt x="27878" y="2095500"/>
                  </a:lnTo>
                  <a:cubicBezTo>
                    <a:pt x="20484" y="2095500"/>
                    <a:pt x="13393" y="2092563"/>
                    <a:pt x="8165" y="2087335"/>
                  </a:cubicBezTo>
                  <a:cubicBezTo>
                    <a:pt x="2937" y="2082107"/>
                    <a:pt x="0" y="2075016"/>
                    <a:pt x="0" y="20676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041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4  .jpg uzantısı çoğunlukla hangi türdür?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A) Fotoğraf  B) Ses  C) Arşiv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7250" y="5715000"/>
            <a:ext cx="7810500" cy="1571625"/>
            <a:chOff x="0" y="0"/>
            <a:chExt cx="10414000" cy="2095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41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2067622"/>
                  </a:lnTo>
                  <a:cubicBezTo>
                    <a:pt x="10414000" y="2075016"/>
                    <a:pt x="10411063" y="2082107"/>
                    <a:pt x="10405835" y="2087335"/>
                  </a:cubicBezTo>
                  <a:cubicBezTo>
                    <a:pt x="10400606" y="2092563"/>
                    <a:pt x="10393516" y="2095500"/>
                    <a:pt x="10386122" y="2095500"/>
                  </a:cubicBezTo>
                  <a:lnTo>
                    <a:pt x="27878" y="2095500"/>
                  </a:lnTo>
                  <a:cubicBezTo>
                    <a:pt x="20484" y="2095500"/>
                    <a:pt x="13393" y="2092563"/>
                    <a:pt x="8165" y="2087335"/>
                  </a:cubicBezTo>
                  <a:cubicBezTo>
                    <a:pt x="2937" y="2082107"/>
                    <a:pt x="0" y="2075016"/>
                    <a:pt x="0" y="20676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041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5  Sıkıştırılmış arşiv uzantısı hangisidir?</a:t>
              </a: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A) .mp3  B) .zip  C) .pptx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39250" y="5715000"/>
            <a:ext cx="7810500" cy="1571625"/>
            <a:chOff x="0" y="0"/>
            <a:chExt cx="10414000" cy="2095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1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2067622"/>
                  </a:lnTo>
                  <a:cubicBezTo>
                    <a:pt x="10414000" y="2075016"/>
                    <a:pt x="10411063" y="2082107"/>
                    <a:pt x="10405835" y="2087335"/>
                  </a:cubicBezTo>
                  <a:cubicBezTo>
                    <a:pt x="10400606" y="2092563"/>
                    <a:pt x="10393516" y="2095500"/>
                    <a:pt x="10386122" y="2095500"/>
                  </a:cubicBezTo>
                  <a:lnTo>
                    <a:pt x="27878" y="2095500"/>
                  </a:lnTo>
                  <a:cubicBezTo>
                    <a:pt x="20484" y="2095500"/>
                    <a:pt x="13393" y="2092563"/>
                    <a:pt x="8165" y="2087335"/>
                  </a:cubicBezTo>
                  <a:cubicBezTo>
                    <a:pt x="2937" y="2082107"/>
                    <a:pt x="0" y="2075016"/>
                    <a:pt x="0" y="20676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1041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6  Yapay zekâ neden kontrol edilmelidir?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7250" y="7667625"/>
            <a:ext cx="7810500" cy="1571625"/>
            <a:chOff x="0" y="0"/>
            <a:chExt cx="10414000" cy="2095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1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2067622"/>
                  </a:lnTo>
                  <a:cubicBezTo>
                    <a:pt x="10414000" y="2075016"/>
                    <a:pt x="10411063" y="2082107"/>
                    <a:pt x="10405835" y="2087335"/>
                  </a:cubicBezTo>
                  <a:cubicBezTo>
                    <a:pt x="10400606" y="2092563"/>
                    <a:pt x="10393516" y="2095500"/>
                    <a:pt x="10386122" y="2095500"/>
                  </a:cubicBezTo>
                  <a:lnTo>
                    <a:pt x="27878" y="2095500"/>
                  </a:lnTo>
                  <a:cubicBezTo>
                    <a:pt x="20484" y="2095500"/>
                    <a:pt x="13393" y="2092563"/>
                    <a:pt x="8165" y="2087335"/>
                  </a:cubicBezTo>
                  <a:cubicBezTo>
                    <a:pt x="2937" y="2082107"/>
                    <a:pt x="0" y="2075016"/>
                    <a:pt x="0" y="20676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1041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7  Güçlü parola için iki kural yaz.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239250" y="7667625"/>
            <a:ext cx="7810500" cy="1571625"/>
            <a:chOff x="0" y="0"/>
            <a:chExt cx="10414000" cy="2095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1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10414000">
                  <a:moveTo>
                    <a:pt x="27878" y="0"/>
                  </a:moveTo>
                  <a:lnTo>
                    <a:pt x="10386122" y="0"/>
                  </a:lnTo>
                  <a:cubicBezTo>
                    <a:pt x="10393516" y="0"/>
                    <a:pt x="10400606" y="2937"/>
                    <a:pt x="10405835" y="8165"/>
                  </a:cubicBezTo>
                  <a:cubicBezTo>
                    <a:pt x="10411063" y="13393"/>
                    <a:pt x="10414000" y="20484"/>
                    <a:pt x="10414000" y="27878"/>
                  </a:cubicBezTo>
                  <a:lnTo>
                    <a:pt x="10414000" y="2067622"/>
                  </a:lnTo>
                  <a:cubicBezTo>
                    <a:pt x="10414000" y="2075016"/>
                    <a:pt x="10411063" y="2082107"/>
                    <a:pt x="10405835" y="2087335"/>
                  </a:cubicBezTo>
                  <a:cubicBezTo>
                    <a:pt x="10400606" y="2092563"/>
                    <a:pt x="10393516" y="2095500"/>
                    <a:pt x="10386122" y="2095500"/>
                  </a:cubicBezTo>
                  <a:lnTo>
                    <a:pt x="27878" y="2095500"/>
                  </a:lnTo>
                  <a:cubicBezTo>
                    <a:pt x="20484" y="2095500"/>
                    <a:pt x="13393" y="2092563"/>
                    <a:pt x="8165" y="2087335"/>
                  </a:cubicBezTo>
                  <a:cubicBezTo>
                    <a:pt x="2937" y="2082107"/>
                    <a:pt x="0" y="2075016"/>
                    <a:pt x="0" y="2067622"/>
                  </a:cubicBezTo>
                  <a:lnTo>
                    <a:pt x="0" y="27878"/>
                  </a:lnTo>
                  <a:cubicBezTo>
                    <a:pt x="0" y="20484"/>
                    <a:pt x="2937" y="13393"/>
                    <a:pt x="8165" y="8165"/>
                  </a:cubicBezTo>
                  <a:cubicBezTo>
                    <a:pt x="13393" y="2937"/>
                    <a:pt x="20484" y="0"/>
                    <a:pt x="2787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1041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8  Dijital zorbalıkta ilk yardım isteyeceğin kişi kim olabilir?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5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581025"/>
            <a:ext cx="165735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>
                <a:solidFill>
                  <a:srgbClr val="123A63"/>
                </a:solidFill>
                <a:latin typeface="Baloo"/>
                <a:ea typeface="Baloo"/>
                <a:cs typeface="Baloo"/>
                <a:sym typeface="Baloo"/>
              </a:rPr>
              <a:t>Cevap Anahtarı ve Son Özet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57200" y="457200"/>
            <a:ext cx="133350" cy="781050"/>
            <a:chOff x="0" y="0"/>
            <a:chExt cx="177800" cy="1041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1769A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00" cy="1079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1619250"/>
            <a:ext cx="16383000" cy="109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02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1 B — Donanım fiziksel parçadır.   2 A — İşlemci komutları işler.</a:t>
            </a:r>
          </a:p>
          <a:p>
            <a:pPr algn="l">
              <a:lnSpc>
                <a:spcPts val="2936"/>
              </a:lnSpc>
            </a:pPr>
            <a:r>
              <a:rPr lang="en-US" sz="202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3 C — Mikrofon ses verisini girer.   4 A — JPG fotoğraftır.   5 B — ZIP arşivdir.</a:t>
            </a:r>
          </a:p>
          <a:p>
            <a:pPr algn="l">
              <a:lnSpc>
                <a:spcPts val="2936"/>
              </a:lnSpc>
            </a:pPr>
            <a:r>
              <a:rPr lang="en-US" sz="2025" b="true">
                <a:solidFill>
                  <a:srgbClr val="17324D"/>
                </a:solidFill>
                <a:latin typeface="Nunito Bold"/>
                <a:ea typeface="Nunito Bold"/>
                <a:cs typeface="Nunito Bold"/>
                <a:sym typeface="Nunito Bold"/>
              </a:rPr>
              <a:t>6 Hata yapabilir.   7 Uzun, kişisel bilgi yok, farklı ve gizli.   8 Güvenilen bir yetişkin.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7250" y="5000625"/>
            <a:ext cx="3048000" cy="1571625"/>
            <a:chOff x="0" y="0"/>
            <a:chExt cx="4064000" cy="2095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2024062"/>
                  </a:lnTo>
                  <a:cubicBezTo>
                    <a:pt x="4064000" y="2063516"/>
                    <a:pt x="4032016" y="2095500"/>
                    <a:pt x="3992562" y="2095500"/>
                  </a:cubicBezTo>
                  <a:lnTo>
                    <a:pt x="71438" y="2095500"/>
                  </a:lnTo>
                  <a:cubicBezTo>
                    <a:pt x="31984" y="2095500"/>
                    <a:pt x="0" y="2063516"/>
                    <a:pt x="0" y="20240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406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Donanım: fiziksel parçalar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86250" y="5000625"/>
            <a:ext cx="3048000" cy="1571625"/>
            <a:chOff x="0" y="0"/>
            <a:chExt cx="4064000" cy="2095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2024062"/>
                  </a:lnTo>
                  <a:cubicBezTo>
                    <a:pt x="4064000" y="2063516"/>
                    <a:pt x="4032016" y="2095500"/>
                    <a:pt x="3992562" y="2095500"/>
                  </a:cubicBezTo>
                  <a:lnTo>
                    <a:pt x="71438" y="2095500"/>
                  </a:lnTo>
                  <a:cubicBezTo>
                    <a:pt x="31984" y="2095500"/>
                    <a:pt x="0" y="2063516"/>
                    <a:pt x="0" y="20240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406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İşlemci: komut işleme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715250" y="5000625"/>
            <a:ext cx="3048000" cy="1571625"/>
            <a:chOff x="0" y="0"/>
            <a:chExt cx="4064000" cy="2095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6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2024062"/>
                  </a:lnTo>
                  <a:cubicBezTo>
                    <a:pt x="4064000" y="2063516"/>
                    <a:pt x="4032016" y="2095500"/>
                    <a:pt x="3992562" y="2095500"/>
                  </a:cubicBezTo>
                  <a:lnTo>
                    <a:pt x="71438" y="2095500"/>
                  </a:lnTo>
                  <a:cubicBezTo>
                    <a:pt x="31984" y="2095500"/>
                    <a:pt x="0" y="2063516"/>
                    <a:pt x="0" y="20240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406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Anakart: bağlantı kurma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44250" y="5000625"/>
            <a:ext cx="3048000" cy="1571625"/>
            <a:chOff x="0" y="0"/>
            <a:chExt cx="4064000" cy="2095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6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2024062"/>
                  </a:lnTo>
                  <a:cubicBezTo>
                    <a:pt x="4064000" y="2063516"/>
                    <a:pt x="4032016" y="2095500"/>
                    <a:pt x="3992562" y="2095500"/>
                  </a:cubicBezTo>
                  <a:lnTo>
                    <a:pt x="71438" y="2095500"/>
                  </a:lnTo>
                  <a:cubicBezTo>
                    <a:pt x="31984" y="2095500"/>
                    <a:pt x="0" y="2063516"/>
                    <a:pt x="0" y="20240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406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Giriş: veri iletme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573250" y="5000625"/>
            <a:ext cx="3048000" cy="1571625"/>
            <a:chOff x="0" y="0"/>
            <a:chExt cx="4064000" cy="2095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6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2024062"/>
                  </a:lnTo>
                  <a:cubicBezTo>
                    <a:pt x="4064000" y="2063516"/>
                    <a:pt x="4032016" y="2095500"/>
                    <a:pt x="3992562" y="2095500"/>
                  </a:cubicBezTo>
                  <a:lnTo>
                    <a:pt x="71438" y="2095500"/>
                  </a:lnTo>
                  <a:cubicBezTo>
                    <a:pt x="31984" y="2095500"/>
                    <a:pt x="0" y="2063516"/>
                    <a:pt x="0" y="20240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406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Çıkış: bilgi sunma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7250" y="7000875"/>
            <a:ext cx="3048000" cy="1571625"/>
            <a:chOff x="0" y="0"/>
            <a:chExt cx="4064000" cy="2095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6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2024062"/>
                  </a:lnTo>
                  <a:cubicBezTo>
                    <a:pt x="4064000" y="2063516"/>
                    <a:pt x="4032016" y="2095500"/>
                    <a:pt x="3992562" y="2095500"/>
                  </a:cubicBezTo>
                  <a:lnTo>
                    <a:pt x="71438" y="2095500"/>
                  </a:lnTo>
                  <a:cubicBezTo>
                    <a:pt x="31984" y="2095500"/>
                    <a:pt x="0" y="2063516"/>
                    <a:pt x="0" y="20240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406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Uzantı: tür tanıma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286250" y="7000875"/>
            <a:ext cx="3048000" cy="1571625"/>
            <a:chOff x="0" y="0"/>
            <a:chExt cx="4064000" cy="2095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6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2024062"/>
                  </a:lnTo>
                  <a:cubicBezTo>
                    <a:pt x="4064000" y="2063516"/>
                    <a:pt x="4032016" y="2095500"/>
                    <a:pt x="3992562" y="2095500"/>
                  </a:cubicBezTo>
                  <a:lnTo>
                    <a:pt x="71438" y="2095500"/>
                  </a:lnTo>
                  <a:cubicBezTo>
                    <a:pt x="31984" y="2095500"/>
                    <a:pt x="0" y="2063516"/>
                    <a:pt x="0" y="20240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DFF5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406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Yapay zekâ: günlük görevler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715250" y="7000875"/>
            <a:ext cx="3048000" cy="1571625"/>
            <a:chOff x="0" y="0"/>
            <a:chExt cx="4064000" cy="2095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6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2024062"/>
                  </a:lnTo>
                  <a:cubicBezTo>
                    <a:pt x="4064000" y="2063516"/>
                    <a:pt x="4032016" y="2095500"/>
                    <a:pt x="3992562" y="2095500"/>
                  </a:cubicBezTo>
                  <a:lnTo>
                    <a:pt x="71438" y="2095500"/>
                  </a:lnTo>
                  <a:cubicBezTo>
                    <a:pt x="31984" y="2095500"/>
                    <a:pt x="0" y="2063516"/>
                    <a:pt x="0" y="20240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406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Güçlü parola: güvenlik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44250" y="7000875"/>
            <a:ext cx="3048000" cy="1571625"/>
            <a:chOff x="0" y="0"/>
            <a:chExt cx="4064000" cy="2095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6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2024062"/>
                  </a:lnTo>
                  <a:cubicBezTo>
                    <a:pt x="4064000" y="2063516"/>
                    <a:pt x="4032016" y="2095500"/>
                    <a:pt x="3992562" y="2095500"/>
                  </a:cubicBezTo>
                  <a:lnTo>
                    <a:pt x="71438" y="2095500"/>
                  </a:lnTo>
                  <a:cubicBezTo>
                    <a:pt x="31984" y="2095500"/>
                    <a:pt x="0" y="2063516"/>
                    <a:pt x="0" y="20240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28575"/>
              <a:ext cx="406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Dijital ayak izi: iz bırakma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573250" y="7000875"/>
            <a:ext cx="3048000" cy="1571625"/>
            <a:chOff x="0" y="0"/>
            <a:chExt cx="4064000" cy="2095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64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4064000">
                  <a:moveTo>
                    <a:pt x="71438" y="0"/>
                  </a:moveTo>
                  <a:lnTo>
                    <a:pt x="3992562" y="0"/>
                  </a:lnTo>
                  <a:cubicBezTo>
                    <a:pt x="4032016" y="0"/>
                    <a:pt x="4064000" y="31984"/>
                    <a:pt x="4064000" y="71438"/>
                  </a:cubicBezTo>
                  <a:lnTo>
                    <a:pt x="4064000" y="2024062"/>
                  </a:lnTo>
                  <a:cubicBezTo>
                    <a:pt x="4064000" y="2063516"/>
                    <a:pt x="4032016" y="2095500"/>
                    <a:pt x="3992562" y="2095500"/>
                  </a:cubicBezTo>
                  <a:lnTo>
                    <a:pt x="71438" y="2095500"/>
                  </a:lnTo>
                  <a:cubicBezTo>
                    <a:pt x="31984" y="2095500"/>
                    <a:pt x="0" y="2063516"/>
                    <a:pt x="0" y="2024062"/>
                  </a:cubicBezTo>
                  <a:lnTo>
                    <a:pt x="0" y="71438"/>
                  </a:lnTo>
                  <a:cubicBezTo>
                    <a:pt x="0" y="31984"/>
                    <a:pt x="31984" y="0"/>
                    <a:pt x="71438" y="0"/>
                  </a:cubicBezTo>
                  <a:close/>
                </a:path>
              </a:pathLst>
            </a:custGeom>
            <a:solidFill>
              <a:srgbClr val="FFF0DF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28575"/>
              <a:ext cx="4064000" cy="2066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</a:p>
            <a:p>
              <a:pPr algn="ctr">
                <a:lnSpc>
                  <a:spcPts val="2156"/>
                </a:lnSpc>
              </a:pPr>
              <a:r>
                <a:rPr lang="en-US" sz="1725">
                  <a:solidFill>
                    <a:srgbClr val="17324D"/>
                  </a:solidFill>
                  <a:latin typeface="Nunito"/>
                  <a:ea typeface="Nunito"/>
                  <a:cs typeface="Nunito"/>
                  <a:sym typeface="Nunito"/>
                </a:rPr>
                <a:t>Dijital zorbalık: önlem alma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96250" y="0"/>
            <a:ext cx="10191750" cy="10287000"/>
          </a:xfrm>
          <a:custGeom>
            <a:avLst/>
            <a:gdLst/>
            <a:ahLst/>
            <a:cxnLst/>
            <a:rect r="r" b="b" t="t" l="l"/>
            <a:pathLst>
              <a:path h="10287000" w="10191750">
                <a:moveTo>
                  <a:pt x="0" y="0"/>
                </a:moveTo>
                <a:lnTo>
                  <a:pt x="10191750" y="0"/>
                </a:lnTo>
                <a:lnTo>
                  <a:pt x="10191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" r="0" b="-37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0" y="0"/>
            <a:ext cx="2857500" cy="10287000"/>
            <a:chOff x="0" y="0"/>
            <a:chExt cx="381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23A63">
                    <a:alpha val="100000"/>
                  </a:srgbClr>
                </a:gs>
                <a:gs pos="100000">
                  <a:srgbClr val="123A63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1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1895475"/>
            <a:ext cx="7239000" cy="224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4"/>
              </a:lnSpc>
            </a:pPr>
            <a:r>
              <a:rPr lang="en-US" sz="57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Teknolojiyi tanı,</a:t>
            </a:r>
          </a:p>
          <a:p>
            <a:pPr algn="l">
              <a:lnSpc>
                <a:spcPts val="5814"/>
              </a:lnSpc>
            </a:pPr>
            <a:r>
              <a:rPr lang="en-US" sz="57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güvenli kullan,</a:t>
            </a:r>
          </a:p>
          <a:p>
            <a:pPr algn="l">
              <a:lnSpc>
                <a:spcPts val="5814"/>
              </a:lnSpc>
            </a:pPr>
            <a:r>
              <a:rPr lang="en-US" sz="5700">
                <a:solidFill>
                  <a:srgbClr val="FFFFFF"/>
                </a:solidFill>
                <a:latin typeface="Baloo"/>
                <a:ea typeface="Baloo"/>
                <a:cs typeface="Baloo"/>
                <a:sym typeface="Baloo"/>
              </a:rPr>
              <a:t>bilinçli davran!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0125" y="5676900"/>
            <a:ext cx="619125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CFEAFF"/>
                </a:solidFill>
                <a:latin typeface="Nunito"/>
                <a:ea typeface="Nunito"/>
                <a:cs typeface="Nunito"/>
                <a:sym typeface="Nunito"/>
              </a:rPr>
              <a:t>Harika bir tekrar yaptın. Şimdi bilgine güven!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125" y="7848600"/>
            <a:ext cx="4762500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>
                <a:solidFill>
                  <a:srgbClr val="6EE0A8"/>
                </a:solidFill>
                <a:latin typeface="Baloo"/>
                <a:ea typeface="Baloo"/>
                <a:cs typeface="Baloo"/>
                <a:sym typeface="Baloo"/>
              </a:rPr>
              <a:t>TEŞEKKÜRLER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DAHZDSXBRK4</dc:identifier>
  <dcterms:modified xsi:type="dcterms:W3CDTF">2011-08-01T06:04:30Z</dcterms:modified>
  <cp:revision>1</cp:revision>
  <dc:title>5. Sınıf Bilişim Tekrarı</dc:title>
</cp:coreProperties>
</file>